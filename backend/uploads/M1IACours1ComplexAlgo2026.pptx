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7"/>
  </p:notesMasterIdLst>
  <p:sldIdLst>
    <p:sldId id="257" r:id="rId2"/>
    <p:sldId id="258" r:id="rId3"/>
    <p:sldId id="260" r:id="rId4"/>
    <p:sldId id="261" r:id="rId5"/>
    <p:sldId id="262" r:id="rId6"/>
    <p:sldId id="263" r:id="rId7"/>
    <p:sldId id="264" r:id="rId8"/>
    <p:sldId id="265" r:id="rId9"/>
    <p:sldId id="266" r:id="rId10"/>
    <p:sldId id="278" r:id="rId11"/>
    <p:sldId id="279" r:id="rId12"/>
    <p:sldId id="280" r:id="rId13"/>
    <p:sldId id="281" r:id="rId14"/>
    <p:sldId id="282" r:id="rId15"/>
    <p:sldId id="273" r:id="rId16"/>
    <p:sldId id="274" r:id="rId17"/>
    <p:sldId id="283" r:id="rId18"/>
    <p:sldId id="275" r:id="rId19"/>
    <p:sldId id="348" r:id="rId20"/>
    <p:sldId id="276" r:id="rId21"/>
    <p:sldId id="349" r:id="rId22"/>
    <p:sldId id="277" r:id="rId23"/>
    <p:sldId id="269" r:id="rId24"/>
    <p:sldId id="360" r:id="rId25"/>
    <p:sldId id="362" r:id="rId26"/>
    <p:sldId id="270" r:id="rId27"/>
    <p:sldId id="271" r:id="rId28"/>
    <p:sldId id="359" r:id="rId29"/>
    <p:sldId id="350" r:id="rId30"/>
    <p:sldId id="298" r:id="rId31"/>
    <p:sldId id="299" r:id="rId32"/>
    <p:sldId id="300" r:id="rId33"/>
    <p:sldId id="288" r:id="rId34"/>
    <p:sldId id="351" r:id="rId35"/>
    <p:sldId id="289" r:id="rId36"/>
    <p:sldId id="290" r:id="rId37"/>
    <p:sldId id="291" r:id="rId38"/>
    <p:sldId id="292" r:id="rId39"/>
    <p:sldId id="293" r:id="rId40"/>
    <p:sldId id="294" r:id="rId41"/>
    <p:sldId id="295" r:id="rId42"/>
    <p:sldId id="357" r:id="rId43"/>
    <p:sldId id="296" r:id="rId44"/>
    <p:sldId id="297" r:id="rId45"/>
    <p:sldId id="301" r:id="rId46"/>
    <p:sldId id="302" r:id="rId47"/>
    <p:sldId id="303" r:id="rId48"/>
    <p:sldId id="304" r:id="rId49"/>
    <p:sldId id="305" r:id="rId50"/>
    <p:sldId id="306" r:id="rId51"/>
    <p:sldId id="307" r:id="rId52"/>
    <p:sldId id="308" r:id="rId53"/>
    <p:sldId id="309" r:id="rId54"/>
    <p:sldId id="310" r:id="rId55"/>
    <p:sldId id="311" r:id="rId56"/>
    <p:sldId id="364" r:id="rId57"/>
    <p:sldId id="363"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7" r:id="rId89"/>
    <p:sldId id="342" r:id="rId90"/>
    <p:sldId id="343" r:id="rId91"/>
    <p:sldId id="344" r:id="rId92"/>
    <p:sldId id="345" r:id="rId93"/>
    <p:sldId id="346" r:id="rId94"/>
    <p:sldId id="352" r:id="rId95"/>
    <p:sldId id="259" r:id="rId9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6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DC395E-0A50-4F1F-A7CF-2ACB8AA50BF5}" type="datetimeFigureOut">
              <a:rPr lang="fr-FR" smtClean="0"/>
              <a:t>27/08/2025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14ADD5-2A7D-43E5-BED7-665DA25B5FE3}" type="slidenum">
              <a:rPr lang="fr-FR" smtClean="0"/>
              <a:t>‹N°›</a:t>
            </a:fld>
            <a:endParaRPr lang="fr-FR"/>
          </a:p>
        </p:txBody>
      </p:sp>
    </p:spTree>
    <p:extLst>
      <p:ext uri="{BB962C8B-B14F-4D97-AF65-F5344CB8AC3E}">
        <p14:creationId xmlns:p14="http://schemas.microsoft.com/office/powerpoint/2010/main" val="875025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314ADD5-2A7D-43E5-BED7-665DA25B5FE3}" type="slidenum">
              <a:rPr lang="fr-FR" smtClean="0"/>
              <a:t>26</a:t>
            </a:fld>
            <a:endParaRPr lang="fr-FR"/>
          </a:p>
        </p:txBody>
      </p:sp>
    </p:spTree>
    <p:extLst>
      <p:ext uri="{BB962C8B-B14F-4D97-AF65-F5344CB8AC3E}">
        <p14:creationId xmlns:p14="http://schemas.microsoft.com/office/powerpoint/2010/main" val="2821022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314ADD5-2A7D-43E5-BED7-665DA25B5FE3}" type="slidenum">
              <a:rPr lang="fr-FR" smtClean="0"/>
              <a:t>37</a:t>
            </a:fld>
            <a:endParaRPr lang="fr-FR"/>
          </a:p>
        </p:txBody>
      </p:sp>
    </p:spTree>
    <p:extLst>
      <p:ext uri="{BB962C8B-B14F-4D97-AF65-F5344CB8AC3E}">
        <p14:creationId xmlns:p14="http://schemas.microsoft.com/office/powerpoint/2010/main" val="1918196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314ADD5-2A7D-43E5-BED7-665DA25B5FE3}" type="slidenum">
              <a:rPr lang="fr-FR" smtClean="0"/>
              <a:t>47</a:t>
            </a:fld>
            <a:endParaRPr lang="fr-FR"/>
          </a:p>
        </p:txBody>
      </p:sp>
    </p:spTree>
    <p:extLst>
      <p:ext uri="{BB962C8B-B14F-4D97-AF65-F5344CB8AC3E}">
        <p14:creationId xmlns:p14="http://schemas.microsoft.com/office/powerpoint/2010/main" val="2086919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67F0CF79-CEF6-40C6-8F77-EFAB263AB149}" type="datetimeFigureOut">
              <a:rPr lang="fr-FR" smtClean="0"/>
              <a:t>27/08/2025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9E677B7-8106-4E10-B28E-C55C86CE9D62}" type="slidenum">
              <a:rPr lang="fr-FR" smtClean="0"/>
              <a:t>‹N°›</a:t>
            </a:fld>
            <a:endParaRPr lang="fr-FR"/>
          </a:p>
        </p:txBody>
      </p:sp>
    </p:spTree>
    <p:extLst>
      <p:ext uri="{BB962C8B-B14F-4D97-AF65-F5344CB8AC3E}">
        <p14:creationId xmlns:p14="http://schemas.microsoft.com/office/powerpoint/2010/main" val="3131814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7F0CF79-CEF6-40C6-8F77-EFAB263AB149}" type="datetimeFigureOut">
              <a:rPr lang="fr-FR" smtClean="0"/>
              <a:t>27/08/2025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9E677B7-8106-4E10-B28E-C55C86CE9D62}" type="slidenum">
              <a:rPr lang="fr-FR" smtClean="0"/>
              <a:t>‹N°›</a:t>
            </a:fld>
            <a:endParaRPr lang="fr-FR"/>
          </a:p>
        </p:txBody>
      </p:sp>
    </p:spTree>
    <p:extLst>
      <p:ext uri="{BB962C8B-B14F-4D97-AF65-F5344CB8AC3E}">
        <p14:creationId xmlns:p14="http://schemas.microsoft.com/office/powerpoint/2010/main" val="480894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67F0CF79-CEF6-40C6-8F77-EFAB263AB149}" type="datetimeFigureOut">
              <a:rPr lang="fr-FR" smtClean="0"/>
              <a:t>27/08/2025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9E677B7-8106-4E10-B28E-C55C86CE9D62}" type="slidenum">
              <a:rPr lang="fr-FR" smtClean="0"/>
              <a:t>‹N°›</a:t>
            </a:fld>
            <a:endParaRPr lang="fr-FR"/>
          </a:p>
        </p:txBody>
      </p:sp>
    </p:spTree>
    <p:extLst>
      <p:ext uri="{BB962C8B-B14F-4D97-AF65-F5344CB8AC3E}">
        <p14:creationId xmlns:p14="http://schemas.microsoft.com/office/powerpoint/2010/main" val="3546904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67F0CF79-CEF6-40C6-8F77-EFAB263AB149}" type="datetimeFigureOut">
              <a:rPr lang="fr-FR" smtClean="0"/>
              <a:t>27/08/2025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9E677B7-8106-4E10-B28E-C55C86CE9D62}" type="slidenum">
              <a:rPr lang="fr-FR" smtClean="0"/>
              <a:t>‹N°›</a:t>
            </a:fld>
            <a:endParaRPr lang="fr-FR"/>
          </a:p>
        </p:txBody>
      </p:sp>
    </p:spTree>
    <p:extLst>
      <p:ext uri="{BB962C8B-B14F-4D97-AF65-F5344CB8AC3E}">
        <p14:creationId xmlns:p14="http://schemas.microsoft.com/office/powerpoint/2010/main" val="2265083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67F0CF79-CEF6-40C6-8F77-EFAB263AB149}" type="datetimeFigureOut">
              <a:rPr lang="fr-FR" smtClean="0"/>
              <a:t>27/08/2025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9E677B7-8106-4E10-B28E-C55C86CE9D62}" type="slidenum">
              <a:rPr lang="fr-FR" smtClean="0"/>
              <a:t>‹N°›</a:t>
            </a:fld>
            <a:endParaRPr lang="fr-FR"/>
          </a:p>
        </p:txBody>
      </p:sp>
    </p:spTree>
    <p:extLst>
      <p:ext uri="{BB962C8B-B14F-4D97-AF65-F5344CB8AC3E}">
        <p14:creationId xmlns:p14="http://schemas.microsoft.com/office/powerpoint/2010/main" val="3941047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67F0CF79-CEF6-40C6-8F77-EFAB263AB149}" type="datetimeFigureOut">
              <a:rPr lang="fr-FR" smtClean="0"/>
              <a:t>27/08/2025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9E677B7-8106-4E10-B28E-C55C86CE9D62}" type="slidenum">
              <a:rPr lang="fr-FR" smtClean="0"/>
              <a:t>‹N°›</a:t>
            </a:fld>
            <a:endParaRPr lang="fr-FR"/>
          </a:p>
        </p:txBody>
      </p:sp>
    </p:spTree>
    <p:extLst>
      <p:ext uri="{BB962C8B-B14F-4D97-AF65-F5344CB8AC3E}">
        <p14:creationId xmlns:p14="http://schemas.microsoft.com/office/powerpoint/2010/main" val="3554739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7F0CF79-CEF6-40C6-8F77-EFAB263AB149}" type="datetimeFigureOut">
              <a:rPr lang="fr-FR" smtClean="0"/>
              <a:t>27/08/2025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9E677B7-8106-4E10-B28E-C55C86CE9D62}" type="slidenum">
              <a:rPr lang="fr-FR" smtClean="0"/>
              <a:t>‹N°›</a:t>
            </a:fld>
            <a:endParaRPr lang="fr-FR"/>
          </a:p>
        </p:txBody>
      </p:sp>
    </p:spTree>
    <p:extLst>
      <p:ext uri="{BB962C8B-B14F-4D97-AF65-F5344CB8AC3E}">
        <p14:creationId xmlns:p14="http://schemas.microsoft.com/office/powerpoint/2010/main" val="402492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67F0CF79-CEF6-40C6-8F77-EFAB263AB149}" type="datetimeFigureOut">
              <a:rPr lang="fr-FR" smtClean="0"/>
              <a:t>27/08/2025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9E677B7-8106-4E10-B28E-C55C86CE9D62}" type="slidenum">
              <a:rPr lang="fr-FR" smtClean="0"/>
              <a:t>‹N°›</a:t>
            </a:fld>
            <a:endParaRPr lang="fr-FR"/>
          </a:p>
        </p:txBody>
      </p:sp>
    </p:spTree>
    <p:extLst>
      <p:ext uri="{BB962C8B-B14F-4D97-AF65-F5344CB8AC3E}">
        <p14:creationId xmlns:p14="http://schemas.microsoft.com/office/powerpoint/2010/main" val="682835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67F0CF79-CEF6-40C6-8F77-EFAB263AB149}" type="datetimeFigureOut">
              <a:rPr lang="fr-FR" smtClean="0"/>
              <a:t>27/08/2025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9E677B7-8106-4E10-B28E-C55C86CE9D62}" type="slidenum">
              <a:rPr lang="fr-FR" smtClean="0"/>
              <a:t>‹N°›</a:t>
            </a:fld>
            <a:endParaRPr lang="fr-FR"/>
          </a:p>
        </p:txBody>
      </p:sp>
    </p:spTree>
    <p:extLst>
      <p:ext uri="{BB962C8B-B14F-4D97-AF65-F5344CB8AC3E}">
        <p14:creationId xmlns:p14="http://schemas.microsoft.com/office/powerpoint/2010/main" val="975281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7F0CF79-CEF6-40C6-8F77-EFAB263AB149}" type="datetimeFigureOut">
              <a:rPr lang="fr-FR" smtClean="0"/>
              <a:t>27/08/2025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9E677B7-8106-4E10-B28E-C55C86CE9D62}" type="slidenum">
              <a:rPr lang="fr-FR" smtClean="0"/>
              <a:t>‹N°›</a:t>
            </a:fld>
            <a:endParaRPr lang="fr-FR"/>
          </a:p>
        </p:txBody>
      </p:sp>
    </p:spTree>
    <p:extLst>
      <p:ext uri="{BB962C8B-B14F-4D97-AF65-F5344CB8AC3E}">
        <p14:creationId xmlns:p14="http://schemas.microsoft.com/office/powerpoint/2010/main" val="3706227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7F0CF79-CEF6-40C6-8F77-EFAB263AB149}" type="datetimeFigureOut">
              <a:rPr lang="fr-FR" smtClean="0"/>
              <a:t>27/08/2025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9E677B7-8106-4E10-B28E-C55C86CE9D62}" type="slidenum">
              <a:rPr lang="fr-FR" smtClean="0"/>
              <a:t>‹N°›</a:t>
            </a:fld>
            <a:endParaRPr lang="fr-FR"/>
          </a:p>
        </p:txBody>
      </p:sp>
    </p:spTree>
    <p:extLst>
      <p:ext uri="{BB962C8B-B14F-4D97-AF65-F5344CB8AC3E}">
        <p14:creationId xmlns:p14="http://schemas.microsoft.com/office/powerpoint/2010/main" val="3585276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F0CF79-CEF6-40C6-8F77-EFAB263AB149}" type="datetimeFigureOut">
              <a:rPr lang="fr-FR" smtClean="0"/>
              <a:t>27/08/2025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E677B7-8106-4E10-B28E-C55C86CE9D62}" type="slidenum">
              <a:rPr lang="fr-FR" smtClean="0"/>
              <a:t>‹N°›</a:t>
            </a:fld>
            <a:endParaRPr lang="fr-FR"/>
          </a:p>
        </p:txBody>
      </p:sp>
    </p:spTree>
    <p:extLst>
      <p:ext uri="{BB962C8B-B14F-4D97-AF65-F5344CB8AC3E}">
        <p14:creationId xmlns:p14="http://schemas.microsoft.com/office/powerpoint/2010/main" val="6040452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hyperlink" Target="https://www.math.univ-toulouse.fr/~msablik/Cours/Complexite/Slide-Complexite.pdf" TargetMode="External"/><Relationship Id="rId2" Type="http://schemas.openxmlformats.org/officeDocument/2006/relationships/hyperlink" Target="https://info.blaisepascal.fr/nsi-complexite-dun-algorithme/#Ordre" TargetMode="External"/><Relationship Id="rId1" Type="http://schemas.openxmlformats.org/officeDocument/2006/relationships/slideLayout" Target="../slideLayouts/slideLayout7.xml"/><Relationship Id="rId4" Type="http://schemas.openxmlformats.org/officeDocument/2006/relationships/hyperlink" Target="http://mipress.mit.edu/algorithm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3360" y="1028343"/>
            <a:ext cx="11724640" cy="4308872"/>
          </a:xfrm>
          <a:prstGeom prst="rect">
            <a:avLst/>
          </a:prstGeom>
        </p:spPr>
        <p:txBody>
          <a:bodyPr wrap="square">
            <a:spAutoFit/>
          </a:bodyPr>
          <a:lstStyle/>
          <a:p>
            <a:pPr lvl="0" algn="ctr" fontAlgn="base">
              <a:spcBef>
                <a:spcPct val="0"/>
              </a:spcBef>
              <a:spcAft>
                <a:spcPct val="0"/>
              </a:spcAft>
            </a:pPr>
            <a:r>
              <a:rPr lang="fr-FR" sz="3200" b="1" dirty="0" smtClean="0">
                <a:latin typeface="Times New Roman" pitchFamily="18" charset="0"/>
                <a:cs typeface="Times New Roman" pitchFamily="18" charset="0"/>
              </a:rPr>
              <a:t>COMPLEXITÉ ALGORITHMIQUE</a:t>
            </a:r>
          </a:p>
          <a:p>
            <a:pPr lvl="0" algn="ctr" fontAlgn="base">
              <a:spcBef>
                <a:spcPct val="0"/>
              </a:spcBef>
              <a:spcAft>
                <a:spcPct val="0"/>
              </a:spcAft>
            </a:pPr>
            <a:endParaRPr lang="fr-FR" b="1" dirty="0">
              <a:latin typeface="Times New Roman" pitchFamily="18" charset="0"/>
              <a:ea typeface="Times New Roman" pitchFamily="18" charset="0"/>
              <a:cs typeface="Times New Roman" pitchFamily="18" charset="0"/>
            </a:endParaRPr>
          </a:p>
          <a:p>
            <a:pPr lvl="0" algn="ctr"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(E.T. : 24 heures, E.D. : </a:t>
            </a:r>
            <a:r>
              <a:rPr lang="fr-FR" sz="2000" b="1" dirty="0" smtClean="0">
                <a:latin typeface="Times New Roman" pitchFamily="18" charset="0"/>
                <a:ea typeface="Times New Roman" pitchFamily="18" charset="0"/>
                <a:cs typeface="Times New Roman" pitchFamily="18" charset="0"/>
              </a:rPr>
              <a:t>12 </a:t>
            </a:r>
            <a:r>
              <a:rPr lang="fr-FR" sz="2000" b="1" dirty="0">
                <a:latin typeface="Times New Roman" pitchFamily="18" charset="0"/>
                <a:ea typeface="Times New Roman" pitchFamily="18" charset="0"/>
                <a:cs typeface="Times New Roman" pitchFamily="18" charset="0"/>
              </a:rPr>
              <a:t>heures, E.P. : </a:t>
            </a:r>
            <a:r>
              <a:rPr lang="fr-FR" sz="2000" b="1" dirty="0" smtClean="0">
                <a:latin typeface="Times New Roman" pitchFamily="18" charset="0"/>
                <a:ea typeface="Times New Roman" pitchFamily="18" charset="0"/>
                <a:cs typeface="Times New Roman" pitchFamily="18" charset="0"/>
              </a:rPr>
              <a:t>12 </a:t>
            </a:r>
            <a:r>
              <a:rPr lang="fr-FR" sz="2000" b="1" dirty="0">
                <a:latin typeface="Times New Roman" pitchFamily="18" charset="0"/>
                <a:ea typeface="Times New Roman" pitchFamily="18" charset="0"/>
                <a:cs typeface="Times New Roman" pitchFamily="18" charset="0"/>
              </a:rPr>
              <a:t>heures)</a:t>
            </a:r>
            <a:endParaRPr lang="fr-FR" sz="2000" dirty="0">
              <a:latin typeface="Times New Roman" pitchFamily="18" charset="0"/>
              <a:cs typeface="Times New Roman" pitchFamily="18" charset="0"/>
            </a:endParaRPr>
          </a:p>
          <a:p>
            <a:pPr lvl="0" algn="ctr"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Année Universitaire </a:t>
            </a:r>
            <a:r>
              <a:rPr lang="fr-FR" sz="2000" b="1" dirty="0" smtClean="0">
                <a:latin typeface="Times New Roman" pitchFamily="18" charset="0"/>
                <a:ea typeface="Times New Roman" pitchFamily="18" charset="0"/>
                <a:cs typeface="Times New Roman" pitchFamily="18" charset="0"/>
              </a:rPr>
              <a:t>2025/2026</a:t>
            </a:r>
            <a:endParaRPr lang="fr-FR" sz="2000" b="1" dirty="0">
              <a:latin typeface="Times New Roman" pitchFamily="18" charset="0"/>
              <a:ea typeface="Times New Roman" pitchFamily="18" charset="0"/>
              <a:cs typeface="Times New Roman" pitchFamily="18" charset="0"/>
            </a:endParaRPr>
          </a:p>
          <a:p>
            <a:pPr lvl="0" algn="ctr" eaLnBrk="0" fontAlgn="base" hangingPunct="0">
              <a:spcBef>
                <a:spcPct val="0"/>
              </a:spcBef>
              <a:spcAft>
                <a:spcPct val="0"/>
              </a:spcAft>
            </a:pPr>
            <a:endParaRPr lang="en-GB" sz="2000" b="1" dirty="0">
              <a:latin typeface="Times New Roman" pitchFamily="18" charset="0"/>
              <a:ea typeface="Times New Roman" pitchFamily="18" charset="0"/>
              <a:cs typeface="Times New Roman" pitchFamily="18" charset="0"/>
            </a:endParaRPr>
          </a:p>
          <a:p>
            <a:pPr lvl="0" algn="ctr" eaLnBrk="0" fontAlgn="base" hangingPunct="0">
              <a:spcBef>
                <a:spcPct val="0"/>
              </a:spcBef>
              <a:spcAft>
                <a:spcPct val="0"/>
              </a:spcAft>
            </a:pPr>
            <a:endParaRPr lang="en-GB" sz="2000" b="1" dirty="0">
              <a:latin typeface="Times New Roman" pitchFamily="18" charset="0"/>
              <a:ea typeface="Times New Roman" pitchFamily="18" charset="0"/>
              <a:cs typeface="Times New Roman" pitchFamily="18" charset="0"/>
            </a:endParaRPr>
          </a:p>
          <a:p>
            <a:pPr lvl="0" algn="ctr" eaLnBrk="0" fontAlgn="base" hangingPunct="0">
              <a:spcBef>
                <a:spcPct val="0"/>
              </a:spcBef>
              <a:spcAft>
                <a:spcPct val="0"/>
              </a:spcAft>
            </a:pPr>
            <a:r>
              <a:rPr lang="en-GB" sz="2000" b="1" dirty="0">
                <a:latin typeface="Times New Roman" pitchFamily="18" charset="0"/>
                <a:ea typeface="Times New Roman" pitchFamily="18" charset="0"/>
                <a:cs typeface="Times New Roman" pitchFamily="18" charset="0"/>
              </a:rPr>
              <a:t> </a:t>
            </a:r>
            <a:endParaRPr lang="fr-FR" sz="2000" b="1" dirty="0">
              <a:latin typeface="Times New Roman" pitchFamily="18" charset="0"/>
              <a:ea typeface="Times New Roman" pitchFamily="18" charset="0"/>
              <a:cs typeface="Times New Roman" pitchFamily="18" charset="0"/>
            </a:endParaRPr>
          </a:p>
          <a:p>
            <a:pPr lvl="0" algn="ctr" eaLnBrk="0" fontAlgn="base" hangingPunct="0">
              <a:spcBef>
                <a:spcPct val="0"/>
              </a:spcBef>
              <a:spcAft>
                <a:spcPct val="0"/>
              </a:spcAft>
            </a:pPr>
            <a:endParaRPr lang="fr-FR" sz="2000" dirty="0">
              <a:latin typeface="Times New Roman" pitchFamily="18" charset="0"/>
              <a:cs typeface="Times New Roman" pitchFamily="18" charset="0"/>
            </a:endParaRPr>
          </a:p>
          <a:p>
            <a:pPr lvl="0" algn="ctr"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Monsieur RAKOTOASIMBAHOAKA CYPRIEN ROBERT, Maitre de Conférences</a:t>
            </a:r>
            <a:endParaRPr lang="fr-FR" sz="2000" dirty="0">
              <a:latin typeface="Times New Roman" pitchFamily="18" charset="0"/>
              <a:cs typeface="Times New Roman" pitchFamily="18" charset="0"/>
            </a:endParaRPr>
          </a:p>
          <a:p>
            <a:pPr lvl="0" algn="ctr" eaLnBrk="0" fontAlgn="base" hangingPunct="0">
              <a:spcBef>
                <a:spcPct val="0"/>
              </a:spcBef>
              <a:spcAft>
                <a:spcPct val="0"/>
              </a:spcAft>
            </a:pPr>
            <a:endParaRPr lang="fr-FR" sz="2000" b="1" dirty="0">
              <a:latin typeface="Times New Roman" pitchFamily="18" charset="0"/>
              <a:ea typeface="Times New Roman" pitchFamily="18" charset="0"/>
              <a:cs typeface="Times New Roman" pitchFamily="18" charset="0"/>
            </a:endParaRPr>
          </a:p>
          <a:p>
            <a:pPr lvl="0" algn="ctr"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Enseignant-chercheur à l’Ecole Nationale </a:t>
            </a:r>
            <a:r>
              <a:rPr lang="fr-FR" sz="2000" b="1" dirty="0" smtClean="0">
                <a:latin typeface="Times New Roman" pitchFamily="18" charset="0"/>
                <a:ea typeface="Times New Roman" pitchFamily="18" charset="0"/>
                <a:cs typeface="Times New Roman" pitchFamily="18" charset="0"/>
              </a:rPr>
              <a:t>d’Informatique</a:t>
            </a:r>
          </a:p>
          <a:p>
            <a:pPr lvl="0" algn="ctr" eaLnBrk="0" fontAlgn="base" hangingPunct="0">
              <a:spcBef>
                <a:spcPct val="0"/>
              </a:spcBef>
              <a:spcAft>
                <a:spcPct val="0"/>
              </a:spcAft>
            </a:pPr>
            <a:endParaRPr lang="fr-FR" sz="2000" dirty="0">
              <a:latin typeface="Times New Roman" pitchFamily="18" charset="0"/>
              <a:cs typeface="Times New Roman" pitchFamily="18" charset="0"/>
            </a:endParaRPr>
          </a:p>
          <a:p>
            <a:pPr lvl="0" algn="ctr"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UNIVERSITE DE FIANARANTSOA</a:t>
            </a:r>
            <a:endParaRPr lang="fr-FR" sz="2400" dirty="0">
              <a:latin typeface="Times New Roman" pitchFamily="18" charset="0"/>
              <a:cs typeface="Times New Roman" pitchFamily="18" charset="0"/>
            </a:endParaRPr>
          </a:p>
        </p:txBody>
      </p:sp>
    </p:spTree>
    <p:extLst>
      <p:ext uri="{BB962C8B-B14F-4D97-AF65-F5344CB8AC3E}">
        <p14:creationId xmlns:p14="http://schemas.microsoft.com/office/powerpoint/2010/main" val="24631403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35280" y="406400"/>
            <a:ext cx="10607040" cy="4893647"/>
          </a:xfrm>
          <a:prstGeom prst="rect">
            <a:avLst/>
          </a:prstGeom>
          <a:noFill/>
        </p:spPr>
        <p:txBody>
          <a:bodyPr wrap="square" rtlCol="0">
            <a:spAutoFit/>
          </a:bodyPr>
          <a:lstStyle/>
          <a:p>
            <a:r>
              <a:rPr lang="fr-FR" sz="2400" dirty="0" smtClean="0">
                <a:latin typeface="Times New Roman" panose="02020603050405020304" pitchFamily="18" charset="0"/>
                <a:cs typeface="Times New Roman" panose="02020603050405020304" pitchFamily="18" charset="0"/>
              </a:rPr>
              <a:t>Plan de l’Élément Constitutif (EC)</a:t>
            </a:r>
          </a:p>
          <a:p>
            <a:endParaRPr lang="fr-FR" sz="2400" dirty="0" smtClean="0">
              <a:latin typeface="Times New Roman" panose="02020603050405020304" pitchFamily="18" charset="0"/>
              <a:cs typeface="Times New Roman" panose="02020603050405020304" pitchFamily="18" charset="0"/>
            </a:endParaRPr>
          </a:p>
          <a:p>
            <a:pPr marL="342900" indent="-342900">
              <a:buAutoNum type="arabicPeriod"/>
            </a:pPr>
            <a:r>
              <a:rPr lang="fr-FR" sz="2400" dirty="0" smtClean="0">
                <a:latin typeface="Times New Roman" panose="02020603050405020304" pitchFamily="18" charset="0"/>
                <a:cs typeface="Times New Roman" panose="02020603050405020304" pitchFamily="18" charset="0"/>
              </a:rPr>
              <a:t>Rappel et base de la complexité algorithmique </a:t>
            </a:r>
          </a:p>
          <a:p>
            <a:pPr marL="342900" indent="-342900">
              <a:buAutoNum type="arabicPeriod"/>
            </a:pPr>
            <a:endParaRPr lang="fr-FR" sz="2400" dirty="0" smtClean="0">
              <a:latin typeface="Times New Roman" panose="02020603050405020304" pitchFamily="18" charset="0"/>
              <a:cs typeface="Times New Roman" panose="02020603050405020304" pitchFamily="18" charset="0"/>
            </a:endParaRPr>
          </a:p>
          <a:p>
            <a:pPr marL="342900" indent="-342900">
              <a:buAutoNum type="arabicPeriod"/>
            </a:pPr>
            <a:r>
              <a:rPr lang="fr-FR" sz="2400" dirty="0" smtClean="0">
                <a:latin typeface="Times New Roman" panose="02020603050405020304" pitchFamily="18" charset="0"/>
                <a:cs typeface="Times New Roman" panose="02020603050405020304" pitchFamily="18" charset="0"/>
              </a:rPr>
              <a:t>Tableaux et listes linéaires chainées</a:t>
            </a:r>
          </a:p>
          <a:p>
            <a:pPr marL="342900" indent="-342900">
              <a:buAutoNum type="arabicPeriod"/>
            </a:pPr>
            <a:endParaRPr lang="fr-FR" sz="2400" dirty="0" smtClean="0">
              <a:latin typeface="Times New Roman" panose="02020603050405020304" pitchFamily="18" charset="0"/>
              <a:cs typeface="Times New Roman" panose="02020603050405020304" pitchFamily="18" charset="0"/>
            </a:endParaRPr>
          </a:p>
          <a:p>
            <a:pPr marL="342900" indent="-342900">
              <a:buAutoNum type="arabicPeriod"/>
            </a:pPr>
            <a:r>
              <a:rPr lang="fr-FR" sz="2400" dirty="0" smtClean="0">
                <a:latin typeface="Times New Roman" panose="02020603050405020304" pitchFamily="18" charset="0"/>
                <a:cs typeface="Times New Roman" panose="02020603050405020304" pitchFamily="18" charset="0"/>
              </a:rPr>
              <a:t>Structures de données particulières : pile, file d’attente</a:t>
            </a:r>
          </a:p>
          <a:p>
            <a:pPr marL="342900" indent="-342900">
              <a:buAutoNum type="arabicPeriod"/>
            </a:pPr>
            <a:endParaRPr lang="fr-FR" sz="2400" dirty="0" smtClean="0">
              <a:latin typeface="Times New Roman" panose="02020603050405020304" pitchFamily="18" charset="0"/>
              <a:cs typeface="Times New Roman" panose="02020603050405020304" pitchFamily="18" charset="0"/>
            </a:endParaRPr>
          </a:p>
          <a:p>
            <a:pPr marL="342900" indent="-342900">
              <a:buAutoNum type="arabicPeriod"/>
            </a:pPr>
            <a:r>
              <a:rPr lang="fr-FR" sz="2400" dirty="0" smtClean="0">
                <a:latin typeface="Times New Roman" panose="02020603050405020304" pitchFamily="18" charset="0"/>
                <a:cs typeface="Times New Roman" panose="02020603050405020304" pitchFamily="18" charset="0"/>
              </a:rPr>
              <a:t>Table de hachage</a:t>
            </a:r>
          </a:p>
          <a:p>
            <a:pPr marL="342900" indent="-342900">
              <a:buAutoNum type="arabicPeriod"/>
            </a:pPr>
            <a:endParaRPr lang="fr-FR" sz="2400" dirty="0" smtClean="0">
              <a:latin typeface="Times New Roman" panose="02020603050405020304" pitchFamily="18" charset="0"/>
              <a:cs typeface="Times New Roman" panose="02020603050405020304" pitchFamily="18" charset="0"/>
            </a:endParaRPr>
          </a:p>
          <a:p>
            <a:pPr marL="342900" indent="-342900">
              <a:buAutoNum type="arabicPeriod"/>
            </a:pPr>
            <a:r>
              <a:rPr lang="fr-FR" sz="2400" dirty="0" smtClean="0">
                <a:latin typeface="Times New Roman" panose="02020603050405020304" pitchFamily="18" charset="0"/>
                <a:cs typeface="Times New Roman" panose="02020603050405020304" pitchFamily="18" charset="0"/>
              </a:rPr>
              <a:t>Arbre</a:t>
            </a:r>
          </a:p>
          <a:p>
            <a:pPr marL="342900" indent="-342900">
              <a:buAutoNum type="arabicPeriod"/>
            </a:pPr>
            <a:endParaRPr lang="fr-FR" sz="2400" dirty="0" smtClean="0">
              <a:latin typeface="Times New Roman" panose="02020603050405020304" pitchFamily="18" charset="0"/>
              <a:cs typeface="Times New Roman" panose="02020603050405020304" pitchFamily="18" charset="0"/>
            </a:endParaRPr>
          </a:p>
          <a:p>
            <a:pPr marL="342900" indent="-342900">
              <a:buAutoNum type="arabicPeriod"/>
            </a:pPr>
            <a:r>
              <a:rPr lang="fr-FR" sz="2400" dirty="0" smtClean="0">
                <a:latin typeface="Times New Roman" panose="02020603050405020304" pitchFamily="18" charset="0"/>
                <a:cs typeface="Times New Roman" panose="02020603050405020304" pitchFamily="18" charset="0"/>
              </a:rPr>
              <a:t>Références</a:t>
            </a:r>
          </a:p>
        </p:txBody>
      </p:sp>
    </p:spTree>
    <p:extLst>
      <p:ext uri="{BB962C8B-B14F-4D97-AF65-F5344CB8AC3E}">
        <p14:creationId xmlns:p14="http://schemas.microsoft.com/office/powerpoint/2010/main" val="86791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391920" y="711200"/>
            <a:ext cx="9418320" cy="4524315"/>
          </a:xfrm>
          <a:prstGeom prst="rect">
            <a:avLst/>
          </a:prstGeom>
          <a:noFill/>
        </p:spPr>
        <p:txBody>
          <a:bodyPr wrap="square" rtlCol="0">
            <a:spAutoFit/>
          </a:bodyPr>
          <a:lstStyle/>
          <a:p>
            <a:r>
              <a:rPr lang="fr-FR" sz="2400" dirty="0" smtClean="0">
                <a:latin typeface="Times New Roman" panose="02020603050405020304" pitchFamily="18" charset="0"/>
                <a:cs typeface="Times New Roman" panose="02020603050405020304" pitchFamily="18" charset="0"/>
              </a:rPr>
              <a:t>Objectifs de l’Elément Constitutif</a:t>
            </a:r>
          </a:p>
          <a:p>
            <a:endParaRPr lang="fr-FR" sz="2400" dirty="0" smtClean="0">
              <a:latin typeface="Times New Roman" panose="02020603050405020304" pitchFamily="18" charset="0"/>
              <a:cs typeface="Times New Roman" panose="02020603050405020304" pitchFamily="18" charset="0"/>
            </a:endParaRPr>
          </a:p>
          <a:p>
            <a:pPr marL="285750" indent="-285750">
              <a:buFontTx/>
              <a:buChar char="-"/>
            </a:pPr>
            <a:r>
              <a:rPr lang="fr-FR" sz="2400" dirty="0" smtClean="0">
                <a:latin typeface="Times New Roman" panose="02020603050405020304" pitchFamily="18" charset="0"/>
                <a:cs typeface="Times New Roman" panose="02020603050405020304" pitchFamily="18" charset="0"/>
              </a:rPr>
              <a:t>Maitrise de la base de l’algorithme</a:t>
            </a:r>
          </a:p>
          <a:p>
            <a:pPr marL="285750" indent="-285750">
              <a:buFontTx/>
              <a:buChar char="-"/>
            </a:pPr>
            <a:endParaRPr lang="fr-FR" sz="2400" dirty="0" smtClean="0">
              <a:latin typeface="Times New Roman" panose="02020603050405020304" pitchFamily="18" charset="0"/>
              <a:cs typeface="Times New Roman" panose="02020603050405020304" pitchFamily="18" charset="0"/>
            </a:endParaRPr>
          </a:p>
          <a:p>
            <a:pPr marL="285750" indent="-285750">
              <a:buFontTx/>
              <a:buChar char="-"/>
            </a:pPr>
            <a:r>
              <a:rPr lang="fr-FR" sz="2400" dirty="0" smtClean="0">
                <a:latin typeface="Times New Roman" panose="02020603050405020304" pitchFamily="18" charset="0"/>
                <a:cs typeface="Times New Roman" panose="02020603050405020304" pitchFamily="18" charset="0"/>
              </a:rPr>
              <a:t>Manipulation des données dans des tableaux et listes linéaires chainées</a:t>
            </a:r>
          </a:p>
          <a:p>
            <a:pPr marL="285750" indent="-285750">
              <a:buFontTx/>
              <a:buChar char="-"/>
            </a:pPr>
            <a:endParaRPr lang="fr-FR" sz="2400" dirty="0" smtClean="0">
              <a:latin typeface="Times New Roman" panose="02020603050405020304" pitchFamily="18" charset="0"/>
              <a:cs typeface="Times New Roman" panose="02020603050405020304" pitchFamily="18" charset="0"/>
            </a:endParaRPr>
          </a:p>
          <a:p>
            <a:pPr marL="285750" indent="-285750">
              <a:buFontTx/>
              <a:buChar char="-"/>
            </a:pPr>
            <a:r>
              <a:rPr lang="fr-FR" sz="2400" dirty="0" smtClean="0">
                <a:latin typeface="Times New Roman" panose="02020603050405020304" pitchFamily="18" charset="0"/>
                <a:cs typeface="Times New Roman" panose="02020603050405020304" pitchFamily="18" charset="0"/>
              </a:rPr>
              <a:t>Manipulation des données dans des piles</a:t>
            </a:r>
          </a:p>
          <a:p>
            <a:pPr marL="285750" indent="-285750">
              <a:buFontTx/>
              <a:buChar char="-"/>
            </a:pPr>
            <a:endParaRPr lang="fr-FR" sz="2400" dirty="0" smtClean="0">
              <a:latin typeface="Times New Roman" panose="02020603050405020304" pitchFamily="18" charset="0"/>
              <a:cs typeface="Times New Roman" panose="02020603050405020304" pitchFamily="18" charset="0"/>
            </a:endParaRPr>
          </a:p>
          <a:p>
            <a:pPr marL="285750" indent="-285750">
              <a:buFontTx/>
              <a:buChar char="-"/>
            </a:pPr>
            <a:r>
              <a:rPr lang="fr-FR" sz="2400" dirty="0" smtClean="0">
                <a:latin typeface="Times New Roman" panose="02020603050405020304" pitchFamily="18" charset="0"/>
                <a:cs typeface="Times New Roman" panose="02020603050405020304" pitchFamily="18" charset="0"/>
              </a:rPr>
              <a:t>Manipulation des données avec de table de hachage</a:t>
            </a:r>
          </a:p>
          <a:p>
            <a:pPr marL="285750" indent="-285750">
              <a:buFontTx/>
              <a:buChar char="-"/>
            </a:pPr>
            <a:endParaRPr lang="fr-FR" sz="2400" dirty="0" smtClean="0">
              <a:latin typeface="Times New Roman" panose="02020603050405020304" pitchFamily="18" charset="0"/>
              <a:cs typeface="Times New Roman" panose="02020603050405020304" pitchFamily="18" charset="0"/>
            </a:endParaRPr>
          </a:p>
          <a:p>
            <a:pPr marL="285750" indent="-285750">
              <a:buFontTx/>
              <a:buChar char="-"/>
            </a:pPr>
            <a:r>
              <a:rPr lang="fr-FR" sz="2400" dirty="0" smtClean="0">
                <a:latin typeface="Times New Roman" panose="02020603050405020304" pitchFamily="18" charset="0"/>
                <a:cs typeface="Times New Roman" panose="02020603050405020304" pitchFamily="18" charset="0"/>
              </a:rPr>
              <a:t>Maitrise des algorithmes sur les arbres</a:t>
            </a:r>
          </a:p>
          <a:p>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55838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67360" y="568960"/>
            <a:ext cx="11297920" cy="3785652"/>
          </a:xfrm>
          <a:prstGeom prst="rect">
            <a:avLst/>
          </a:prstGeom>
          <a:noFill/>
        </p:spPr>
        <p:txBody>
          <a:bodyPr wrap="square" rtlCol="0">
            <a:spAutoFit/>
          </a:bodyPr>
          <a:lstStyle/>
          <a:p>
            <a:r>
              <a:rPr lang="fr-FR" sz="2400" b="1" dirty="0" smtClean="0">
                <a:latin typeface="Times New Roman" panose="02020603050405020304" pitchFamily="18" charset="0"/>
                <a:cs typeface="Times New Roman" panose="02020603050405020304" pitchFamily="18" charset="0"/>
              </a:rPr>
              <a:t>Chapitre 1. Rappel et base de la complexité algorithmique</a:t>
            </a:r>
          </a:p>
          <a:p>
            <a:endParaRPr lang="fr-FR" sz="2400" dirty="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1.1. Algorithmes</a:t>
            </a:r>
          </a:p>
          <a:p>
            <a:pPr marL="285750" indent="-285750">
              <a:buFontTx/>
              <a:buChar char="-"/>
            </a:pPr>
            <a:endParaRPr lang="fr-FR" sz="2400" dirty="0" smtClean="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1.2. Rappel sur les algorithmes</a:t>
            </a:r>
          </a:p>
          <a:p>
            <a:pPr marL="285750" indent="-285750">
              <a:buFontTx/>
              <a:buChar char="-"/>
            </a:pPr>
            <a:endParaRPr lang="fr-FR" sz="2400" dirty="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1.3. Fonctions</a:t>
            </a:r>
          </a:p>
          <a:p>
            <a:pPr marL="285750" indent="-285750">
              <a:buFontTx/>
              <a:buChar char="-"/>
            </a:pPr>
            <a:endParaRPr lang="fr-FR" sz="2400" dirty="0" smtClean="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1.4. Notion </a:t>
            </a:r>
            <a:r>
              <a:rPr lang="fr-FR" sz="2400" dirty="0">
                <a:latin typeface="Times New Roman" panose="02020603050405020304" pitchFamily="18" charset="0"/>
                <a:cs typeface="Times New Roman" panose="02020603050405020304" pitchFamily="18" charset="0"/>
              </a:rPr>
              <a:t>de complexité d’un algorithme</a:t>
            </a:r>
          </a:p>
          <a:p>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33638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ZoneTexte 2"/>
              <p:cNvSpPr txBox="1"/>
              <p:nvPr/>
            </p:nvSpPr>
            <p:spPr>
              <a:xfrm>
                <a:off x="233680" y="447040"/>
                <a:ext cx="11724640" cy="5686750"/>
              </a:xfrm>
              <a:prstGeom prst="rect">
                <a:avLst/>
              </a:prstGeom>
              <a:noFill/>
            </p:spPr>
            <p:txBody>
              <a:bodyPr wrap="square" rtlCol="0">
                <a:spAutoFit/>
              </a:bodyPr>
              <a:lstStyle/>
              <a:p>
                <a:r>
                  <a:rPr lang="fr-FR" sz="2400" b="1" dirty="0" smtClean="0">
                    <a:latin typeface="Times New Roman" panose="02020603050405020304" pitchFamily="18" charset="0"/>
                    <a:cs typeface="Times New Roman" panose="02020603050405020304" pitchFamily="18" charset="0"/>
                  </a:rPr>
                  <a:t>1.1. Algorithmes</a:t>
                </a:r>
              </a:p>
              <a:p>
                <a:endParaRPr lang="fr-FR" sz="2000" dirty="0">
                  <a:latin typeface="Times New Roman" panose="02020603050405020304" pitchFamily="18" charset="0"/>
                  <a:cs typeface="Times New Roman" panose="02020603050405020304" pitchFamily="18" charset="0"/>
                </a:endParaRPr>
              </a:p>
              <a:p>
                <a:pPr marL="285750" indent="-285750">
                  <a:buFontTx/>
                  <a:buChar char="-"/>
                </a:pPr>
                <a:r>
                  <a:rPr lang="fr-FR" sz="2000" dirty="0" smtClean="0">
                    <a:latin typeface="Times New Roman" panose="02020603050405020304" pitchFamily="18" charset="0"/>
                    <a:cs typeface="Times New Roman" panose="02020603050405020304" pitchFamily="18" charset="0"/>
                  </a:rPr>
                  <a:t>Un algorithme est une suite ordonnée d’opérations ou d’instructions écrites pour la résolution d’un problème donné.</a:t>
                </a:r>
              </a:p>
              <a:p>
                <a:pPr marL="285750" indent="-285750">
                  <a:buFontTx/>
                  <a:buChar char="-"/>
                </a:pPr>
                <a:endParaRPr lang="fr-FR" sz="2000" dirty="0">
                  <a:latin typeface="Times New Roman" panose="02020603050405020304" pitchFamily="18" charset="0"/>
                  <a:cs typeface="Times New Roman" panose="02020603050405020304" pitchFamily="18" charset="0"/>
                  <a:sym typeface="Wingdings" panose="05000000000000000000" pitchFamily="2" charset="2"/>
                </a:endParaRPr>
              </a:p>
              <a:p>
                <a:pPr marL="285750" indent="-285750">
                  <a:buFontTx/>
                  <a:buChar char="-"/>
                </a:pPr>
                <a:r>
                  <a:rPr lang="fr-FR" sz="2000" dirty="0" smtClean="0">
                    <a:latin typeface="Times New Roman" panose="02020603050405020304" pitchFamily="18" charset="0"/>
                    <a:cs typeface="Times New Roman" panose="02020603050405020304" pitchFamily="18" charset="0"/>
                    <a:sym typeface="Wingdings" panose="05000000000000000000" pitchFamily="2" charset="2"/>
                  </a:rPr>
                  <a:t> Algorithme est une suite d’actions que devra effectuer un automate (ordinateur) pour arriver à partir d’un état initial, en un temps fini, à un  résultat.</a:t>
                </a:r>
                <a:endParaRPr lang="fr-FR" sz="2000" dirty="0">
                  <a:latin typeface="Times New Roman" panose="02020603050405020304" pitchFamily="18" charset="0"/>
                  <a:cs typeface="Times New Roman" panose="02020603050405020304" pitchFamily="18" charset="0"/>
                </a:endParaRPr>
              </a:p>
              <a:p>
                <a:pPr marL="285750" indent="-285750">
                  <a:buFontTx/>
                  <a:buChar char="-"/>
                </a:pPr>
                <a:endParaRPr lang="fr-FR" sz="2000" dirty="0">
                  <a:latin typeface="Times New Roman" panose="02020603050405020304" pitchFamily="18" charset="0"/>
                  <a:cs typeface="Times New Roman" panose="02020603050405020304" pitchFamily="18" charset="0"/>
                </a:endParaRPr>
              </a:p>
              <a:p>
                <a:pPr marL="285750" indent="-285750">
                  <a:buFontTx/>
                  <a:buChar char="-"/>
                </a:pPr>
                <a:r>
                  <a:rPr lang="fr-FR" sz="2000" dirty="0" smtClean="0">
                    <a:latin typeface="Times New Roman" panose="02020603050405020304" pitchFamily="18" charset="0"/>
                    <a:cs typeface="Times New Roman" panose="02020603050405020304" pitchFamily="18" charset="0"/>
                  </a:rPr>
                  <a:t>L’algorithmique désigne le processus de recherche d’algorithme.</a:t>
                </a:r>
              </a:p>
              <a:p>
                <a:pPr marL="285750" indent="-285750">
                  <a:buFontTx/>
                  <a:buChar char="-"/>
                </a:pP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Exemple : Trier une suite de nombres dans l’ordre croissant.</a:t>
                </a:r>
              </a:p>
              <a:p>
                <a:r>
                  <a:rPr lang="fr-FR" sz="2000" b="1" dirty="0" smtClean="0">
                    <a:latin typeface="Times New Roman" panose="02020603050405020304" pitchFamily="18" charset="0"/>
                    <a:cs typeface="Times New Roman" panose="02020603050405020304" pitchFamily="18" charset="0"/>
                  </a:rPr>
                  <a:t>Problème de tri</a:t>
                </a:r>
                <a:r>
                  <a:rPr lang="fr-FR" sz="2000" dirty="0" smtClean="0">
                    <a:latin typeface="Times New Roman" panose="02020603050405020304" pitchFamily="18" charset="0"/>
                    <a:cs typeface="Times New Roman" panose="02020603050405020304" pitchFamily="18" charset="0"/>
                  </a:rPr>
                  <a:t> :</a:t>
                </a:r>
              </a:p>
              <a:p>
                <a:r>
                  <a:rPr lang="fr-FR" sz="2000" dirty="0" smtClean="0">
                    <a:latin typeface="Times New Roman" panose="02020603050405020304" pitchFamily="18" charset="0"/>
                    <a:cs typeface="Times New Roman" panose="02020603050405020304" pitchFamily="18" charset="0"/>
                  </a:rPr>
                  <a:t>En entrée : suite de nombres {a</a:t>
                </a:r>
                <a:r>
                  <a:rPr lang="fr-FR" sz="2000" baseline="-25000" dirty="0" smtClean="0">
                    <a:latin typeface="Times New Roman" panose="02020603050405020304" pitchFamily="18" charset="0"/>
                    <a:cs typeface="Times New Roman" panose="02020603050405020304" pitchFamily="18" charset="0"/>
                  </a:rPr>
                  <a:t>1</a:t>
                </a:r>
                <a:r>
                  <a:rPr lang="fr-FR" sz="2000" dirty="0" smtClean="0">
                    <a:latin typeface="Times New Roman" panose="02020603050405020304" pitchFamily="18" charset="0"/>
                    <a:cs typeface="Times New Roman" panose="02020603050405020304" pitchFamily="18" charset="0"/>
                  </a:rPr>
                  <a:t>, a</a:t>
                </a:r>
                <a:r>
                  <a:rPr lang="fr-FR" sz="2000" baseline="-25000" dirty="0" smtClean="0">
                    <a:latin typeface="Times New Roman" panose="02020603050405020304" pitchFamily="18" charset="0"/>
                    <a:cs typeface="Times New Roman" panose="02020603050405020304" pitchFamily="18" charset="0"/>
                  </a:rPr>
                  <a:t>2</a:t>
                </a:r>
                <a:r>
                  <a:rPr lang="fr-FR" sz="2000" dirty="0" smtClean="0">
                    <a:latin typeface="Times New Roman" panose="02020603050405020304" pitchFamily="18" charset="0"/>
                    <a:cs typeface="Times New Roman" panose="02020603050405020304" pitchFamily="18" charset="0"/>
                  </a:rPr>
                  <a:t>,…, a</a:t>
                </a:r>
                <a:r>
                  <a:rPr lang="fr-FR" sz="2000" baseline="-25000" dirty="0" smtClean="0">
                    <a:latin typeface="Times New Roman" panose="02020603050405020304" pitchFamily="18" charset="0"/>
                    <a:cs typeface="Times New Roman" panose="02020603050405020304" pitchFamily="18" charset="0"/>
                  </a:rPr>
                  <a:t>n</a:t>
                </a:r>
                <a:r>
                  <a:rPr lang="fr-FR" sz="2000" dirty="0" smtClean="0">
                    <a:latin typeface="Times New Roman" panose="02020603050405020304" pitchFamily="18" charset="0"/>
                    <a:cs typeface="Times New Roman" panose="02020603050405020304" pitchFamily="18" charset="0"/>
                  </a:rPr>
                  <a:t>}.</a:t>
                </a:r>
              </a:p>
              <a:p>
                <a:r>
                  <a:rPr lang="fr-FR" sz="2000" dirty="0" smtClean="0">
                    <a:latin typeface="Times New Roman" panose="02020603050405020304" pitchFamily="18" charset="0"/>
                    <a:cs typeface="Times New Roman" panose="02020603050405020304" pitchFamily="18" charset="0"/>
                  </a:rPr>
                  <a:t>En sortie : permutation (réorganisation) {a</a:t>
                </a:r>
                <a:r>
                  <a:rPr lang="fr-FR" sz="2000" baseline="-25000" dirty="0" smtClean="0">
                    <a:latin typeface="Times New Roman" panose="02020603050405020304" pitchFamily="18" charset="0"/>
                    <a:cs typeface="Times New Roman" panose="02020603050405020304" pitchFamily="18" charset="0"/>
                  </a:rPr>
                  <a:t>1</a:t>
                </a:r>
                <a:r>
                  <a:rPr lang="fr-FR" sz="2000" dirty="0" smtClean="0">
                    <a:latin typeface="Times New Roman" panose="02020603050405020304" pitchFamily="18" charset="0"/>
                    <a:cs typeface="Times New Roman" panose="02020603050405020304" pitchFamily="18" charset="0"/>
                  </a:rPr>
                  <a:t>, a</a:t>
                </a:r>
                <a:r>
                  <a:rPr lang="fr-FR" sz="2000" baseline="-25000" dirty="0" smtClean="0">
                    <a:latin typeface="Times New Roman" panose="02020603050405020304" pitchFamily="18" charset="0"/>
                    <a:cs typeface="Times New Roman" panose="02020603050405020304" pitchFamily="18" charset="0"/>
                  </a:rPr>
                  <a:t>2</a:t>
                </a:r>
                <a:r>
                  <a:rPr lang="fr-FR" sz="2000" dirty="0" smtClean="0">
                    <a:latin typeface="Times New Roman" panose="02020603050405020304" pitchFamily="18" charset="0"/>
                    <a:cs typeface="Times New Roman" panose="02020603050405020304" pitchFamily="18" charset="0"/>
                  </a:rPr>
                  <a:t>,…, a</a:t>
                </a:r>
                <a:r>
                  <a:rPr lang="fr-FR" sz="2000" baseline="-25000" dirty="0" smtClean="0">
                    <a:latin typeface="Times New Roman" panose="02020603050405020304" pitchFamily="18" charset="0"/>
                    <a:cs typeface="Times New Roman" panose="02020603050405020304" pitchFamily="18" charset="0"/>
                  </a:rPr>
                  <a:t>n</a:t>
                </a:r>
                <a:r>
                  <a:rPr lang="fr-FR" sz="2000" dirty="0" smtClean="0">
                    <a:latin typeface="Times New Roman" panose="02020603050405020304" pitchFamily="18" charset="0"/>
                    <a:cs typeface="Times New Roman" panose="02020603050405020304" pitchFamily="18" charset="0"/>
                  </a:rPr>
                  <a:t>} de la suite donnée en entrée, de façon que a</a:t>
                </a:r>
                <a:r>
                  <a:rPr lang="fr-FR" sz="2000" baseline="-25000" dirty="0" smtClean="0">
                    <a:latin typeface="Times New Roman" panose="02020603050405020304" pitchFamily="18" charset="0"/>
                    <a:cs typeface="Times New Roman" panose="02020603050405020304" pitchFamily="18" charset="0"/>
                  </a:rPr>
                  <a:t>1</a:t>
                </a:r>
                <a:r>
                  <a:rPr lang="fr-FR" sz="2000" dirty="0" smtClean="0">
                    <a:latin typeface="Times New Roman" panose="02020603050405020304" pitchFamily="18" charset="0"/>
                    <a:cs typeface="Times New Roman" panose="02020603050405020304" pitchFamily="18" charset="0"/>
                  </a:rPr>
                  <a:t> </a:t>
                </a:r>
                <a14:m>
                  <m:oMath xmlns:m="http://schemas.openxmlformats.org/officeDocument/2006/math">
                    <m:r>
                      <a:rPr lang="fr-FR" sz="2000" i="1" smtClean="0">
                        <a:latin typeface="Cambria Math" panose="02040503050406030204" pitchFamily="18" charset="0"/>
                        <a:ea typeface="Cambria Math" panose="02040503050406030204" pitchFamily="18" charset="0"/>
                        <a:cs typeface="Times New Roman" panose="02020603050405020304" pitchFamily="18" charset="0"/>
                      </a:rPr>
                      <m:t>≤</m:t>
                    </m:r>
                    <m:r>
                      <a:rPr lang="fr-FR" sz="2000" b="0" i="1" smtClean="0">
                        <a:latin typeface="Cambria Math" panose="02040503050406030204" pitchFamily="18" charset="0"/>
                        <a:ea typeface="Cambria Math" panose="02040503050406030204" pitchFamily="18" charset="0"/>
                        <a:cs typeface="Times New Roman" panose="02020603050405020304" pitchFamily="18" charset="0"/>
                      </a:rPr>
                      <m:t>𝑎</m:t>
                    </m:r>
                    <m:r>
                      <a:rPr lang="fr-FR" sz="2000" b="0" i="1" baseline="-25000" smtClean="0">
                        <a:latin typeface="Cambria Math" panose="02040503050406030204" pitchFamily="18" charset="0"/>
                        <a:ea typeface="Cambria Math" panose="02040503050406030204" pitchFamily="18" charset="0"/>
                        <a:cs typeface="Times New Roman" panose="02020603050405020304" pitchFamily="18" charset="0"/>
                      </a:rPr>
                      <m:t>2</m:t>
                    </m:r>
                    <m:r>
                      <a:rPr lang="fr-FR" sz="2000" i="1" smtClean="0">
                        <a:latin typeface="Cambria Math" panose="02040503050406030204" pitchFamily="18" charset="0"/>
                        <a:ea typeface="Cambria Math" panose="02040503050406030204" pitchFamily="18" charset="0"/>
                        <a:cs typeface="Times New Roman" panose="02020603050405020304" pitchFamily="18" charset="0"/>
                      </a:rPr>
                      <m:t>≤</m:t>
                    </m:r>
                    <m:r>
                      <a:rPr lang="fr-FR"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fr-FR" sz="2000" i="1" smtClean="0">
                        <a:latin typeface="Cambria Math" panose="02040503050406030204" pitchFamily="18" charset="0"/>
                        <a:ea typeface="Cambria Math" panose="02040503050406030204" pitchFamily="18" charset="0"/>
                        <a:cs typeface="Times New Roman" panose="02020603050405020304" pitchFamily="18" charset="0"/>
                      </a:rPr>
                      <m:t>≤</m:t>
                    </m:r>
                    <m:r>
                      <a:rPr lang="fr-FR" sz="2000" b="0" i="1" smtClean="0">
                        <a:latin typeface="Cambria Math" panose="02040503050406030204" pitchFamily="18" charset="0"/>
                        <a:ea typeface="Cambria Math" panose="02040503050406030204" pitchFamily="18" charset="0"/>
                        <a:cs typeface="Times New Roman" panose="02020603050405020304" pitchFamily="18" charset="0"/>
                      </a:rPr>
                      <m:t>𝑎</m:t>
                    </m:r>
                    <m:r>
                      <a:rPr lang="fr-FR" sz="2000" b="0" i="1" baseline="-25000" smtClean="0">
                        <a:latin typeface="Cambria Math" panose="02040503050406030204" pitchFamily="18" charset="0"/>
                        <a:ea typeface="Cambria Math" panose="02040503050406030204" pitchFamily="18" charset="0"/>
                        <a:cs typeface="Times New Roman" panose="02020603050405020304" pitchFamily="18" charset="0"/>
                      </a:rPr>
                      <m:t>𝑛</m:t>
                    </m:r>
                  </m:oMath>
                </a14:m>
                <a:endParaRPr lang="fr-FR" sz="2000" baseline="-25000" dirty="0" smtClean="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Ainsi, à partir de la suite {31, 41, 59, 26, 41, 58}, un algorithme de tri produit en sortie la suite {26, 31, 41, 41, 58, 59}.</a:t>
                </a:r>
              </a:p>
              <a:p>
                <a:r>
                  <a:rPr lang="fr-FR" sz="2000" dirty="0" smtClean="0">
                    <a:latin typeface="Times New Roman" panose="02020603050405020304" pitchFamily="18" charset="0"/>
                    <a:cs typeface="Times New Roman" panose="02020603050405020304" pitchFamily="18" charset="0"/>
                  </a:rPr>
                  <a:t>A propos de la suite donnée en entrée, on parle d’</a:t>
                </a:r>
                <a:r>
                  <a:rPr lang="fr-FR" sz="2000" b="1" dirty="0" smtClean="0">
                    <a:latin typeface="Times New Roman" panose="02020603050405020304" pitchFamily="18" charset="0"/>
                    <a:cs typeface="Times New Roman" panose="02020603050405020304" pitchFamily="18" charset="0"/>
                  </a:rPr>
                  <a:t>instances</a:t>
                </a:r>
                <a:r>
                  <a:rPr lang="fr-FR" sz="2000" dirty="0" smtClean="0">
                    <a:latin typeface="Times New Roman" panose="02020603050405020304" pitchFamily="18" charset="0"/>
                    <a:cs typeface="Times New Roman" panose="02020603050405020304" pitchFamily="18" charset="0"/>
                  </a:rPr>
                  <a:t> du problème de tri.  </a:t>
                </a:r>
              </a:p>
            </p:txBody>
          </p:sp>
        </mc:Choice>
        <mc:Fallback xmlns="">
          <p:sp>
            <p:nvSpPr>
              <p:cNvPr id="3" name="ZoneTexte 2"/>
              <p:cNvSpPr txBox="1">
                <a:spLocks noRot="1" noChangeAspect="1" noMove="1" noResize="1" noEditPoints="1" noAdjustHandles="1" noChangeArrowheads="1" noChangeShapeType="1" noTextEdit="1"/>
              </p:cNvSpPr>
              <p:nvPr/>
            </p:nvSpPr>
            <p:spPr>
              <a:xfrm>
                <a:off x="233680" y="447040"/>
                <a:ext cx="11724640" cy="5686750"/>
              </a:xfrm>
              <a:prstGeom prst="rect">
                <a:avLst/>
              </a:prstGeom>
              <a:blipFill>
                <a:blip r:embed="rId2"/>
                <a:stretch>
                  <a:fillRect l="-780" t="-857" r="-52" b="-965"/>
                </a:stretch>
              </a:blipFill>
            </p:spPr>
            <p:txBody>
              <a:bodyPr/>
              <a:lstStyle/>
              <a:p>
                <a:r>
                  <a:rPr lang="fr-FR">
                    <a:noFill/>
                  </a:rPr>
                  <a:t> </a:t>
                </a:r>
              </a:p>
            </p:txBody>
          </p:sp>
        </mc:Fallback>
      </mc:AlternateContent>
    </p:spTree>
    <p:extLst>
      <p:ext uri="{BB962C8B-B14F-4D97-AF65-F5344CB8AC3E}">
        <p14:creationId xmlns:p14="http://schemas.microsoft.com/office/powerpoint/2010/main" val="16762192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06400" y="345440"/>
            <a:ext cx="11490960" cy="6370975"/>
          </a:xfrm>
          <a:prstGeom prst="rect">
            <a:avLst/>
          </a:prstGeom>
          <a:noFill/>
        </p:spPr>
        <p:txBody>
          <a:bodyPr wrap="square" rtlCol="0">
            <a:spAutoFit/>
          </a:bodyPr>
          <a:lstStyle/>
          <a:p>
            <a:r>
              <a:rPr lang="fr-FR" sz="2400" b="1" dirty="0" smtClean="0">
                <a:latin typeface="Times New Roman" panose="02020603050405020304" pitchFamily="18" charset="0"/>
                <a:cs typeface="Times New Roman" panose="02020603050405020304" pitchFamily="18" charset="0"/>
              </a:rPr>
              <a:t>1.2. Rappel sur les algorithmes</a:t>
            </a:r>
          </a:p>
          <a:p>
            <a:endParaRPr lang="fr-FR" sz="2400" dirty="0" smtClean="0">
              <a:latin typeface="Times New Roman" panose="02020603050405020304" pitchFamily="18" charset="0"/>
              <a:cs typeface="Times New Roman" panose="02020603050405020304" pitchFamily="18" charset="0"/>
            </a:endParaRPr>
          </a:p>
          <a:p>
            <a:pPr marL="285750" indent="-285750">
              <a:buFontTx/>
              <a:buChar char="-"/>
            </a:pPr>
            <a:r>
              <a:rPr lang="fr-FR" sz="2400" b="1" dirty="0" smtClean="0">
                <a:latin typeface="Times New Roman" panose="02020603050405020304" pitchFamily="18" charset="0"/>
                <a:cs typeface="Times New Roman" panose="02020603050405020304" pitchFamily="18" charset="0"/>
              </a:rPr>
              <a:t>Constante</a:t>
            </a:r>
            <a:r>
              <a:rPr lang="fr-FR" sz="2400" dirty="0" smtClean="0">
                <a:latin typeface="Times New Roman" panose="02020603050405020304" pitchFamily="18" charset="0"/>
                <a:cs typeface="Times New Roman" panose="02020603050405020304" pitchFamily="18" charset="0"/>
              </a:rPr>
              <a:t> est une valeur (numérique, caractère, chaine de caractères, booléenne)</a:t>
            </a:r>
          </a:p>
          <a:p>
            <a:r>
              <a:rPr lang="fr-FR" sz="2400" dirty="0" smtClean="0">
                <a:latin typeface="Times New Roman" panose="02020603050405020304" pitchFamily="18" charset="0"/>
                <a:cs typeface="Times New Roman" panose="02020603050405020304" pitchFamily="18" charset="0"/>
              </a:rPr>
              <a:t> </a:t>
            </a:r>
          </a:p>
          <a:p>
            <a:pPr marL="285750" indent="-285750" algn="just">
              <a:buFontTx/>
              <a:buChar char="-"/>
            </a:pPr>
            <a:r>
              <a:rPr lang="fr-FR" sz="2400" b="1" dirty="0" smtClean="0">
                <a:latin typeface="Times New Roman" panose="02020603050405020304" pitchFamily="18" charset="0"/>
                <a:cs typeface="Times New Roman" panose="02020603050405020304" pitchFamily="18" charset="0"/>
              </a:rPr>
              <a:t>Variable</a:t>
            </a:r>
            <a:r>
              <a:rPr lang="fr-FR" sz="2400" dirty="0" smtClean="0">
                <a:latin typeface="Times New Roman" panose="02020603050405020304" pitchFamily="18" charset="0"/>
                <a:cs typeface="Times New Roman" panose="02020603050405020304" pitchFamily="18" charset="0"/>
              </a:rPr>
              <a:t> est une étiquette ou </a:t>
            </a:r>
            <a:r>
              <a:rPr lang="fr-FR" sz="2400" b="1" dirty="0" smtClean="0">
                <a:latin typeface="Times New Roman" panose="02020603050405020304" pitchFamily="18" charset="0"/>
                <a:cs typeface="Times New Roman" panose="02020603050405020304" pitchFamily="18" charset="0"/>
              </a:rPr>
              <a:t>identificateur</a:t>
            </a:r>
            <a:r>
              <a:rPr lang="fr-FR" sz="2400" dirty="0" smtClean="0">
                <a:latin typeface="Times New Roman" panose="02020603050405020304" pitchFamily="18" charset="0"/>
                <a:cs typeface="Times New Roman" panose="02020603050405020304" pitchFamily="18" charset="0"/>
              </a:rPr>
              <a:t> identifiant des cases ou emplacements en mémoire de l’ordinateur. Chaque variable est une suite de caractères pris parmi les lettres, les chiffres et le caractère souligné.</a:t>
            </a:r>
          </a:p>
          <a:p>
            <a:pPr algn="just"/>
            <a:r>
              <a:rPr lang="fr-FR" sz="2400" dirty="0" smtClean="0">
                <a:latin typeface="Times New Roman" panose="02020603050405020304" pitchFamily="18" charset="0"/>
                <a:cs typeface="Times New Roman" panose="02020603050405020304" pitchFamily="18" charset="0"/>
              </a:rPr>
              <a:t>   Exemple : a, A2_b3, tata, sont valables, alors que 53, 3A, A+B ne le sont pas. </a:t>
            </a:r>
          </a:p>
          <a:p>
            <a:endParaRPr lang="fr-FR" sz="2400" dirty="0">
              <a:latin typeface="Times New Roman" panose="02020603050405020304" pitchFamily="18" charset="0"/>
              <a:cs typeface="Times New Roman" panose="02020603050405020304" pitchFamily="18" charset="0"/>
            </a:endParaRPr>
          </a:p>
          <a:p>
            <a:pPr marL="285750" indent="-285750" algn="just">
              <a:buFontTx/>
              <a:buChar char="-"/>
            </a:pPr>
            <a:r>
              <a:rPr lang="fr-FR" sz="2400" b="1" dirty="0" smtClean="0">
                <a:latin typeface="Times New Roman" panose="02020603050405020304" pitchFamily="18" charset="0"/>
                <a:cs typeface="Times New Roman" panose="02020603050405020304" pitchFamily="18" charset="0"/>
              </a:rPr>
              <a:t>Type de variable</a:t>
            </a:r>
            <a:r>
              <a:rPr lang="fr-FR" sz="2400" dirty="0" smtClean="0">
                <a:latin typeface="Times New Roman" panose="02020603050405020304" pitchFamily="18" charset="0"/>
                <a:cs typeface="Times New Roman" panose="02020603050405020304" pitchFamily="18" charset="0"/>
              </a:rPr>
              <a:t> est la nature de variable. Une </a:t>
            </a:r>
            <a:r>
              <a:rPr lang="fr-FR" sz="2400" b="1" dirty="0" smtClean="0">
                <a:latin typeface="Times New Roman" panose="02020603050405020304" pitchFamily="18" charset="0"/>
                <a:cs typeface="Times New Roman" panose="02020603050405020304" pitchFamily="18" charset="0"/>
              </a:rPr>
              <a:t>déclaration</a:t>
            </a:r>
            <a:r>
              <a:rPr lang="fr-FR" sz="2400" dirty="0" smtClean="0">
                <a:latin typeface="Times New Roman" panose="02020603050405020304" pitchFamily="18" charset="0"/>
                <a:cs typeface="Times New Roman" panose="02020603050405020304" pitchFamily="18" charset="0"/>
              </a:rPr>
              <a:t> sert à indiquer à l’ordinateur les variables (ou identificateurs) utilisés, ainsi que leur type. </a:t>
            </a:r>
          </a:p>
          <a:p>
            <a:r>
              <a:rPr lang="fr-FR" sz="2400" dirty="0" smtClean="0">
                <a:latin typeface="Times New Roman" panose="02020603050405020304" pitchFamily="18" charset="0"/>
                <a:cs typeface="Times New Roman" panose="02020603050405020304" pitchFamily="18" charset="0"/>
              </a:rPr>
              <a:t>    Syntaxe : type variable; exemple : entier nb1, nb2, nb3;</a:t>
            </a:r>
          </a:p>
          <a:p>
            <a:endParaRPr lang="fr-FR" sz="2400" dirty="0" smtClean="0">
              <a:latin typeface="Times New Roman" panose="02020603050405020304" pitchFamily="18" charset="0"/>
              <a:cs typeface="Times New Roman" panose="02020603050405020304" pitchFamily="18" charset="0"/>
            </a:endParaRPr>
          </a:p>
          <a:p>
            <a:pPr marL="285750" indent="-285750">
              <a:buFontTx/>
              <a:buChar char="-"/>
            </a:pPr>
            <a:r>
              <a:rPr lang="fr-FR" sz="2400" b="1" dirty="0" smtClean="0">
                <a:latin typeface="Times New Roman" panose="02020603050405020304" pitchFamily="18" charset="0"/>
                <a:cs typeface="Times New Roman" panose="02020603050405020304" pitchFamily="18" charset="0"/>
              </a:rPr>
              <a:t>Composants élémentaires</a:t>
            </a:r>
            <a:r>
              <a:rPr lang="fr-FR" sz="2400" dirty="0" smtClean="0">
                <a:latin typeface="Times New Roman" panose="02020603050405020304" pitchFamily="18" charset="0"/>
                <a:cs typeface="Times New Roman" panose="02020603050405020304" pitchFamily="18" charset="0"/>
              </a:rPr>
              <a:t> des algorithmes (instructions)</a:t>
            </a:r>
          </a:p>
          <a:p>
            <a:pPr algn="just"/>
            <a:r>
              <a:rPr lang="fr-FR" sz="2400" dirty="0" smtClean="0">
                <a:latin typeface="Times New Roman" panose="02020603050405020304" pitchFamily="18" charset="0"/>
                <a:cs typeface="Times New Roman" panose="02020603050405020304" pitchFamily="18" charset="0"/>
              </a:rPr>
              <a:t>a) </a:t>
            </a:r>
            <a:r>
              <a:rPr lang="fr-FR" sz="2400" b="1" dirty="0" smtClean="0">
                <a:latin typeface="Times New Roman" panose="02020603050405020304" pitchFamily="18" charset="0"/>
                <a:cs typeface="Times New Roman" panose="02020603050405020304" pitchFamily="18" charset="0"/>
              </a:rPr>
              <a:t>Écrire</a:t>
            </a:r>
            <a:r>
              <a:rPr lang="fr-FR" sz="2400" dirty="0" smtClean="0">
                <a:latin typeface="Times New Roman" panose="02020603050405020304" pitchFamily="18" charset="0"/>
                <a:cs typeface="Times New Roman" panose="02020603050405020304" pitchFamily="18" charset="0"/>
              </a:rPr>
              <a:t> permet d’afficher à l’écran un message. Elle est composée du mot écrire, d’un paramètre entre parenthèses et qu’elle est suivie d’un point virgule.</a:t>
            </a:r>
          </a:p>
          <a:p>
            <a:r>
              <a:rPr lang="fr-FR" sz="2400" dirty="0" smtClean="0">
                <a:latin typeface="Times New Roman" panose="02020603050405020304" pitchFamily="18" charset="0"/>
                <a:cs typeface="Times New Roman" panose="02020603050405020304" pitchFamily="18" charset="0"/>
              </a:rPr>
              <a:t>Exemple : écrire(ʺValeur =ʺ &amp; valeur);</a:t>
            </a:r>
          </a:p>
        </p:txBody>
      </p:sp>
    </p:spTree>
    <p:extLst>
      <p:ext uri="{BB962C8B-B14F-4D97-AF65-F5344CB8AC3E}">
        <p14:creationId xmlns:p14="http://schemas.microsoft.com/office/powerpoint/2010/main" val="32300427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 y="119856"/>
            <a:ext cx="11846560" cy="6740307"/>
          </a:xfrm>
          <a:prstGeom prst="rect">
            <a:avLst/>
          </a:prstGeom>
        </p:spPr>
        <p:txBody>
          <a:bodyPr wrap="square">
            <a:spAutoFit/>
          </a:bodyPr>
          <a:lstStyle/>
          <a:p>
            <a:r>
              <a:rPr lang="fr-FR" sz="2400" dirty="0" smtClean="0">
                <a:latin typeface="Times New Roman" panose="02020603050405020304" pitchFamily="18" charset="0"/>
                <a:cs typeface="Times New Roman" panose="02020603050405020304" pitchFamily="18" charset="0"/>
              </a:rPr>
              <a:t>b) </a:t>
            </a:r>
            <a:r>
              <a:rPr lang="fr-FR" sz="2400" b="1" dirty="0" smtClean="0">
                <a:latin typeface="Times New Roman" panose="02020603050405020304" pitchFamily="18" charset="0"/>
                <a:cs typeface="Times New Roman" panose="02020603050405020304" pitchFamily="18" charset="0"/>
              </a:rPr>
              <a:t>Lire</a:t>
            </a:r>
            <a:r>
              <a:rPr lang="fr-FR" sz="2400" dirty="0" smtClean="0">
                <a:latin typeface="Times New Roman" panose="02020603050405020304" pitchFamily="18" charset="0"/>
                <a:cs typeface="Times New Roman" panose="02020603050405020304" pitchFamily="18" charset="0"/>
              </a:rPr>
              <a:t> permet de saisir une valeur au clavier.</a:t>
            </a:r>
          </a:p>
          <a:p>
            <a:pPr algn="just"/>
            <a:r>
              <a:rPr lang="fr-FR" sz="2400" dirty="0" smtClean="0">
                <a:latin typeface="Times New Roman" panose="02020603050405020304" pitchFamily="18" charset="0"/>
                <a:cs typeface="Times New Roman" panose="02020603050405020304" pitchFamily="18" charset="0"/>
              </a:rPr>
              <a:t>Exemple : </a:t>
            </a:r>
            <a:r>
              <a:rPr lang="fr-FR" sz="2400" b="1" dirty="0" smtClean="0">
                <a:latin typeface="Times New Roman" panose="02020603050405020304" pitchFamily="18" charset="0"/>
                <a:cs typeface="Times New Roman" panose="02020603050405020304" pitchFamily="18" charset="0"/>
              </a:rPr>
              <a:t>lire(nom);</a:t>
            </a:r>
            <a:r>
              <a:rPr lang="fr-FR" sz="2400" dirty="0" smtClean="0">
                <a:latin typeface="Times New Roman" panose="02020603050405020304" pitchFamily="18" charset="0"/>
                <a:cs typeface="Times New Roman" panose="02020603050405020304" pitchFamily="18" charset="0"/>
              </a:rPr>
              <a:t> indique à l’ordinateur qu’il doit lire la chaine de caractères que l’utilisateur a frappé au clavier, et la ranger dans la case qui porte l’identificateur </a:t>
            </a:r>
            <a:r>
              <a:rPr lang="fr-FR" sz="2400" b="1" dirty="0" smtClean="0">
                <a:latin typeface="Times New Roman" panose="02020603050405020304" pitchFamily="18" charset="0"/>
                <a:cs typeface="Times New Roman" panose="02020603050405020304" pitchFamily="18" charset="0"/>
              </a:rPr>
              <a:t>nom</a:t>
            </a:r>
            <a:r>
              <a:rPr lang="fr-FR" sz="2400" dirty="0" smtClean="0">
                <a:latin typeface="Times New Roman" panose="02020603050405020304" pitchFamily="18" charset="0"/>
                <a:cs typeface="Times New Roman" panose="02020603050405020304" pitchFamily="18" charset="0"/>
              </a:rPr>
              <a:t>. </a:t>
            </a:r>
            <a:endParaRPr lang="fr-FR" sz="2400" dirty="0">
              <a:latin typeface="Times New Roman" panose="02020603050405020304" pitchFamily="18" charset="0"/>
              <a:cs typeface="Times New Roman" panose="02020603050405020304" pitchFamily="18" charset="0"/>
            </a:endParaRPr>
          </a:p>
          <a:p>
            <a:pPr algn="just"/>
            <a:r>
              <a:rPr lang="fr-FR" sz="2400" dirty="0" smtClean="0">
                <a:latin typeface="Times New Roman" panose="02020603050405020304" pitchFamily="18" charset="0"/>
                <a:cs typeface="Times New Roman" panose="02020603050405020304" pitchFamily="18" charset="0"/>
              </a:rPr>
              <a:t>c) </a:t>
            </a:r>
            <a:r>
              <a:rPr lang="fr-FR" sz="2400" b="1" dirty="0" smtClean="0">
                <a:latin typeface="Times New Roman" panose="02020603050405020304" pitchFamily="18" charset="0"/>
                <a:cs typeface="Times New Roman" panose="02020603050405020304" pitchFamily="18" charset="0"/>
              </a:rPr>
              <a:t>Affectation</a:t>
            </a:r>
            <a:r>
              <a:rPr lang="fr-FR" sz="2400" dirty="0" smtClean="0">
                <a:latin typeface="Times New Roman" panose="02020603050405020304" pitchFamily="18" charset="0"/>
                <a:cs typeface="Times New Roman" panose="02020603050405020304" pitchFamily="18" charset="0"/>
              </a:rPr>
              <a:t> permet de ranger une valeur dans une variable, autrement que par saisie directe. </a:t>
            </a:r>
            <a:endParaRPr lang="fr-FR" sz="2400" dirty="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Exemple :  entier année, naissance, </a:t>
            </a:r>
            <a:r>
              <a:rPr lang="fr-FR" sz="2400" dirty="0" err="1" smtClean="0">
                <a:latin typeface="Times New Roman" panose="02020603050405020304" pitchFamily="18" charset="0"/>
                <a:cs typeface="Times New Roman" panose="02020603050405020304" pitchFamily="18" charset="0"/>
              </a:rPr>
              <a:t>age</a:t>
            </a:r>
            <a:r>
              <a:rPr lang="fr-FR" sz="2400" dirty="0" smtClean="0">
                <a:latin typeface="Times New Roman" panose="02020603050405020304" pitchFamily="18" charset="0"/>
                <a:cs typeface="Times New Roman" panose="02020603050405020304" pitchFamily="18" charset="0"/>
              </a:rPr>
              <a:t>; </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année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2024; naissance </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2000; </a:t>
            </a:r>
            <a:r>
              <a:rPr lang="fr-FR" sz="2400" dirty="0" err="1" smtClean="0">
                <a:latin typeface="Times New Roman" panose="02020603050405020304" pitchFamily="18" charset="0"/>
                <a:cs typeface="Times New Roman" panose="02020603050405020304" pitchFamily="18" charset="0"/>
              </a:rPr>
              <a:t>age</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année – naissance;</a:t>
            </a:r>
          </a:p>
          <a:p>
            <a:r>
              <a:rPr lang="fr-FR" sz="2400" dirty="0" smtClean="0">
                <a:latin typeface="Times New Roman" panose="02020603050405020304" pitchFamily="18" charset="0"/>
                <a:cs typeface="Times New Roman" panose="02020603050405020304" pitchFamily="18" charset="0"/>
              </a:rPr>
              <a:t>Elle est formée de variable, du symbole d’affectation </a:t>
            </a:r>
            <a:r>
              <a:rPr lang="fr-FR" sz="2400" b="1"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puis d’une expression entière.</a:t>
            </a:r>
          </a:p>
          <a:p>
            <a:pPr algn="just"/>
            <a:r>
              <a:rPr lang="fr-FR" sz="2400" dirty="0" smtClean="0">
                <a:latin typeface="Times New Roman" panose="02020603050405020304" pitchFamily="18" charset="0"/>
                <a:cs typeface="Times New Roman" panose="02020603050405020304" pitchFamily="18" charset="0"/>
              </a:rPr>
              <a:t>L’expression entière peut être un nombre entier, ou une variable, ou une expression complexe dont la valeur est un nombre entier.</a:t>
            </a:r>
          </a:p>
          <a:p>
            <a:pPr algn="just"/>
            <a:r>
              <a:rPr lang="fr-FR" sz="2400" dirty="0" smtClean="0">
                <a:latin typeface="Times New Roman" panose="02020603050405020304" pitchFamily="18" charset="0"/>
                <a:cs typeface="Times New Roman" panose="02020603050405020304" pitchFamily="18" charset="0"/>
              </a:rPr>
              <a:t>On peut appliquer au nombre entier les opérations arithmétiques classiques : addition (</a:t>
            </a:r>
            <a:r>
              <a:rPr lang="fr-FR" sz="2400" b="1"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soustraction (</a:t>
            </a:r>
            <a:r>
              <a:rPr lang="fr-FR" sz="2400" b="1"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multiplication (</a:t>
            </a:r>
            <a:r>
              <a:rPr lang="fr-FR" sz="2400" b="1"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division (</a:t>
            </a:r>
            <a:r>
              <a:rPr lang="fr-FR" sz="2400" b="1"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ainsi que l’opération modulo (</a:t>
            </a:r>
            <a:r>
              <a:rPr lang="fr-FR" sz="2400" b="1" dirty="0" err="1" smtClean="0">
                <a:latin typeface="Times New Roman" panose="02020603050405020304" pitchFamily="18" charset="0"/>
                <a:cs typeface="Times New Roman" panose="02020603050405020304" pitchFamily="18" charset="0"/>
              </a:rPr>
              <a:t>mod</a:t>
            </a:r>
            <a:r>
              <a:rPr lang="fr-FR" sz="2400" dirty="0" smtClean="0">
                <a:latin typeface="Times New Roman" panose="02020603050405020304" pitchFamily="18" charset="0"/>
                <a:cs typeface="Times New Roman" panose="02020603050405020304" pitchFamily="18" charset="0"/>
              </a:rPr>
              <a:t>) tel que </a:t>
            </a:r>
            <a:r>
              <a:rPr lang="fr-FR" sz="2400" b="1" dirty="0" smtClean="0">
                <a:latin typeface="Times New Roman" panose="02020603050405020304" pitchFamily="18" charset="0"/>
                <a:cs typeface="Times New Roman" panose="02020603050405020304" pitchFamily="18" charset="0"/>
              </a:rPr>
              <a:t>n </a:t>
            </a:r>
            <a:r>
              <a:rPr lang="fr-FR" sz="2400" b="1" dirty="0" err="1" smtClean="0">
                <a:latin typeface="Times New Roman" panose="02020603050405020304" pitchFamily="18" charset="0"/>
                <a:cs typeface="Times New Roman" panose="02020603050405020304" pitchFamily="18" charset="0"/>
              </a:rPr>
              <a:t>mod</a:t>
            </a:r>
            <a:r>
              <a:rPr lang="fr-FR" sz="2400" b="1" dirty="0" smtClean="0">
                <a:latin typeface="Times New Roman" panose="02020603050405020304" pitchFamily="18" charset="0"/>
                <a:cs typeface="Times New Roman" panose="02020603050405020304" pitchFamily="18" charset="0"/>
              </a:rPr>
              <a:t> p</a:t>
            </a:r>
            <a:r>
              <a:rPr lang="fr-FR" sz="2400" dirty="0" smtClean="0">
                <a:latin typeface="Times New Roman" panose="02020603050405020304" pitchFamily="18" charset="0"/>
                <a:cs typeface="Times New Roman" panose="02020603050405020304" pitchFamily="18" charset="0"/>
              </a:rPr>
              <a:t> donne le reste de la division entière de </a:t>
            </a:r>
            <a:r>
              <a:rPr lang="fr-FR" sz="2400" b="1" dirty="0" smtClean="0">
                <a:latin typeface="Times New Roman" panose="02020603050405020304" pitchFamily="18" charset="0"/>
                <a:cs typeface="Times New Roman" panose="02020603050405020304" pitchFamily="18" charset="0"/>
              </a:rPr>
              <a:t>n</a:t>
            </a:r>
            <a:r>
              <a:rPr lang="fr-FR" sz="2400" dirty="0" smtClean="0">
                <a:latin typeface="Times New Roman" panose="02020603050405020304" pitchFamily="18" charset="0"/>
                <a:cs typeface="Times New Roman" panose="02020603050405020304" pitchFamily="18" charset="0"/>
              </a:rPr>
              <a:t> par </a:t>
            </a:r>
            <a:r>
              <a:rPr lang="fr-FR" sz="2400" b="1" dirty="0" smtClean="0">
                <a:latin typeface="Times New Roman" panose="02020603050405020304" pitchFamily="18" charset="0"/>
                <a:cs typeface="Times New Roman" panose="02020603050405020304" pitchFamily="18" charset="0"/>
              </a:rPr>
              <a:t>p</a:t>
            </a:r>
            <a:r>
              <a:rPr lang="fr-FR" sz="2400" dirty="0" smtClean="0">
                <a:latin typeface="Times New Roman" panose="02020603050405020304" pitchFamily="18" charset="0"/>
                <a:cs typeface="Times New Roman" panose="02020603050405020304" pitchFamily="18" charset="0"/>
              </a:rPr>
              <a:t>.  </a:t>
            </a:r>
          </a:p>
          <a:p>
            <a:r>
              <a:rPr lang="fr-FR" sz="2400" dirty="0" smtClean="0">
                <a:latin typeface="Times New Roman" panose="02020603050405020304" pitchFamily="18" charset="0"/>
                <a:cs typeface="Times New Roman" panose="02020603050405020304" pitchFamily="18" charset="0"/>
              </a:rPr>
              <a:t>d) </a:t>
            </a:r>
            <a:r>
              <a:rPr lang="fr-FR" sz="2400" b="1" dirty="0" smtClean="0">
                <a:latin typeface="Times New Roman" panose="02020603050405020304" pitchFamily="18" charset="0"/>
                <a:cs typeface="Times New Roman" panose="02020603050405020304" pitchFamily="18" charset="0"/>
              </a:rPr>
              <a:t>Structure conditionnelle</a:t>
            </a:r>
            <a:r>
              <a:rPr lang="fr-FR" sz="2400" dirty="0" smtClean="0">
                <a:latin typeface="Times New Roman" panose="02020603050405020304" pitchFamily="18" charset="0"/>
                <a:cs typeface="Times New Roman" panose="02020603050405020304" pitchFamily="18" charset="0"/>
              </a:rPr>
              <a:t> est de la forme :</a:t>
            </a:r>
          </a:p>
          <a:p>
            <a:r>
              <a:rPr lang="fr-FR" sz="2400" b="1" dirty="0">
                <a:latin typeface="Times New Roman" panose="02020603050405020304" pitchFamily="18" charset="0"/>
                <a:cs typeface="Times New Roman" panose="02020603050405020304" pitchFamily="18" charset="0"/>
              </a:rPr>
              <a:t>s</a:t>
            </a:r>
            <a:r>
              <a:rPr lang="fr-FR" sz="2400" b="1" dirty="0" smtClean="0">
                <a:latin typeface="Times New Roman" panose="02020603050405020304" pitchFamily="18" charset="0"/>
                <a:cs typeface="Times New Roman" panose="02020603050405020304" pitchFamily="18" charset="0"/>
              </a:rPr>
              <a:t>i</a:t>
            </a:r>
            <a:r>
              <a:rPr lang="fr-FR" sz="2400" dirty="0" smtClean="0">
                <a:latin typeface="Times New Roman" panose="02020603050405020304" pitchFamily="18" charset="0"/>
                <a:cs typeface="Times New Roman" panose="02020603050405020304" pitchFamily="18" charset="0"/>
              </a:rPr>
              <a:t> condition </a:t>
            </a:r>
            <a:r>
              <a:rPr lang="fr-FR" sz="2400" b="1" dirty="0" smtClean="0">
                <a:latin typeface="Times New Roman" panose="02020603050405020304" pitchFamily="18" charset="0"/>
                <a:cs typeface="Times New Roman" panose="02020603050405020304" pitchFamily="18" charset="0"/>
              </a:rPr>
              <a:t>alors</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suite d’instructions 1</a:t>
            </a:r>
          </a:p>
          <a:p>
            <a:r>
              <a:rPr lang="fr-FR" sz="2400" b="1" dirty="0">
                <a:latin typeface="Times New Roman" panose="02020603050405020304" pitchFamily="18" charset="0"/>
                <a:cs typeface="Times New Roman" panose="02020603050405020304" pitchFamily="18" charset="0"/>
              </a:rPr>
              <a:t>s</a:t>
            </a:r>
            <a:r>
              <a:rPr lang="fr-FR" sz="2400" b="1" dirty="0" smtClean="0">
                <a:latin typeface="Times New Roman" panose="02020603050405020304" pitchFamily="18" charset="0"/>
                <a:cs typeface="Times New Roman" panose="02020603050405020304" pitchFamily="18" charset="0"/>
              </a:rPr>
              <a:t>inon</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suite d’instructions 2</a:t>
            </a:r>
          </a:p>
          <a:p>
            <a:r>
              <a:rPr lang="fr-FR" sz="2400" b="1" dirty="0" err="1" smtClean="0">
                <a:latin typeface="Times New Roman" panose="02020603050405020304" pitchFamily="18" charset="0"/>
                <a:cs typeface="Times New Roman" panose="02020603050405020304" pitchFamily="18" charset="0"/>
              </a:rPr>
              <a:t>finsi</a:t>
            </a:r>
            <a:r>
              <a:rPr lang="fr-FR" sz="2400" b="1" dirty="0" smtClean="0">
                <a:latin typeface="Times New Roman" panose="02020603050405020304" pitchFamily="18" charset="0"/>
                <a:cs typeface="Times New Roman" panose="02020603050405020304" pitchFamily="18" charset="0"/>
              </a:rPr>
              <a:t>;</a:t>
            </a:r>
            <a:endParaRPr lang="fr-FR"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29001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040" y="525195"/>
            <a:ext cx="11470640" cy="6001643"/>
          </a:xfrm>
          <a:prstGeom prst="rect">
            <a:avLst/>
          </a:prstGeom>
        </p:spPr>
        <p:txBody>
          <a:bodyPr wrap="square">
            <a:spAutoFit/>
          </a:bodyPr>
          <a:lstStyle/>
          <a:p>
            <a:pPr algn="just"/>
            <a:r>
              <a:rPr lang="fr-FR" sz="2400" dirty="0" smtClean="0">
                <a:latin typeface="Times New Roman" panose="02020603050405020304" pitchFamily="18" charset="0"/>
                <a:cs typeface="Times New Roman" panose="02020603050405020304" pitchFamily="18" charset="0"/>
              </a:rPr>
              <a:t>Si la condition est vraie, la suite d’instructions 1 est effectuée ; si elle est fausse, on effectue la suite d’instructions 2.</a:t>
            </a:r>
          </a:p>
          <a:p>
            <a:pPr algn="just"/>
            <a:r>
              <a:rPr lang="fr-FR" sz="2400" dirty="0" smtClean="0">
                <a:latin typeface="Times New Roman" panose="02020603050405020304" pitchFamily="18" charset="0"/>
                <a:cs typeface="Times New Roman" panose="02020603050405020304" pitchFamily="18" charset="0"/>
              </a:rPr>
              <a:t>Dans certains cas, on peut vouloir ne rien faire si la condition est fausse. On se passe alors de </a:t>
            </a:r>
            <a:r>
              <a:rPr lang="fr-FR" sz="2400" b="1" dirty="0" smtClean="0">
                <a:latin typeface="Times New Roman" panose="02020603050405020304" pitchFamily="18" charset="0"/>
                <a:cs typeface="Times New Roman" panose="02020603050405020304" pitchFamily="18" charset="0"/>
              </a:rPr>
              <a:t>sinon</a:t>
            </a:r>
            <a:r>
              <a:rPr lang="fr-FR" sz="2400" dirty="0" smtClean="0">
                <a:latin typeface="Times New Roman" panose="02020603050405020304" pitchFamily="18" charset="0"/>
                <a:cs typeface="Times New Roman" panose="02020603050405020304" pitchFamily="18" charset="0"/>
              </a:rPr>
              <a:t>, et la forme se réduit à :</a:t>
            </a:r>
          </a:p>
          <a:p>
            <a:pPr algn="just"/>
            <a:r>
              <a:rPr lang="fr-FR" sz="2400" b="1" dirty="0">
                <a:latin typeface="Times New Roman" panose="02020603050405020304" pitchFamily="18" charset="0"/>
                <a:cs typeface="Times New Roman" panose="02020603050405020304" pitchFamily="18" charset="0"/>
              </a:rPr>
              <a:t>s</a:t>
            </a:r>
            <a:r>
              <a:rPr lang="fr-FR" sz="2400" b="1" dirty="0" smtClean="0">
                <a:latin typeface="Times New Roman" panose="02020603050405020304" pitchFamily="18" charset="0"/>
                <a:cs typeface="Times New Roman" panose="02020603050405020304" pitchFamily="18" charset="0"/>
              </a:rPr>
              <a:t>i</a:t>
            </a:r>
            <a:r>
              <a:rPr lang="fr-FR" sz="2400" dirty="0" smtClean="0">
                <a:latin typeface="Times New Roman" panose="02020603050405020304" pitchFamily="18" charset="0"/>
                <a:cs typeface="Times New Roman" panose="02020603050405020304" pitchFamily="18" charset="0"/>
              </a:rPr>
              <a:t> condition </a:t>
            </a:r>
            <a:r>
              <a:rPr lang="fr-FR" sz="2400" b="1" dirty="0" smtClean="0">
                <a:latin typeface="Times New Roman" panose="02020603050405020304" pitchFamily="18" charset="0"/>
                <a:cs typeface="Times New Roman" panose="02020603050405020304" pitchFamily="18" charset="0"/>
              </a:rPr>
              <a:t>alors</a:t>
            </a:r>
          </a:p>
          <a:p>
            <a:pPr algn="just"/>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suite d’instructions</a:t>
            </a:r>
          </a:p>
          <a:p>
            <a:pPr algn="just"/>
            <a:r>
              <a:rPr lang="fr-FR" sz="2400" b="1" dirty="0" err="1">
                <a:latin typeface="Times New Roman" panose="02020603050405020304" pitchFamily="18" charset="0"/>
                <a:cs typeface="Times New Roman" panose="02020603050405020304" pitchFamily="18" charset="0"/>
              </a:rPr>
              <a:t>f</a:t>
            </a:r>
            <a:r>
              <a:rPr lang="fr-FR" sz="2400" b="1" dirty="0" err="1" smtClean="0">
                <a:latin typeface="Times New Roman" panose="02020603050405020304" pitchFamily="18" charset="0"/>
                <a:cs typeface="Times New Roman" panose="02020603050405020304" pitchFamily="18" charset="0"/>
              </a:rPr>
              <a:t>insi</a:t>
            </a:r>
            <a:r>
              <a:rPr lang="fr-FR" sz="2400" b="1" dirty="0" smtClean="0">
                <a:latin typeface="Times New Roman" panose="02020603050405020304" pitchFamily="18" charset="0"/>
                <a:cs typeface="Times New Roman" panose="02020603050405020304" pitchFamily="18" charset="0"/>
              </a:rPr>
              <a:t>;</a:t>
            </a:r>
          </a:p>
          <a:p>
            <a:pPr algn="just"/>
            <a:r>
              <a:rPr lang="fr-FR" sz="2400" dirty="0" smtClean="0">
                <a:latin typeface="Times New Roman" panose="02020603050405020304" pitchFamily="18" charset="0"/>
                <a:cs typeface="Times New Roman" panose="02020603050405020304" pitchFamily="18" charset="0"/>
              </a:rPr>
              <a:t>e</a:t>
            </a:r>
            <a:r>
              <a:rPr lang="fr-FR" sz="2400" dirty="0">
                <a:latin typeface="Times New Roman" panose="02020603050405020304" pitchFamily="18" charset="0"/>
                <a:cs typeface="Times New Roman" panose="02020603050405020304" pitchFamily="18" charset="0"/>
              </a:rPr>
              <a:t>) </a:t>
            </a:r>
            <a:r>
              <a:rPr lang="fr-FR" sz="2400" b="1" dirty="0">
                <a:latin typeface="Times New Roman" panose="02020603050405020304" pitchFamily="18" charset="0"/>
                <a:cs typeface="Times New Roman" panose="02020603050405020304" pitchFamily="18" charset="0"/>
              </a:rPr>
              <a:t>Structure </a:t>
            </a:r>
            <a:r>
              <a:rPr lang="fr-FR" sz="2400" b="1" dirty="0" smtClean="0">
                <a:latin typeface="Times New Roman" panose="02020603050405020304" pitchFamily="18" charset="0"/>
                <a:cs typeface="Times New Roman" panose="02020603050405020304" pitchFamily="18" charset="0"/>
              </a:rPr>
              <a:t>itérative</a:t>
            </a:r>
          </a:p>
          <a:p>
            <a:pPr algn="just"/>
            <a:r>
              <a:rPr lang="fr-FR" sz="2400" dirty="0" smtClean="0">
                <a:latin typeface="Times New Roman" panose="02020603050405020304" pitchFamily="18" charset="0"/>
                <a:cs typeface="Times New Roman" panose="02020603050405020304" pitchFamily="18" charset="0"/>
              </a:rPr>
              <a:t>Permet d’itérer ou répéter des instructions en un certain nombre de fois. La syntaxe est :</a:t>
            </a:r>
          </a:p>
          <a:p>
            <a:pPr algn="just"/>
            <a:r>
              <a:rPr lang="fr-FR" sz="2400" b="1" dirty="0" err="1">
                <a:latin typeface="Times New Roman" panose="02020603050405020304" pitchFamily="18" charset="0"/>
                <a:cs typeface="Times New Roman" panose="02020603050405020304" pitchFamily="18" charset="0"/>
              </a:rPr>
              <a:t>t</a:t>
            </a:r>
            <a:r>
              <a:rPr lang="fr-FR" sz="2400" b="1" dirty="0" err="1" smtClean="0">
                <a:latin typeface="Times New Roman" panose="02020603050405020304" pitchFamily="18" charset="0"/>
                <a:cs typeface="Times New Roman" panose="02020603050405020304" pitchFamily="18" charset="0"/>
              </a:rPr>
              <a:t>antque</a:t>
            </a:r>
            <a:r>
              <a:rPr lang="fr-FR" sz="2400" dirty="0" smtClean="0">
                <a:latin typeface="Times New Roman" panose="02020603050405020304" pitchFamily="18" charset="0"/>
                <a:cs typeface="Times New Roman" panose="02020603050405020304" pitchFamily="18" charset="0"/>
              </a:rPr>
              <a:t> condition </a:t>
            </a:r>
            <a:r>
              <a:rPr lang="fr-FR" sz="2400" b="1" dirty="0" smtClean="0">
                <a:latin typeface="Times New Roman" panose="02020603050405020304" pitchFamily="18" charset="0"/>
                <a:cs typeface="Times New Roman" panose="02020603050405020304" pitchFamily="18" charset="0"/>
              </a:rPr>
              <a:t>faire</a:t>
            </a:r>
          </a:p>
          <a:p>
            <a:pPr algn="just"/>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instruction1;</a:t>
            </a:r>
          </a:p>
          <a:p>
            <a:pPr algn="just"/>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instruction2;</a:t>
            </a:r>
          </a:p>
          <a:p>
            <a:pPr algn="just"/>
            <a:r>
              <a:rPr lang="fr-FR" sz="2400" dirty="0" smtClean="0">
                <a:latin typeface="Times New Roman" panose="02020603050405020304" pitchFamily="18" charset="0"/>
                <a:cs typeface="Times New Roman" panose="02020603050405020304" pitchFamily="18" charset="0"/>
              </a:rPr>
              <a:t>    instruction3; ….</a:t>
            </a:r>
          </a:p>
          <a:p>
            <a:pPr algn="just"/>
            <a:r>
              <a:rPr lang="fr-FR" sz="2400" b="1" dirty="0" err="1">
                <a:latin typeface="Times New Roman" panose="02020603050405020304" pitchFamily="18" charset="0"/>
                <a:cs typeface="Times New Roman" panose="02020603050405020304" pitchFamily="18" charset="0"/>
              </a:rPr>
              <a:t>f</a:t>
            </a:r>
            <a:r>
              <a:rPr lang="fr-FR" sz="2400" b="1" dirty="0" err="1" smtClean="0">
                <a:latin typeface="Times New Roman" panose="02020603050405020304" pitchFamily="18" charset="0"/>
                <a:cs typeface="Times New Roman" panose="02020603050405020304" pitchFamily="18" charset="0"/>
              </a:rPr>
              <a:t>infaire</a:t>
            </a:r>
            <a:r>
              <a:rPr lang="fr-FR" sz="2400" dirty="0" smtClean="0">
                <a:latin typeface="Times New Roman" panose="02020603050405020304" pitchFamily="18" charset="0"/>
                <a:cs typeface="Times New Roman" panose="02020603050405020304" pitchFamily="18" charset="0"/>
              </a:rPr>
              <a:t>;</a:t>
            </a:r>
          </a:p>
          <a:p>
            <a:pPr algn="just"/>
            <a:r>
              <a:rPr lang="fr-FR" sz="2400" dirty="0" smtClean="0">
                <a:latin typeface="Times New Roman" panose="02020603050405020304" pitchFamily="18" charset="0"/>
                <a:cs typeface="Times New Roman" panose="02020603050405020304" pitchFamily="18" charset="0"/>
              </a:rPr>
              <a:t>La suite d’instructions est effectuée aussi longtemps que la condition demeure vraie.</a:t>
            </a:r>
          </a:p>
          <a:p>
            <a:pPr algn="just"/>
            <a:r>
              <a:rPr lang="fr-FR" sz="2400" dirty="0" smtClean="0">
                <a:latin typeface="Times New Roman" panose="02020603050405020304" pitchFamily="18" charset="0"/>
                <a:cs typeface="Times New Roman" panose="02020603050405020304" pitchFamily="18" charset="0"/>
              </a:rPr>
              <a:t>On peut utiliser aussi l’instruction </a:t>
            </a:r>
            <a:r>
              <a:rPr lang="fr-FR" sz="2400" b="1" dirty="0" smtClean="0">
                <a:latin typeface="Times New Roman" panose="02020603050405020304" pitchFamily="18" charset="0"/>
                <a:cs typeface="Times New Roman" panose="02020603050405020304" pitchFamily="18" charset="0"/>
              </a:rPr>
              <a:t>pour</a:t>
            </a:r>
            <a:r>
              <a:rPr lang="fr-FR" sz="2400" dirty="0" smtClean="0">
                <a:latin typeface="Times New Roman" panose="02020603050405020304" pitchFamily="18" charset="0"/>
                <a:cs typeface="Times New Roman" panose="02020603050405020304" pitchFamily="18" charset="0"/>
              </a:rPr>
              <a:t>.</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57391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3840" y="318254"/>
            <a:ext cx="11663680" cy="6370975"/>
          </a:xfrm>
          <a:prstGeom prst="rect">
            <a:avLst/>
          </a:prstGeom>
        </p:spPr>
        <p:txBody>
          <a:bodyPr wrap="square">
            <a:spAutoFit/>
          </a:bodyPr>
          <a:lstStyle/>
          <a:p>
            <a:pPr algn="just"/>
            <a:r>
              <a:rPr lang="fr-FR" sz="2400" dirty="0" smtClean="0">
                <a:latin typeface="Times New Roman" panose="02020603050405020304" pitchFamily="18" charset="0"/>
                <a:cs typeface="Times New Roman" panose="02020603050405020304" pitchFamily="18" charset="0"/>
              </a:rPr>
              <a:t>L’instruction </a:t>
            </a:r>
            <a:r>
              <a:rPr lang="fr-FR" sz="2400" b="1" dirty="0" smtClean="0">
                <a:latin typeface="Times New Roman" panose="02020603050405020304" pitchFamily="18" charset="0"/>
                <a:cs typeface="Times New Roman" panose="02020603050405020304" pitchFamily="18" charset="0"/>
              </a:rPr>
              <a:t>pour</a:t>
            </a:r>
            <a:r>
              <a:rPr lang="fr-FR" sz="2400" dirty="0" smtClean="0">
                <a:latin typeface="Times New Roman" panose="02020603050405020304" pitchFamily="18" charset="0"/>
                <a:cs typeface="Times New Roman" panose="02020603050405020304" pitchFamily="18" charset="0"/>
              </a:rPr>
              <a:t> croissante</a:t>
            </a:r>
          </a:p>
          <a:p>
            <a:pPr algn="just"/>
            <a:r>
              <a:rPr lang="fr-FR" sz="2400" b="1" dirty="0">
                <a:latin typeface="Times New Roman" panose="02020603050405020304" pitchFamily="18" charset="0"/>
                <a:cs typeface="Times New Roman" panose="02020603050405020304" pitchFamily="18" charset="0"/>
              </a:rPr>
              <a:t>p</a:t>
            </a:r>
            <a:r>
              <a:rPr lang="fr-FR" sz="2400" b="1" dirty="0" smtClean="0">
                <a:latin typeface="Times New Roman" panose="02020603050405020304" pitchFamily="18" charset="0"/>
                <a:cs typeface="Times New Roman" panose="02020603050405020304" pitchFamily="18" charset="0"/>
              </a:rPr>
              <a:t>our</a:t>
            </a:r>
            <a:r>
              <a:rPr lang="fr-FR" sz="2400" dirty="0" smtClean="0">
                <a:latin typeface="Times New Roman" panose="02020603050405020304" pitchFamily="18" charset="0"/>
                <a:cs typeface="Times New Roman" panose="02020603050405020304" pitchFamily="18" charset="0"/>
              </a:rPr>
              <a:t> i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1 </a:t>
            </a:r>
            <a:r>
              <a:rPr lang="fr-FR" sz="2400" b="1" dirty="0" smtClean="0">
                <a:latin typeface="Times New Roman" panose="02020603050405020304" pitchFamily="18" charset="0"/>
                <a:cs typeface="Times New Roman" panose="02020603050405020304" pitchFamily="18" charset="0"/>
              </a:rPr>
              <a:t>haut</a:t>
            </a:r>
            <a:r>
              <a:rPr lang="fr-FR" sz="2400" dirty="0" smtClean="0">
                <a:latin typeface="Times New Roman" panose="02020603050405020304" pitchFamily="18" charset="0"/>
                <a:cs typeface="Times New Roman" panose="02020603050405020304" pitchFamily="18" charset="0"/>
              </a:rPr>
              <a:t> n </a:t>
            </a:r>
            <a:r>
              <a:rPr lang="fr-FR" sz="2400" b="1" dirty="0" smtClean="0">
                <a:latin typeface="Times New Roman" panose="02020603050405020304" pitchFamily="18" charset="0"/>
                <a:cs typeface="Times New Roman" panose="02020603050405020304" pitchFamily="18" charset="0"/>
              </a:rPr>
              <a:t>faire</a:t>
            </a:r>
          </a:p>
          <a:p>
            <a:pPr algn="just"/>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traiter v[i];</a:t>
            </a:r>
          </a:p>
          <a:p>
            <a:pPr algn="just"/>
            <a:r>
              <a:rPr lang="fr-FR" sz="2400" b="1" dirty="0" err="1">
                <a:latin typeface="Times New Roman" panose="02020603050405020304" pitchFamily="18" charset="0"/>
                <a:cs typeface="Times New Roman" panose="02020603050405020304" pitchFamily="18" charset="0"/>
              </a:rPr>
              <a:t>f</a:t>
            </a:r>
            <a:r>
              <a:rPr lang="fr-FR" sz="2400" b="1" dirty="0" err="1" smtClean="0">
                <a:latin typeface="Times New Roman" panose="02020603050405020304" pitchFamily="18" charset="0"/>
                <a:cs typeface="Times New Roman" panose="02020603050405020304" pitchFamily="18" charset="0"/>
              </a:rPr>
              <a:t>infaire</a:t>
            </a:r>
            <a:r>
              <a:rPr lang="fr-FR" sz="2400" dirty="0" smtClean="0">
                <a:latin typeface="Times New Roman" panose="02020603050405020304" pitchFamily="18" charset="0"/>
                <a:cs typeface="Times New Roman" panose="02020603050405020304" pitchFamily="18" charset="0"/>
              </a:rPr>
              <a:t>;</a:t>
            </a:r>
          </a:p>
          <a:p>
            <a:pPr algn="just"/>
            <a:r>
              <a:rPr lang="fr-FR" sz="2400" dirty="0" smtClean="0">
                <a:latin typeface="Times New Roman" panose="02020603050405020304" pitchFamily="18" charset="0"/>
                <a:cs typeface="Times New Roman" panose="02020603050405020304" pitchFamily="18" charset="0"/>
              </a:rPr>
              <a:t>C’est une forme abrégée de l’itération </a:t>
            </a:r>
            <a:r>
              <a:rPr lang="fr-FR" sz="2400" b="1" dirty="0" err="1" smtClean="0">
                <a:latin typeface="Times New Roman" panose="02020603050405020304" pitchFamily="18" charset="0"/>
                <a:cs typeface="Times New Roman" panose="02020603050405020304" pitchFamily="18" charset="0"/>
              </a:rPr>
              <a:t>tantque</a:t>
            </a:r>
            <a:r>
              <a:rPr lang="fr-FR" sz="2400" dirty="0" smtClean="0">
                <a:latin typeface="Times New Roman" panose="02020603050405020304" pitchFamily="18" charset="0"/>
                <a:cs typeface="Times New Roman" panose="02020603050405020304" pitchFamily="18" charset="0"/>
              </a:rPr>
              <a:t>, que l’on peut utiliser si la condition d’itération est une comparaison d’une valeur d’indice avec un entier, et </a:t>
            </a:r>
            <a:r>
              <a:rPr lang="fr-FR" sz="2400" b="1" dirty="0" smtClean="0">
                <a:latin typeface="Times New Roman" panose="02020603050405020304" pitchFamily="18" charset="0"/>
                <a:cs typeface="Times New Roman" panose="02020603050405020304" pitchFamily="18" charset="0"/>
              </a:rPr>
              <a:t>que l’indice est incrémentée de 1</a:t>
            </a:r>
            <a:r>
              <a:rPr lang="fr-FR" sz="2400" dirty="0" smtClean="0">
                <a:latin typeface="Times New Roman" panose="02020603050405020304" pitchFamily="18" charset="0"/>
                <a:cs typeface="Times New Roman" panose="02020603050405020304" pitchFamily="18" charset="0"/>
              </a:rPr>
              <a:t> à chaque itération. </a:t>
            </a:r>
          </a:p>
          <a:p>
            <a:pPr algn="just"/>
            <a:r>
              <a:rPr lang="fr-FR" sz="2400" dirty="0" smtClean="0">
                <a:latin typeface="Times New Roman" panose="02020603050405020304" pitchFamily="18" charset="0"/>
                <a:cs typeface="Times New Roman" panose="02020603050405020304" pitchFamily="18" charset="0"/>
              </a:rPr>
              <a:t>L’instruction </a:t>
            </a:r>
            <a:r>
              <a:rPr lang="fr-FR" sz="2400" b="1" dirty="0" smtClean="0">
                <a:latin typeface="Times New Roman" panose="02020603050405020304" pitchFamily="18" charset="0"/>
                <a:cs typeface="Times New Roman" panose="02020603050405020304" pitchFamily="18" charset="0"/>
              </a:rPr>
              <a:t>pour</a:t>
            </a:r>
            <a:r>
              <a:rPr lang="fr-FR" sz="2400" dirty="0" smtClean="0">
                <a:latin typeface="Times New Roman" panose="02020603050405020304" pitchFamily="18" charset="0"/>
                <a:cs typeface="Times New Roman" panose="02020603050405020304" pitchFamily="18" charset="0"/>
              </a:rPr>
              <a:t> décroissante</a:t>
            </a:r>
          </a:p>
          <a:p>
            <a:pPr algn="just"/>
            <a:r>
              <a:rPr lang="fr-FR" sz="2400" b="1" dirty="0">
                <a:latin typeface="Times New Roman" panose="02020603050405020304" pitchFamily="18" charset="0"/>
                <a:cs typeface="Times New Roman" panose="02020603050405020304" pitchFamily="18" charset="0"/>
              </a:rPr>
              <a:t>pour</a:t>
            </a:r>
            <a:r>
              <a:rPr lang="fr-FR" sz="2400" dirty="0">
                <a:latin typeface="Times New Roman" panose="02020603050405020304" pitchFamily="18" charset="0"/>
                <a:cs typeface="Times New Roman" panose="02020603050405020304" pitchFamily="18" charset="0"/>
              </a:rPr>
              <a:t> i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n </a:t>
            </a:r>
            <a:r>
              <a:rPr lang="fr-FR" sz="2400" b="1" dirty="0" smtClean="0">
                <a:latin typeface="Times New Roman" panose="02020603050405020304" pitchFamily="18" charset="0"/>
                <a:cs typeface="Times New Roman" panose="02020603050405020304" pitchFamily="18" charset="0"/>
              </a:rPr>
              <a:t>bas</a:t>
            </a:r>
            <a:r>
              <a:rPr lang="fr-FR" sz="2400" dirty="0" smtClean="0">
                <a:latin typeface="Times New Roman" panose="02020603050405020304" pitchFamily="18" charset="0"/>
                <a:cs typeface="Times New Roman" panose="02020603050405020304" pitchFamily="18" charset="0"/>
              </a:rPr>
              <a:t> 1 </a:t>
            </a:r>
            <a:r>
              <a:rPr lang="fr-FR" sz="2400" b="1" dirty="0">
                <a:latin typeface="Times New Roman" panose="02020603050405020304" pitchFamily="18" charset="0"/>
                <a:cs typeface="Times New Roman" panose="02020603050405020304" pitchFamily="18" charset="0"/>
              </a:rPr>
              <a:t>faire</a:t>
            </a:r>
          </a:p>
          <a:p>
            <a:pPr algn="just"/>
            <a:r>
              <a:rPr lang="fr-FR" sz="2400" dirty="0">
                <a:latin typeface="Times New Roman" panose="02020603050405020304" pitchFamily="18" charset="0"/>
                <a:cs typeface="Times New Roman" panose="02020603050405020304" pitchFamily="18" charset="0"/>
              </a:rPr>
              <a:t>    traiter v[i];</a:t>
            </a:r>
          </a:p>
          <a:p>
            <a:pPr algn="just"/>
            <a:r>
              <a:rPr lang="fr-FR" sz="2400" b="1" dirty="0" err="1">
                <a:latin typeface="Times New Roman" panose="02020603050405020304" pitchFamily="18" charset="0"/>
                <a:cs typeface="Times New Roman" panose="02020603050405020304" pitchFamily="18" charset="0"/>
              </a:rPr>
              <a:t>finfaire</a:t>
            </a:r>
            <a:r>
              <a:rPr lang="fr-FR" sz="2400" dirty="0">
                <a:latin typeface="Times New Roman" panose="02020603050405020304" pitchFamily="18" charset="0"/>
                <a:cs typeface="Times New Roman" panose="02020603050405020304" pitchFamily="18" charset="0"/>
              </a:rPr>
              <a:t>;</a:t>
            </a:r>
          </a:p>
          <a:p>
            <a:pPr algn="just"/>
            <a:r>
              <a:rPr lang="fr-FR" sz="2400" dirty="0" smtClean="0">
                <a:latin typeface="Times New Roman" panose="02020603050405020304" pitchFamily="18" charset="0"/>
                <a:cs typeface="Times New Roman" panose="02020603050405020304" pitchFamily="18" charset="0"/>
              </a:rPr>
              <a:t>L’instruction répéter</a:t>
            </a:r>
          </a:p>
          <a:p>
            <a:pPr algn="just"/>
            <a:r>
              <a:rPr lang="fr-FR" sz="2400" b="1" dirty="0" smtClean="0">
                <a:latin typeface="Times New Roman" panose="02020603050405020304" pitchFamily="18" charset="0"/>
                <a:cs typeface="Times New Roman" panose="02020603050405020304" pitchFamily="18" charset="0"/>
              </a:rPr>
              <a:t>répéter</a:t>
            </a:r>
          </a:p>
          <a:p>
            <a:pPr algn="just"/>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instruction 1;</a:t>
            </a:r>
          </a:p>
          <a:p>
            <a:pPr algn="just"/>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instruction 2; …</a:t>
            </a:r>
          </a:p>
          <a:p>
            <a:pPr algn="just"/>
            <a:r>
              <a:rPr lang="fr-FR" sz="2400" b="1" dirty="0">
                <a:latin typeface="Times New Roman" panose="02020603050405020304" pitchFamily="18" charset="0"/>
                <a:cs typeface="Times New Roman" panose="02020603050405020304" pitchFamily="18" charset="0"/>
              </a:rPr>
              <a:t>j</a:t>
            </a:r>
            <a:r>
              <a:rPr lang="fr-FR" sz="2400" b="1" dirty="0" smtClean="0">
                <a:latin typeface="Times New Roman" panose="02020603050405020304" pitchFamily="18" charset="0"/>
                <a:cs typeface="Times New Roman" panose="02020603050405020304" pitchFamily="18" charset="0"/>
              </a:rPr>
              <a:t>usqu’à</a:t>
            </a:r>
            <a:r>
              <a:rPr lang="fr-FR" sz="2400" dirty="0" smtClean="0">
                <a:latin typeface="Times New Roman" panose="02020603050405020304" pitchFamily="18" charset="0"/>
                <a:cs typeface="Times New Roman" panose="02020603050405020304" pitchFamily="18" charset="0"/>
              </a:rPr>
              <a:t> condition</a:t>
            </a:r>
          </a:p>
          <a:p>
            <a:pPr algn="just"/>
            <a:r>
              <a:rPr lang="fr-FR" sz="2400" dirty="0" smtClean="0">
                <a:latin typeface="Times New Roman" panose="02020603050405020304" pitchFamily="18" charset="0"/>
                <a:cs typeface="Times New Roman" panose="02020603050405020304" pitchFamily="18" charset="0"/>
              </a:rPr>
              <a:t>Les instructions sont répétées jusqu’à ce que la condition soit vraie.</a:t>
            </a:r>
          </a:p>
        </p:txBody>
      </p:sp>
    </p:spTree>
    <p:extLst>
      <p:ext uri="{BB962C8B-B14F-4D97-AF65-F5344CB8AC3E}">
        <p14:creationId xmlns:p14="http://schemas.microsoft.com/office/powerpoint/2010/main" val="13075107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160" y="450840"/>
            <a:ext cx="11694160" cy="6001643"/>
          </a:xfrm>
          <a:prstGeom prst="rect">
            <a:avLst/>
          </a:prstGeom>
        </p:spPr>
        <p:txBody>
          <a:bodyPr wrap="square">
            <a:spAutoFit/>
          </a:bodyPr>
          <a:lstStyle/>
          <a:p>
            <a:pPr algn="just"/>
            <a:r>
              <a:rPr lang="fr-FR" sz="2400" b="1" dirty="0" smtClean="0">
                <a:latin typeface="Times New Roman" panose="02020603050405020304" pitchFamily="18" charset="0"/>
                <a:cs typeface="Times New Roman" panose="02020603050405020304" pitchFamily="18" charset="0"/>
              </a:rPr>
              <a:t>1.3. Fonctions</a:t>
            </a:r>
            <a:endParaRPr lang="fr-FR" sz="2400" b="1" dirty="0">
              <a:latin typeface="Times New Roman" panose="02020603050405020304" pitchFamily="18" charset="0"/>
              <a:cs typeface="Times New Roman" panose="02020603050405020304" pitchFamily="18" charset="0"/>
            </a:endParaRPr>
          </a:p>
          <a:p>
            <a:pPr algn="just"/>
            <a:r>
              <a:rPr lang="fr-FR" sz="2400" dirty="0">
                <a:latin typeface="Times New Roman" panose="02020603050405020304" pitchFamily="18" charset="0"/>
                <a:cs typeface="Times New Roman" panose="02020603050405020304" pitchFamily="18" charset="0"/>
              </a:rPr>
              <a:t>L’algorithme qui est une suite ordonnée d’instructions devrait être recopié à chaque utilisation. </a:t>
            </a:r>
          </a:p>
          <a:p>
            <a:pPr algn="just"/>
            <a:r>
              <a:rPr lang="fr-FR" sz="2400" dirty="0">
                <a:latin typeface="Times New Roman" panose="02020603050405020304" pitchFamily="18" charset="0"/>
                <a:cs typeface="Times New Roman" panose="02020603050405020304" pitchFamily="18" charset="0"/>
              </a:rPr>
              <a:t>Nous décidons d’en faire une </a:t>
            </a:r>
            <a:r>
              <a:rPr lang="fr-FR" sz="2400" b="1" dirty="0">
                <a:latin typeface="Times New Roman" panose="02020603050405020304" pitchFamily="18" charset="0"/>
                <a:cs typeface="Times New Roman" panose="02020603050405020304" pitchFamily="18" charset="0"/>
              </a:rPr>
              <a:t>fonction</a:t>
            </a:r>
            <a:r>
              <a:rPr lang="fr-FR" sz="2400" dirty="0">
                <a:latin typeface="Times New Roman" panose="02020603050405020304" pitchFamily="18" charset="0"/>
                <a:cs typeface="Times New Roman" panose="02020603050405020304" pitchFamily="18" charset="0"/>
              </a:rPr>
              <a:t>, c’est-à-dire une suite d’instructions nommée, que l’on</a:t>
            </a:r>
          </a:p>
          <a:p>
            <a:pPr algn="just"/>
            <a:r>
              <a:rPr lang="fr-FR" sz="2400" dirty="0">
                <a:latin typeface="Times New Roman" panose="02020603050405020304" pitchFamily="18" charset="0"/>
                <a:cs typeface="Times New Roman" panose="02020603050405020304" pitchFamily="18" charset="0"/>
              </a:rPr>
              <a:t>pourra appeler par ce nom chaque fois qu’on veut l’utiliser. </a:t>
            </a:r>
          </a:p>
          <a:p>
            <a:pPr algn="just"/>
            <a:r>
              <a:rPr lang="fr-FR" sz="2400" dirty="0">
                <a:latin typeface="Times New Roman" panose="02020603050405020304" pitchFamily="18" charset="0"/>
                <a:cs typeface="Times New Roman" panose="02020603050405020304" pitchFamily="18" charset="0"/>
              </a:rPr>
              <a:t>Une fonction doit être </a:t>
            </a:r>
            <a:r>
              <a:rPr lang="fr-FR" sz="2400" b="1" dirty="0">
                <a:latin typeface="Times New Roman" panose="02020603050405020304" pitchFamily="18" charset="0"/>
                <a:cs typeface="Times New Roman" panose="02020603050405020304" pitchFamily="18" charset="0"/>
              </a:rPr>
              <a:t>déclarée</a:t>
            </a:r>
            <a:r>
              <a:rPr lang="fr-FR" sz="2400" dirty="0">
                <a:latin typeface="Times New Roman" panose="02020603050405020304" pitchFamily="18" charset="0"/>
                <a:cs typeface="Times New Roman" panose="02020603050405020304" pitchFamily="18" charset="0"/>
              </a:rPr>
              <a:t> afin de pouvoir ensuite l’appeler.</a:t>
            </a:r>
          </a:p>
          <a:p>
            <a:pPr algn="just"/>
            <a:r>
              <a:rPr lang="fr-FR" sz="2400" dirty="0" smtClean="0">
                <a:latin typeface="Times New Roman" panose="02020603050405020304" pitchFamily="18" charset="0"/>
                <a:cs typeface="Times New Roman" panose="02020603050405020304" pitchFamily="18" charset="0"/>
              </a:rPr>
              <a:t>Syntaxe </a:t>
            </a:r>
            <a:r>
              <a:rPr lang="fr-FR" sz="2400" dirty="0">
                <a:latin typeface="Times New Roman" panose="02020603050405020304" pitchFamily="18" charset="0"/>
                <a:cs typeface="Times New Roman" panose="02020603050405020304" pitchFamily="18" charset="0"/>
              </a:rPr>
              <a:t>de déclaration : </a:t>
            </a:r>
            <a:r>
              <a:rPr lang="fr-FR" sz="2400" b="1" dirty="0" err="1">
                <a:latin typeface="Times New Roman" panose="02020603050405020304" pitchFamily="18" charset="0"/>
                <a:cs typeface="Times New Roman" panose="02020603050405020304" pitchFamily="18" charset="0"/>
              </a:rPr>
              <a:t>typeValeurRetour</a:t>
            </a:r>
            <a:r>
              <a:rPr lang="fr-FR" sz="2400" b="1" dirty="0">
                <a:latin typeface="Times New Roman" panose="02020603050405020304" pitchFamily="18" charset="0"/>
                <a:cs typeface="Times New Roman" panose="02020603050405020304" pitchFamily="18" charset="0"/>
              </a:rPr>
              <a:t> </a:t>
            </a:r>
            <a:r>
              <a:rPr lang="fr-FR" sz="2400" b="1" dirty="0" err="1">
                <a:latin typeface="Times New Roman" panose="02020603050405020304" pitchFamily="18" charset="0"/>
                <a:cs typeface="Times New Roman" panose="02020603050405020304" pitchFamily="18" charset="0"/>
              </a:rPr>
              <a:t>nomFonction</a:t>
            </a:r>
            <a:r>
              <a:rPr lang="fr-FR" sz="2400" b="1" dirty="0">
                <a:latin typeface="Times New Roman" panose="02020603050405020304" pitchFamily="18" charset="0"/>
                <a:cs typeface="Times New Roman" panose="02020603050405020304" pitchFamily="18" charset="0"/>
              </a:rPr>
              <a:t> (arguments)</a:t>
            </a:r>
          </a:p>
          <a:p>
            <a:pPr algn="just"/>
            <a:r>
              <a:rPr lang="fr-FR" sz="2400" dirty="0" smtClean="0">
                <a:latin typeface="Times New Roman" panose="02020603050405020304" pitchFamily="18" charset="0"/>
                <a:cs typeface="Times New Roman" panose="02020603050405020304" pitchFamily="18" charset="0"/>
              </a:rPr>
              <a:t>Exemple </a:t>
            </a:r>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écrire une </a:t>
            </a:r>
            <a:r>
              <a:rPr lang="fr-FR" sz="2400" dirty="0">
                <a:latin typeface="Times New Roman" panose="02020603050405020304" pitchFamily="18" charset="0"/>
                <a:cs typeface="Times New Roman" panose="02020603050405020304" pitchFamily="18" charset="0"/>
              </a:rPr>
              <a:t>fonction </a:t>
            </a:r>
            <a:r>
              <a:rPr lang="fr-FR" sz="2400" dirty="0" smtClean="0">
                <a:latin typeface="Times New Roman" panose="02020603050405020304" pitchFamily="18" charset="0"/>
                <a:cs typeface="Times New Roman" panose="02020603050405020304" pitchFamily="18" charset="0"/>
              </a:rPr>
              <a:t>qui reçoit </a:t>
            </a:r>
            <a:r>
              <a:rPr lang="fr-FR" sz="2400" dirty="0">
                <a:latin typeface="Times New Roman" panose="02020603050405020304" pitchFamily="18" charset="0"/>
                <a:cs typeface="Times New Roman" panose="02020603050405020304" pitchFamily="18" charset="0"/>
              </a:rPr>
              <a:t>deux données </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l’année actuelle et l’année de naissance et </a:t>
            </a:r>
            <a:r>
              <a:rPr lang="fr-FR" sz="2400" dirty="0" smtClean="0">
                <a:latin typeface="Times New Roman" panose="02020603050405020304" pitchFamily="18" charset="0"/>
                <a:cs typeface="Times New Roman" panose="02020603050405020304" pitchFamily="18" charset="0"/>
              </a:rPr>
              <a:t>qui renvoie (calcule) l'âge d’une personne.</a:t>
            </a:r>
          </a:p>
          <a:p>
            <a:pPr algn="just"/>
            <a:r>
              <a:rPr lang="fr-FR" sz="2400" b="1" dirty="0">
                <a:latin typeface="Times New Roman" panose="02020603050405020304" pitchFamily="18" charset="0"/>
                <a:cs typeface="Times New Roman" panose="02020603050405020304" pitchFamily="18" charset="0"/>
              </a:rPr>
              <a:t>e</a:t>
            </a:r>
            <a:r>
              <a:rPr lang="fr-FR" sz="2400" b="1" dirty="0" smtClean="0">
                <a:latin typeface="Times New Roman" panose="02020603050405020304" pitchFamily="18" charset="0"/>
                <a:cs typeface="Times New Roman" panose="02020603050405020304" pitchFamily="18" charset="0"/>
              </a:rPr>
              <a:t>ntier</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calculAge</a:t>
            </a:r>
            <a:r>
              <a:rPr lang="fr-FR" sz="2400" dirty="0" smtClean="0">
                <a:latin typeface="Times New Roman" panose="02020603050405020304" pitchFamily="18" charset="0"/>
                <a:cs typeface="Times New Roman" panose="02020603050405020304" pitchFamily="18" charset="0"/>
              </a:rPr>
              <a:t>(</a:t>
            </a:r>
            <a:r>
              <a:rPr lang="fr-FR" sz="2400" b="1" dirty="0" smtClean="0">
                <a:latin typeface="Times New Roman" panose="02020603050405020304" pitchFamily="18" charset="0"/>
                <a:cs typeface="Times New Roman" panose="02020603050405020304" pitchFamily="18" charset="0"/>
              </a:rPr>
              <a:t>d entier</a:t>
            </a:r>
            <a:r>
              <a:rPr lang="fr-FR" sz="2400" dirty="0" smtClean="0">
                <a:latin typeface="Times New Roman" panose="02020603050405020304" pitchFamily="18" charset="0"/>
                <a:cs typeface="Times New Roman" panose="02020603050405020304" pitchFamily="18" charset="0"/>
              </a:rPr>
              <a:t> an, </a:t>
            </a:r>
            <a:r>
              <a:rPr lang="fr-FR" sz="2400" b="1" dirty="0" smtClean="0">
                <a:latin typeface="Times New Roman" panose="02020603050405020304" pitchFamily="18" charset="0"/>
                <a:cs typeface="Times New Roman" panose="02020603050405020304" pitchFamily="18" charset="0"/>
              </a:rPr>
              <a:t>d entier</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naiss</a:t>
            </a:r>
            <a:r>
              <a:rPr lang="fr-FR" sz="2400" dirty="0" smtClean="0">
                <a:latin typeface="Times New Roman" panose="02020603050405020304" pitchFamily="18" charset="0"/>
                <a:cs typeface="Times New Roman" panose="02020603050405020304" pitchFamily="18" charset="0"/>
              </a:rPr>
              <a:t>)</a:t>
            </a:r>
          </a:p>
          <a:p>
            <a:pPr algn="just"/>
            <a:r>
              <a:rPr lang="fr-FR" sz="2400" b="1" dirty="0" err="1" smtClean="0">
                <a:latin typeface="Times New Roman" panose="02020603050405020304" pitchFamily="18" charset="0"/>
                <a:cs typeface="Times New Roman" panose="02020603050405020304" pitchFamily="18" charset="0"/>
              </a:rPr>
              <a:t>debfonc</a:t>
            </a:r>
            <a:endParaRPr lang="fr-FR" sz="2400" b="1" dirty="0" smtClean="0">
              <a:latin typeface="Times New Roman" panose="02020603050405020304" pitchFamily="18" charset="0"/>
              <a:cs typeface="Times New Roman" panose="02020603050405020304" pitchFamily="18" charset="0"/>
            </a:endParaRPr>
          </a:p>
          <a:p>
            <a:pPr algn="just"/>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entier</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age</a:t>
            </a:r>
            <a:r>
              <a:rPr lang="fr-FR" sz="2400" dirty="0" smtClean="0">
                <a:latin typeface="Times New Roman" panose="02020603050405020304" pitchFamily="18" charset="0"/>
                <a:cs typeface="Times New Roman" panose="02020603050405020304" pitchFamily="18" charset="0"/>
              </a:rPr>
              <a:t>;</a:t>
            </a:r>
          </a:p>
          <a:p>
            <a:pPr algn="just"/>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age</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an – </a:t>
            </a:r>
            <a:r>
              <a:rPr lang="fr-FR" sz="2400" dirty="0" err="1" smtClean="0">
                <a:latin typeface="Times New Roman" panose="02020603050405020304" pitchFamily="18" charset="0"/>
                <a:cs typeface="Times New Roman" panose="02020603050405020304" pitchFamily="18" charset="0"/>
              </a:rPr>
              <a:t>naiss</a:t>
            </a:r>
            <a:r>
              <a:rPr lang="fr-FR" sz="2400" dirty="0" smtClean="0">
                <a:latin typeface="Times New Roman" panose="02020603050405020304" pitchFamily="18" charset="0"/>
                <a:cs typeface="Times New Roman" panose="02020603050405020304" pitchFamily="18" charset="0"/>
              </a:rPr>
              <a:t>;</a:t>
            </a:r>
          </a:p>
          <a:p>
            <a:pPr algn="just"/>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retourner</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age</a:t>
            </a:r>
            <a:r>
              <a:rPr lang="fr-FR" sz="2400" dirty="0" smtClean="0">
                <a:latin typeface="Times New Roman" panose="02020603050405020304" pitchFamily="18" charset="0"/>
                <a:cs typeface="Times New Roman" panose="02020603050405020304" pitchFamily="18" charset="0"/>
              </a:rPr>
              <a:t>;</a:t>
            </a:r>
            <a:endParaRPr lang="fr-FR" sz="2400" dirty="0">
              <a:latin typeface="Times New Roman" panose="02020603050405020304" pitchFamily="18" charset="0"/>
              <a:cs typeface="Times New Roman" panose="02020603050405020304" pitchFamily="18" charset="0"/>
            </a:endParaRPr>
          </a:p>
          <a:p>
            <a:pPr algn="just"/>
            <a:r>
              <a:rPr lang="fr-FR" sz="2400" b="1" dirty="0" err="1">
                <a:latin typeface="Times New Roman" panose="02020603050405020304" pitchFamily="18" charset="0"/>
                <a:cs typeface="Times New Roman" panose="02020603050405020304" pitchFamily="18" charset="0"/>
              </a:rPr>
              <a:t>f</a:t>
            </a:r>
            <a:r>
              <a:rPr lang="fr-FR" sz="2400" b="1" dirty="0" err="1" smtClean="0">
                <a:latin typeface="Times New Roman" panose="02020603050405020304" pitchFamily="18" charset="0"/>
                <a:cs typeface="Times New Roman" panose="02020603050405020304" pitchFamily="18" charset="0"/>
              </a:rPr>
              <a:t>infonc</a:t>
            </a:r>
            <a:r>
              <a:rPr lang="fr-FR" sz="2400" dirty="0" smtClean="0">
                <a:latin typeface="Times New Roman" panose="02020603050405020304" pitchFamily="18" charset="0"/>
                <a:cs typeface="Times New Roman" panose="02020603050405020304" pitchFamily="18" charset="0"/>
              </a:rPr>
              <a:t>;</a:t>
            </a:r>
          </a:p>
          <a:p>
            <a:pPr algn="just"/>
            <a:r>
              <a:rPr lang="fr-FR" sz="2400" dirty="0" smtClean="0">
                <a:latin typeface="Times New Roman" panose="02020603050405020304" pitchFamily="18" charset="0"/>
                <a:cs typeface="Times New Roman" panose="02020603050405020304" pitchFamily="18" charset="0"/>
              </a:rPr>
              <a:t>Les paramètre </a:t>
            </a:r>
            <a:r>
              <a:rPr lang="fr-FR" sz="2400" b="1" dirty="0" smtClean="0">
                <a:latin typeface="Times New Roman" panose="02020603050405020304" pitchFamily="18" charset="0"/>
                <a:cs typeface="Times New Roman" panose="02020603050405020304" pitchFamily="18" charset="0"/>
              </a:rPr>
              <a:t>an</a:t>
            </a:r>
            <a:r>
              <a:rPr lang="fr-FR" sz="2400" dirty="0" smtClean="0">
                <a:latin typeface="Times New Roman" panose="02020603050405020304" pitchFamily="18" charset="0"/>
                <a:cs typeface="Times New Roman" panose="02020603050405020304" pitchFamily="18" charset="0"/>
              </a:rPr>
              <a:t> et </a:t>
            </a:r>
            <a:r>
              <a:rPr lang="fr-FR" sz="2400" b="1" dirty="0" err="1" smtClean="0">
                <a:latin typeface="Times New Roman" panose="02020603050405020304" pitchFamily="18" charset="0"/>
                <a:cs typeface="Times New Roman" panose="02020603050405020304" pitchFamily="18" charset="0"/>
              </a:rPr>
              <a:t>naiss</a:t>
            </a:r>
            <a:r>
              <a:rPr lang="fr-FR" sz="2400" dirty="0" smtClean="0">
                <a:latin typeface="Times New Roman" panose="02020603050405020304" pitchFamily="18" charset="0"/>
                <a:cs typeface="Times New Roman" panose="02020603050405020304" pitchFamily="18" charset="0"/>
              </a:rPr>
              <a:t> sont des paramètres données, ils sont précédés de </a:t>
            </a:r>
            <a:r>
              <a:rPr lang="fr-FR" sz="2400" b="1" dirty="0" smtClean="0">
                <a:latin typeface="Times New Roman" panose="02020603050405020304" pitchFamily="18" charset="0"/>
                <a:cs typeface="Times New Roman" panose="02020603050405020304" pitchFamily="18" charset="0"/>
              </a:rPr>
              <a:t>d</a:t>
            </a:r>
            <a:r>
              <a:rPr lang="fr-FR" sz="24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17623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23520" y="345440"/>
            <a:ext cx="11785600" cy="6370975"/>
          </a:xfrm>
          <a:prstGeom prst="rect">
            <a:avLst/>
          </a:prstGeom>
          <a:noFill/>
        </p:spPr>
        <p:txBody>
          <a:bodyPr wrap="square" rtlCol="0">
            <a:spAutoFit/>
          </a:bodyPr>
          <a:lstStyle/>
          <a:p>
            <a:pPr algn="just"/>
            <a:r>
              <a:rPr lang="fr-FR" sz="2400" dirty="0" smtClean="0">
                <a:latin typeface="Times New Roman" panose="02020603050405020304" pitchFamily="18" charset="0"/>
                <a:cs typeface="Times New Roman" panose="02020603050405020304" pitchFamily="18" charset="0"/>
              </a:rPr>
              <a:t>Une fonction </a:t>
            </a:r>
            <a:r>
              <a:rPr lang="fr-FR" sz="2400" b="1" dirty="0" smtClean="0">
                <a:latin typeface="Times New Roman" panose="02020603050405020304" pitchFamily="18" charset="0"/>
                <a:cs typeface="Times New Roman" panose="02020603050405020304" pitchFamily="18" charset="0"/>
              </a:rPr>
              <a:t>délivre</a:t>
            </a:r>
            <a:r>
              <a:rPr lang="fr-FR" sz="2400" dirty="0" smtClean="0">
                <a:latin typeface="Times New Roman" panose="02020603050405020304" pitchFamily="18" charset="0"/>
                <a:cs typeface="Times New Roman" panose="02020603050405020304" pitchFamily="18" charset="0"/>
              </a:rPr>
              <a:t> (ou </a:t>
            </a:r>
            <a:r>
              <a:rPr lang="fr-FR" sz="2400" b="1" dirty="0" smtClean="0">
                <a:latin typeface="Times New Roman" panose="02020603050405020304" pitchFamily="18" charset="0"/>
                <a:cs typeface="Times New Roman" panose="02020603050405020304" pitchFamily="18" charset="0"/>
              </a:rPr>
              <a:t>retourne</a:t>
            </a:r>
            <a:r>
              <a:rPr lang="fr-FR" sz="2400" dirty="0" smtClean="0">
                <a:latin typeface="Times New Roman" panose="02020603050405020304" pitchFamily="18" charset="0"/>
                <a:cs typeface="Times New Roman" panose="02020603050405020304" pitchFamily="18" charset="0"/>
              </a:rPr>
              <a:t>) une valeur de type déterminé nommé </a:t>
            </a:r>
            <a:r>
              <a:rPr lang="fr-FR" sz="2400" b="1" dirty="0" smtClean="0">
                <a:latin typeface="Times New Roman" panose="02020603050405020304" pitchFamily="18" charset="0"/>
                <a:cs typeface="Times New Roman" panose="02020603050405020304" pitchFamily="18" charset="0"/>
              </a:rPr>
              <a:t>résultat</a:t>
            </a:r>
            <a:r>
              <a:rPr lang="fr-FR" sz="2400" dirty="0" smtClean="0">
                <a:latin typeface="Times New Roman" panose="02020603050405020304" pitchFamily="18" charset="0"/>
                <a:cs typeface="Times New Roman" panose="02020603050405020304" pitchFamily="18" charset="0"/>
              </a:rPr>
              <a:t>. Et reçoit des arguments appelés des </a:t>
            </a:r>
            <a:r>
              <a:rPr lang="fr-FR" sz="2400" b="1" dirty="0" smtClean="0">
                <a:latin typeface="Times New Roman" panose="02020603050405020304" pitchFamily="18" charset="0"/>
                <a:cs typeface="Times New Roman" panose="02020603050405020304" pitchFamily="18" charset="0"/>
              </a:rPr>
              <a:t>arguments formels</a:t>
            </a:r>
            <a:r>
              <a:rPr lang="fr-FR" sz="2400" dirty="0" smtClean="0">
                <a:latin typeface="Times New Roman" panose="02020603050405020304" pitchFamily="18" charset="0"/>
                <a:cs typeface="Times New Roman" panose="02020603050405020304" pitchFamily="18" charset="0"/>
              </a:rPr>
              <a:t>.</a:t>
            </a:r>
          </a:p>
          <a:p>
            <a:pPr algn="just"/>
            <a:endParaRPr lang="fr-FR" sz="2400" dirty="0" smtClean="0">
              <a:latin typeface="Times New Roman" panose="02020603050405020304" pitchFamily="18" charset="0"/>
              <a:cs typeface="Times New Roman" panose="02020603050405020304" pitchFamily="18" charset="0"/>
            </a:endParaRPr>
          </a:p>
          <a:p>
            <a:pPr algn="just"/>
            <a:r>
              <a:rPr lang="fr-FR" sz="2400" dirty="0" smtClean="0">
                <a:latin typeface="Times New Roman" panose="02020603050405020304" pitchFamily="18" charset="0"/>
                <a:cs typeface="Times New Roman" panose="02020603050405020304" pitchFamily="18" charset="0"/>
              </a:rPr>
              <a:t>Exemple d’appel d’une fonction : </a:t>
            </a:r>
            <a:r>
              <a:rPr lang="fr-FR" sz="2400" b="1" dirty="0" err="1" smtClean="0">
                <a:latin typeface="Times New Roman" panose="02020603050405020304" pitchFamily="18" charset="0"/>
                <a:cs typeface="Times New Roman" panose="02020603050405020304" pitchFamily="18" charset="0"/>
              </a:rPr>
              <a:t>nomfonction</a:t>
            </a:r>
            <a:r>
              <a:rPr lang="fr-FR" sz="2400" b="1" dirty="0" smtClean="0">
                <a:latin typeface="Times New Roman" panose="02020603050405020304" pitchFamily="18" charset="0"/>
                <a:cs typeface="Times New Roman" panose="02020603050405020304" pitchFamily="18" charset="0"/>
              </a:rPr>
              <a:t>(éventuellement des arguments)</a:t>
            </a:r>
            <a:r>
              <a:rPr lang="fr-FR" sz="2400" dirty="0" smtClean="0">
                <a:latin typeface="Times New Roman" panose="02020603050405020304" pitchFamily="18" charset="0"/>
                <a:cs typeface="Times New Roman" panose="02020603050405020304" pitchFamily="18" charset="0"/>
              </a:rPr>
              <a:t>;</a:t>
            </a:r>
          </a:p>
          <a:p>
            <a:pPr algn="just"/>
            <a:r>
              <a:rPr lang="fr-FR" sz="2400" dirty="0">
                <a:latin typeface="Times New Roman" panose="02020603050405020304" pitchFamily="18" charset="0"/>
                <a:cs typeface="Times New Roman" panose="02020603050405020304" pitchFamily="18" charset="0"/>
              </a:rPr>
              <a:t>é</a:t>
            </a:r>
            <a:r>
              <a:rPr lang="fr-FR" sz="2400" dirty="0" smtClean="0">
                <a:latin typeface="Times New Roman" panose="02020603050405020304" pitchFamily="18" charset="0"/>
                <a:cs typeface="Times New Roman" panose="02020603050405020304" pitchFamily="18" charset="0"/>
              </a:rPr>
              <a:t>crire(ʺ En quelle année sommes-nous ? ʺ); lire(année);</a:t>
            </a:r>
          </a:p>
          <a:p>
            <a:pPr algn="just"/>
            <a:r>
              <a:rPr lang="fr-FR" sz="2400" dirty="0">
                <a:latin typeface="Times New Roman" panose="02020603050405020304" pitchFamily="18" charset="0"/>
                <a:cs typeface="Times New Roman" panose="02020603050405020304" pitchFamily="18" charset="0"/>
              </a:rPr>
              <a:t>écrire(ʺ </a:t>
            </a:r>
            <a:r>
              <a:rPr lang="fr-FR" sz="2400" dirty="0" smtClean="0">
                <a:latin typeface="Times New Roman" panose="02020603050405020304" pitchFamily="18" charset="0"/>
                <a:cs typeface="Times New Roman" panose="02020603050405020304" pitchFamily="18" charset="0"/>
              </a:rPr>
              <a:t>Votre année de naissance </a:t>
            </a:r>
            <a:r>
              <a:rPr lang="fr-FR" sz="2400" dirty="0">
                <a:latin typeface="Times New Roman" panose="02020603050405020304" pitchFamily="18" charset="0"/>
                <a:cs typeface="Times New Roman" panose="02020603050405020304" pitchFamily="18" charset="0"/>
              </a:rPr>
              <a:t>? ʺ); </a:t>
            </a:r>
            <a:r>
              <a:rPr lang="fr-FR" sz="2400" dirty="0" smtClean="0">
                <a:latin typeface="Times New Roman" panose="02020603050405020304" pitchFamily="18" charset="0"/>
                <a:cs typeface="Times New Roman" panose="02020603050405020304" pitchFamily="18" charset="0"/>
              </a:rPr>
              <a:t>lire(naissance);</a:t>
            </a:r>
            <a:endParaRPr lang="fr-FR" sz="2400" dirty="0">
              <a:latin typeface="Times New Roman" panose="02020603050405020304" pitchFamily="18" charset="0"/>
              <a:cs typeface="Times New Roman" panose="02020603050405020304" pitchFamily="18" charset="0"/>
            </a:endParaRPr>
          </a:p>
          <a:p>
            <a:pPr algn="just"/>
            <a:r>
              <a:rPr lang="fr-FR" sz="2400" dirty="0">
                <a:latin typeface="Times New Roman" panose="02020603050405020304" pitchFamily="18" charset="0"/>
                <a:cs typeface="Times New Roman" panose="02020603050405020304" pitchFamily="18" charset="0"/>
              </a:rPr>
              <a:t>é</a:t>
            </a:r>
            <a:r>
              <a:rPr lang="fr-FR" sz="2400" dirty="0" smtClean="0">
                <a:latin typeface="Times New Roman" panose="02020603050405020304" pitchFamily="18" charset="0"/>
                <a:cs typeface="Times New Roman" panose="02020603050405020304" pitchFamily="18" charset="0"/>
              </a:rPr>
              <a:t>crire(ʺVous êtes âgé de ʺ &amp; </a:t>
            </a:r>
            <a:r>
              <a:rPr lang="fr-FR" sz="2400" b="1" dirty="0" err="1" smtClean="0">
                <a:latin typeface="Times New Roman" panose="02020603050405020304" pitchFamily="18" charset="0"/>
                <a:cs typeface="Times New Roman" panose="02020603050405020304" pitchFamily="18" charset="0"/>
              </a:rPr>
              <a:t>calculAge</a:t>
            </a:r>
            <a:r>
              <a:rPr lang="fr-FR" sz="2400" b="1" dirty="0" smtClean="0">
                <a:latin typeface="Times New Roman" panose="02020603050405020304" pitchFamily="18" charset="0"/>
                <a:cs typeface="Times New Roman" panose="02020603050405020304" pitchFamily="18" charset="0"/>
              </a:rPr>
              <a:t>(année, naissance)</a:t>
            </a:r>
            <a:r>
              <a:rPr lang="fr-FR" sz="2400" dirty="0" smtClean="0">
                <a:latin typeface="Times New Roman" panose="02020603050405020304" pitchFamily="18" charset="0"/>
                <a:cs typeface="Times New Roman" panose="02020603050405020304" pitchFamily="18" charset="0"/>
              </a:rPr>
              <a:t> &amp; ʺansʺ);</a:t>
            </a:r>
            <a:endParaRPr lang="fr-FR" sz="2400" dirty="0">
              <a:latin typeface="Times New Roman" panose="02020603050405020304" pitchFamily="18" charset="0"/>
              <a:cs typeface="Times New Roman" panose="02020603050405020304" pitchFamily="18" charset="0"/>
            </a:endParaRPr>
          </a:p>
          <a:p>
            <a:pPr algn="just"/>
            <a:endParaRPr lang="fr-FR" sz="2400" dirty="0" smtClean="0">
              <a:latin typeface="Times New Roman" panose="02020603050405020304" pitchFamily="18" charset="0"/>
              <a:cs typeface="Times New Roman" panose="02020603050405020304" pitchFamily="18" charset="0"/>
            </a:endParaRPr>
          </a:p>
          <a:p>
            <a:pPr algn="just"/>
            <a:r>
              <a:rPr lang="fr-FR" sz="2400" dirty="0" smtClean="0">
                <a:latin typeface="Times New Roman" panose="02020603050405020304" pitchFamily="18" charset="0"/>
                <a:cs typeface="Times New Roman" panose="02020603050405020304" pitchFamily="18" charset="0"/>
              </a:rPr>
              <a:t>Les paramètres</a:t>
            </a:r>
            <a:r>
              <a:rPr lang="fr-FR" sz="2400" dirty="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an</a:t>
            </a:r>
            <a:r>
              <a:rPr lang="fr-FR" sz="2400" dirty="0" smtClean="0">
                <a:latin typeface="Times New Roman" panose="02020603050405020304" pitchFamily="18" charset="0"/>
                <a:cs typeface="Times New Roman" panose="02020603050405020304" pitchFamily="18" charset="0"/>
              </a:rPr>
              <a:t> et </a:t>
            </a:r>
            <a:r>
              <a:rPr lang="fr-FR" sz="2400" b="1" dirty="0" err="1" smtClean="0">
                <a:latin typeface="Times New Roman" panose="02020603050405020304" pitchFamily="18" charset="0"/>
                <a:cs typeface="Times New Roman" panose="02020603050405020304" pitchFamily="18" charset="0"/>
              </a:rPr>
              <a:t>naiss</a:t>
            </a:r>
            <a:r>
              <a:rPr lang="fr-FR" sz="2400" dirty="0" smtClean="0">
                <a:latin typeface="Times New Roman" panose="02020603050405020304" pitchFamily="18" charset="0"/>
                <a:cs typeface="Times New Roman" panose="02020603050405020304" pitchFamily="18" charset="0"/>
              </a:rPr>
              <a:t> sont appelées paramètres </a:t>
            </a:r>
            <a:r>
              <a:rPr lang="fr-FR" sz="2400" b="1" dirty="0" smtClean="0">
                <a:latin typeface="Times New Roman" panose="02020603050405020304" pitchFamily="18" charset="0"/>
                <a:cs typeface="Times New Roman" panose="02020603050405020304" pitchFamily="18" charset="0"/>
              </a:rPr>
              <a:t>formels</a:t>
            </a:r>
            <a:r>
              <a:rPr lang="fr-FR" sz="2400" dirty="0" smtClean="0">
                <a:latin typeface="Times New Roman" panose="02020603050405020304" pitchFamily="18" charset="0"/>
                <a:cs typeface="Times New Roman" panose="02020603050405020304" pitchFamily="18" charset="0"/>
              </a:rPr>
              <a:t>. Les paramètres </a:t>
            </a:r>
            <a:r>
              <a:rPr lang="fr-FR" sz="2400" b="1" dirty="0" smtClean="0">
                <a:latin typeface="Times New Roman" panose="02020603050405020304" pitchFamily="18" charset="0"/>
                <a:cs typeface="Times New Roman" panose="02020603050405020304" pitchFamily="18" charset="0"/>
              </a:rPr>
              <a:t>année</a:t>
            </a:r>
            <a:r>
              <a:rPr lang="fr-FR" sz="2400" dirty="0" smtClean="0">
                <a:latin typeface="Times New Roman" panose="02020603050405020304" pitchFamily="18" charset="0"/>
                <a:cs typeface="Times New Roman" panose="02020603050405020304" pitchFamily="18" charset="0"/>
              </a:rPr>
              <a:t> et </a:t>
            </a:r>
            <a:r>
              <a:rPr lang="fr-FR" sz="2400" b="1" dirty="0" smtClean="0">
                <a:latin typeface="Times New Roman" panose="02020603050405020304" pitchFamily="18" charset="0"/>
                <a:cs typeface="Times New Roman" panose="02020603050405020304" pitchFamily="18" charset="0"/>
              </a:rPr>
              <a:t>naissance</a:t>
            </a:r>
            <a:r>
              <a:rPr lang="fr-FR" sz="2400" dirty="0" smtClean="0">
                <a:latin typeface="Times New Roman" panose="02020603050405020304" pitchFamily="18" charset="0"/>
                <a:cs typeface="Times New Roman" panose="02020603050405020304" pitchFamily="18" charset="0"/>
              </a:rPr>
              <a:t> sont des paramètres </a:t>
            </a:r>
            <a:r>
              <a:rPr lang="fr-FR" sz="2400" b="1" dirty="0" smtClean="0">
                <a:latin typeface="Times New Roman" panose="02020603050405020304" pitchFamily="18" charset="0"/>
                <a:cs typeface="Times New Roman" panose="02020603050405020304" pitchFamily="18" charset="0"/>
              </a:rPr>
              <a:t>effectifs</a:t>
            </a:r>
            <a:r>
              <a:rPr lang="fr-FR" sz="2400" dirty="0" smtClean="0">
                <a:latin typeface="Times New Roman" panose="02020603050405020304" pitchFamily="18" charset="0"/>
                <a:cs typeface="Times New Roman" panose="02020603050405020304" pitchFamily="18" charset="0"/>
              </a:rPr>
              <a:t>. Ils remplacent les paramètres formels </a:t>
            </a:r>
            <a:r>
              <a:rPr lang="fr-FR" sz="2400" b="1" dirty="0" smtClean="0">
                <a:latin typeface="Times New Roman" panose="02020603050405020304" pitchFamily="18" charset="0"/>
                <a:cs typeface="Times New Roman" panose="02020603050405020304" pitchFamily="18" charset="0"/>
              </a:rPr>
              <a:t>an</a:t>
            </a:r>
            <a:r>
              <a:rPr lang="fr-FR" sz="2400" dirty="0" smtClean="0">
                <a:latin typeface="Times New Roman" panose="02020603050405020304" pitchFamily="18" charset="0"/>
                <a:cs typeface="Times New Roman" panose="02020603050405020304" pitchFamily="18" charset="0"/>
              </a:rPr>
              <a:t> et </a:t>
            </a:r>
            <a:r>
              <a:rPr lang="fr-FR" sz="2400" b="1" dirty="0" err="1" smtClean="0">
                <a:latin typeface="Times New Roman" panose="02020603050405020304" pitchFamily="18" charset="0"/>
                <a:cs typeface="Times New Roman" panose="02020603050405020304" pitchFamily="18" charset="0"/>
              </a:rPr>
              <a:t>naiss</a:t>
            </a:r>
            <a:r>
              <a:rPr lang="fr-FR" sz="2400" dirty="0" smtClean="0">
                <a:latin typeface="Times New Roman" panose="02020603050405020304" pitchFamily="18" charset="0"/>
                <a:cs typeface="Times New Roman" panose="02020603050405020304" pitchFamily="18" charset="0"/>
              </a:rPr>
              <a:t>.</a:t>
            </a:r>
          </a:p>
          <a:p>
            <a:pPr algn="just"/>
            <a:r>
              <a:rPr lang="fr-FR" sz="2400" dirty="0" smtClean="0">
                <a:latin typeface="Times New Roman" panose="02020603050405020304" pitchFamily="18" charset="0"/>
                <a:cs typeface="Times New Roman" panose="02020603050405020304" pitchFamily="18" charset="0"/>
              </a:rPr>
              <a:t>L’instruction </a:t>
            </a:r>
            <a:r>
              <a:rPr lang="fr-FR" sz="2400" b="1" dirty="0" smtClean="0">
                <a:latin typeface="Times New Roman" panose="02020603050405020304" pitchFamily="18" charset="0"/>
                <a:cs typeface="Times New Roman" panose="02020603050405020304" pitchFamily="18" charset="0"/>
              </a:rPr>
              <a:t>retourner valeur</a:t>
            </a:r>
            <a:r>
              <a:rPr lang="fr-FR" sz="2400" dirty="0" smtClean="0">
                <a:latin typeface="Times New Roman" panose="02020603050405020304" pitchFamily="18" charset="0"/>
                <a:cs typeface="Times New Roman" panose="02020603050405020304" pitchFamily="18" charset="0"/>
              </a:rPr>
              <a:t>, délivre le résultat de la fonction.</a:t>
            </a:r>
          </a:p>
          <a:p>
            <a:pPr algn="just"/>
            <a:endParaRPr lang="fr-FR" sz="2400" dirty="0" smtClean="0">
              <a:latin typeface="Times New Roman" panose="02020603050405020304" pitchFamily="18" charset="0"/>
              <a:cs typeface="Times New Roman" panose="02020603050405020304" pitchFamily="18" charset="0"/>
            </a:endParaRPr>
          </a:p>
          <a:p>
            <a:pPr algn="just"/>
            <a:r>
              <a:rPr lang="fr-FR" sz="2400" dirty="0" smtClean="0">
                <a:latin typeface="Times New Roman" panose="02020603050405020304" pitchFamily="18" charset="0"/>
                <a:cs typeface="Times New Roman" panose="02020603050405020304" pitchFamily="18" charset="0"/>
              </a:rPr>
              <a:t>Un algorithme peut </a:t>
            </a:r>
            <a:r>
              <a:rPr lang="fr-FR" sz="2400" b="1" dirty="0" smtClean="0">
                <a:latin typeface="Times New Roman" panose="02020603050405020304" pitchFamily="18" charset="0"/>
                <a:cs typeface="Times New Roman" panose="02020603050405020304" pitchFamily="18" charset="0"/>
              </a:rPr>
              <a:t>modifier</a:t>
            </a:r>
            <a:r>
              <a:rPr lang="fr-FR" sz="2400" dirty="0" smtClean="0">
                <a:latin typeface="Times New Roman" panose="02020603050405020304" pitchFamily="18" charset="0"/>
                <a:cs typeface="Times New Roman" panose="02020603050405020304" pitchFamily="18" charset="0"/>
              </a:rPr>
              <a:t> la valeur d’un paramètre : celui-ci est à la fois une donnée, par sa valeur à l’</a:t>
            </a:r>
            <a:r>
              <a:rPr lang="fr-FR" sz="2400" dirty="0" err="1" smtClean="0">
                <a:latin typeface="Times New Roman" panose="02020603050405020304" pitchFamily="18" charset="0"/>
                <a:cs typeface="Times New Roman" panose="02020603050405020304" pitchFamily="18" charset="0"/>
              </a:rPr>
              <a:t>ntrée</a:t>
            </a:r>
            <a:r>
              <a:rPr lang="fr-FR" sz="2400" dirty="0" smtClean="0">
                <a:latin typeface="Times New Roman" panose="02020603050405020304" pitchFamily="18" charset="0"/>
                <a:cs typeface="Times New Roman" panose="02020603050405020304" pitchFamily="18" charset="0"/>
              </a:rPr>
              <a:t> de l’algorithme et un résultat, par sa valeur à la sortie de l’algorithme. Ce c’est ce que nous exprimons en le faisant précéder de </a:t>
            </a:r>
            <a:r>
              <a:rPr lang="fr-FR" sz="2400" b="1" dirty="0" err="1" smtClean="0">
                <a:latin typeface="Times New Roman" panose="02020603050405020304" pitchFamily="18" charset="0"/>
                <a:cs typeface="Times New Roman" panose="02020603050405020304" pitchFamily="18" charset="0"/>
              </a:rPr>
              <a:t>dr</a:t>
            </a:r>
            <a:r>
              <a:rPr lang="fr-FR" sz="2400" dirty="0" smtClean="0">
                <a:latin typeface="Times New Roman" panose="02020603050405020304" pitchFamily="18" charset="0"/>
                <a:cs typeface="Times New Roman" panose="02020603050405020304" pitchFamily="18" charset="0"/>
              </a:rPr>
              <a:t> (donnée-résultat).</a:t>
            </a:r>
          </a:p>
          <a:p>
            <a:pPr algn="just"/>
            <a:r>
              <a:rPr lang="fr-FR" sz="2400" dirty="0" smtClean="0">
                <a:latin typeface="Times New Roman" panose="02020603050405020304" pitchFamily="18" charset="0"/>
                <a:cs typeface="Times New Roman" panose="02020603050405020304" pitchFamily="18" charset="0"/>
              </a:rPr>
              <a:t>Exemple : un algorithme qui permet de permuter les valeurs de deux variables </a:t>
            </a:r>
            <a:r>
              <a:rPr lang="fr-FR" sz="2400" b="1" dirty="0" smtClean="0">
                <a:latin typeface="Times New Roman" panose="02020603050405020304" pitchFamily="18" charset="0"/>
                <a:cs typeface="Times New Roman" panose="02020603050405020304" pitchFamily="18" charset="0"/>
              </a:rPr>
              <a:t>a</a:t>
            </a:r>
            <a:r>
              <a:rPr lang="fr-FR" sz="2400" dirty="0" smtClean="0">
                <a:latin typeface="Times New Roman" panose="02020603050405020304" pitchFamily="18" charset="0"/>
                <a:cs typeface="Times New Roman" panose="02020603050405020304" pitchFamily="18" charset="0"/>
              </a:rPr>
              <a:t> et </a:t>
            </a:r>
            <a:r>
              <a:rPr lang="fr-FR" sz="2400" b="1" dirty="0" smtClean="0">
                <a:latin typeface="Times New Roman" panose="02020603050405020304" pitchFamily="18" charset="0"/>
                <a:cs typeface="Times New Roman" panose="02020603050405020304" pitchFamily="18" charset="0"/>
              </a:rPr>
              <a:t>b</a:t>
            </a:r>
            <a:r>
              <a:rPr lang="fr-FR" sz="2400" dirty="0" smtClean="0">
                <a:latin typeface="Times New Roman" panose="02020603050405020304" pitchFamily="18" charset="0"/>
                <a:cs typeface="Times New Roman" panose="02020603050405020304" pitchFamily="18" charset="0"/>
              </a:rPr>
              <a:t>. Si les valeurs initiales </a:t>
            </a:r>
            <a:r>
              <a:rPr lang="fr-FR" sz="2400" dirty="0" err="1" smtClean="0">
                <a:latin typeface="Times New Roman" panose="02020603050405020304" pitchFamily="18" charset="0"/>
                <a:cs typeface="Times New Roman" panose="02020603050405020304" pitchFamily="18" charset="0"/>
              </a:rPr>
              <a:t>rspectives</a:t>
            </a:r>
            <a:r>
              <a:rPr lang="fr-FR" sz="2400" dirty="0" smtClean="0">
                <a:latin typeface="Times New Roman" panose="02020603050405020304" pitchFamily="18" charset="0"/>
                <a:cs typeface="Times New Roman" panose="02020603050405020304" pitchFamily="18" charset="0"/>
              </a:rPr>
              <a:t> sont </a:t>
            </a:r>
            <a:r>
              <a:rPr lang="fr-FR" sz="2400" b="1" dirty="0" smtClean="0">
                <a:latin typeface="Times New Roman" panose="02020603050405020304" pitchFamily="18" charset="0"/>
                <a:cs typeface="Times New Roman" panose="02020603050405020304" pitchFamily="18" charset="0"/>
              </a:rPr>
              <a:t>x</a:t>
            </a:r>
            <a:r>
              <a:rPr lang="fr-FR" sz="2400" dirty="0" smtClean="0">
                <a:latin typeface="Times New Roman" panose="02020603050405020304" pitchFamily="18" charset="0"/>
                <a:cs typeface="Times New Roman" panose="02020603050405020304" pitchFamily="18" charset="0"/>
              </a:rPr>
              <a:t> et </a:t>
            </a:r>
            <a:r>
              <a:rPr lang="fr-FR" sz="2400" b="1" dirty="0" smtClean="0">
                <a:latin typeface="Times New Roman" panose="02020603050405020304" pitchFamily="18" charset="0"/>
                <a:cs typeface="Times New Roman" panose="02020603050405020304" pitchFamily="18" charset="0"/>
              </a:rPr>
              <a:t>y</a:t>
            </a:r>
            <a:r>
              <a:rPr lang="fr-FR" sz="2400" dirty="0" smtClean="0">
                <a:latin typeface="Times New Roman" panose="02020603050405020304" pitchFamily="18" charset="0"/>
                <a:cs typeface="Times New Roman" panose="02020603050405020304" pitchFamily="18" charset="0"/>
              </a:rPr>
              <a:t>, leurs valeurs finales respectives seront </a:t>
            </a:r>
            <a:r>
              <a:rPr lang="fr-FR" sz="2400" b="1" dirty="0" smtClean="0">
                <a:latin typeface="Times New Roman" panose="02020603050405020304" pitchFamily="18" charset="0"/>
                <a:cs typeface="Times New Roman" panose="02020603050405020304" pitchFamily="18" charset="0"/>
              </a:rPr>
              <a:t>y</a:t>
            </a:r>
            <a:r>
              <a:rPr lang="fr-FR" sz="2400" dirty="0" smtClean="0">
                <a:latin typeface="Times New Roman" panose="02020603050405020304" pitchFamily="18" charset="0"/>
                <a:cs typeface="Times New Roman" panose="02020603050405020304" pitchFamily="18" charset="0"/>
              </a:rPr>
              <a:t> et </a:t>
            </a:r>
            <a:r>
              <a:rPr lang="fr-FR" sz="2400" b="1" dirty="0" smtClean="0">
                <a:latin typeface="Times New Roman" panose="02020603050405020304" pitchFamily="18" charset="0"/>
                <a:cs typeface="Times New Roman" panose="02020603050405020304" pitchFamily="18" charset="0"/>
              </a:rPr>
              <a:t>x</a:t>
            </a:r>
            <a:r>
              <a:rPr lang="fr-FR" sz="2400" dirty="0" smtClean="0">
                <a:latin typeface="Times New Roman" panose="02020603050405020304" pitchFamily="18" charset="0"/>
                <a:cs typeface="Times New Roman" panose="02020603050405020304" pitchFamily="18" charset="0"/>
              </a:rPr>
              <a:t>.</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70928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ZoneTexte 1"/>
              <p:cNvSpPr txBox="1"/>
              <p:nvPr/>
            </p:nvSpPr>
            <p:spPr>
              <a:xfrm>
                <a:off x="213360" y="528320"/>
                <a:ext cx="11348720" cy="5632311"/>
              </a:xfrm>
              <a:prstGeom prst="rect">
                <a:avLst/>
              </a:prstGeom>
              <a:noFill/>
            </p:spPr>
            <p:txBody>
              <a:bodyPr wrap="square" rtlCol="0">
                <a:spAutoFit/>
              </a:bodyPr>
              <a:lstStyle/>
              <a:p>
                <a:r>
                  <a:rPr lang="fr-FR" sz="2400" b="1" dirty="0" smtClean="0">
                    <a:latin typeface="Times New Roman" panose="02020603050405020304" pitchFamily="18" charset="0"/>
                    <a:cs typeface="Times New Roman" panose="02020603050405020304" pitchFamily="18" charset="0"/>
                  </a:rPr>
                  <a:t>vide</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permut</a:t>
                </a:r>
                <a:r>
                  <a:rPr lang="fr-FR" sz="2400" dirty="0" smtClean="0">
                    <a:latin typeface="Times New Roman" panose="02020603050405020304" pitchFamily="18" charset="0"/>
                    <a:cs typeface="Times New Roman" panose="02020603050405020304" pitchFamily="18" charset="0"/>
                  </a:rPr>
                  <a:t> (</a:t>
                </a:r>
                <a:r>
                  <a:rPr lang="fr-FR" sz="2400" b="1" dirty="0" err="1" smtClean="0">
                    <a:latin typeface="Times New Roman" panose="02020603050405020304" pitchFamily="18" charset="0"/>
                    <a:cs typeface="Times New Roman" panose="02020603050405020304" pitchFamily="18" charset="0"/>
                  </a:rPr>
                  <a:t>dr</a:t>
                </a:r>
                <a:r>
                  <a:rPr lang="fr-FR" sz="2400" b="1" dirty="0" smtClean="0">
                    <a:latin typeface="Times New Roman" panose="02020603050405020304" pitchFamily="18" charset="0"/>
                    <a:cs typeface="Times New Roman" panose="02020603050405020304" pitchFamily="18" charset="0"/>
                  </a:rPr>
                  <a:t> entier</a:t>
                </a:r>
                <a:r>
                  <a:rPr lang="fr-FR" sz="2400" dirty="0" smtClean="0">
                    <a:latin typeface="Times New Roman" panose="02020603050405020304" pitchFamily="18" charset="0"/>
                    <a:cs typeface="Times New Roman" panose="02020603050405020304" pitchFamily="18" charset="0"/>
                  </a:rPr>
                  <a:t> a, </a:t>
                </a:r>
                <a:r>
                  <a:rPr lang="fr-FR" sz="2400" b="1" dirty="0" err="1" smtClean="0">
                    <a:latin typeface="Times New Roman" panose="02020603050405020304" pitchFamily="18" charset="0"/>
                    <a:cs typeface="Times New Roman" panose="02020603050405020304" pitchFamily="18" charset="0"/>
                  </a:rPr>
                  <a:t>dr</a:t>
                </a:r>
                <a:r>
                  <a:rPr lang="fr-FR" sz="2400" b="1" dirty="0" smtClean="0">
                    <a:latin typeface="Times New Roman" panose="02020603050405020304" pitchFamily="18" charset="0"/>
                    <a:cs typeface="Times New Roman" panose="02020603050405020304" pitchFamily="18" charset="0"/>
                  </a:rPr>
                  <a:t> entier</a:t>
                </a:r>
                <a:r>
                  <a:rPr lang="fr-FR" sz="2400" dirty="0" smtClean="0">
                    <a:latin typeface="Times New Roman" panose="02020603050405020304" pitchFamily="18" charset="0"/>
                    <a:cs typeface="Times New Roman" panose="02020603050405020304" pitchFamily="18" charset="0"/>
                  </a:rPr>
                  <a:t> b)</a:t>
                </a:r>
              </a:p>
              <a:p>
                <a:r>
                  <a:rPr lang="fr-FR" sz="2400" b="1" dirty="0" err="1" smtClean="0">
                    <a:latin typeface="Times New Roman" panose="02020603050405020304" pitchFamily="18" charset="0"/>
                    <a:cs typeface="Times New Roman" panose="02020603050405020304" pitchFamily="18" charset="0"/>
                  </a:rPr>
                  <a:t>debfonc</a:t>
                </a:r>
                <a:endParaRPr lang="fr-FR" sz="2400" b="1" dirty="0" smtClean="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entier</a:t>
                </a:r>
                <a:r>
                  <a:rPr lang="fr-FR" sz="2400" dirty="0" smtClean="0">
                    <a:latin typeface="Times New Roman" panose="02020603050405020304" pitchFamily="18" charset="0"/>
                    <a:cs typeface="Times New Roman" panose="02020603050405020304" pitchFamily="18" charset="0"/>
                  </a:rPr>
                  <a:t> c;</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c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a;</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b;</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b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c;</a:t>
                </a:r>
              </a:p>
              <a:p>
                <a:r>
                  <a:rPr lang="fr-FR" sz="2400" b="1" dirty="0" err="1">
                    <a:latin typeface="Times New Roman" panose="02020603050405020304" pitchFamily="18" charset="0"/>
                    <a:cs typeface="Times New Roman" panose="02020603050405020304" pitchFamily="18" charset="0"/>
                  </a:rPr>
                  <a:t>f</a:t>
                </a:r>
                <a:r>
                  <a:rPr lang="fr-FR" sz="2400" b="1" dirty="0" err="1" smtClean="0">
                    <a:latin typeface="Times New Roman" panose="02020603050405020304" pitchFamily="18" charset="0"/>
                    <a:cs typeface="Times New Roman" panose="02020603050405020304" pitchFamily="18" charset="0"/>
                  </a:rPr>
                  <a:t>infonc</a:t>
                </a:r>
                <a:r>
                  <a:rPr lang="fr-FR" sz="2400" dirty="0" smtClean="0">
                    <a:latin typeface="Times New Roman" panose="02020603050405020304" pitchFamily="18" charset="0"/>
                    <a:cs typeface="Times New Roman" panose="02020603050405020304" pitchFamily="18" charset="0"/>
                  </a:rPr>
                  <a:t>;</a:t>
                </a:r>
              </a:p>
              <a:p>
                <a:endParaRPr lang="fr-FR" sz="2400" dirty="0" smtClean="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Appel de </a:t>
                </a:r>
                <a:r>
                  <a:rPr lang="fr-FR" sz="2400" dirty="0" err="1" smtClean="0">
                    <a:latin typeface="Times New Roman" panose="02020603050405020304" pitchFamily="18" charset="0"/>
                    <a:cs typeface="Times New Roman" panose="02020603050405020304" pitchFamily="18" charset="0"/>
                  </a:rPr>
                  <a:t>permut</a:t>
                </a:r>
                <a:r>
                  <a:rPr lang="fr-FR" sz="2400" dirty="0" smtClean="0">
                    <a:latin typeface="Times New Roman" panose="02020603050405020304" pitchFamily="18" charset="0"/>
                    <a:cs typeface="Times New Roman" panose="02020603050405020304" pitchFamily="18" charset="0"/>
                  </a:rPr>
                  <a:t> :</a:t>
                </a:r>
              </a:p>
              <a:p>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entier</a:t>
                </a:r>
                <a:r>
                  <a:rPr lang="fr-FR" sz="2400" dirty="0" smtClean="0">
                    <a:latin typeface="Times New Roman" panose="02020603050405020304" pitchFamily="18" charset="0"/>
                    <a:cs typeface="Times New Roman" panose="02020603050405020304" pitchFamily="18" charset="0"/>
                  </a:rPr>
                  <a:t> n1, n2;</a:t>
                </a:r>
              </a:p>
              <a:p>
                <a:r>
                  <a:rPr lang="fr-FR" sz="2400" dirty="0" smtClean="0">
                    <a:latin typeface="Times New Roman" panose="02020603050405020304" pitchFamily="18" charset="0"/>
                    <a:cs typeface="Times New Roman" panose="02020603050405020304" pitchFamily="18" charset="0"/>
                  </a:rPr>
                  <a:t>    n1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17; n2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25;</a:t>
                </a:r>
              </a:p>
              <a:p>
                <a:r>
                  <a:rPr lang="fr-FR" sz="2400" dirty="0" smtClean="0">
                    <a:latin typeface="Times New Roman" panose="02020603050405020304" pitchFamily="18" charset="0"/>
                    <a:cs typeface="Times New Roman" panose="02020603050405020304" pitchFamily="18" charset="0"/>
                  </a:rPr>
                  <a:t>    </a:t>
                </a:r>
                <a:r>
                  <a:rPr lang="fr-FR" sz="2400" b="1" dirty="0" err="1" smtClean="0">
                    <a:latin typeface="Times New Roman" panose="02020603050405020304" pitchFamily="18" charset="0"/>
                    <a:cs typeface="Times New Roman" panose="02020603050405020304" pitchFamily="18" charset="0"/>
                  </a:rPr>
                  <a:t>permut</a:t>
                </a:r>
                <a:r>
                  <a:rPr lang="fr-FR" sz="2400" b="1" dirty="0" smtClean="0">
                    <a:latin typeface="Times New Roman" panose="02020603050405020304" pitchFamily="18" charset="0"/>
                    <a:cs typeface="Times New Roman" panose="02020603050405020304" pitchFamily="18" charset="0"/>
                  </a:rPr>
                  <a:t> (n1, n2)</a:t>
                </a:r>
                <a:r>
                  <a:rPr lang="fr-FR" sz="2400" dirty="0" smtClean="0">
                    <a:latin typeface="Times New Roman" panose="02020603050405020304" pitchFamily="18" charset="0"/>
                    <a:cs typeface="Times New Roman" panose="02020603050405020304" pitchFamily="18" charset="0"/>
                  </a:rPr>
                  <a:t>;   //n1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25; n2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17</a:t>
                </a:r>
              </a:p>
              <a:p>
                <a:endParaRPr lang="fr-FR" sz="2400" dirty="0">
                  <a:latin typeface="Times New Roman" panose="02020603050405020304" pitchFamily="18" charset="0"/>
                  <a:cs typeface="Times New Roman" panose="02020603050405020304" pitchFamily="18" charset="0"/>
                </a:endParaRPr>
              </a:p>
              <a:p>
                <a:r>
                  <a:rPr lang="fr-FR" sz="2400" u="sng" dirty="0" smtClean="0">
                    <a:latin typeface="Times New Roman" panose="02020603050405020304" pitchFamily="18" charset="0"/>
                    <a:cs typeface="Times New Roman" panose="02020603050405020304" pitchFamily="18" charset="0"/>
                  </a:rPr>
                  <a:t>Exercice 1</a:t>
                </a:r>
                <a:r>
                  <a:rPr lang="fr-FR" sz="2400" dirty="0" smtClean="0">
                    <a:latin typeface="Times New Roman" panose="02020603050405020304" pitchFamily="18" charset="0"/>
                    <a:cs typeface="Times New Roman" panose="02020603050405020304" pitchFamily="18" charset="0"/>
                  </a:rPr>
                  <a:t>. Ecrire une fonction qui permute les valeurs de trois variables a, b et c afin d’obtenir a </a:t>
                </a:r>
                <a14:m>
                  <m:oMath xmlns:m="http://schemas.openxmlformats.org/officeDocument/2006/math">
                    <m:r>
                      <a:rPr lang="fr-FR" sz="24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fr-FR" sz="2400" dirty="0" smtClean="0">
                    <a:latin typeface="Times New Roman" panose="02020603050405020304" pitchFamily="18" charset="0"/>
                    <a:cs typeface="Times New Roman" panose="02020603050405020304" pitchFamily="18" charset="0"/>
                  </a:rPr>
                  <a:t> b </a:t>
                </a:r>
                <a14:m>
                  <m:oMath xmlns:m="http://schemas.openxmlformats.org/officeDocument/2006/math">
                    <m:r>
                      <a:rPr lang="fr-FR" sz="2400" i="1" dirty="0" smtClean="0">
                        <a:latin typeface="Cambria Math" panose="02040503050406030204" pitchFamily="18" charset="0"/>
                        <a:ea typeface="Cambria Math" panose="02040503050406030204" pitchFamily="18" charset="0"/>
                        <a:cs typeface="Times New Roman" panose="02020603050405020304" pitchFamily="18" charset="0"/>
                      </a:rPr>
                      <m:t>≤</m:t>
                    </m:r>
                    <m:r>
                      <a:rPr lang="fr-FR" sz="2400" b="0" i="1"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fr-FR" sz="2400" dirty="0" smtClean="0">
                    <a:latin typeface="Times New Roman" panose="02020603050405020304" pitchFamily="18" charset="0"/>
                    <a:cs typeface="Times New Roman" panose="02020603050405020304" pitchFamily="18" charset="0"/>
                  </a:rPr>
                  <a:t>c. </a:t>
                </a:r>
                <a:endParaRPr lang="fr-FR" sz="2400" dirty="0">
                  <a:latin typeface="Times New Roman" panose="02020603050405020304" pitchFamily="18" charset="0"/>
                  <a:cs typeface="Times New Roman" panose="02020603050405020304" pitchFamily="18" charset="0"/>
                </a:endParaRPr>
              </a:p>
            </p:txBody>
          </p:sp>
        </mc:Choice>
        <mc:Fallback>
          <p:sp>
            <p:nvSpPr>
              <p:cNvPr id="2" name="ZoneTexte 1"/>
              <p:cNvSpPr txBox="1">
                <a:spLocks noRot="1" noChangeAspect="1" noMove="1" noResize="1" noEditPoints="1" noAdjustHandles="1" noChangeArrowheads="1" noChangeShapeType="1" noTextEdit="1"/>
              </p:cNvSpPr>
              <p:nvPr/>
            </p:nvSpPr>
            <p:spPr>
              <a:xfrm>
                <a:off x="213360" y="528320"/>
                <a:ext cx="11348720" cy="5632311"/>
              </a:xfrm>
              <a:prstGeom prst="rect">
                <a:avLst/>
              </a:prstGeom>
              <a:blipFill>
                <a:blip r:embed="rId2"/>
                <a:stretch>
                  <a:fillRect l="-806" t="-866" b="-1515"/>
                </a:stretch>
              </a:blipFill>
            </p:spPr>
            <p:txBody>
              <a:bodyPr/>
              <a:lstStyle/>
              <a:p>
                <a:r>
                  <a:rPr lang="fr-FR">
                    <a:noFill/>
                  </a:rPr>
                  <a:t> </a:t>
                </a:r>
              </a:p>
            </p:txBody>
          </p:sp>
        </mc:Fallback>
      </mc:AlternateContent>
    </p:spTree>
    <p:extLst>
      <p:ext uri="{BB962C8B-B14F-4D97-AF65-F5344CB8AC3E}">
        <p14:creationId xmlns:p14="http://schemas.microsoft.com/office/powerpoint/2010/main" val="39687015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ZoneTexte 1"/>
              <p:cNvSpPr txBox="1"/>
              <p:nvPr/>
            </p:nvSpPr>
            <p:spPr>
              <a:xfrm>
                <a:off x="233680" y="447040"/>
                <a:ext cx="11724640" cy="5262979"/>
              </a:xfrm>
              <a:prstGeom prst="rect">
                <a:avLst/>
              </a:prstGeom>
              <a:noFill/>
            </p:spPr>
            <p:txBody>
              <a:bodyPr wrap="square" rtlCol="0">
                <a:spAutoFit/>
              </a:bodyPr>
              <a:lstStyle/>
              <a:p>
                <a:r>
                  <a:rPr lang="fr-FR" sz="2400" b="1" dirty="0" smtClean="0">
                    <a:latin typeface="Times New Roman" panose="02020603050405020304" pitchFamily="18" charset="0"/>
                    <a:cs typeface="Times New Roman" panose="02020603050405020304" pitchFamily="18" charset="0"/>
                  </a:rPr>
                  <a:t>1.3.1. Fonction itérative</a:t>
                </a:r>
              </a:p>
              <a:p>
                <a:r>
                  <a:rPr lang="fr-FR" sz="2400" dirty="0" smtClean="0">
                    <a:latin typeface="Times New Roman" panose="02020603050405020304" pitchFamily="18" charset="0"/>
                    <a:cs typeface="Times New Roman" panose="02020603050405020304" pitchFamily="18" charset="0"/>
                  </a:rPr>
                  <a:t>Une fonction est dite </a:t>
                </a:r>
                <a:r>
                  <a:rPr lang="fr-FR" sz="2400" b="1" dirty="0" smtClean="0">
                    <a:latin typeface="Times New Roman" panose="02020603050405020304" pitchFamily="18" charset="0"/>
                    <a:cs typeface="Times New Roman" panose="02020603050405020304" pitchFamily="18" charset="0"/>
                  </a:rPr>
                  <a:t>itérative</a:t>
                </a:r>
                <a:r>
                  <a:rPr lang="fr-FR" sz="2400" dirty="0" smtClean="0">
                    <a:latin typeface="Times New Roman" panose="02020603050405020304" pitchFamily="18" charset="0"/>
                    <a:cs typeface="Times New Roman" panose="02020603050405020304" pitchFamily="18" charset="0"/>
                  </a:rPr>
                  <a:t> quand elle contient au moins une </a:t>
                </a:r>
                <a:r>
                  <a:rPr lang="fr-FR" sz="2400" b="1" dirty="0" smtClean="0">
                    <a:latin typeface="Times New Roman" panose="02020603050405020304" pitchFamily="18" charset="0"/>
                    <a:cs typeface="Times New Roman" panose="02020603050405020304" pitchFamily="18" charset="0"/>
                  </a:rPr>
                  <a:t>instruction itérative</a:t>
                </a:r>
                <a:r>
                  <a:rPr lang="fr-FR" sz="2400" dirty="0" smtClean="0">
                    <a:latin typeface="Times New Roman" panose="02020603050405020304" pitchFamily="18" charset="0"/>
                    <a:cs typeface="Times New Roman" panose="02020603050405020304" pitchFamily="18" charset="0"/>
                  </a:rPr>
                  <a:t>.</a:t>
                </a:r>
              </a:p>
              <a:p>
                <a:r>
                  <a:rPr lang="fr-FR" sz="2400" dirty="0" smtClean="0">
                    <a:latin typeface="Times New Roman" panose="02020603050405020304" pitchFamily="18" charset="0"/>
                    <a:cs typeface="Times New Roman" panose="02020603050405020304" pitchFamily="18" charset="0"/>
                  </a:rPr>
                  <a:t>Une fonction qui calcule la somme de </a:t>
                </a:r>
                <a:r>
                  <a:rPr lang="fr-FR" sz="2400" b="1" dirty="0" smtClean="0">
                    <a:latin typeface="Times New Roman" panose="02020603050405020304" pitchFamily="18" charset="0"/>
                    <a:cs typeface="Times New Roman" panose="02020603050405020304" pitchFamily="18" charset="0"/>
                  </a:rPr>
                  <a:t>n</a:t>
                </a:r>
                <a:r>
                  <a:rPr lang="fr-FR" sz="2400" dirty="0" smtClean="0">
                    <a:latin typeface="Times New Roman" panose="02020603050405020304" pitchFamily="18" charset="0"/>
                    <a:cs typeface="Times New Roman" panose="02020603050405020304" pitchFamily="18" charset="0"/>
                  </a:rPr>
                  <a:t> premiers nombre entiers (</a:t>
                </a:r>
                <a:r>
                  <a:rPr lang="fr-FR" sz="2400" dirty="0" smtClean="0">
                    <a:latin typeface="Times New Roman" panose="02020603050405020304" pitchFamily="18" charset="0"/>
                    <a:cs typeface="Times New Roman" panose="02020603050405020304" pitchFamily="18" charset="0"/>
                  </a:rPr>
                  <a:t>s=1+2+3</a:t>
                </a:r>
                <a:r>
                  <a:rPr lang="fr-FR" sz="2400" dirty="0" smtClean="0">
                    <a:latin typeface="Times New Roman" panose="02020603050405020304" pitchFamily="18" charset="0"/>
                    <a:cs typeface="Times New Roman" panose="02020603050405020304" pitchFamily="18" charset="0"/>
                  </a:rPr>
                  <a:t>+…+n).</a:t>
                </a:r>
              </a:p>
              <a:p>
                <a:endParaRPr lang="fr-FR" sz="2400" dirty="0" smtClean="0">
                  <a:latin typeface="Times New Roman" panose="02020603050405020304" pitchFamily="18" charset="0"/>
                  <a:cs typeface="Times New Roman" panose="02020603050405020304" pitchFamily="18" charset="0"/>
                </a:endParaRPr>
              </a:p>
              <a:p>
                <a:r>
                  <a:rPr lang="fr-FR" sz="2400" b="1" dirty="0">
                    <a:latin typeface="Times New Roman" panose="02020603050405020304" pitchFamily="18" charset="0"/>
                    <a:cs typeface="Times New Roman" panose="02020603050405020304" pitchFamily="18" charset="0"/>
                  </a:rPr>
                  <a:t>e</a:t>
                </a:r>
                <a:r>
                  <a:rPr lang="fr-FR" sz="2400" b="1" dirty="0" smtClean="0">
                    <a:latin typeface="Times New Roman" panose="02020603050405020304" pitchFamily="18" charset="0"/>
                    <a:cs typeface="Times New Roman" panose="02020603050405020304" pitchFamily="18" charset="0"/>
                  </a:rPr>
                  <a:t>ntier</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somEntier</a:t>
                </a:r>
                <a:r>
                  <a:rPr lang="fr-FR" sz="2400" dirty="0" smtClean="0">
                    <a:latin typeface="Times New Roman" panose="02020603050405020304" pitchFamily="18" charset="0"/>
                    <a:cs typeface="Times New Roman" panose="02020603050405020304" pitchFamily="18" charset="0"/>
                  </a:rPr>
                  <a:t>(</a:t>
                </a:r>
                <a:r>
                  <a:rPr lang="fr-FR" sz="2400" b="1" dirty="0" smtClean="0">
                    <a:latin typeface="Times New Roman" panose="02020603050405020304" pitchFamily="18" charset="0"/>
                    <a:cs typeface="Times New Roman" panose="02020603050405020304" pitchFamily="18" charset="0"/>
                  </a:rPr>
                  <a:t>d entier</a:t>
                </a:r>
                <a:r>
                  <a:rPr lang="fr-FR" sz="2400" dirty="0" smtClean="0">
                    <a:latin typeface="Times New Roman" panose="02020603050405020304" pitchFamily="18" charset="0"/>
                    <a:cs typeface="Times New Roman" panose="02020603050405020304" pitchFamily="18" charset="0"/>
                  </a:rPr>
                  <a:t> n)</a:t>
                </a:r>
              </a:p>
              <a:p>
                <a:r>
                  <a:rPr lang="fr-FR" sz="2400" b="1" dirty="0" err="1" smtClean="0">
                    <a:latin typeface="Times New Roman" panose="02020603050405020304" pitchFamily="18" charset="0"/>
                    <a:cs typeface="Times New Roman" panose="02020603050405020304" pitchFamily="18" charset="0"/>
                  </a:rPr>
                  <a:t>debfonc</a:t>
                </a:r>
                <a:endParaRPr lang="fr-FR" sz="2400" b="1" dirty="0" smtClean="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entier</a:t>
                </a:r>
                <a:r>
                  <a:rPr lang="fr-FR" sz="2400" dirty="0" smtClean="0">
                    <a:latin typeface="Times New Roman" panose="02020603050405020304" pitchFamily="18" charset="0"/>
                    <a:cs typeface="Times New Roman" panose="02020603050405020304" pitchFamily="18" charset="0"/>
                  </a:rPr>
                  <a:t> i, s;</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i:=1</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s:=0</a:t>
                </a:r>
                <a:r>
                  <a:rPr lang="fr-FR" sz="2400" dirty="0" smtClean="0">
                    <a:latin typeface="Times New Roman" panose="02020603050405020304" pitchFamily="18" charset="0"/>
                    <a:cs typeface="Times New Roman" panose="02020603050405020304" pitchFamily="18" charset="0"/>
                  </a:rPr>
                  <a:t>;</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err="1" smtClean="0">
                    <a:latin typeface="Times New Roman" panose="02020603050405020304" pitchFamily="18" charset="0"/>
                    <a:cs typeface="Times New Roman" panose="02020603050405020304" pitchFamily="18" charset="0"/>
                  </a:rPr>
                  <a:t>tantque</a:t>
                </a:r>
                <a:r>
                  <a:rPr lang="fr-FR" sz="2400" dirty="0" smtClean="0">
                    <a:latin typeface="Times New Roman" panose="02020603050405020304" pitchFamily="18" charset="0"/>
                    <a:cs typeface="Times New Roman" panose="02020603050405020304" pitchFamily="18" charset="0"/>
                  </a:rPr>
                  <a:t> i</a:t>
                </a:r>
                <a14:m>
                  <m:oMath xmlns:m="http://schemas.openxmlformats.org/officeDocument/2006/math">
                    <m:r>
                      <a:rPr lang="fr-FR" sz="24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fr-FR" sz="2400" dirty="0" smtClean="0">
                    <a:latin typeface="Times New Roman" panose="02020603050405020304" pitchFamily="18" charset="0"/>
                    <a:cs typeface="Times New Roman" panose="02020603050405020304" pitchFamily="18" charset="0"/>
                  </a:rPr>
                  <a:t> n </a:t>
                </a:r>
                <a:r>
                  <a:rPr lang="fr-FR" sz="2400" b="1" dirty="0" smtClean="0">
                    <a:latin typeface="Times New Roman" panose="02020603050405020304" pitchFamily="18" charset="0"/>
                    <a:cs typeface="Times New Roman" panose="02020603050405020304" pitchFamily="18" charset="0"/>
                  </a:rPr>
                  <a:t>faire</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s:=s+i</a:t>
                </a:r>
                <a:r>
                  <a:rPr lang="fr-FR" sz="2400" dirty="0" smtClean="0">
                    <a:latin typeface="Times New Roman" panose="02020603050405020304" pitchFamily="18" charset="0"/>
                    <a:cs typeface="Times New Roman" panose="02020603050405020304" pitchFamily="18" charset="0"/>
                  </a:rPr>
                  <a:t>;</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i:=i+1</a:t>
                </a:r>
                <a:r>
                  <a:rPr lang="fr-FR" sz="2400" dirty="0" smtClean="0">
                    <a:latin typeface="Times New Roman" panose="02020603050405020304" pitchFamily="18" charset="0"/>
                    <a:cs typeface="Times New Roman" panose="02020603050405020304" pitchFamily="18" charset="0"/>
                  </a:rPr>
                  <a:t>;</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err="1" smtClean="0">
                    <a:latin typeface="Times New Roman" panose="02020603050405020304" pitchFamily="18" charset="0"/>
                    <a:cs typeface="Times New Roman" panose="02020603050405020304" pitchFamily="18" charset="0"/>
                  </a:rPr>
                  <a:t>finfaire</a:t>
                </a:r>
                <a:r>
                  <a:rPr lang="fr-FR" sz="2400" dirty="0" smtClean="0">
                    <a:latin typeface="Times New Roman" panose="02020603050405020304" pitchFamily="18" charset="0"/>
                    <a:cs typeface="Times New Roman" panose="02020603050405020304" pitchFamily="18" charset="0"/>
                  </a:rPr>
                  <a:t>;</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retourner</a:t>
                </a:r>
                <a:r>
                  <a:rPr lang="fr-FR" sz="2400" dirty="0" smtClean="0">
                    <a:latin typeface="Times New Roman" panose="02020603050405020304" pitchFamily="18" charset="0"/>
                    <a:cs typeface="Times New Roman" panose="02020603050405020304" pitchFamily="18" charset="0"/>
                  </a:rPr>
                  <a:t> s;</a:t>
                </a:r>
              </a:p>
              <a:p>
                <a:r>
                  <a:rPr lang="fr-FR" sz="2400" b="1" dirty="0" err="1" smtClean="0">
                    <a:latin typeface="Times New Roman" panose="02020603050405020304" pitchFamily="18" charset="0"/>
                    <a:cs typeface="Times New Roman" panose="02020603050405020304" pitchFamily="18" charset="0"/>
                  </a:rPr>
                  <a:t>finfonc</a:t>
                </a:r>
                <a:r>
                  <a:rPr lang="fr-FR" sz="2400" dirty="0" smtClean="0">
                    <a:latin typeface="Times New Roman" panose="02020603050405020304" pitchFamily="18" charset="0"/>
                    <a:cs typeface="Times New Roman" panose="02020603050405020304" pitchFamily="18" charset="0"/>
                  </a:rPr>
                  <a:t>;  </a:t>
                </a:r>
              </a:p>
            </p:txBody>
          </p:sp>
        </mc:Choice>
        <mc:Fallback>
          <p:sp>
            <p:nvSpPr>
              <p:cNvPr id="2" name="ZoneTexte 1"/>
              <p:cNvSpPr txBox="1">
                <a:spLocks noRot="1" noChangeAspect="1" noMove="1" noResize="1" noEditPoints="1" noAdjustHandles="1" noChangeArrowheads="1" noChangeShapeType="1" noTextEdit="1"/>
              </p:cNvSpPr>
              <p:nvPr/>
            </p:nvSpPr>
            <p:spPr>
              <a:xfrm>
                <a:off x="233680" y="447040"/>
                <a:ext cx="11724640" cy="5262979"/>
              </a:xfrm>
              <a:prstGeom prst="rect">
                <a:avLst/>
              </a:prstGeom>
              <a:blipFill>
                <a:blip r:embed="rId2"/>
                <a:stretch>
                  <a:fillRect l="-780" t="-926" b="-1620"/>
                </a:stretch>
              </a:blipFill>
            </p:spPr>
            <p:txBody>
              <a:bodyPr/>
              <a:lstStyle/>
              <a:p>
                <a:r>
                  <a:rPr lang="fr-FR">
                    <a:noFill/>
                  </a:rPr>
                  <a:t> </a:t>
                </a:r>
              </a:p>
            </p:txBody>
          </p:sp>
        </mc:Fallback>
      </mc:AlternateContent>
    </p:spTree>
    <p:extLst>
      <p:ext uri="{BB962C8B-B14F-4D97-AF65-F5344CB8AC3E}">
        <p14:creationId xmlns:p14="http://schemas.microsoft.com/office/powerpoint/2010/main" val="41128694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ZoneTexte 1"/>
              <p:cNvSpPr txBox="1"/>
              <p:nvPr/>
            </p:nvSpPr>
            <p:spPr>
              <a:xfrm>
                <a:off x="274320" y="467360"/>
                <a:ext cx="11612880" cy="637097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1.3.2. Fonction récursive</a:t>
                </a:r>
              </a:p>
              <a:p>
                <a:pPr algn="just"/>
                <a:r>
                  <a:rPr lang="fr-FR" sz="2400" dirty="0">
                    <a:latin typeface="Times New Roman" panose="02020603050405020304" pitchFamily="18" charset="0"/>
                    <a:cs typeface="Times New Roman" panose="02020603050405020304" pitchFamily="18" charset="0"/>
                  </a:rPr>
                  <a:t>Une fonction est dite </a:t>
                </a:r>
                <a:r>
                  <a:rPr lang="fr-FR" sz="2400" b="1" dirty="0">
                    <a:latin typeface="Times New Roman" panose="02020603050405020304" pitchFamily="18" charset="0"/>
                    <a:cs typeface="Times New Roman" panose="02020603050405020304" pitchFamily="18" charset="0"/>
                  </a:rPr>
                  <a:t>récursive</a:t>
                </a:r>
                <a:r>
                  <a:rPr lang="fr-FR" sz="2400" dirty="0">
                    <a:latin typeface="Times New Roman" panose="02020603050405020304" pitchFamily="18" charset="0"/>
                    <a:cs typeface="Times New Roman" panose="02020603050405020304" pitchFamily="18" charset="0"/>
                  </a:rPr>
                  <a:t> quand elle </a:t>
                </a:r>
                <a:r>
                  <a:rPr lang="fr-FR" sz="2400" b="1" dirty="0">
                    <a:latin typeface="Times New Roman" panose="02020603050405020304" pitchFamily="18" charset="0"/>
                    <a:cs typeface="Times New Roman" panose="02020603050405020304" pitchFamily="18" charset="0"/>
                  </a:rPr>
                  <a:t>s’appelle elle-même</a:t>
                </a:r>
                <a:r>
                  <a:rPr lang="fr-FR" sz="2400" dirty="0">
                    <a:latin typeface="Times New Roman" panose="02020603050405020304" pitchFamily="18" charset="0"/>
                    <a:cs typeface="Times New Roman" panose="02020603050405020304" pitchFamily="18" charset="0"/>
                  </a:rPr>
                  <a:t>. Pour arrêter les appels récursifs on doit trouver un cas trivial (cas particulier), un cas où l’on connait le résultat sans faire de calcul. </a:t>
                </a:r>
              </a:p>
              <a:p>
                <a:r>
                  <a:rPr lang="fr-FR" sz="2400" dirty="0" smtClean="0">
                    <a:latin typeface="Times New Roman" panose="02020603050405020304" pitchFamily="18" charset="0"/>
                    <a:cs typeface="Times New Roman" panose="02020603050405020304" pitchFamily="18" charset="0"/>
                  </a:rPr>
                  <a:t>Cette fois, on peut calculer </a:t>
                </a:r>
                <a:r>
                  <a:rPr lang="fr-FR" sz="2400" b="1" dirty="0" smtClean="0">
                    <a:latin typeface="Times New Roman" panose="02020603050405020304" pitchFamily="18" charset="0"/>
                    <a:cs typeface="Times New Roman" panose="02020603050405020304" pitchFamily="18" charset="0"/>
                  </a:rPr>
                  <a:t>récursivement</a:t>
                </a:r>
                <a:r>
                  <a:rPr lang="fr-FR" sz="2400" dirty="0" smtClean="0">
                    <a:latin typeface="Times New Roman" panose="02020603050405020304" pitchFamily="18" charset="0"/>
                    <a:cs typeface="Times New Roman" panose="02020603050405020304" pitchFamily="18" charset="0"/>
                  </a:rPr>
                  <a:t> la somme de </a:t>
                </a:r>
                <a:r>
                  <a:rPr lang="fr-FR" sz="2400" b="1" dirty="0" smtClean="0">
                    <a:latin typeface="Times New Roman" panose="02020603050405020304" pitchFamily="18" charset="0"/>
                    <a:cs typeface="Times New Roman" panose="02020603050405020304" pitchFamily="18" charset="0"/>
                  </a:rPr>
                  <a:t>n</a:t>
                </a:r>
                <a:r>
                  <a:rPr lang="fr-FR" sz="2400" dirty="0" smtClean="0">
                    <a:latin typeface="Times New Roman" panose="02020603050405020304" pitchFamily="18" charset="0"/>
                    <a:cs typeface="Times New Roman" panose="02020603050405020304" pitchFamily="18" charset="0"/>
                  </a:rPr>
                  <a:t> nombres entiers, ce qui correspond au raisonnement suivant :</a:t>
                </a:r>
              </a:p>
              <a:p>
                <a:pPr marL="285750" indent="-285750">
                  <a:buFont typeface="Arial" panose="020B0604020202020204" pitchFamily="34" charset="0"/>
                  <a:buChar char="•"/>
                </a:pPr>
                <a:r>
                  <a:rPr lang="fr-FR" sz="2400" b="1" dirty="0" smtClean="0">
                    <a:latin typeface="Times New Roman" panose="02020603050405020304" pitchFamily="18" charset="0"/>
                    <a:cs typeface="Times New Roman" panose="02020603050405020304" pitchFamily="18" charset="0"/>
                  </a:rPr>
                  <a:t>i&gt;n</a:t>
                </a:r>
                <a:r>
                  <a:rPr lang="fr-FR" sz="2400" dirty="0" smtClean="0">
                    <a:latin typeface="Times New Roman" panose="02020603050405020304" pitchFamily="18" charset="0"/>
                    <a:cs typeface="Times New Roman" panose="02020603050405020304" pitchFamily="18" charset="0"/>
                  </a:rPr>
                  <a:t>, la somme est terminée *</a:t>
                </a:r>
              </a:p>
              <a:p>
                <a:pPr marL="285750" indent="-285750">
                  <a:buFont typeface="Arial" panose="020B0604020202020204" pitchFamily="34" charset="0"/>
                  <a:buChar char="•"/>
                </a:pPr>
                <a:r>
                  <a:rPr lang="fr-FR" sz="2400" b="1" dirty="0" smtClean="0">
                    <a:latin typeface="Times New Roman" panose="02020603050405020304" pitchFamily="18" charset="0"/>
                    <a:cs typeface="Times New Roman" panose="02020603050405020304" pitchFamily="18" charset="0"/>
                  </a:rPr>
                  <a:t>i</a:t>
                </a:r>
                <a14:m>
                  <m:oMath xmlns:m="http://schemas.openxmlformats.org/officeDocument/2006/math">
                    <m:r>
                      <a:rPr lang="fr-FR" sz="2400" b="1"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fr-FR" sz="2400" b="1" dirty="0" smtClean="0">
                    <a:latin typeface="Times New Roman" panose="02020603050405020304" pitchFamily="18" charset="0"/>
                    <a:cs typeface="Times New Roman" panose="02020603050405020304" pitchFamily="18" charset="0"/>
                  </a:rPr>
                  <a:t>n</a:t>
                </a:r>
                <a:r>
                  <a:rPr lang="fr-FR" sz="2400" dirty="0" smtClean="0">
                    <a:latin typeface="Times New Roman" panose="02020603050405020304" pitchFamily="18" charset="0"/>
                    <a:cs typeface="Times New Roman" panose="02020603050405020304" pitchFamily="18" charset="0"/>
                  </a:rPr>
                  <a:t>,</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=&gt; nouvel appel (récursif) avec (i+1..n)</a:t>
                </a:r>
              </a:p>
              <a:p>
                <a:endParaRPr lang="fr-FR" sz="2400" dirty="0" smtClean="0">
                  <a:latin typeface="Times New Roman" panose="02020603050405020304" pitchFamily="18" charset="0"/>
                  <a:cs typeface="Times New Roman" panose="02020603050405020304" pitchFamily="18" charset="0"/>
                </a:endParaRPr>
              </a:p>
              <a:p>
                <a:r>
                  <a:rPr lang="fr-FR" sz="2400" b="1" dirty="0">
                    <a:latin typeface="Times New Roman" panose="02020603050405020304" pitchFamily="18" charset="0"/>
                    <a:cs typeface="Times New Roman" panose="02020603050405020304" pitchFamily="18" charset="0"/>
                  </a:rPr>
                  <a:t>entier</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somEntRec</a:t>
                </a:r>
                <a:r>
                  <a:rPr lang="fr-FR" sz="2400" dirty="0">
                    <a:latin typeface="Times New Roman" panose="02020603050405020304" pitchFamily="18" charset="0"/>
                    <a:cs typeface="Times New Roman" panose="02020603050405020304" pitchFamily="18" charset="0"/>
                  </a:rPr>
                  <a:t>(</a:t>
                </a:r>
                <a:r>
                  <a:rPr lang="fr-FR" sz="2400" b="1" dirty="0">
                    <a:latin typeface="Times New Roman" panose="02020603050405020304" pitchFamily="18" charset="0"/>
                    <a:cs typeface="Times New Roman" panose="02020603050405020304" pitchFamily="18" charset="0"/>
                  </a:rPr>
                  <a:t>d entier</a:t>
                </a:r>
                <a:r>
                  <a:rPr lang="fr-FR" sz="2400" dirty="0">
                    <a:latin typeface="Times New Roman" panose="02020603050405020304" pitchFamily="18" charset="0"/>
                    <a:cs typeface="Times New Roman" panose="02020603050405020304" pitchFamily="18" charset="0"/>
                  </a:rPr>
                  <a:t> i, </a:t>
                </a:r>
                <a:r>
                  <a:rPr lang="fr-FR" sz="2400" b="1" dirty="0">
                    <a:latin typeface="Times New Roman" panose="02020603050405020304" pitchFamily="18" charset="0"/>
                    <a:cs typeface="Times New Roman" panose="02020603050405020304" pitchFamily="18" charset="0"/>
                  </a:rPr>
                  <a:t>d entier</a:t>
                </a:r>
                <a:r>
                  <a:rPr lang="fr-FR" sz="2400" dirty="0">
                    <a:latin typeface="Times New Roman" panose="02020603050405020304" pitchFamily="18" charset="0"/>
                    <a:cs typeface="Times New Roman" panose="02020603050405020304" pitchFamily="18" charset="0"/>
                  </a:rPr>
                  <a:t> n)</a:t>
                </a:r>
              </a:p>
              <a:p>
                <a:r>
                  <a:rPr lang="fr-FR" sz="2400" b="1" dirty="0" err="1" smtClean="0">
                    <a:latin typeface="Times New Roman" panose="02020603050405020304" pitchFamily="18" charset="0"/>
                    <a:cs typeface="Times New Roman" panose="02020603050405020304" pitchFamily="18" charset="0"/>
                  </a:rPr>
                  <a:t>debfonc</a:t>
                </a:r>
                <a:endParaRPr lang="fr-FR" sz="2400" b="1" dirty="0" smtClean="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si</a:t>
                </a:r>
                <a:r>
                  <a:rPr lang="fr-FR" sz="2400" dirty="0" smtClean="0">
                    <a:latin typeface="Times New Roman" panose="02020603050405020304" pitchFamily="18" charset="0"/>
                    <a:cs typeface="Times New Roman" panose="02020603050405020304" pitchFamily="18" charset="0"/>
                  </a:rPr>
                  <a:t> i</a:t>
                </a:r>
                <a:r>
                  <a:rPr lang="fr-FR" sz="2400" b="1" dirty="0">
                    <a:ea typeface="Cambria Math" panose="02040503050406030204" pitchFamily="18" charset="0"/>
                    <a:cs typeface="Times New Roman" panose="02020603050405020304" pitchFamily="18" charset="0"/>
                  </a:rPr>
                  <a:t> </a:t>
                </a:r>
                <a14:m>
                  <m:oMath xmlns:m="http://schemas.openxmlformats.org/officeDocument/2006/math">
                    <m:r>
                      <a:rPr lang="fr-FR" sz="2400" b="1" i="1">
                        <a:latin typeface="Cambria Math" panose="02040503050406030204" pitchFamily="18" charset="0"/>
                        <a:ea typeface="Cambria Math" panose="02040503050406030204" pitchFamily="18" charset="0"/>
                        <a:cs typeface="Times New Roman" panose="02020603050405020304" pitchFamily="18" charset="0"/>
                      </a:rPr>
                      <m:t>≤ </m:t>
                    </m:r>
                  </m:oMath>
                </a14:m>
                <a:r>
                  <a:rPr lang="fr-FR" sz="2400" dirty="0" smtClean="0">
                    <a:latin typeface="Times New Roman" panose="02020603050405020304" pitchFamily="18" charset="0"/>
                    <a:cs typeface="Times New Roman" panose="02020603050405020304" pitchFamily="18" charset="0"/>
                  </a:rPr>
                  <a:t>n </a:t>
                </a:r>
                <a:r>
                  <a:rPr lang="fr-FR" sz="2400" b="1" dirty="0" smtClean="0">
                    <a:latin typeface="Times New Roman" panose="02020603050405020304" pitchFamily="18" charset="0"/>
                    <a:cs typeface="Times New Roman" panose="02020603050405020304" pitchFamily="18" charset="0"/>
                  </a:rPr>
                  <a:t>alors</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retourner</a:t>
                </a:r>
                <a:r>
                  <a:rPr lang="fr-FR" sz="2400" dirty="0" smtClean="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i</a:t>
                </a:r>
                <a:r>
                  <a:rPr lang="fr-FR" sz="2400" dirty="0" err="1" smtClean="0">
                    <a:latin typeface="Times New Roman" panose="02020603050405020304" pitchFamily="18" charset="0"/>
                    <a:cs typeface="Times New Roman" panose="02020603050405020304" pitchFamily="18" charset="0"/>
                  </a:rPr>
                  <a:t>+somEntRec</a:t>
                </a:r>
                <a:r>
                  <a:rPr lang="fr-FR" sz="2400" dirty="0" smtClean="0">
                    <a:latin typeface="Times New Roman" panose="02020603050405020304" pitchFamily="18" charset="0"/>
                    <a:cs typeface="Times New Roman" panose="02020603050405020304" pitchFamily="18" charset="0"/>
                  </a:rPr>
                  <a:t>(i+1, n);</a:t>
                </a:r>
              </a:p>
              <a:p>
                <a:pPr algn="just"/>
                <a:r>
                  <a:rPr lang="fr-FR" sz="2400" b="1" dirty="0" err="1">
                    <a:latin typeface="Times New Roman" panose="02020603050405020304" pitchFamily="18" charset="0"/>
                    <a:cs typeface="Times New Roman" panose="02020603050405020304" pitchFamily="18" charset="0"/>
                  </a:rPr>
                  <a:t>f</a:t>
                </a:r>
                <a:r>
                  <a:rPr lang="fr-FR" sz="2400" b="1" dirty="0" err="1" smtClean="0">
                    <a:latin typeface="Times New Roman" panose="02020603050405020304" pitchFamily="18" charset="0"/>
                    <a:cs typeface="Times New Roman" panose="02020603050405020304" pitchFamily="18" charset="0"/>
                  </a:rPr>
                  <a:t>infonc</a:t>
                </a:r>
                <a:r>
                  <a:rPr lang="fr-FR" sz="2400" dirty="0" smtClean="0">
                    <a:latin typeface="Times New Roman" panose="02020603050405020304" pitchFamily="18" charset="0"/>
                    <a:cs typeface="Times New Roman" panose="02020603050405020304" pitchFamily="18" charset="0"/>
                  </a:rPr>
                  <a:t>;  </a:t>
                </a:r>
              </a:p>
              <a:p>
                <a:endParaRPr lang="fr-FR" sz="2400" dirty="0">
                  <a:latin typeface="Times New Roman" panose="02020603050405020304" pitchFamily="18" charset="0"/>
                  <a:cs typeface="Times New Roman" panose="02020603050405020304" pitchFamily="18" charset="0"/>
                </a:endParaRPr>
              </a:p>
              <a:p>
                <a:pPr algn="just"/>
                <a:r>
                  <a:rPr lang="fr-FR" sz="2400" u="sng" dirty="0" smtClean="0">
                    <a:latin typeface="Times New Roman" panose="02020603050405020304" pitchFamily="18" charset="0"/>
                    <a:cs typeface="Times New Roman" panose="02020603050405020304" pitchFamily="18" charset="0"/>
                  </a:rPr>
                  <a:t>Exercice 2</a:t>
                </a:r>
                <a:r>
                  <a:rPr lang="fr-FR" sz="2400" dirty="0" smtClean="0">
                    <a:latin typeface="Times New Roman" panose="02020603050405020304" pitchFamily="18" charset="0"/>
                    <a:cs typeface="Times New Roman" panose="02020603050405020304" pitchFamily="18" charset="0"/>
                  </a:rPr>
                  <a:t>. Ecrivez cet algorithme sous-forme récursive en faisant le parcours de droite à gauche.</a:t>
                </a:r>
              </a:p>
            </p:txBody>
          </p:sp>
        </mc:Choice>
        <mc:Fallback xmlns="">
          <p:sp>
            <p:nvSpPr>
              <p:cNvPr id="2" name="ZoneTexte 1"/>
              <p:cNvSpPr txBox="1">
                <a:spLocks noRot="1" noChangeAspect="1" noMove="1" noResize="1" noEditPoints="1" noAdjustHandles="1" noChangeArrowheads="1" noChangeShapeType="1" noTextEdit="1"/>
              </p:cNvSpPr>
              <p:nvPr/>
            </p:nvSpPr>
            <p:spPr>
              <a:xfrm>
                <a:off x="274320" y="467360"/>
                <a:ext cx="11612880" cy="6370975"/>
              </a:xfrm>
              <a:prstGeom prst="rect">
                <a:avLst/>
              </a:prstGeom>
              <a:blipFill>
                <a:blip r:embed="rId2"/>
                <a:stretch>
                  <a:fillRect l="-787" t="-766" r="-1155" b="-1244"/>
                </a:stretch>
              </a:blipFill>
            </p:spPr>
            <p:txBody>
              <a:bodyPr/>
              <a:lstStyle/>
              <a:p>
                <a:r>
                  <a:rPr lang="fr-FR">
                    <a:noFill/>
                  </a:rPr>
                  <a:t> </a:t>
                </a:r>
              </a:p>
            </p:txBody>
          </p:sp>
        </mc:Fallback>
      </mc:AlternateContent>
    </p:spTree>
    <p:extLst>
      <p:ext uri="{BB962C8B-B14F-4D97-AF65-F5344CB8AC3E}">
        <p14:creationId xmlns:p14="http://schemas.microsoft.com/office/powerpoint/2010/main" val="1204212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23520" y="314960"/>
            <a:ext cx="11684000" cy="6370975"/>
          </a:xfrm>
          <a:prstGeom prst="rect">
            <a:avLst/>
          </a:prstGeom>
          <a:noFill/>
        </p:spPr>
        <p:txBody>
          <a:bodyPr wrap="square" rtlCol="0">
            <a:spAutoFit/>
          </a:bodyPr>
          <a:lstStyle/>
          <a:p>
            <a:r>
              <a:rPr lang="fr-FR" sz="2400" b="1" dirty="0" smtClean="0">
                <a:latin typeface="Times New Roman" panose="02020603050405020304" pitchFamily="18" charset="0"/>
                <a:cs typeface="Times New Roman" panose="02020603050405020304" pitchFamily="18" charset="0"/>
              </a:rPr>
              <a:t>1.4. Notion de complexité d’un algorithme</a:t>
            </a:r>
          </a:p>
          <a:p>
            <a:pPr algn="just"/>
            <a:r>
              <a:rPr lang="fr-FR" sz="2400" dirty="0" smtClean="0">
                <a:latin typeface="Times New Roman" panose="02020603050405020304" pitchFamily="18" charset="0"/>
                <a:cs typeface="Times New Roman" panose="02020603050405020304" pitchFamily="18" charset="0"/>
              </a:rPr>
              <a:t>Le calcul de la </a:t>
            </a:r>
            <a:r>
              <a:rPr lang="fr-FR" sz="2400" b="1" dirty="0" smtClean="0">
                <a:latin typeface="Times New Roman" panose="02020603050405020304" pitchFamily="18" charset="0"/>
                <a:cs typeface="Times New Roman" panose="02020603050405020304" pitchFamily="18" charset="0"/>
              </a:rPr>
              <a:t>complexité</a:t>
            </a:r>
            <a:r>
              <a:rPr lang="fr-FR" sz="2400" dirty="0" smtClean="0">
                <a:latin typeface="Times New Roman" panose="02020603050405020304" pitchFamily="18" charset="0"/>
                <a:cs typeface="Times New Roman" panose="02020603050405020304" pitchFamily="18" charset="0"/>
              </a:rPr>
              <a:t> d’un algorithme permet de mesurer sa </a:t>
            </a:r>
            <a:r>
              <a:rPr lang="fr-FR" sz="2400" b="1" dirty="0" smtClean="0">
                <a:latin typeface="Times New Roman" panose="02020603050405020304" pitchFamily="18" charset="0"/>
                <a:cs typeface="Times New Roman" panose="02020603050405020304" pitchFamily="18" charset="0"/>
              </a:rPr>
              <a:t>performance</a:t>
            </a:r>
            <a:r>
              <a:rPr lang="fr-FR" sz="2400" dirty="0" smtClean="0">
                <a:latin typeface="Times New Roman" panose="02020603050405020304" pitchFamily="18" charset="0"/>
                <a:cs typeface="Times New Roman" panose="02020603050405020304" pitchFamily="18" charset="0"/>
              </a:rPr>
              <a:t>. Il existe 2 types de complexité : complexité spatiale et complexité temporelle.</a:t>
            </a:r>
          </a:p>
          <a:p>
            <a:r>
              <a:rPr lang="fr-FR" sz="2400" b="1" dirty="0" smtClean="0">
                <a:latin typeface="Times New Roman" panose="02020603050405020304" pitchFamily="18" charset="0"/>
                <a:cs typeface="Times New Roman" panose="02020603050405020304" pitchFamily="18" charset="0"/>
              </a:rPr>
              <a:t>1.4.1. Complexité spatiale</a:t>
            </a:r>
          </a:p>
          <a:p>
            <a:pPr algn="just"/>
            <a:r>
              <a:rPr lang="fr-FR" sz="2400" dirty="0" smtClean="0">
                <a:latin typeface="Times New Roman" panose="02020603050405020304" pitchFamily="18" charset="0"/>
                <a:cs typeface="Times New Roman" panose="02020603050405020304" pitchFamily="18" charset="0"/>
              </a:rPr>
              <a:t>Elle permet de quantifier l’</a:t>
            </a:r>
            <a:r>
              <a:rPr lang="fr-FR" sz="2400" b="1" dirty="0" smtClean="0">
                <a:latin typeface="Times New Roman" panose="02020603050405020304" pitchFamily="18" charset="0"/>
                <a:cs typeface="Times New Roman" panose="02020603050405020304" pitchFamily="18" charset="0"/>
              </a:rPr>
              <a:t>utilisation de la mémoire</a:t>
            </a:r>
            <a:r>
              <a:rPr lang="fr-FR" sz="2400" dirty="0" smtClean="0">
                <a:latin typeface="Times New Roman" panose="02020603050405020304" pitchFamily="18" charset="0"/>
                <a:cs typeface="Times New Roman" panose="02020603050405020304" pitchFamily="18" charset="0"/>
              </a:rPr>
              <a:t> c’est-à-dire estimer l’espace mémoire occupé au cours de l’exécution d’un programme en fonction du volume </a:t>
            </a:r>
            <a:r>
              <a:rPr lang="fr-FR" sz="2400" b="1" dirty="0" smtClean="0">
                <a:latin typeface="Times New Roman" panose="02020603050405020304" pitchFamily="18" charset="0"/>
                <a:cs typeface="Times New Roman" panose="02020603050405020304" pitchFamily="18" charset="0"/>
              </a:rPr>
              <a:t>n</a:t>
            </a:r>
            <a:r>
              <a:rPr lang="fr-FR" sz="2400" dirty="0" smtClean="0">
                <a:latin typeface="Times New Roman" panose="02020603050405020304" pitchFamily="18" charset="0"/>
                <a:cs typeface="Times New Roman" panose="02020603050405020304" pitchFamily="18" charset="0"/>
              </a:rPr>
              <a:t> de données à traiter. Plus sa complexité </a:t>
            </a:r>
            <a:r>
              <a:rPr lang="fr-FR" sz="2400" dirty="0">
                <a:latin typeface="Times New Roman" panose="02020603050405020304" pitchFamily="18" charset="0"/>
                <a:cs typeface="Times New Roman" panose="02020603050405020304" pitchFamily="18" charset="0"/>
              </a:rPr>
              <a:t>e</a:t>
            </a:r>
            <a:r>
              <a:rPr lang="fr-FR" sz="2400" dirty="0" smtClean="0">
                <a:latin typeface="Times New Roman" panose="02020603050405020304" pitchFamily="18" charset="0"/>
                <a:cs typeface="Times New Roman" panose="02020603050405020304" pitchFamily="18" charset="0"/>
              </a:rPr>
              <a:t>st grande, plus le programme mettant en œuvre l’algorithme aura besoin de zones mémoires pour stocker les données.</a:t>
            </a:r>
          </a:p>
          <a:p>
            <a:pPr algn="just"/>
            <a:r>
              <a:rPr lang="fr-FR" sz="2400" b="1" dirty="0" smtClean="0">
                <a:latin typeface="Times New Roman" panose="02020603050405020304" pitchFamily="18" charset="0"/>
                <a:cs typeface="Times New Roman" panose="02020603050405020304" pitchFamily="18" charset="0"/>
              </a:rPr>
              <a:t>1.4.2. Complexité temporelle</a:t>
            </a:r>
          </a:p>
          <a:p>
            <a:pPr algn="just"/>
            <a:r>
              <a:rPr lang="fr-FR" sz="2400" dirty="0" smtClean="0">
                <a:latin typeface="Times New Roman" panose="02020603050405020304" pitchFamily="18" charset="0"/>
                <a:cs typeface="Times New Roman" panose="02020603050405020304" pitchFamily="18" charset="0"/>
              </a:rPr>
              <a:t>Elle permet de quantifier la </a:t>
            </a:r>
            <a:r>
              <a:rPr lang="fr-FR" sz="2400" b="1" dirty="0" smtClean="0">
                <a:latin typeface="Times New Roman" panose="02020603050405020304" pitchFamily="18" charset="0"/>
                <a:cs typeface="Times New Roman" panose="02020603050405020304" pitchFamily="18" charset="0"/>
              </a:rPr>
              <a:t>vitesse d’exécution</a:t>
            </a:r>
            <a:r>
              <a:rPr lang="fr-FR" sz="2400" dirty="0" smtClean="0">
                <a:latin typeface="Times New Roman" panose="02020603050405020304" pitchFamily="18" charset="0"/>
                <a:cs typeface="Times New Roman" panose="02020603050405020304" pitchFamily="18" charset="0"/>
              </a:rPr>
              <a:t>. On s’attache uniquement à une </a:t>
            </a:r>
            <a:r>
              <a:rPr lang="fr-FR" sz="2400" dirty="0" err="1" smtClean="0">
                <a:latin typeface="Times New Roman" panose="02020603050405020304" pitchFamily="18" charset="0"/>
                <a:cs typeface="Times New Roman" panose="02020603050405020304" pitchFamily="18" charset="0"/>
              </a:rPr>
              <a:t>approxi-mation</a:t>
            </a:r>
            <a:r>
              <a:rPr lang="fr-FR" sz="2400" dirty="0" smtClean="0">
                <a:latin typeface="Times New Roman" panose="02020603050405020304" pitchFamily="18" charset="0"/>
                <a:cs typeface="Times New Roman" panose="02020603050405020304" pitchFamily="18" charset="0"/>
              </a:rPr>
              <a:t> du temps.</a:t>
            </a:r>
          </a:p>
          <a:p>
            <a:pPr algn="just"/>
            <a:r>
              <a:rPr lang="fr-FR" sz="2400" dirty="0" smtClean="0">
                <a:latin typeface="Times New Roman" panose="02020603050405020304" pitchFamily="18" charset="0"/>
                <a:cs typeface="Times New Roman" panose="02020603050405020304" pitchFamily="18" charset="0"/>
              </a:rPr>
              <a:t>Son objectif est de pouvoir comparer l’</a:t>
            </a:r>
            <a:r>
              <a:rPr lang="fr-FR" sz="2400" b="1" dirty="0" smtClean="0">
                <a:latin typeface="Times New Roman" panose="02020603050405020304" pitchFamily="18" charset="0"/>
                <a:cs typeface="Times New Roman" panose="02020603050405020304" pitchFamily="18" charset="0"/>
              </a:rPr>
              <a:t>efficacité</a:t>
            </a:r>
            <a:r>
              <a:rPr lang="fr-FR" sz="2400" dirty="0" smtClean="0">
                <a:latin typeface="Times New Roman" panose="02020603050405020304" pitchFamily="18" charset="0"/>
                <a:cs typeface="Times New Roman" panose="02020603050405020304" pitchFamily="18" charset="0"/>
              </a:rPr>
              <a:t> d’algorithmes résolvant le même problème. Elle permet d’établir lequel des algorithmes disponibles est le plus </a:t>
            </a:r>
            <a:r>
              <a:rPr lang="fr-FR" sz="2400" b="1" dirty="0" smtClean="0">
                <a:latin typeface="Times New Roman" panose="02020603050405020304" pitchFamily="18" charset="0"/>
                <a:cs typeface="Times New Roman" panose="02020603050405020304" pitchFamily="18" charset="0"/>
              </a:rPr>
              <a:t>optimal</a:t>
            </a:r>
            <a:r>
              <a:rPr lang="fr-FR" sz="2400" dirty="0" smtClean="0">
                <a:latin typeface="Times New Roman" panose="02020603050405020304" pitchFamily="18" charset="0"/>
                <a:cs typeface="Times New Roman" panose="02020603050405020304" pitchFamily="18" charset="0"/>
              </a:rPr>
              <a:t>.</a:t>
            </a:r>
          </a:p>
          <a:p>
            <a:pPr algn="just"/>
            <a:r>
              <a:rPr lang="fr-FR" sz="2400" dirty="0" smtClean="0">
                <a:latin typeface="Times New Roman" panose="02020603050405020304" pitchFamily="18" charset="0"/>
                <a:cs typeface="Times New Roman" panose="02020603050405020304" pitchFamily="18" charset="0"/>
              </a:rPr>
              <a:t>Réaliser un calcul de complexité en temps revient à compter le nombre d’</a:t>
            </a:r>
            <a:r>
              <a:rPr lang="fr-FR" sz="2400" b="1" dirty="0" smtClean="0">
                <a:latin typeface="Times New Roman" panose="02020603050405020304" pitchFamily="18" charset="0"/>
                <a:cs typeface="Times New Roman" panose="02020603050405020304" pitchFamily="18" charset="0"/>
              </a:rPr>
              <a:t>opérations élémentaires</a:t>
            </a:r>
            <a:r>
              <a:rPr lang="fr-FR" sz="2400" dirty="0" smtClean="0">
                <a:latin typeface="Times New Roman" panose="02020603050405020304" pitchFamily="18" charset="0"/>
                <a:cs typeface="Times New Roman" panose="02020603050405020304" pitchFamily="18" charset="0"/>
              </a:rPr>
              <a:t> (affectation, calcul arithmétique ou logique, comparaison, transfert de données…) effectuées par l’algorithme. Les règles de calcul doivent être indépendantes du langage de programmation utilisée, du processeur de l’ordinateur, du compilateur employé.        </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9152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01600" y="117693"/>
            <a:ext cx="11846560" cy="6740307"/>
          </a:xfrm>
          <a:prstGeom prst="rect">
            <a:avLst/>
          </a:prstGeom>
          <a:noFill/>
        </p:spPr>
        <p:txBody>
          <a:bodyPr wrap="square" rtlCol="0">
            <a:spAutoFit/>
          </a:bodyPr>
          <a:lstStyle/>
          <a:p>
            <a:pPr algn="just"/>
            <a:r>
              <a:rPr lang="fr-FR" sz="2400" dirty="0" smtClean="0">
                <a:latin typeface="Times New Roman" panose="02020603050405020304" pitchFamily="18" charset="0"/>
                <a:cs typeface="Times New Roman" panose="02020603050405020304" pitchFamily="18" charset="0"/>
              </a:rPr>
              <a:t>Pour simplifier, on suppose que toutes les opérations élémentaires sont à </a:t>
            </a:r>
            <a:r>
              <a:rPr lang="fr-FR" sz="2400" b="1" dirty="0" smtClean="0">
                <a:latin typeface="Times New Roman" panose="02020603050405020304" pitchFamily="18" charset="0"/>
                <a:cs typeface="Times New Roman" panose="02020603050405020304" pitchFamily="18" charset="0"/>
              </a:rPr>
              <a:t>égalité de coût</a:t>
            </a:r>
            <a:r>
              <a:rPr lang="fr-FR" sz="2400" dirty="0" smtClean="0">
                <a:latin typeface="Times New Roman" panose="02020603050405020304" pitchFamily="18" charset="0"/>
                <a:cs typeface="Times New Roman" panose="02020603050405020304" pitchFamily="18" charset="0"/>
              </a:rPr>
              <a:t>, soit 1’unité de temps.</a:t>
            </a:r>
          </a:p>
          <a:p>
            <a:r>
              <a:rPr lang="fr-FR" sz="2400" dirty="0" smtClean="0">
                <a:latin typeface="Times New Roman" panose="02020603050405020304" pitchFamily="18" charset="0"/>
                <a:cs typeface="Times New Roman" panose="02020603050405020304" pitchFamily="18" charset="0"/>
              </a:rPr>
              <a:t>Exemple : a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b + 3 ; 1 addition + 1 affectation = 2 unités.</a:t>
            </a:r>
          </a:p>
          <a:p>
            <a:r>
              <a:rPr lang="fr-FR" sz="2400" dirty="0" smtClean="0">
                <a:latin typeface="Times New Roman" panose="02020603050405020304" pitchFamily="18" charset="0"/>
                <a:cs typeface="Times New Roman" panose="02020603050405020304" pitchFamily="18" charset="0"/>
              </a:rPr>
              <a:t>La complexité en temps d’un algorithme sera exprimée par une fonction T (time) qui dépend de </a:t>
            </a:r>
          </a:p>
          <a:p>
            <a:r>
              <a:rPr lang="fr-FR" sz="2400" dirty="0" smtClean="0">
                <a:latin typeface="Times New Roman" panose="02020603050405020304" pitchFamily="18" charset="0"/>
                <a:cs typeface="Times New Roman" panose="02020603050405020304" pitchFamily="18" charset="0"/>
              </a:rPr>
              <a:t>- la taille des données passées en paramètres,</a:t>
            </a:r>
          </a:p>
          <a:p>
            <a:r>
              <a:rPr lang="fr-FR" sz="2400" dirty="0" smtClean="0">
                <a:latin typeface="Times New Roman" panose="02020603050405020304" pitchFamily="18" charset="0"/>
                <a:cs typeface="Times New Roman" panose="02020603050405020304" pitchFamily="18" charset="0"/>
              </a:rPr>
              <a:t>- la donnée en elle-même, la façon dont sont réparties les différentes valeurs qui la constituent.</a:t>
            </a:r>
          </a:p>
          <a:p>
            <a:pPr algn="just"/>
            <a:r>
              <a:rPr lang="fr-FR" sz="2400" dirty="0" smtClean="0">
                <a:latin typeface="Times New Roman" panose="02020603050405020304" pitchFamily="18" charset="0"/>
                <a:cs typeface="Times New Roman" panose="02020603050405020304" pitchFamily="18" charset="0"/>
              </a:rPr>
              <a:t>Exemple : recherche séquentielle d’un élément dans une liste non triée. On parcourt un à un les éléments jusqu’à trouver, ou pas, celui recherché. Ce parcours peut s’arrêter dès le début si le premier élément est le ʺbonʺ. Mais on peut être amené à parcourir la liste en entier si l’élément recherché est en dernière position, ou même n’y figure pas.</a:t>
            </a:r>
          </a:p>
          <a:p>
            <a:pPr algn="just"/>
            <a:r>
              <a:rPr lang="fr-FR" sz="2400" dirty="0" smtClean="0">
                <a:latin typeface="Times New Roman" panose="02020603050405020304" pitchFamily="18" charset="0"/>
                <a:cs typeface="Times New Roman" panose="02020603050405020304" pitchFamily="18" charset="0"/>
              </a:rPr>
              <a:t>On peut distinguer alors deux formes de complexité en temps :</a:t>
            </a:r>
          </a:p>
          <a:p>
            <a:pPr algn="just"/>
            <a:r>
              <a:rPr lang="fr-FR" sz="2400" dirty="0" smtClean="0">
                <a:latin typeface="Times New Roman" panose="02020603050405020304" pitchFamily="18" charset="0"/>
                <a:cs typeface="Times New Roman" panose="02020603050405020304" pitchFamily="18" charset="0"/>
              </a:rPr>
              <a:t>-la complexité dans le </a:t>
            </a:r>
            <a:r>
              <a:rPr lang="fr-FR" sz="2400" b="1" dirty="0" smtClean="0">
                <a:latin typeface="Times New Roman" panose="02020603050405020304" pitchFamily="18" charset="0"/>
                <a:cs typeface="Times New Roman" panose="02020603050405020304" pitchFamily="18" charset="0"/>
              </a:rPr>
              <a:t>meilleur des cas</a:t>
            </a:r>
            <a:r>
              <a:rPr lang="fr-FR" sz="2400" dirty="0" smtClean="0">
                <a:latin typeface="Times New Roman" panose="02020603050405020304" pitchFamily="18" charset="0"/>
                <a:cs typeface="Times New Roman" panose="02020603050405020304" pitchFamily="18" charset="0"/>
              </a:rPr>
              <a:t> : c’est la situation la plus favorable,</a:t>
            </a:r>
          </a:p>
          <a:p>
            <a:pPr algn="just"/>
            <a:r>
              <a:rPr lang="fr-FR" sz="2400" dirty="0" smtClean="0">
                <a:latin typeface="Times New Roman" panose="02020603050405020304" pitchFamily="18" charset="0"/>
                <a:cs typeface="Times New Roman" panose="02020603050405020304" pitchFamily="18" charset="0"/>
              </a:rPr>
              <a:t>-la complexité dans le </a:t>
            </a:r>
            <a:r>
              <a:rPr lang="fr-FR" sz="2400" b="1" dirty="0" smtClean="0">
                <a:latin typeface="Times New Roman" panose="02020603050405020304" pitchFamily="18" charset="0"/>
                <a:cs typeface="Times New Roman" panose="02020603050405020304" pitchFamily="18" charset="0"/>
              </a:rPr>
              <a:t>pire des cas</a:t>
            </a:r>
            <a:r>
              <a:rPr lang="fr-FR" sz="2400" dirty="0" smtClean="0">
                <a:latin typeface="Times New Roman" panose="02020603050405020304" pitchFamily="18" charset="0"/>
                <a:cs typeface="Times New Roman" panose="02020603050405020304" pitchFamily="18" charset="0"/>
              </a:rPr>
              <a:t> : c’est la situation la plus défavorable.</a:t>
            </a:r>
          </a:p>
          <a:p>
            <a:pPr algn="just"/>
            <a:r>
              <a:rPr lang="fr-FR" sz="2400" dirty="0" smtClean="0">
                <a:latin typeface="Times New Roman" panose="02020603050405020304" pitchFamily="18" charset="0"/>
                <a:cs typeface="Times New Roman" panose="02020603050405020304" pitchFamily="18" charset="0"/>
              </a:rPr>
              <a:t>Le plus souvent, on calculera la complexité dans le </a:t>
            </a:r>
            <a:r>
              <a:rPr lang="fr-FR" sz="2400" b="1" dirty="0" smtClean="0">
                <a:latin typeface="Times New Roman" panose="02020603050405020304" pitchFamily="18" charset="0"/>
                <a:cs typeface="Times New Roman" panose="02020603050405020304" pitchFamily="18" charset="0"/>
              </a:rPr>
              <a:t>pire des cas</a:t>
            </a:r>
            <a:r>
              <a:rPr lang="fr-FR" sz="2400" dirty="0" smtClean="0">
                <a:latin typeface="Times New Roman" panose="02020603050405020304" pitchFamily="18" charset="0"/>
                <a:cs typeface="Times New Roman" panose="02020603050405020304" pitchFamily="18" charset="0"/>
              </a:rPr>
              <a:t>.</a:t>
            </a:r>
          </a:p>
          <a:p>
            <a:pPr algn="just"/>
            <a:r>
              <a:rPr lang="fr-FR" sz="2400" b="1" dirty="0" smtClean="0">
                <a:latin typeface="Times New Roman" panose="02020603050405020304" pitchFamily="18" charset="0"/>
                <a:cs typeface="Times New Roman" panose="02020603050405020304" pitchFamily="18" charset="0"/>
              </a:rPr>
              <a:t>Ordre de grandeur</a:t>
            </a:r>
          </a:p>
          <a:p>
            <a:pPr algn="just"/>
            <a:r>
              <a:rPr lang="fr-FR" sz="2400" dirty="0" smtClean="0">
                <a:latin typeface="Times New Roman" panose="02020603050405020304" pitchFamily="18" charset="0"/>
                <a:cs typeface="Times New Roman" panose="02020603050405020304" pitchFamily="18" charset="0"/>
              </a:rPr>
              <a:t>Les notations asymptotiques sont des langages qui nous permettent d’analyser l’</a:t>
            </a:r>
            <a:r>
              <a:rPr lang="fr-FR" sz="2400" b="1" dirty="0" smtClean="0">
                <a:latin typeface="Times New Roman" panose="02020603050405020304" pitchFamily="18" charset="0"/>
                <a:cs typeface="Times New Roman" panose="02020603050405020304" pitchFamily="18" charset="0"/>
              </a:rPr>
              <a:t>ordre de grandeur</a:t>
            </a:r>
            <a:r>
              <a:rPr lang="fr-FR" sz="2400" dirty="0" smtClean="0">
                <a:latin typeface="Times New Roman" panose="02020603050405020304" pitchFamily="18" charset="0"/>
                <a:cs typeface="Times New Roman" panose="02020603050405020304" pitchFamily="18" charset="0"/>
              </a:rPr>
              <a:t> du temps d’exécution d’un algorithme en identifiant son comportement à mesure que les données en entrée augmentent. On appelle également cela le </a:t>
            </a:r>
            <a:r>
              <a:rPr lang="fr-FR" sz="2400" b="1" dirty="0" smtClean="0">
                <a:latin typeface="Times New Roman" panose="02020603050405020304" pitchFamily="18" charset="0"/>
                <a:cs typeface="Times New Roman" panose="02020603050405020304" pitchFamily="18" charset="0"/>
              </a:rPr>
              <a:t>taux de croissance</a:t>
            </a:r>
            <a:r>
              <a:rPr lang="fr-FR" sz="2400" dirty="0" smtClean="0">
                <a:latin typeface="Times New Roman" panose="02020603050405020304" pitchFamily="18" charset="0"/>
                <a:cs typeface="Times New Roman" panose="02020603050405020304" pitchFamily="18" charset="0"/>
              </a:rPr>
              <a:t> de l’</a:t>
            </a:r>
            <a:r>
              <a:rPr lang="fr-FR" sz="2400" dirty="0" err="1" smtClean="0">
                <a:latin typeface="Times New Roman" panose="02020603050405020304" pitchFamily="18" charset="0"/>
                <a:cs typeface="Times New Roman" panose="02020603050405020304" pitchFamily="18" charset="0"/>
              </a:rPr>
              <a:t>algo</a:t>
            </a:r>
            <a:r>
              <a:rPr lang="fr-FR" sz="2400" dirty="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4218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132080" y="356215"/>
                <a:ext cx="11816080" cy="6370975"/>
              </a:xfrm>
              <a:prstGeom prst="rect">
                <a:avLst/>
              </a:prstGeom>
            </p:spPr>
            <p:txBody>
              <a:bodyPr wrap="square">
                <a:spAutoFit/>
              </a:bodyPr>
              <a:lstStyle/>
              <a:p>
                <a:r>
                  <a:rPr lang="fr-FR" sz="2400" dirty="0" smtClean="0">
                    <a:latin typeface="Times New Roman" panose="02020603050405020304" pitchFamily="18" charset="0"/>
                    <a:cs typeface="Times New Roman" panose="02020603050405020304" pitchFamily="18" charset="0"/>
                  </a:rPr>
                  <a:t>Pour comparer des algorithmes, il n’est pas nécessaire d’utiliser la fonction </a:t>
                </a:r>
                <a:r>
                  <a:rPr lang="fr-FR" sz="2400" b="1" dirty="0">
                    <a:latin typeface="Times New Roman" panose="02020603050405020304" pitchFamily="18" charset="0"/>
                    <a:cs typeface="Times New Roman" panose="02020603050405020304" pitchFamily="18" charset="0"/>
                  </a:rPr>
                  <a:t>T</a:t>
                </a:r>
                <a:r>
                  <a:rPr lang="fr-FR" sz="2400" dirty="0">
                    <a:latin typeface="Times New Roman" panose="02020603050405020304" pitchFamily="18" charset="0"/>
                    <a:cs typeface="Times New Roman" panose="02020603050405020304" pitchFamily="18" charset="0"/>
                  </a:rPr>
                  <a:t>, mais seulement l’ordre de grandeur </a:t>
                </a:r>
                <a:r>
                  <a:rPr lang="fr-FR" sz="2400" dirty="0" smtClean="0">
                    <a:latin typeface="Times New Roman" panose="02020603050405020304" pitchFamily="18" charset="0"/>
                    <a:cs typeface="Times New Roman" panose="02020603050405020304" pitchFamily="18" charset="0"/>
                  </a:rPr>
                  <a:t>asymptotique. Ils existent plusieurs types de notations asymptotiques dont </a:t>
                </a:r>
                <a14:m>
                  <m:oMath xmlns:m="http://schemas.openxmlformats.org/officeDocument/2006/math">
                    <m:r>
                      <a:rPr lang="fr-FR" sz="2400" i="1" smtClean="0">
                        <a:latin typeface="Cambria Math" panose="02040503050406030204" pitchFamily="18" charset="0"/>
                        <a:ea typeface="Cambria Math" panose="02040503050406030204" pitchFamily="18" charset="0"/>
                        <a:cs typeface="Times New Roman" panose="02020603050405020304" pitchFamily="18" charset="0"/>
                      </a:rPr>
                      <m:t>𝜃</m:t>
                    </m:r>
                    <m:r>
                      <a:rPr lang="fr-FR" sz="2400" b="0" i="1" smtClean="0">
                        <a:latin typeface="Cambria Math" panose="02040503050406030204" pitchFamily="18" charset="0"/>
                        <a:ea typeface="Cambria Math" panose="02040503050406030204" pitchFamily="18" charset="0"/>
                        <a:cs typeface="Times New Roman" panose="02020603050405020304" pitchFamily="18" charset="0"/>
                      </a:rPr>
                      <m:t>,</m:t>
                    </m:r>
                    <m:r>
                      <m:rPr>
                        <m:nor/>
                      </m:rPr>
                      <a:rPr lang="el-GR" sz="2400" dirty="0">
                        <a:latin typeface="Times New Roman" panose="02020603050405020304" pitchFamily="18" charset="0"/>
                        <a:cs typeface="Times New Roman" panose="02020603050405020304" pitchFamily="18" charset="0"/>
                      </a:rPr>
                      <m:t>Ω</m:t>
                    </m:r>
                    <m:r>
                      <a:rPr lang="fr-FR" sz="2400" b="0" i="1" smtClean="0">
                        <a:latin typeface="Cambria Math" panose="02040503050406030204" pitchFamily="18" charset="0"/>
                        <a:ea typeface="Cambria Math" panose="02040503050406030204" pitchFamily="18" charset="0"/>
                        <a:cs typeface="Times New Roman" panose="02020603050405020304" pitchFamily="18" charset="0"/>
                      </a:rPr>
                      <m:t>, </m:t>
                    </m:r>
                    <m:r>
                      <a:rPr lang="fr-FR" sz="2400" b="0" i="1" smtClean="0">
                        <a:latin typeface="Cambria Math" panose="02040503050406030204" pitchFamily="18" charset="0"/>
                        <a:ea typeface="Cambria Math" panose="02040503050406030204" pitchFamily="18" charset="0"/>
                        <a:cs typeface="Times New Roman" panose="02020603050405020304" pitchFamily="18" charset="0"/>
                      </a:rPr>
                      <m:t>𝑒𝑡</m:t>
                    </m:r>
                    <m:r>
                      <a:rPr lang="fr-FR" sz="2400" b="0" i="1" smtClean="0">
                        <a:latin typeface="Cambria Math" panose="02040503050406030204" pitchFamily="18" charset="0"/>
                        <a:ea typeface="Cambria Math" panose="02040503050406030204" pitchFamily="18" charset="0"/>
                        <a:cs typeface="Times New Roman" panose="02020603050405020304" pitchFamily="18" charset="0"/>
                      </a:rPr>
                      <m:t> </m:t>
                    </m:r>
                    <m:r>
                      <a:rPr lang="fr-FR" sz="2400" b="0" i="1" smtClean="0">
                        <a:latin typeface="Cambria Math" panose="02040503050406030204" pitchFamily="18" charset="0"/>
                        <a:ea typeface="Cambria Math" panose="02040503050406030204" pitchFamily="18" charset="0"/>
                        <a:cs typeface="Times New Roman" panose="02020603050405020304" pitchFamily="18" charset="0"/>
                      </a:rPr>
                      <m:t>𝑂</m:t>
                    </m:r>
                    <m:r>
                      <a:rPr lang="fr-FR"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fr-FR" sz="2400" b="0" dirty="0" smtClean="0">
                  <a:latin typeface="Times New Roman" panose="02020603050405020304" pitchFamily="18" charset="0"/>
                  <a:ea typeface="Cambria Math" panose="02040503050406030204" pitchFamily="18" charset="0"/>
                  <a:cs typeface="Times New Roman" panose="02020603050405020304" pitchFamily="18" charset="0"/>
                </a:endParaRPr>
              </a:p>
              <a:p>
                <a:endParaRPr lang="fr-FR" sz="2400" b="0" dirty="0" smtClean="0">
                  <a:latin typeface="Times New Roman" panose="02020603050405020304" pitchFamily="18" charset="0"/>
                  <a:ea typeface="Cambria Math" panose="02040503050406030204" pitchFamily="18" charset="0"/>
                  <a:cs typeface="Times New Roman" panose="02020603050405020304" pitchFamily="18" charset="0"/>
                </a:endParaRPr>
              </a:p>
              <a:p>
                <a:pPr algn="just"/>
                <a:r>
                  <a:rPr lang="fr-FR" sz="2400" dirty="0" smtClean="0">
                    <a:latin typeface="Times New Roman" panose="02020603050405020304" pitchFamily="18" charset="0"/>
                    <a:cs typeface="Times New Roman" panose="02020603050405020304" pitchFamily="18" charset="0"/>
                  </a:rPr>
                  <a:t>a) </a:t>
                </a:r>
                <a:r>
                  <a:rPr lang="fr-FR" sz="2400" b="1" dirty="0" err="1" smtClean="0">
                    <a:latin typeface="Times New Roman" panose="02020603050405020304" pitchFamily="18" charset="0"/>
                    <a:cs typeface="Times New Roman" panose="02020603050405020304" pitchFamily="18" charset="0"/>
                  </a:rPr>
                  <a:t>Theta</a:t>
                </a:r>
                <a:r>
                  <a:rPr lang="fr-FR" sz="2400" dirty="0" smtClean="0">
                    <a:latin typeface="Times New Roman" panose="02020603050405020304" pitchFamily="18" charset="0"/>
                    <a:cs typeface="Times New Roman" panose="02020603050405020304" pitchFamily="18" charset="0"/>
                  </a:rPr>
                  <a:t> écrit </a:t>
                </a:r>
                <a14:m>
                  <m:oMath xmlns:m="http://schemas.openxmlformats.org/officeDocument/2006/math">
                    <m:r>
                      <a:rPr lang="fr-FR" sz="2400" b="1" i="1">
                        <a:latin typeface="Cambria Math" panose="02040503050406030204" pitchFamily="18" charset="0"/>
                        <a:ea typeface="Cambria Math" panose="02040503050406030204" pitchFamily="18" charset="0"/>
                        <a:cs typeface="Times New Roman" panose="02020603050405020304" pitchFamily="18" charset="0"/>
                      </a:rPr>
                      <m:t>𝜽</m:t>
                    </m:r>
                  </m:oMath>
                </a14:m>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désigne</a:t>
                </a:r>
                <a:r>
                  <a:rPr lang="fr-FR" sz="2400" dirty="0" smtClean="0">
                    <a:latin typeface="Times New Roman" panose="02020603050405020304" pitchFamily="18" charset="0"/>
                    <a:cs typeface="Times New Roman" panose="02020603050405020304" pitchFamily="18" charset="0"/>
                  </a:rPr>
                  <a:t> la </a:t>
                </a:r>
                <a:r>
                  <a:rPr lang="fr-FR" sz="2400" b="1" dirty="0" smtClean="0">
                    <a:latin typeface="Times New Roman" panose="02020603050405020304" pitchFamily="18" charset="0"/>
                    <a:cs typeface="Times New Roman" panose="02020603050405020304" pitchFamily="18" charset="0"/>
                  </a:rPr>
                  <a:t>borne asymptotique sous contrainte</a:t>
                </a:r>
                <a:r>
                  <a:rPr lang="fr-FR" sz="2400" dirty="0" smtClean="0">
                    <a:latin typeface="Times New Roman" panose="02020603050405020304" pitchFamily="18" charset="0"/>
                    <a:cs typeface="Times New Roman" panose="02020603050405020304" pitchFamily="18" charset="0"/>
                  </a:rPr>
                  <a:t> du taux de croissance du temps d’exécution d’un algorithme. Soit </a:t>
                </a:r>
                <a:r>
                  <a:rPr lang="fr-FR" sz="2400" b="1" dirty="0" smtClean="0">
                    <a:latin typeface="Times New Roman" panose="02020603050405020304" pitchFamily="18" charset="0"/>
                    <a:cs typeface="Times New Roman" panose="02020603050405020304" pitchFamily="18" charset="0"/>
                  </a:rPr>
                  <a:t>T(n)</a:t>
                </a:r>
                <a:r>
                  <a:rPr lang="fr-FR" sz="2400" dirty="0" smtClean="0">
                    <a:latin typeface="Times New Roman" panose="02020603050405020304" pitchFamily="18" charset="0"/>
                    <a:cs typeface="Times New Roman" panose="02020603050405020304" pitchFamily="18" charset="0"/>
                  </a:rPr>
                  <a:t> temps d’exécution, </a:t>
                </a:r>
                <a14:m>
                  <m:oMath xmlns:m="http://schemas.openxmlformats.org/officeDocument/2006/math">
                    <m:r>
                      <a:rPr lang="fr-FR" sz="2400" b="1" i="1">
                        <a:latin typeface="Cambria Math" panose="02040503050406030204" pitchFamily="18" charset="0"/>
                        <a:ea typeface="Cambria Math" panose="02040503050406030204" pitchFamily="18" charset="0"/>
                        <a:cs typeface="Times New Roman" panose="02020603050405020304" pitchFamily="18" charset="0"/>
                      </a:rPr>
                      <m:t>𝜽</m:t>
                    </m:r>
                  </m:oMath>
                </a14:m>
                <a:r>
                  <a:rPr lang="fr-FR" sz="2400" b="1" dirty="0">
                    <a:latin typeface="Times New Roman" panose="02020603050405020304" pitchFamily="18" charset="0"/>
                    <a:cs typeface="Times New Roman" panose="02020603050405020304" pitchFamily="18" charset="0"/>
                  </a:rPr>
                  <a:t>(f(n</a:t>
                </a:r>
                <a:r>
                  <a:rPr lang="fr-FR" sz="2400" b="1"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complexité de temps.</a:t>
                </a:r>
              </a:p>
              <a:p>
                <a:r>
                  <a:rPr lang="fr-FR" sz="2400" b="1" dirty="0" smtClean="0">
                    <a:latin typeface="Times New Roman" panose="02020603050405020304" pitchFamily="18" charset="0"/>
                    <a:cs typeface="Times New Roman" panose="02020603050405020304" pitchFamily="18" charset="0"/>
                  </a:rPr>
                  <a:t>T(n)</a:t>
                </a:r>
                <a:r>
                  <a:rPr lang="fr-FR" sz="2400" dirty="0" smtClean="0">
                    <a:latin typeface="Times New Roman" panose="02020603050405020304" pitchFamily="18" charset="0"/>
                    <a:cs typeface="Times New Roman" panose="02020603050405020304" pitchFamily="18" charset="0"/>
                  </a:rPr>
                  <a:t> est en </a:t>
                </a:r>
                <a14:m>
                  <m:oMath xmlns:m="http://schemas.openxmlformats.org/officeDocument/2006/math">
                    <m:r>
                      <a:rPr lang="fr-FR" sz="2400" b="1" i="1">
                        <a:latin typeface="Cambria Math" panose="02040503050406030204" pitchFamily="18" charset="0"/>
                        <a:ea typeface="Cambria Math" panose="02040503050406030204" pitchFamily="18" charset="0"/>
                        <a:cs typeface="Times New Roman" panose="02020603050405020304" pitchFamily="18" charset="0"/>
                      </a:rPr>
                      <m:t>𝜽</m:t>
                    </m:r>
                  </m:oMath>
                </a14:m>
                <a:r>
                  <a:rPr lang="fr-FR" sz="2400" b="1" dirty="0" smtClean="0">
                    <a:latin typeface="Times New Roman" panose="02020603050405020304" pitchFamily="18" charset="0"/>
                    <a:cs typeface="Times New Roman" panose="02020603050405020304" pitchFamily="18" charset="0"/>
                  </a:rPr>
                  <a:t>(f(n))</a:t>
                </a:r>
                <a:r>
                  <a:rPr lang="fr-FR" sz="2400" dirty="0" smtClean="0">
                    <a:latin typeface="Times New Roman" panose="02020603050405020304" pitchFamily="18" charset="0"/>
                    <a:cs typeface="Times New Roman" panose="02020603050405020304" pitchFamily="18" charset="0"/>
                  </a:rPr>
                  <a:t> si pour certaines constantes réelles </a:t>
                </a:r>
                <a:r>
                  <a:rPr lang="fr-FR" sz="2400" b="1" dirty="0" smtClean="0">
                    <a:latin typeface="Times New Roman" panose="02020603050405020304" pitchFamily="18" charset="0"/>
                    <a:cs typeface="Times New Roman" panose="02020603050405020304" pitchFamily="18" charset="0"/>
                  </a:rPr>
                  <a:t>c</a:t>
                </a:r>
                <a:r>
                  <a:rPr lang="fr-FR" sz="2400" b="1" baseline="-25000" dirty="0" smtClean="0">
                    <a:latin typeface="Times New Roman" panose="02020603050405020304" pitchFamily="18" charset="0"/>
                    <a:cs typeface="Times New Roman" panose="02020603050405020304" pitchFamily="18" charset="0"/>
                  </a:rPr>
                  <a:t>1</a:t>
                </a:r>
                <a:r>
                  <a:rPr lang="fr-FR" sz="2400" b="1" dirty="0" smtClean="0">
                    <a:latin typeface="Times New Roman" panose="02020603050405020304" pitchFamily="18" charset="0"/>
                    <a:cs typeface="Times New Roman" panose="02020603050405020304" pitchFamily="18" charset="0"/>
                  </a:rPr>
                  <a:t>&gt;0</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c</a:t>
                </a:r>
                <a:r>
                  <a:rPr lang="fr-FR" sz="2400" b="1" baseline="-25000" dirty="0" smtClean="0">
                    <a:latin typeface="Times New Roman" panose="02020603050405020304" pitchFamily="18" charset="0"/>
                    <a:cs typeface="Times New Roman" panose="02020603050405020304" pitchFamily="18" charset="0"/>
                  </a:rPr>
                  <a:t>2</a:t>
                </a:r>
                <a:r>
                  <a:rPr lang="fr-FR" sz="2400" b="1" dirty="0" smtClean="0">
                    <a:latin typeface="Times New Roman" panose="02020603050405020304" pitchFamily="18" charset="0"/>
                    <a:cs typeface="Times New Roman" panose="02020603050405020304" pitchFamily="18" charset="0"/>
                  </a:rPr>
                  <a:t>&gt;0</a:t>
                </a:r>
                <a:r>
                  <a:rPr lang="fr-FR" sz="2400" dirty="0" smtClean="0">
                    <a:latin typeface="Times New Roman" panose="02020603050405020304" pitchFamily="18" charset="0"/>
                    <a:cs typeface="Times New Roman" panose="02020603050405020304" pitchFamily="18" charset="0"/>
                  </a:rPr>
                  <a:t> et </a:t>
                </a:r>
                <a:r>
                  <a:rPr lang="fr-FR" sz="2400" b="1" dirty="0" smtClean="0">
                    <a:latin typeface="Times New Roman" panose="02020603050405020304" pitchFamily="18" charset="0"/>
                    <a:cs typeface="Times New Roman" panose="02020603050405020304" pitchFamily="18" charset="0"/>
                  </a:rPr>
                  <a:t>n</a:t>
                </a:r>
                <a:r>
                  <a:rPr lang="fr-FR" sz="2400" b="1" baseline="-25000" dirty="0" smtClean="0">
                    <a:latin typeface="Times New Roman" panose="02020603050405020304" pitchFamily="18" charset="0"/>
                    <a:cs typeface="Times New Roman" panose="02020603050405020304" pitchFamily="18" charset="0"/>
                  </a:rPr>
                  <a:t>0</a:t>
                </a:r>
                <a:r>
                  <a:rPr lang="fr-FR" sz="2400" b="1" dirty="0" smtClean="0">
                    <a:latin typeface="Times New Roman" panose="02020603050405020304" pitchFamily="18" charset="0"/>
                    <a:cs typeface="Times New Roman" panose="02020603050405020304" pitchFamily="18" charset="0"/>
                  </a:rPr>
                  <a:t>&gt;0</a:t>
                </a:r>
                <a:r>
                  <a:rPr lang="fr-FR" sz="2400" dirty="0" smtClean="0">
                    <a:latin typeface="Times New Roman" panose="02020603050405020304" pitchFamily="18" charset="0"/>
                    <a:cs typeface="Times New Roman" panose="02020603050405020304" pitchFamily="18" charset="0"/>
                  </a:rPr>
                  <a:t>, on a </a:t>
                </a:r>
              </a:p>
              <a:p>
                <a:r>
                  <a:rPr lang="fr-FR" sz="2400" b="1" dirty="0" smtClean="0">
                    <a:latin typeface="Times New Roman" panose="02020603050405020304" pitchFamily="18" charset="0"/>
                    <a:cs typeface="Times New Roman" panose="02020603050405020304" pitchFamily="18" charset="0"/>
                  </a:rPr>
                  <a:t>c</a:t>
                </a:r>
                <a:r>
                  <a:rPr lang="fr-FR" sz="2400" b="1" baseline="-25000" dirty="0" smtClean="0">
                    <a:latin typeface="Times New Roman" panose="02020603050405020304" pitchFamily="18" charset="0"/>
                    <a:cs typeface="Times New Roman" panose="02020603050405020304" pitchFamily="18" charset="0"/>
                  </a:rPr>
                  <a:t>1</a:t>
                </a:r>
                <a:r>
                  <a:rPr lang="fr-FR" sz="2400" b="1" dirty="0">
                    <a:latin typeface="Times New Roman" panose="02020603050405020304" pitchFamily="18" charset="0"/>
                    <a:cs typeface="Times New Roman" panose="02020603050405020304" pitchFamily="18" charset="0"/>
                  </a:rPr>
                  <a:t>f</a:t>
                </a:r>
                <a:r>
                  <a:rPr lang="fr-FR" sz="2400" b="1" dirty="0" smtClean="0">
                    <a:latin typeface="Times New Roman" panose="02020603050405020304" pitchFamily="18" charset="0"/>
                    <a:cs typeface="Times New Roman" panose="02020603050405020304" pitchFamily="18" charset="0"/>
                  </a:rPr>
                  <a:t>(n)&lt;</a:t>
                </a:r>
                <a:r>
                  <a:rPr lang="fr-FR" sz="2400" dirty="0">
                    <a:ea typeface="Cambria Math" panose="02040503050406030204" pitchFamily="18" charset="0"/>
                    <a:cs typeface="Times New Roman" panose="02020603050405020304" pitchFamily="18" charset="0"/>
                  </a:rPr>
                  <a:t> </a:t>
                </a:r>
                <a14:m>
                  <m:oMath xmlns:m="http://schemas.openxmlformats.org/officeDocument/2006/math">
                    <m:r>
                      <a:rPr lang="fr-FR" sz="2400" b="1" i="0" smtClean="0">
                        <a:latin typeface="Cambria Math" panose="02040503050406030204" pitchFamily="18" charset="0"/>
                        <a:ea typeface="Cambria Math" panose="02040503050406030204" pitchFamily="18" charset="0"/>
                        <a:cs typeface="Times New Roman" panose="02020603050405020304" pitchFamily="18" charset="0"/>
                      </a:rPr>
                      <m:t>𝐓</m:t>
                    </m:r>
                  </m:oMath>
                </a14:m>
                <a:r>
                  <a:rPr lang="fr-FR" sz="2400" b="1" dirty="0" smtClean="0">
                    <a:latin typeface="Times New Roman" panose="02020603050405020304" pitchFamily="18" charset="0"/>
                    <a:cs typeface="Times New Roman" panose="02020603050405020304" pitchFamily="18" charset="0"/>
                  </a:rPr>
                  <a:t>(n)&lt;c</a:t>
                </a:r>
                <a:r>
                  <a:rPr lang="fr-FR" sz="2400" b="1" baseline="-25000" dirty="0" smtClean="0">
                    <a:latin typeface="Times New Roman" panose="02020603050405020304" pitchFamily="18" charset="0"/>
                    <a:cs typeface="Times New Roman" panose="02020603050405020304" pitchFamily="18" charset="0"/>
                  </a:rPr>
                  <a:t>2</a:t>
                </a:r>
                <a:r>
                  <a:rPr lang="fr-FR" sz="2400" b="1" dirty="0" smtClean="0">
                    <a:latin typeface="Times New Roman" panose="02020603050405020304" pitchFamily="18" charset="0"/>
                    <a:cs typeface="Times New Roman" panose="02020603050405020304" pitchFamily="18" charset="0"/>
                  </a:rPr>
                  <a:t>f(n)</a:t>
                </a:r>
                <a:r>
                  <a:rPr lang="fr-FR" sz="2400" dirty="0" smtClean="0">
                    <a:latin typeface="Times New Roman" panose="02020603050405020304" pitchFamily="18" charset="0"/>
                    <a:cs typeface="Times New Roman" panose="02020603050405020304" pitchFamily="18" charset="0"/>
                  </a:rPr>
                  <a:t> pour toute taille d’entrée </a:t>
                </a:r>
                <a:r>
                  <a:rPr lang="fr-FR" sz="2400" b="1" dirty="0" smtClean="0">
                    <a:latin typeface="Times New Roman" panose="02020603050405020304" pitchFamily="18" charset="0"/>
                    <a:cs typeface="Times New Roman" panose="02020603050405020304" pitchFamily="18" charset="0"/>
                  </a:rPr>
                  <a:t>n</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n≥n</a:t>
                </a:r>
                <a:r>
                  <a:rPr lang="fr-FR" sz="2400" b="1" baseline="-25000" dirty="0" smtClean="0">
                    <a:latin typeface="Times New Roman" panose="02020603050405020304" pitchFamily="18" charset="0"/>
                    <a:cs typeface="Times New Roman" panose="02020603050405020304" pitchFamily="18" charset="0"/>
                  </a:rPr>
                  <a:t>0</a:t>
                </a:r>
                <a:r>
                  <a:rPr lang="fr-FR" sz="2400" dirty="0" smtClean="0">
                    <a:latin typeface="Times New Roman" panose="02020603050405020304" pitchFamily="18" charset="0"/>
                    <a:cs typeface="Times New Roman" panose="02020603050405020304" pitchFamily="18" charset="0"/>
                  </a:rPr>
                  <a:t>) </a:t>
                </a:r>
              </a:p>
              <a:p>
                <a:endParaRPr lang="fr-FR" sz="2400" dirty="0" smtClean="0">
                  <a:latin typeface="Times New Roman" panose="02020603050405020304" pitchFamily="18" charset="0"/>
                  <a:cs typeface="Times New Roman" panose="02020603050405020304" pitchFamily="18" charset="0"/>
                </a:endParaRPr>
              </a:p>
              <a:p>
                <a:pPr algn="just"/>
                <a:r>
                  <a:rPr lang="fr-FR" sz="2400" dirty="0" smtClean="0">
                    <a:latin typeface="Times New Roman" panose="02020603050405020304" pitchFamily="18" charset="0"/>
                    <a:cs typeface="Times New Roman" panose="02020603050405020304" pitchFamily="18" charset="0"/>
                  </a:rPr>
                  <a:t>b) </a:t>
                </a:r>
                <a:r>
                  <a:rPr lang="fr-FR" sz="2400" b="1" dirty="0" smtClean="0">
                    <a:latin typeface="Times New Roman" panose="02020603050405020304" pitchFamily="18" charset="0"/>
                    <a:cs typeface="Times New Roman" panose="02020603050405020304" pitchFamily="18" charset="0"/>
                  </a:rPr>
                  <a:t>Grand-Omega</a:t>
                </a:r>
                <a:r>
                  <a:rPr lang="fr-FR" sz="2400" dirty="0" smtClean="0">
                    <a:latin typeface="Times New Roman" panose="02020603050405020304" pitchFamily="18" charset="0"/>
                    <a:cs typeface="Times New Roman" panose="02020603050405020304" pitchFamily="18" charset="0"/>
                  </a:rPr>
                  <a:t> écrit couramment </a:t>
                </a:r>
                <a:r>
                  <a:rPr lang="el-GR" sz="2400" dirty="0" smtClean="0">
                    <a:latin typeface="Times New Roman" panose="02020603050405020304" pitchFamily="18" charset="0"/>
                    <a:cs typeface="Times New Roman" panose="02020603050405020304" pitchFamily="18" charset="0"/>
                  </a:rPr>
                  <a:t>Ω</a:t>
                </a:r>
                <a:r>
                  <a:rPr lang="fr-FR" sz="2400" dirty="0" smtClean="0">
                    <a:latin typeface="Times New Roman" panose="02020603050405020304" pitchFamily="18" charset="0"/>
                    <a:cs typeface="Times New Roman" panose="02020603050405020304" pitchFamily="18" charset="0"/>
                  </a:rPr>
                  <a:t>, est une notation pour le meilleur cas (ou limite de croissance basse) d’une fonction donnée. Il fournit une </a:t>
                </a:r>
                <a:r>
                  <a:rPr lang="fr-FR" sz="2400" b="1" dirty="0" smtClean="0">
                    <a:latin typeface="Times New Roman" panose="02020603050405020304" pitchFamily="18" charset="0"/>
                    <a:cs typeface="Times New Roman" panose="02020603050405020304" pitchFamily="18" charset="0"/>
                  </a:rPr>
                  <a:t>limite inférieure asymptotique</a:t>
                </a:r>
                <a:r>
                  <a:rPr lang="fr-FR" sz="2400" dirty="0" smtClean="0">
                    <a:latin typeface="Times New Roman" panose="02020603050405020304" pitchFamily="18" charset="0"/>
                    <a:cs typeface="Times New Roman" panose="02020603050405020304" pitchFamily="18" charset="0"/>
                  </a:rPr>
                  <a:t> pour le taux de croissance du temps d’exécution d’un algorithme.</a:t>
                </a:r>
              </a:p>
              <a:p>
                <a:r>
                  <a:rPr lang="fr-FR" sz="2400" b="1" dirty="0">
                    <a:latin typeface="Times New Roman" panose="02020603050405020304" pitchFamily="18" charset="0"/>
                    <a:cs typeface="Times New Roman" panose="02020603050405020304" pitchFamily="18" charset="0"/>
                  </a:rPr>
                  <a:t>T(n)</a:t>
                </a:r>
                <a:r>
                  <a:rPr lang="fr-FR" sz="2400" dirty="0">
                    <a:latin typeface="Times New Roman" panose="02020603050405020304" pitchFamily="18" charset="0"/>
                    <a:cs typeface="Times New Roman" panose="02020603050405020304" pitchFamily="18" charset="0"/>
                  </a:rPr>
                  <a:t> est </a:t>
                </a:r>
                <a:r>
                  <a:rPr lang="fr-FR" sz="2400" dirty="0" smtClean="0">
                    <a:latin typeface="Times New Roman" panose="02020603050405020304" pitchFamily="18" charset="0"/>
                    <a:cs typeface="Times New Roman" panose="02020603050405020304" pitchFamily="18" charset="0"/>
                  </a:rPr>
                  <a:t>en</a:t>
                </a:r>
                <a:r>
                  <a:rPr lang="fr-FR" sz="2400" dirty="0">
                    <a:latin typeface="Times New Roman" panose="02020603050405020304" pitchFamily="18" charset="0"/>
                    <a:cs typeface="Times New Roman" panose="02020603050405020304" pitchFamily="18" charset="0"/>
                  </a:rPr>
                  <a:t> </a:t>
                </a:r>
                <a:r>
                  <a:rPr lang="el-GR" sz="2400" dirty="0" smtClean="0">
                    <a:latin typeface="Times New Roman" panose="02020603050405020304" pitchFamily="18" charset="0"/>
                    <a:cs typeface="Times New Roman" panose="02020603050405020304" pitchFamily="18" charset="0"/>
                  </a:rPr>
                  <a:t>Ω</a:t>
                </a:r>
                <a:r>
                  <a:rPr lang="fr-FR" sz="2400" b="1" dirty="0" smtClean="0">
                    <a:latin typeface="Times New Roman" panose="02020603050405020304" pitchFamily="18" charset="0"/>
                    <a:cs typeface="Times New Roman" panose="02020603050405020304" pitchFamily="18" charset="0"/>
                  </a:rPr>
                  <a:t>(f(n</a:t>
                </a:r>
                <a:r>
                  <a:rPr lang="fr-FR" sz="2400" b="1" dirty="0">
                    <a:latin typeface="Times New Roman" panose="02020603050405020304" pitchFamily="18" charset="0"/>
                    <a:cs typeface="Times New Roman" panose="02020603050405020304" pitchFamily="18" charset="0"/>
                  </a:rPr>
                  <a:t>))</a:t>
                </a:r>
                <a:r>
                  <a:rPr lang="fr-FR" sz="2400" dirty="0">
                    <a:latin typeface="Times New Roman" panose="02020603050405020304" pitchFamily="18" charset="0"/>
                    <a:cs typeface="Times New Roman" panose="02020603050405020304" pitchFamily="18" charset="0"/>
                  </a:rPr>
                  <a:t> si </a:t>
                </a:r>
                <a:r>
                  <a:rPr lang="fr-FR" sz="2400" dirty="0" smtClean="0">
                    <a:latin typeface="Times New Roman" panose="02020603050405020304" pitchFamily="18" charset="0"/>
                    <a:cs typeface="Times New Roman" panose="02020603050405020304" pitchFamily="18" charset="0"/>
                  </a:rPr>
                  <a:t>pour certaines </a:t>
                </a:r>
                <a:r>
                  <a:rPr lang="fr-FR" sz="2400" dirty="0">
                    <a:latin typeface="Times New Roman" panose="02020603050405020304" pitchFamily="18" charset="0"/>
                    <a:cs typeface="Times New Roman" panose="02020603050405020304" pitchFamily="18" charset="0"/>
                  </a:rPr>
                  <a:t>constantes </a:t>
                </a:r>
                <a:r>
                  <a:rPr lang="fr-FR" sz="2400" b="1" dirty="0" smtClean="0">
                    <a:latin typeface="Times New Roman" panose="02020603050405020304" pitchFamily="18" charset="0"/>
                    <a:cs typeface="Times New Roman" panose="02020603050405020304" pitchFamily="18" charset="0"/>
                  </a:rPr>
                  <a:t>c&gt;0</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et </a:t>
                </a:r>
                <a:r>
                  <a:rPr lang="fr-FR" sz="2400" b="1" dirty="0">
                    <a:latin typeface="Times New Roman" panose="02020603050405020304" pitchFamily="18" charset="0"/>
                    <a:cs typeface="Times New Roman" panose="02020603050405020304" pitchFamily="18" charset="0"/>
                  </a:rPr>
                  <a:t>n</a:t>
                </a:r>
                <a:r>
                  <a:rPr lang="fr-FR" sz="2400" b="1" baseline="-25000" dirty="0">
                    <a:latin typeface="Times New Roman" panose="02020603050405020304" pitchFamily="18" charset="0"/>
                    <a:cs typeface="Times New Roman" panose="02020603050405020304" pitchFamily="18" charset="0"/>
                  </a:rPr>
                  <a:t>0</a:t>
                </a:r>
                <a:r>
                  <a:rPr lang="fr-FR" sz="2400" b="1" dirty="0">
                    <a:latin typeface="Times New Roman" panose="02020603050405020304" pitchFamily="18" charset="0"/>
                    <a:cs typeface="Times New Roman" panose="02020603050405020304" pitchFamily="18" charset="0"/>
                  </a:rPr>
                  <a:t>&gt;0</a:t>
                </a:r>
                <a:r>
                  <a:rPr lang="fr-FR" sz="2400" dirty="0">
                    <a:latin typeface="Times New Roman" panose="02020603050405020304" pitchFamily="18" charset="0"/>
                    <a:cs typeface="Times New Roman" panose="02020603050405020304" pitchFamily="18" charset="0"/>
                  </a:rPr>
                  <a:t>, on a </a:t>
                </a:r>
              </a:p>
              <a:p>
                <a:r>
                  <a:rPr lang="fr-FR" sz="2400" b="1" dirty="0" smtClean="0">
                    <a:latin typeface="Times New Roman" panose="02020603050405020304" pitchFamily="18" charset="0"/>
                    <a:cs typeface="Times New Roman" panose="02020603050405020304" pitchFamily="18" charset="0"/>
                  </a:rPr>
                  <a:t>T(n)≥</a:t>
                </a:r>
                <a:r>
                  <a:rPr lang="fr-FR" sz="2400" b="1" dirty="0" err="1" smtClean="0">
                    <a:latin typeface="Times New Roman" panose="02020603050405020304" pitchFamily="18" charset="0"/>
                    <a:cs typeface="Times New Roman" panose="02020603050405020304" pitchFamily="18" charset="0"/>
                  </a:rPr>
                  <a:t>cf</a:t>
                </a:r>
                <a:r>
                  <a:rPr lang="fr-FR" sz="2400" b="1" dirty="0" smtClean="0">
                    <a:latin typeface="Times New Roman" panose="02020603050405020304" pitchFamily="18" charset="0"/>
                    <a:cs typeface="Times New Roman" panose="02020603050405020304" pitchFamily="18" charset="0"/>
                  </a:rPr>
                  <a:t>(n)</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pour toute taille d’entrée </a:t>
                </a:r>
                <a:r>
                  <a:rPr lang="fr-FR" sz="2400" b="1" dirty="0">
                    <a:latin typeface="Times New Roman" panose="02020603050405020304" pitchFamily="18" charset="0"/>
                    <a:cs typeface="Times New Roman" panose="02020603050405020304" pitchFamily="18" charset="0"/>
                  </a:rPr>
                  <a:t>n</a:t>
                </a:r>
                <a:r>
                  <a:rPr lang="fr-FR" sz="2400" dirty="0">
                    <a:latin typeface="Times New Roman" panose="02020603050405020304" pitchFamily="18" charset="0"/>
                    <a:cs typeface="Times New Roman" panose="02020603050405020304" pitchFamily="18" charset="0"/>
                  </a:rPr>
                  <a:t> (</a:t>
                </a:r>
                <a:r>
                  <a:rPr lang="fr-FR" sz="2400" b="1" dirty="0">
                    <a:latin typeface="Times New Roman" panose="02020603050405020304" pitchFamily="18" charset="0"/>
                    <a:cs typeface="Times New Roman" panose="02020603050405020304" pitchFamily="18" charset="0"/>
                  </a:rPr>
                  <a:t>n≥n</a:t>
                </a:r>
                <a:r>
                  <a:rPr lang="fr-FR" sz="2400" b="1" baseline="-25000" dirty="0">
                    <a:latin typeface="Times New Roman" panose="02020603050405020304" pitchFamily="18" charset="0"/>
                    <a:cs typeface="Times New Roman" panose="02020603050405020304" pitchFamily="18" charset="0"/>
                  </a:rPr>
                  <a:t>0</a:t>
                </a:r>
                <a:r>
                  <a:rPr lang="fr-FR" sz="2400" dirty="0">
                    <a:latin typeface="Times New Roman" panose="02020603050405020304" pitchFamily="18" charset="0"/>
                    <a:cs typeface="Times New Roman" panose="02020603050405020304" pitchFamily="18" charset="0"/>
                  </a:rPr>
                  <a:t>) </a:t>
                </a:r>
                <a:endParaRPr lang="fr-FR" sz="2400" dirty="0" smtClean="0">
                  <a:latin typeface="Times New Roman" panose="02020603050405020304" pitchFamily="18" charset="0"/>
                  <a:cs typeface="Times New Roman" panose="02020603050405020304" pitchFamily="18" charset="0"/>
                </a:endParaRPr>
              </a:p>
              <a:p>
                <a:endParaRPr lang="fr-FR" sz="2400" dirty="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c) </a:t>
                </a:r>
                <a:r>
                  <a:rPr lang="fr-FR" sz="2400" b="1" dirty="0" smtClean="0">
                    <a:latin typeface="Times New Roman" panose="02020603050405020304" pitchFamily="18" charset="0"/>
                    <a:cs typeface="Times New Roman" panose="02020603050405020304" pitchFamily="18" charset="0"/>
                  </a:rPr>
                  <a:t>Gand-</a:t>
                </a:r>
                <a:r>
                  <a:rPr lang="fr-FR" sz="2400" b="1" i="1" dirty="0" smtClean="0">
                    <a:latin typeface="Times New Roman" panose="02020603050405020304" pitchFamily="18" charset="0"/>
                    <a:cs typeface="Times New Roman" panose="02020603050405020304" pitchFamily="18" charset="0"/>
                  </a:rPr>
                  <a:t>O</a:t>
                </a:r>
                <a:r>
                  <a:rPr lang="fr-FR" sz="2400" dirty="0" smtClean="0">
                    <a:latin typeface="Times New Roman" panose="02020603050405020304" pitchFamily="18" charset="0"/>
                    <a:cs typeface="Times New Roman" panose="02020603050405020304" pitchFamily="18" charset="0"/>
                  </a:rPr>
                  <a:t> écrit </a:t>
                </a:r>
                <a:r>
                  <a:rPr lang="fr-FR" sz="2400" b="1" i="1" dirty="0" smtClean="0">
                    <a:latin typeface="Times New Roman" panose="02020603050405020304" pitchFamily="18" charset="0"/>
                    <a:cs typeface="Times New Roman" panose="02020603050405020304" pitchFamily="18" charset="0"/>
                  </a:rPr>
                  <a:t>O</a:t>
                </a:r>
                <a:r>
                  <a:rPr lang="fr-FR" sz="2400" dirty="0" smtClean="0">
                    <a:latin typeface="Times New Roman" panose="02020603050405020304" pitchFamily="18" charset="0"/>
                    <a:cs typeface="Times New Roman" panose="02020603050405020304" pitchFamily="18" charset="0"/>
                  </a:rPr>
                  <a:t>, est une notation asymptotique pour le cas le plus mauvais (ou plafond de croissance). Elle est la plus utilisée. </a:t>
                </a:r>
                <a:endParaRPr lang="fr-FR" sz="2400" dirty="0">
                  <a:latin typeface="Times New Roman" panose="02020603050405020304" pitchFamily="18" charset="0"/>
                  <a:cs typeface="Times New Roman" panose="020206030504050203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132080" y="356215"/>
                <a:ext cx="11816080" cy="6370975"/>
              </a:xfrm>
              <a:prstGeom prst="rect">
                <a:avLst/>
              </a:prstGeom>
              <a:blipFill>
                <a:blip r:embed="rId2"/>
                <a:stretch>
                  <a:fillRect l="-826" t="-765" r="-774" b="-1147"/>
                </a:stretch>
              </a:blipFill>
            </p:spPr>
            <p:txBody>
              <a:bodyPr/>
              <a:lstStyle/>
              <a:p>
                <a:r>
                  <a:rPr lang="fr-FR">
                    <a:noFill/>
                  </a:rPr>
                  <a:t> </a:t>
                </a:r>
              </a:p>
            </p:txBody>
          </p:sp>
        </mc:Fallback>
      </mc:AlternateContent>
    </p:spTree>
    <p:extLst>
      <p:ext uri="{BB962C8B-B14F-4D97-AF65-F5344CB8AC3E}">
        <p14:creationId xmlns:p14="http://schemas.microsoft.com/office/powerpoint/2010/main" val="243869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ZoneTexte 1"/>
              <p:cNvSpPr txBox="1"/>
              <p:nvPr/>
            </p:nvSpPr>
            <p:spPr>
              <a:xfrm>
                <a:off x="193040" y="294640"/>
                <a:ext cx="11785600" cy="6370975"/>
              </a:xfrm>
              <a:prstGeom prst="rect">
                <a:avLst/>
              </a:prstGeom>
              <a:noFill/>
            </p:spPr>
            <p:txBody>
              <a:bodyPr wrap="square" rtlCol="0">
                <a:spAutoFit/>
              </a:bodyPr>
              <a:lstStyle/>
              <a:p>
                <a:r>
                  <a:rPr lang="fr-FR" sz="2400" dirty="0" smtClean="0">
                    <a:latin typeface="Times New Roman" panose="02020603050405020304" pitchFamily="18" charset="0"/>
                    <a:cs typeface="Times New Roman" panose="02020603050405020304" pitchFamily="18" charset="0"/>
                  </a:rPr>
                  <a:t>Une fonction </a:t>
                </a:r>
                <a:r>
                  <a:rPr lang="fr-FR" sz="2400" b="1" dirty="0" smtClean="0">
                    <a:latin typeface="Times New Roman" panose="02020603050405020304" pitchFamily="18" charset="0"/>
                    <a:cs typeface="Times New Roman" panose="02020603050405020304" pitchFamily="18" charset="0"/>
                  </a:rPr>
                  <a:t>T(n)</a:t>
                </a:r>
                <a:r>
                  <a:rPr lang="fr-FR" sz="2400" dirty="0" smtClean="0">
                    <a:latin typeface="Times New Roman" panose="02020603050405020304" pitchFamily="18" charset="0"/>
                    <a:cs typeface="Times New Roman" panose="02020603050405020304" pitchFamily="18" charset="0"/>
                  </a:rPr>
                  <a:t> est en </a:t>
                </a:r>
                <a:r>
                  <a:rPr lang="fr-FR" sz="2400" b="1" i="1" dirty="0" smtClean="0">
                    <a:latin typeface="Times New Roman" panose="02020603050405020304" pitchFamily="18" charset="0"/>
                    <a:cs typeface="Times New Roman" panose="02020603050405020304" pitchFamily="18" charset="0"/>
                  </a:rPr>
                  <a:t>O(f(n))</a:t>
                </a:r>
                <a:r>
                  <a:rPr lang="fr-FR" sz="2400" dirty="0" smtClean="0">
                    <a:latin typeface="Times New Roman" panose="02020603050405020304" pitchFamily="18" charset="0"/>
                    <a:cs typeface="Times New Roman" panose="02020603050405020304" pitchFamily="18" charset="0"/>
                  </a:rPr>
                  <a:t> (« en grand </a:t>
                </a:r>
                <a:r>
                  <a:rPr lang="fr-FR" sz="2400" i="1" dirty="0" smtClean="0">
                    <a:latin typeface="Times New Roman" panose="02020603050405020304" pitchFamily="18" charset="0"/>
                    <a:cs typeface="Times New Roman" panose="02020603050405020304" pitchFamily="18" charset="0"/>
                  </a:rPr>
                  <a:t>O</a:t>
                </a:r>
                <a:r>
                  <a:rPr lang="fr-FR" sz="2400" dirty="0" smtClean="0">
                    <a:latin typeface="Times New Roman" panose="02020603050405020304" pitchFamily="18" charset="0"/>
                    <a:cs typeface="Times New Roman" panose="02020603050405020304" pitchFamily="18" charset="0"/>
                  </a:rPr>
                  <a:t> de f(n) si :</a:t>
                </a:r>
              </a:p>
              <a:p>
                <a:pPr algn="just"/>
                <a:r>
                  <a:rPr lang="fr-FR" sz="2400" dirty="0" smtClean="0">
                    <a:latin typeface="Times New Roman" panose="02020603050405020304" pitchFamily="18" charset="0"/>
                    <a:cs typeface="Times New Roman" panose="02020603050405020304" pitchFamily="18" charset="0"/>
                  </a:rPr>
                  <a:t> </a:t>
                </a:r>
                <a14:m>
                  <m:oMath xmlns:m="http://schemas.openxmlformats.org/officeDocument/2006/math">
                    <m:r>
                      <a:rPr lang="fr-FR" sz="2400" b="1" i="1" smtClean="0">
                        <a:latin typeface="Cambria Math" panose="02040503050406030204" pitchFamily="18" charset="0"/>
                        <a:ea typeface="Cambria Math" panose="02040503050406030204" pitchFamily="18" charset="0"/>
                      </a:rPr>
                      <m:t>∃</m:t>
                    </m:r>
                    <m:r>
                      <a:rPr lang="fr-FR" sz="2400" b="1" i="0" smtClean="0">
                        <a:latin typeface="Cambria Math" panose="02040503050406030204" pitchFamily="18" charset="0"/>
                        <a:ea typeface="Cambria Math" panose="02040503050406030204" pitchFamily="18" charset="0"/>
                      </a:rPr>
                      <m:t>𝐧</m:t>
                    </m:r>
                    <m:r>
                      <a:rPr lang="fr-FR" sz="2400" b="1" i="0" baseline="-25000" smtClean="0">
                        <a:latin typeface="Cambria Math" panose="02040503050406030204" pitchFamily="18" charset="0"/>
                        <a:ea typeface="Cambria Math" panose="02040503050406030204" pitchFamily="18" charset="0"/>
                      </a:rPr>
                      <m:t>𝟎</m:t>
                    </m:r>
                    <m:r>
                      <a:rPr lang="fr-FR" sz="2400" b="1" i="1" dirty="0" smtClean="0">
                        <a:latin typeface="Cambria Math" panose="02040503050406030204" pitchFamily="18" charset="0"/>
                        <a:ea typeface="Cambria Math" panose="02040503050406030204" pitchFamily="18" charset="0"/>
                      </a:rPr>
                      <m:t>∈</m:t>
                    </m:r>
                    <m:r>
                      <a:rPr lang="fr-FR" sz="2400" b="1" i="1" dirty="0" smtClean="0">
                        <a:latin typeface="Cambria Math" panose="02040503050406030204" pitchFamily="18" charset="0"/>
                        <a:ea typeface="Cambria Math" panose="02040503050406030204" pitchFamily="18" charset="0"/>
                      </a:rPr>
                      <m:t>𝑵</m:t>
                    </m:r>
                    <m:r>
                      <a:rPr lang="fr-FR" sz="2400" b="1" i="1" dirty="0" smtClean="0">
                        <a:latin typeface="Cambria Math" panose="02040503050406030204" pitchFamily="18" charset="0"/>
                        <a:ea typeface="Cambria Math" panose="02040503050406030204" pitchFamily="18" charset="0"/>
                      </a:rPr>
                      <m:t>, ∃</m:t>
                    </m:r>
                    <m:r>
                      <a:rPr lang="fr-FR" sz="2400" b="1" i="1" dirty="0" smtClean="0">
                        <a:latin typeface="Cambria Math" panose="02040503050406030204" pitchFamily="18" charset="0"/>
                        <a:ea typeface="Cambria Math" panose="02040503050406030204" pitchFamily="18" charset="0"/>
                      </a:rPr>
                      <m:t>𝒄</m:t>
                    </m:r>
                    <m:r>
                      <a:rPr lang="fr-FR" sz="2400" b="1" i="1" dirty="0" smtClean="0">
                        <a:latin typeface="Cambria Math" panose="02040503050406030204" pitchFamily="18" charset="0"/>
                        <a:ea typeface="Cambria Math" panose="02040503050406030204" pitchFamily="18" charset="0"/>
                      </a:rPr>
                      <m:t>∈</m:t>
                    </m:r>
                    <m:r>
                      <a:rPr lang="fr-FR" sz="2400" b="1" i="1" dirty="0" smtClean="0">
                        <a:latin typeface="Cambria Math" panose="02040503050406030204" pitchFamily="18" charset="0"/>
                        <a:ea typeface="Cambria Math" panose="02040503050406030204" pitchFamily="18" charset="0"/>
                      </a:rPr>
                      <m:t>𝑹</m:t>
                    </m:r>
                    <m:r>
                      <a:rPr lang="fr-FR" sz="2400" b="1" i="1" baseline="-10000" dirty="0" smtClean="0">
                        <a:latin typeface="Cambria Math" panose="02040503050406030204" pitchFamily="18" charset="0"/>
                        <a:ea typeface="Cambria Math" panose="02040503050406030204" pitchFamily="18" charset="0"/>
                      </a:rPr>
                      <m:t>+</m:t>
                    </m:r>
                    <m:r>
                      <a:rPr lang="fr-FR" sz="2400" b="1" i="1" dirty="0" smtClean="0">
                        <a:latin typeface="Cambria Math" panose="02040503050406030204" pitchFamily="18" charset="0"/>
                        <a:ea typeface="Cambria Math" panose="02040503050406030204" pitchFamily="18" charset="0"/>
                      </a:rPr>
                      <m:t>,∀</m:t>
                    </m:r>
                    <m:r>
                      <a:rPr lang="fr-FR" sz="2400" b="1" i="1" dirty="0" smtClean="0">
                        <a:latin typeface="Cambria Math" panose="02040503050406030204" pitchFamily="18" charset="0"/>
                        <a:ea typeface="Cambria Math" panose="02040503050406030204" pitchFamily="18" charset="0"/>
                      </a:rPr>
                      <m:t>𝒏</m:t>
                    </m:r>
                    <m:r>
                      <a:rPr lang="fr-FR" sz="2400" b="1" i="1" dirty="0" smtClean="0">
                        <a:latin typeface="Cambria Math" panose="02040503050406030204" pitchFamily="18" charset="0"/>
                        <a:ea typeface="Cambria Math" panose="02040503050406030204" pitchFamily="18" charset="0"/>
                      </a:rPr>
                      <m:t>∈</m:t>
                    </m:r>
                    <m:r>
                      <a:rPr lang="fr-FR" sz="2400" b="1" i="1" dirty="0" smtClean="0">
                        <a:latin typeface="Cambria Math" panose="02040503050406030204" pitchFamily="18" charset="0"/>
                        <a:ea typeface="Cambria Math" panose="02040503050406030204" pitchFamily="18" charset="0"/>
                      </a:rPr>
                      <m:t>𝑹</m:t>
                    </m:r>
                    <m:r>
                      <a:rPr lang="fr-FR" sz="2400" b="1" i="1" baseline="-10000" dirty="0" smtClean="0">
                        <a:latin typeface="Cambria Math" panose="02040503050406030204" pitchFamily="18" charset="0"/>
                        <a:ea typeface="Cambria Math" panose="02040503050406030204" pitchFamily="18" charset="0"/>
                      </a:rPr>
                      <m:t>+</m:t>
                    </m:r>
                    <m:r>
                      <a:rPr lang="fr-FR" sz="2400" b="1" i="1" dirty="0" smtClean="0">
                        <a:latin typeface="Cambria Math" panose="02040503050406030204" pitchFamily="18" charset="0"/>
                        <a:ea typeface="Cambria Math" panose="02040503050406030204" pitchFamily="18" charset="0"/>
                      </a:rPr>
                      <m:t>,</m:t>
                    </m:r>
                    <m:r>
                      <a:rPr lang="fr-FR" sz="2400" b="1" i="1" dirty="0" smtClean="0">
                        <a:latin typeface="Cambria Math" panose="02040503050406030204" pitchFamily="18" charset="0"/>
                        <a:ea typeface="Cambria Math" panose="02040503050406030204" pitchFamily="18" charset="0"/>
                      </a:rPr>
                      <m:t>𝒏</m:t>
                    </m:r>
                    <m:r>
                      <a:rPr lang="fr-FR" sz="2400" b="1" i="1" dirty="0" smtClean="0">
                        <a:latin typeface="Cambria Math" panose="02040503050406030204" pitchFamily="18" charset="0"/>
                        <a:ea typeface="Cambria Math" panose="02040503050406030204" pitchFamily="18" charset="0"/>
                      </a:rPr>
                      <m:t>≥</m:t>
                    </m:r>
                    <m:r>
                      <a:rPr lang="fr-FR" sz="2400" b="1" i="1" dirty="0" smtClean="0">
                        <a:latin typeface="Cambria Math" panose="02040503050406030204" pitchFamily="18" charset="0"/>
                        <a:ea typeface="Cambria Math" panose="02040503050406030204" pitchFamily="18" charset="0"/>
                      </a:rPr>
                      <m:t>𝒏</m:t>
                    </m:r>
                    <m:r>
                      <a:rPr lang="fr-FR" sz="2400" b="1" i="1" baseline="-10000" dirty="0" smtClean="0">
                        <a:latin typeface="Cambria Math" panose="02040503050406030204" pitchFamily="18" charset="0"/>
                        <a:ea typeface="Cambria Math" panose="02040503050406030204" pitchFamily="18" charset="0"/>
                      </a:rPr>
                      <m:t>𝟎</m:t>
                    </m:r>
                    <m:r>
                      <a:rPr lang="fr-FR" sz="2400" b="1" i="1" dirty="0" smtClean="0">
                        <a:latin typeface="Cambria Math" panose="02040503050406030204" pitchFamily="18" charset="0"/>
                        <a:ea typeface="Cambria Math" panose="02040503050406030204" pitchFamily="18" charset="0"/>
                      </a:rPr>
                      <m:t>⇒</m:t>
                    </m:r>
                    <m:r>
                      <a:rPr lang="fr-FR" sz="2400" b="1" i="0" dirty="0" smtClean="0">
                        <a:latin typeface="Cambria Math" panose="02040503050406030204" pitchFamily="18" charset="0"/>
                        <a:ea typeface="Cambria Math" panose="02040503050406030204" pitchFamily="18" charset="0"/>
                      </a:rPr>
                      <m:t>𝐈</m:t>
                    </m:r>
                    <m:r>
                      <a:rPr lang="fr-FR" sz="2400" b="1" i="1" dirty="0" smtClean="0">
                        <a:latin typeface="Cambria Math" panose="02040503050406030204" pitchFamily="18" charset="0"/>
                        <a:ea typeface="Cambria Math" panose="02040503050406030204" pitchFamily="18" charset="0"/>
                      </a:rPr>
                      <m:t>𝑻</m:t>
                    </m:r>
                    <m:d>
                      <m:dPr>
                        <m:ctrlPr>
                          <a:rPr lang="fr-FR" sz="2400" b="1" i="1" dirty="0" smtClean="0">
                            <a:latin typeface="Cambria Math" panose="02040503050406030204" pitchFamily="18" charset="0"/>
                            <a:ea typeface="Cambria Math" panose="02040503050406030204" pitchFamily="18" charset="0"/>
                          </a:rPr>
                        </m:ctrlPr>
                      </m:dPr>
                      <m:e>
                        <m:r>
                          <a:rPr lang="fr-FR" sz="2400" b="1" i="1" dirty="0" smtClean="0">
                            <a:latin typeface="Cambria Math" panose="02040503050406030204" pitchFamily="18" charset="0"/>
                            <a:ea typeface="Cambria Math" panose="02040503050406030204" pitchFamily="18" charset="0"/>
                          </a:rPr>
                          <m:t>𝒏</m:t>
                        </m:r>
                      </m:e>
                    </m:d>
                    <m:r>
                      <a:rPr lang="fr-FR" sz="2400" b="1" i="0" dirty="0" smtClean="0">
                        <a:latin typeface="Cambria Math" panose="02040503050406030204" pitchFamily="18" charset="0"/>
                        <a:ea typeface="Cambria Math" panose="02040503050406030204" pitchFamily="18" charset="0"/>
                      </a:rPr>
                      <m:t>𝐈</m:t>
                    </m:r>
                    <m:r>
                      <a:rPr lang="fr-FR" sz="2400" b="1" i="1" dirty="0" smtClean="0">
                        <a:latin typeface="Cambria Math" panose="02040503050406030204" pitchFamily="18" charset="0"/>
                        <a:ea typeface="Cambria Math" panose="02040503050406030204" pitchFamily="18" charset="0"/>
                      </a:rPr>
                      <m:t>≤</m:t>
                    </m:r>
                    <m:r>
                      <a:rPr lang="fr-FR" sz="2400" b="1" i="1" dirty="0" smtClean="0">
                        <a:latin typeface="Cambria Math" panose="02040503050406030204" pitchFamily="18" charset="0"/>
                        <a:ea typeface="Cambria Math" panose="02040503050406030204" pitchFamily="18" charset="0"/>
                      </a:rPr>
                      <m:t>𝒄</m:t>
                    </m:r>
                    <m:r>
                      <a:rPr lang="fr-FR" sz="2400" b="1" i="0" dirty="0" smtClean="0">
                        <a:latin typeface="Cambria Math" panose="02040503050406030204" pitchFamily="18" charset="0"/>
                        <a:ea typeface="Cambria Math" panose="02040503050406030204" pitchFamily="18" charset="0"/>
                      </a:rPr>
                      <m:t>𝐈</m:t>
                    </m:r>
                    <m:r>
                      <a:rPr lang="fr-FR" sz="2400" b="1" i="1" dirty="0" smtClean="0">
                        <a:latin typeface="Cambria Math" panose="02040503050406030204" pitchFamily="18" charset="0"/>
                        <a:ea typeface="Cambria Math" panose="02040503050406030204" pitchFamily="18" charset="0"/>
                      </a:rPr>
                      <m:t>𝒇</m:t>
                    </m:r>
                    <m:d>
                      <m:dPr>
                        <m:ctrlPr>
                          <a:rPr lang="fr-FR" sz="2400" b="1" i="1" dirty="0" smtClean="0">
                            <a:latin typeface="Cambria Math" panose="02040503050406030204" pitchFamily="18" charset="0"/>
                            <a:ea typeface="Cambria Math" panose="02040503050406030204" pitchFamily="18" charset="0"/>
                          </a:rPr>
                        </m:ctrlPr>
                      </m:dPr>
                      <m:e>
                        <m:r>
                          <a:rPr lang="fr-FR" sz="2400" b="1" i="1" dirty="0" smtClean="0">
                            <a:latin typeface="Cambria Math" panose="02040503050406030204" pitchFamily="18" charset="0"/>
                            <a:ea typeface="Cambria Math" panose="02040503050406030204" pitchFamily="18" charset="0"/>
                          </a:rPr>
                          <m:t>𝒏</m:t>
                        </m:r>
                      </m:e>
                    </m:d>
                    <m:r>
                      <a:rPr lang="fr-FR" sz="2400" b="1" i="0" dirty="0" smtClean="0">
                        <a:latin typeface="Cambria Math" panose="02040503050406030204" pitchFamily="18" charset="0"/>
                        <a:ea typeface="Cambria Math" panose="02040503050406030204" pitchFamily="18" charset="0"/>
                      </a:rPr>
                      <m:t>𝐈</m:t>
                    </m:r>
                  </m:oMath>
                </a14:m>
                <a:endParaRPr lang="fr-FR" sz="2400" b="1" strike="dblStrike" baseline="-25000" dirty="0" smtClean="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Autrement dit :</a:t>
                </a:r>
              </a:p>
              <a:p>
                <a:pPr algn="just"/>
                <a:r>
                  <a:rPr lang="fr-FR" sz="2400" b="1" dirty="0" smtClean="0">
                    <a:latin typeface="Times New Roman" panose="02020603050405020304" pitchFamily="18" charset="0"/>
                    <a:cs typeface="Times New Roman" panose="02020603050405020304" pitchFamily="18" charset="0"/>
                  </a:rPr>
                  <a:t>T(n)</a:t>
                </a:r>
                <a:r>
                  <a:rPr lang="fr-FR" sz="2400" dirty="0" smtClean="0">
                    <a:latin typeface="Times New Roman" panose="02020603050405020304" pitchFamily="18" charset="0"/>
                    <a:cs typeface="Times New Roman" panose="02020603050405020304" pitchFamily="18" charset="0"/>
                  </a:rPr>
                  <a:t> est en </a:t>
                </a:r>
                <a:r>
                  <a:rPr lang="fr-FR" sz="2400" b="1" i="1" dirty="0" smtClean="0">
                    <a:latin typeface="Times New Roman" panose="02020603050405020304" pitchFamily="18" charset="0"/>
                    <a:cs typeface="Times New Roman" panose="02020603050405020304" pitchFamily="18" charset="0"/>
                  </a:rPr>
                  <a:t>O</a:t>
                </a:r>
                <a:r>
                  <a:rPr lang="fr-FR" sz="2400" b="1" dirty="0" smtClean="0">
                    <a:latin typeface="Times New Roman" panose="02020603050405020304" pitchFamily="18" charset="0"/>
                    <a:cs typeface="Times New Roman" panose="02020603050405020304" pitchFamily="18" charset="0"/>
                  </a:rPr>
                  <a:t>(</a:t>
                </a:r>
                <a:r>
                  <a:rPr lang="fr-FR" sz="2400" b="1" i="1" dirty="0" smtClean="0">
                    <a:latin typeface="Times New Roman" panose="02020603050405020304" pitchFamily="18" charset="0"/>
                    <a:cs typeface="Times New Roman" panose="02020603050405020304" pitchFamily="18" charset="0"/>
                  </a:rPr>
                  <a:t>f(n)</a:t>
                </a:r>
                <a:r>
                  <a:rPr lang="fr-FR" sz="2400" b="1"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s’il existe un seuil </a:t>
                </a:r>
                <a:r>
                  <a:rPr lang="fr-FR" sz="2400" b="1" dirty="0" smtClean="0">
                    <a:latin typeface="Times New Roman" panose="02020603050405020304" pitchFamily="18" charset="0"/>
                    <a:cs typeface="Times New Roman" panose="02020603050405020304" pitchFamily="18" charset="0"/>
                  </a:rPr>
                  <a:t>n</a:t>
                </a:r>
                <a:r>
                  <a:rPr lang="fr-FR" sz="2400" b="1" baseline="-25000" dirty="0" smtClean="0">
                    <a:latin typeface="Times New Roman" panose="02020603050405020304" pitchFamily="18" charset="0"/>
                    <a:cs typeface="Times New Roman" panose="02020603050405020304" pitchFamily="18" charset="0"/>
                  </a:rPr>
                  <a:t>0</a:t>
                </a:r>
                <a:r>
                  <a:rPr lang="fr-FR" sz="2400" dirty="0" smtClean="0">
                    <a:latin typeface="Times New Roman" panose="02020603050405020304" pitchFamily="18" charset="0"/>
                    <a:cs typeface="Times New Roman" panose="02020603050405020304" pitchFamily="18" charset="0"/>
                  </a:rPr>
                  <a:t> à partir duquel la fonction </a:t>
                </a:r>
                <a:r>
                  <a:rPr lang="fr-FR" sz="2400" b="1" dirty="0" smtClean="0">
                    <a:latin typeface="Times New Roman" panose="02020603050405020304" pitchFamily="18" charset="0"/>
                    <a:cs typeface="Times New Roman" panose="02020603050405020304" pitchFamily="18" charset="0"/>
                  </a:rPr>
                  <a:t>T</a:t>
                </a:r>
                <a:r>
                  <a:rPr lang="fr-FR" sz="2400" dirty="0" smtClean="0">
                    <a:latin typeface="Times New Roman" panose="02020603050405020304" pitchFamily="18" charset="0"/>
                    <a:cs typeface="Times New Roman" panose="02020603050405020304" pitchFamily="18" charset="0"/>
                  </a:rPr>
                  <a:t> est toujours dominée par la fonction </a:t>
                </a:r>
                <a:r>
                  <a:rPr lang="fr-FR" sz="2400" b="1" dirty="0" smtClean="0">
                    <a:latin typeface="Times New Roman" panose="02020603050405020304" pitchFamily="18" charset="0"/>
                    <a:cs typeface="Times New Roman" panose="02020603050405020304" pitchFamily="18" charset="0"/>
                  </a:rPr>
                  <a:t>f</a:t>
                </a:r>
                <a:r>
                  <a:rPr lang="fr-FR" sz="2400" dirty="0" smtClean="0">
                    <a:latin typeface="Times New Roman" panose="02020603050405020304" pitchFamily="18" charset="0"/>
                    <a:cs typeface="Times New Roman" panose="02020603050405020304" pitchFamily="18" charset="0"/>
                  </a:rPr>
                  <a:t>, à une constante multiplicative fixée </a:t>
                </a:r>
                <a:r>
                  <a:rPr lang="fr-FR" sz="2400" b="1" dirty="0" smtClean="0">
                    <a:latin typeface="Times New Roman" panose="02020603050405020304" pitchFamily="18" charset="0"/>
                    <a:cs typeface="Times New Roman" panose="02020603050405020304" pitchFamily="18" charset="0"/>
                  </a:rPr>
                  <a:t>c</a:t>
                </a:r>
                <a:r>
                  <a:rPr lang="fr-FR" sz="2400" dirty="0" smtClean="0">
                    <a:latin typeface="Times New Roman" panose="02020603050405020304" pitchFamily="18" charset="0"/>
                    <a:cs typeface="Times New Roman" panose="02020603050405020304" pitchFamily="18" charset="0"/>
                  </a:rPr>
                  <a:t> près. Il nous fournit une </a:t>
                </a:r>
                <a:r>
                  <a:rPr lang="fr-FR" sz="2400" b="1" dirty="0" smtClean="0">
                    <a:latin typeface="Times New Roman" panose="02020603050405020304" pitchFamily="18" charset="0"/>
                    <a:cs typeface="Times New Roman" panose="02020603050405020304" pitchFamily="18" charset="0"/>
                  </a:rPr>
                  <a:t>limite supérieure asymptotique</a:t>
                </a:r>
                <a:r>
                  <a:rPr lang="fr-FR" sz="2400" dirty="0" smtClean="0">
                    <a:latin typeface="Times New Roman" panose="02020603050405020304" pitchFamily="18" charset="0"/>
                    <a:cs typeface="Times New Roman" panose="02020603050405020304" pitchFamily="18" charset="0"/>
                  </a:rPr>
                  <a:t> pour le taux de croissance du temps d’exécution d’un algorithme.</a:t>
                </a:r>
              </a:p>
              <a:p>
                <a:r>
                  <a:rPr lang="fr-FR" sz="2400" b="1" dirty="0" smtClean="0">
                    <a:latin typeface="Times New Roman" panose="02020603050405020304" pitchFamily="18" charset="0"/>
                    <a:cs typeface="Times New Roman" panose="02020603050405020304" pitchFamily="18" charset="0"/>
                  </a:rPr>
                  <a:t>Règles de la notation </a:t>
                </a:r>
                <a:r>
                  <a:rPr lang="fr-FR" sz="2400" b="1" i="1" dirty="0" smtClean="0">
                    <a:latin typeface="Times New Roman" panose="02020603050405020304" pitchFamily="18" charset="0"/>
                    <a:cs typeface="Times New Roman" panose="02020603050405020304" pitchFamily="18" charset="0"/>
                  </a:rPr>
                  <a:t>O</a:t>
                </a:r>
              </a:p>
              <a:p>
                <a:pPr marL="342900" indent="-342900">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Les termes constants : </a:t>
                </a:r>
                <a:r>
                  <a:rPr lang="fr-FR" sz="2400" i="1" dirty="0" smtClean="0">
                    <a:latin typeface="Times New Roman" panose="02020603050405020304" pitchFamily="18" charset="0"/>
                    <a:cs typeface="Times New Roman" panose="02020603050405020304" pitchFamily="18" charset="0"/>
                  </a:rPr>
                  <a:t>O(c)</a:t>
                </a:r>
                <a:r>
                  <a:rPr lang="fr-FR" sz="2400" dirty="0" smtClean="0">
                    <a:latin typeface="Times New Roman" panose="02020603050405020304" pitchFamily="18" charset="0"/>
                    <a:cs typeface="Times New Roman" panose="02020603050405020304" pitchFamily="18" charset="0"/>
                  </a:rPr>
                  <a:t> = </a:t>
                </a:r>
                <a:r>
                  <a:rPr lang="fr-FR" sz="2400" i="1" dirty="0" smtClean="0">
                    <a:latin typeface="Times New Roman" panose="02020603050405020304" pitchFamily="18" charset="0"/>
                    <a:cs typeface="Times New Roman" panose="02020603050405020304" pitchFamily="18" charset="0"/>
                  </a:rPr>
                  <a:t>O(1)</a:t>
                </a:r>
              </a:p>
              <a:p>
                <a:r>
                  <a:rPr lang="fr-FR" sz="2400" dirty="0" smtClean="0">
                    <a:latin typeface="Times New Roman" panose="02020603050405020304" pitchFamily="18" charset="0"/>
                    <a:cs typeface="Times New Roman" panose="02020603050405020304" pitchFamily="18" charset="0"/>
                  </a:rPr>
                  <a:t>Exemple : T1(n)=7=</a:t>
                </a:r>
                <a:r>
                  <a:rPr lang="fr-FR" sz="2400" i="1" dirty="0" smtClean="0">
                    <a:latin typeface="Times New Roman" panose="02020603050405020304" pitchFamily="18" charset="0"/>
                    <a:cs typeface="Times New Roman" panose="02020603050405020304" pitchFamily="18" charset="0"/>
                  </a:rPr>
                  <a:t>O(1)</a:t>
                </a:r>
              </a:p>
              <a:p>
                <a:pPr marL="342900" indent="-342900">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Les constantes multiplicatives sont omises : O(</a:t>
                </a:r>
                <a:r>
                  <a:rPr lang="fr-FR" sz="2400" i="1" dirty="0" err="1" smtClean="0">
                    <a:latin typeface="Times New Roman" panose="02020603050405020304" pitchFamily="18" charset="0"/>
                    <a:cs typeface="Times New Roman" panose="02020603050405020304" pitchFamily="18" charset="0"/>
                  </a:rPr>
                  <a:t>cT</a:t>
                </a:r>
                <a:r>
                  <a:rPr lang="fr-FR" sz="2400" dirty="0" smtClean="0">
                    <a:latin typeface="Times New Roman" panose="02020603050405020304" pitchFamily="18" charset="0"/>
                    <a:cs typeface="Times New Roman" panose="02020603050405020304" pitchFamily="18" charset="0"/>
                  </a:rPr>
                  <a:t>) = </a:t>
                </a:r>
                <a:r>
                  <a:rPr lang="fr-FR" sz="2400" dirty="0" err="1" smtClean="0">
                    <a:latin typeface="Times New Roman" panose="02020603050405020304" pitchFamily="18" charset="0"/>
                    <a:cs typeface="Times New Roman" panose="02020603050405020304" pitchFamily="18" charset="0"/>
                  </a:rPr>
                  <a:t>c</a:t>
                </a:r>
                <a:r>
                  <a:rPr lang="fr-FR" sz="2400" i="1" dirty="0" err="1" smtClean="0">
                    <a:latin typeface="Times New Roman" panose="02020603050405020304" pitchFamily="18" charset="0"/>
                    <a:cs typeface="Times New Roman" panose="02020603050405020304" pitchFamily="18" charset="0"/>
                  </a:rPr>
                  <a:t>O</a:t>
                </a:r>
                <a:r>
                  <a:rPr lang="fr-FR" sz="2400" i="1" dirty="0" smtClean="0">
                    <a:latin typeface="Times New Roman" panose="02020603050405020304" pitchFamily="18" charset="0"/>
                    <a:cs typeface="Times New Roman" panose="02020603050405020304" pitchFamily="18" charset="0"/>
                  </a:rPr>
                  <a:t>(T)</a:t>
                </a:r>
                <a:r>
                  <a:rPr lang="fr-FR" sz="2400" dirty="0" smtClean="0">
                    <a:latin typeface="Times New Roman" panose="02020603050405020304" pitchFamily="18" charset="0"/>
                    <a:cs typeface="Times New Roman" panose="02020603050405020304" pitchFamily="18" charset="0"/>
                  </a:rPr>
                  <a:t>=</a:t>
                </a:r>
                <a:r>
                  <a:rPr lang="fr-FR" sz="2400" i="1" dirty="0" smtClean="0">
                    <a:latin typeface="Times New Roman" panose="02020603050405020304" pitchFamily="18" charset="0"/>
                    <a:cs typeface="Times New Roman" panose="02020603050405020304" pitchFamily="18" charset="0"/>
                  </a:rPr>
                  <a:t>O(T)</a:t>
                </a:r>
              </a:p>
              <a:p>
                <a:pPr marL="342900" indent="-342900">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L’addition est réalisée en prenant le maximum : </a:t>
                </a:r>
                <a:r>
                  <a:rPr lang="fr-FR" sz="2400" i="1" dirty="0" smtClean="0">
                    <a:latin typeface="Times New Roman" panose="02020603050405020304" pitchFamily="18" charset="0"/>
                    <a:cs typeface="Times New Roman" panose="02020603050405020304" pitchFamily="18" charset="0"/>
                  </a:rPr>
                  <a:t>O(T1)</a:t>
                </a:r>
                <a:r>
                  <a:rPr lang="fr-FR" sz="2400" dirty="0" smtClean="0">
                    <a:latin typeface="Times New Roman" panose="02020603050405020304" pitchFamily="18" charset="0"/>
                    <a:cs typeface="Times New Roman" panose="02020603050405020304" pitchFamily="18" charset="0"/>
                  </a:rPr>
                  <a:t> + </a:t>
                </a:r>
                <a:r>
                  <a:rPr lang="fr-FR" sz="2400" i="1" dirty="0" smtClean="0">
                    <a:latin typeface="Times New Roman" panose="02020603050405020304" pitchFamily="18" charset="0"/>
                    <a:cs typeface="Times New Roman" panose="02020603050405020304" pitchFamily="18" charset="0"/>
                  </a:rPr>
                  <a:t>O(T2)</a:t>
                </a:r>
                <a:r>
                  <a:rPr lang="fr-FR" sz="2400" dirty="0" smtClean="0">
                    <a:latin typeface="Times New Roman" panose="02020603050405020304" pitchFamily="18" charset="0"/>
                    <a:cs typeface="Times New Roman" panose="02020603050405020304" pitchFamily="18" charset="0"/>
                  </a:rPr>
                  <a:t> = </a:t>
                </a:r>
                <a:r>
                  <a:rPr lang="fr-FR" sz="2400" i="1" dirty="0" smtClean="0">
                    <a:latin typeface="Times New Roman" panose="02020603050405020304" pitchFamily="18" charset="0"/>
                    <a:cs typeface="Times New Roman" panose="02020603050405020304" pitchFamily="18" charset="0"/>
                  </a:rPr>
                  <a:t>O(T1 + T2)</a:t>
                </a:r>
                <a:r>
                  <a:rPr lang="fr-FR" sz="2400" dirty="0" smtClean="0">
                    <a:latin typeface="Times New Roman" panose="02020603050405020304" pitchFamily="18" charset="0"/>
                    <a:cs typeface="Times New Roman" panose="02020603050405020304" pitchFamily="18" charset="0"/>
                  </a:rPr>
                  <a:t> = </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max(</a:t>
                </a:r>
                <a:r>
                  <a:rPr lang="fr-FR" sz="2400" i="1" dirty="0" smtClean="0">
                    <a:latin typeface="Times New Roman" panose="02020603050405020304" pitchFamily="18" charset="0"/>
                    <a:cs typeface="Times New Roman" panose="02020603050405020304" pitchFamily="18" charset="0"/>
                  </a:rPr>
                  <a:t>O(T1)</a:t>
                </a:r>
                <a:r>
                  <a:rPr lang="fr-FR" sz="2400" dirty="0" smtClean="0">
                    <a:latin typeface="Times New Roman" panose="02020603050405020304" pitchFamily="18" charset="0"/>
                    <a:cs typeface="Times New Roman" panose="02020603050405020304" pitchFamily="18" charset="0"/>
                  </a:rPr>
                  <a:t> ; </a:t>
                </a:r>
                <a:r>
                  <a:rPr lang="fr-FR" sz="2400" i="1" dirty="0" smtClean="0">
                    <a:latin typeface="Times New Roman" panose="02020603050405020304" pitchFamily="18" charset="0"/>
                    <a:cs typeface="Times New Roman" panose="02020603050405020304" pitchFamily="18" charset="0"/>
                  </a:rPr>
                  <a:t>O(T2)</a:t>
                </a:r>
                <a:r>
                  <a:rPr lang="fr-FR" sz="2400" dirty="0" smtClean="0">
                    <a:latin typeface="Times New Roman" panose="02020603050405020304" pitchFamily="18" charset="0"/>
                    <a:cs typeface="Times New Roman" panose="02020603050405020304" pitchFamily="18" charset="0"/>
                  </a:rPr>
                  <a:t>)</a:t>
                </a:r>
              </a:p>
              <a:p>
                <a:r>
                  <a:rPr lang="fr-FR" sz="2400" dirty="0" smtClean="0">
                    <a:latin typeface="Times New Roman" panose="02020603050405020304" pitchFamily="18" charset="0"/>
                    <a:cs typeface="Times New Roman" panose="02020603050405020304" pitchFamily="18" charset="0"/>
                  </a:rPr>
                  <a:t>Exemples : T2(n)=12n+5=</a:t>
                </a:r>
                <a:r>
                  <a:rPr lang="fr-FR" sz="2400" i="1" dirty="0" smtClean="0">
                    <a:latin typeface="Times New Roman" panose="02020603050405020304" pitchFamily="18" charset="0"/>
                    <a:cs typeface="Times New Roman" panose="02020603050405020304" pitchFamily="18" charset="0"/>
                  </a:rPr>
                  <a:t>O(n)</a:t>
                </a:r>
              </a:p>
              <a:p>
                <a:r>
                  <a:rPr lang="fr-FR" sz="2400" dirty="0" smtClean="0">
                    <a:latin typeface="Times New Roman" panose="02020603050405020304" pitchFamily="18" charset="0"/>
                    <a:cs typeface="Times New Roman" panose="02020603050405020304" pitchFamily="18" charset="0"/>
                  </a:rPr>
                  <a:t>                   T3(n)=3n</a:t>
                </a:r>
                <a:r>
                  <a:rPr lang="fr-FR" sz="2400" baseline="30000" dirty="0" smtClean="0">
                    <a:latin typeface="Times New Roman" panose="02020603050405020304" pitchFamily="18" charset="0"/>
                    <a:cs typeface="Times New Roman" panose="02020603050405020304" pitchFamily="18" charset="0"/>
                  </a:rPr>
                  <a:t>2</a:t>
                </a:r>
                <a:r>
                  <a:rPr lang="fr-FR" sz="2400" dirty="0" smtClean="0">
                    <a:latin typeface="Times New Roman" panose="02020603050405020304" pitchFamily="18" charset="0"/>
                    <a:cs typeface="Times New Roman" panose="02020603050405020304" pitchFamily="18" charset="0"/>
                  </a:rPr>
                  <a:t>+10n+10 =</a:t>
                </a:r>
                <a:r>
                  <a:rPr lang="fr-FR" sz="2400" i="1" dirty="0" smtClean="0">
                    <a:latin typeface="Times New Roman" panose="02020603050405020304" pitchFamily="18" charset="0"/>
                    <a:cs typeface="Times New Roman" panose="02020603050405020304" pitchFamily="18" charset="0"/>
                  </a:rPr>
                  <a:t>O(3n</a:t>
                </a:r>
                <a:r>
                  <a:rPr lang="fr-FR" sz="2400" i="1" baseline="30000" dirty="0" smtClean="0">
                    <a:latin typeface="Times New Roman" panose="02020603050405020304" pitchFamily="18" charset="0"/>
                    <a:cs typeface="Times New Roman" panose="02020603050405020304" pitchFamily="18" charset="0"/>
                  </a:rPr>
                  <a:t>2</a:t>
                </a:r>
                <a:r>
                  <a:rPr lang="fr-FR" sz="2400" i="1"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 </a:t>
                </a:r>
                <a:r>
                  <a:rPr lang="fr-FR" sz="2400" i="1" dirty="0" smtClean="0">
                    <a:latin typeface="Times New Roman" panose="02020603050405020304" pitchFamily="18" charset="0"/>
                    <a:cs typeface="Times New Roman" panose="02020603050405020304" pitchFamily="18" charset="0"/>
                  </a:rPr>
                  <a:t>O(n</a:t>
                </a:r>
                <a:r>
                  <a:rPr lang="fr-FR" sz="2400" i="1" baseline="30000" dirty="0" smtClean="0">
                    <a:latin typeface="Times New Roman" panose="02020603050405020304" pitchFamily="18" charset="0"/>
                    <a:cs typeface="Times New Roman" panose="02020603050405020304" pitchFamily="18" charset="0"/>
                  </a:rPr>
                  <a:t>2</a:t>
                </a:r>
                <a:r>
                  <a:rPr lang="fr-FR" sz="2400" i="1" dirty="0" smtClean="0">
                    <a:latin typeface="Times New Roman" panose="02020603050405020304" pitchFamily="18" charset="0"/>
                    <a:cs typeface="Times New Roman" panose="02020603050405020304" pitchFamily="18" charset="0"/>
                  </a:rPr>
                  <a:t>)</a:t>
                </a:r>
              </a:p>
              <a:p>
                <a:r>
                  <a:rPr lang="fr-FR" sz="2400" dirty="0" smtClean="0">
                    <a:latin typeface="Times New Roman" panose="02020603050405020304" pitchFamily="18" charset="0"/>
                    <a:cs typeface="Times New Roman" panose="02020603050405020304" pitchFamily="18" charset="0"/>
                  </a:rPr>
                  <a:t>                   T4(n)=2+(n -1)x5=</a:t>
                </a:r>
                <a:r>
                  <a:rPr lang="fr-FR" sz="2400" i="1" dirty="0" smtClean="0">
                    <a:latin typeface="Times New Roman" panose="02020603050405020304" pitchFamily="18" charset="0"/>
                    <a:cs typeface="Times New Roman" panose="02020603050405020304" pitchFamily="18" charset="0"/>
                  </a:rPr>
                  <a:t>O(n)</a:t>
                </a:r>
              </a:p>
              <a:p>
                <a:pPr marL="342900" indent="-342900">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La multiplication reste inchangée mais parfois réécrite d’une façon plus compacte :</a:t>
                </a:r>
              </a:p>
              <a:p>
                <a:r>
                  <a:rPr lang="fr-FR" sz="2400" dirty="0" smtClean="0">
                    <a:latin typeface="Times New Roman" panose="02020603050405020304" pitchFamily="18" charset="0"/>
                    <a:cs typeface="Times New Roman" panose="02020603050405020304" pitchFamily="18" charset="0"/>
                  </a:rPr>
                  <a:t>     </a:t>
                </a:r>
                <a:r>
                  <a:rPr lang="fr-FR" sz="2400" i="1" dirty="0" smtClean="0">
                    <a:latin typeface="Times New Roman" panose="02020603050405020304" pitchFamily="18" charset="0"/>
                    <a:cs typeface="Times New Roman" panose="02020603050405020304" pitchFamily="18" charset="0"/>
                  </a:rPr>
                  <a:t>O(T1)O(T2)</a:t>
                </a:r>
                <a:r>
                  <a:rPr lang="fr-FR" sz="2400" dirty="0" smtClean="0">
                    <a:latin typeface="Times New Roman" panose="02020603050405020304" pitchFamily="18" charset="0"/>
                    <a:cs typeface="Times New Roman" panose="02020603050405020304" pitchFamily="18" charset="0"/>
                  </a:rPr>
                  <a:t> = </a:t>
                </a:r>
                <a:r>
                  <a:rPr lang="fr-FR" sz="2400" i="1" dirty="0" smtClean="0">
                    <a:latin typeface="Times New Roman" panose="02020603050405020304" pitchFamily="18" charset="0"/>
                    <a:cs typeface="Times New Roman" panose="02020603050405020304" pitchFamily="18" charset="0"/>
                  </a:rPr>
                  <a:t>O(T1T2)</a:t>
                </a:r>
              </a:p>
            </p:txBody>
          </p:sp>
        </mc:Choice>
        <mc:Fallback xmlns="">
          <p:sp>
            <p:nvSpPr>
              <p:cNvPr id="2" name="ZoneTexte 1"/>
              <p:cNvSpPr txBox="1">
                <a:spLocks noRot="1" noChangeAspect="1" noMove="1" noResize="1" noEditPoints="1" noAdjustHandles="1" noChangeArrowheads="1" noChangeShapeType="1" noTextEdit="1"/>
              </p:cNvSpPr>
              <p:nvPr/>
            </p:nvSpPr>
            <p:spPr>
              <a:xfrm>
                <a:off x="193040" y="294640"/>
                <a:ext cx="11785600" cy="6370975"/>
              </a:xfrm>
              <a:prstGeom prst="rect">
                <a:avLst/>
              </a:prstGeom>
              <a:blipFill>
                <a:blip r:embed="rId2"/>
                <a:stretch>
                  <a:fillRect l="-828" t="-766" r="-776" b="-1244"/>
                </a:stretch>
              </a:blipFill>
            </p:spPr>
            <p:txBody>
              <a:bodyPr/>
              <a:lstStyle/>
              <a:p>
                <a:r>
                  <a:rPr lang="fr-FR">
                    <a:noFill/>
                  </a:rPr>
                  <a:t> </a:t>
                </a:r>
              </a:p>
            </p:txBody>
          </p:sp>
        </mc:Fallback>
      </mc:AlternateContent>
    </p:spTree>
    <p:extLst>
      <p:ext uri="{BB962C8B-B14F-4D97-AF65-F5344CB8AC3E}">
        <p14:creationId xmlns:p14="http://schemas.microsoft.com/office/powerpoint/2010/main" val="3556812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233680" y="449615"/>
                <a:ext cx="11694160" cy="6029151"/>
              </a:xfrm>
              <a:prstGeom prst="rect">
                <a:avLst/>
              </a:prstGeom>
            </p:spPr>
            <p:txBody>
              <a:bodyPr wrap="square">
                <a:spAutoFit/>
              </a:bodyPr>
              <a:lstStyle/>
              <a:p>
                <a:r>
                  <a:rPr lang="fr-FR" sz="2400" dirty="0" smtClean="0">
                    <a:latin typeface="Times New Roman" panose="02020603050405020304" pitchFamily="18" charset="0"/>
                    <a:cs typeface="Times New Roman" panose="02020603050405020304" pitchFamily="18" charset="0"/>
                  </a:rPr>
                  <a:t>Exemple de calcul du temps d’exécution de chaque terme de : O(3n</a:t>
                </a:r>
                <a:r>
                  <a:rPr lang="fr-FR" sz="2400" baseline="30000" dirty="0" smtClean="0">
                    <a:latin typeface="Times New Roman" panose="02020603050405020304" pitchFamily="18" charset="0"/>
                    <a:cs typeface="Times New Roman" panose="02020603050405020304" pitchFamily="18" charset="0"/>
                  </a:rPr>
                  <a:t>2</a:t>
                </a:r>
                <a:r>
                  <a:rPr lang="fr-FR" sz="2400" dirty="0" smtClean="0">
                    <a:latin typeface="Times New Roman" panose="02020603050405020304" pitchFamily="18" charset="0"/>
                    <a:cs typeface="Times New Roman" panose="02020603050405020304" pitchFamily="18" charset="0"/>
                  </a:rPr>
                  <a:t> + 10n + 10).</a:t>
                </a:r>
              </a:p>
              <a:p>
                <a:r>
                  <a:rPr lang="fr-FR" sz="2400" dirty="0" smtClean="0">
                    <a:latin typeface="Times New Roman" panose="02020603050405020304" pitchFamily="18" charset="0"/>
                    <a:cs typeface="Times New Roman" panose="02020603050405020304" pitchFamily="18" charset="0"/>
                  </a:rPr>
                  <a:t>Pour n = 10, nous avons :</a:t>
                </a:r>
                <a:endParaRPr lang="fr-FR" sz="2400" dirty="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Temps d’exécution de 3n</a:t>
                </a:r>
                <a:r>
                  <a:rPr lang="fr-FR" sz="2400" baseline="30000" dirty="0" smtClean="0">
                    <a:latin typeface="Times New Roman" panose="02020603050405020304" pitchFamily="18" charset="0"/>
                    <a:cs typeface="Times New Roman" panose="02020603050405020304" pitchFamily="18" charset="0"/>
                  </a:rPr>
                  <a:t>2 </a:t>
                </a:r>
                <a:r>
                  <a:rPr lang="fr-FR" sz="2400" dirty="0" smtClean="0">
                    <a:latin typeface="Times New Roman" panose="02020603050405020304" pitchFamily="18" charset="0"/>
                    <a:cs typeface="Times New Roman" panose="02020603050405020304" pitchFamily="18" charset="0"/>
                  </a:rPr>
                  <a:t>= 3(10)</a:t>
                </a:r>
                <a:r>
                  <a:rPr lang="fr-FR" sz="2400" baseline="30000" dirty="0" smtClean="0">
                    <a:latin typeface="Times New Roman" panose="02020603050405020304" pitchFamily="18" charset="0"/>
                    <a:cs typeface="Times New Roman" panose="02020603050405020304" pitchFamily="18" charset="0"/>
                  </a:rPr>
                  <a:t>2</a:t>
                </a:r>
                <a:r>
                  <a:rPr lang="fr-FR" sz="2400" dirty="0" smtClean="0">
                    <a:latin typeface="Times New Roman" panose="02020603050405020304" pitchFamily="18" charset="0"/>
                    <a:cs typeface="Times New Roman" panose="02020603050405020304" pitchFamily="18" charset="0"/>
                  </a:rPr>
                  <a:t> / 3(10)</a:t>
                </a:r>
                <a:r>
                  <a:rPr lang="fr-FR" sz="2400" baseline="30000" dirty="0" smtClean="0">
                    <a:latin typeface="Times New Roman" panose="02020603050405020304" pitchFamily="18" charset="0"/>
                    <a:cs typeface="Times New Roman" panose="02020603050405020304" pitchFamily="18" charset="0"/>
                  </a:rPr>
                  <a:t>2</a:t>
                </a:r>
                <a:r>
                  <a:rPr lang="fr-FR" sz="2400" dirty="0" smtClean="0">
                    <a:latin typeface="Times New Roman" panose="02020603050405020304" pitchFamily="18" charset="0"/>
                    <a:cs typeface="Times New Roman" panose="02020603050405020304" pitchFamily="18" charset="0"/>
                  </a:rPr>
                  <a:t> + 10(10) + 10 = 73,2%</a:t>
                </a:r>
              </a:p>
              <a:p>
                <a:r>
                  <a:rPr lang="fr-FR" sz="2400" dirty="0">
                    <a:latin typeface="Times New Roman" panose="02020603050405020304" pitchFamily="18" charset="0"/>
                    <a:cs typeface="Times New Roman" panose="02020603050405020304" pitchFamily="18" charset="0"/>
                  </a:rPr>
                  <a:t>Temps d’exécution </a:t>
                </a:r>
                <a:r>
                  <a:rPr lang="fr-FR" sz="2400" dirty="0" smtClean="0">
                    <a:latin typeface="Times New Roman" panose="02020603050405020304" pitchFamily="18" charset="0"/>
                    <a:cs typeface="Times New Roman" panose="02020603050405020304" pitchFamily="18" charset="0"/>
                  </a:rPr>
                  <a:t>de 10n= 10(10) / </a:t>
                </a:r>
                <a:r>
                  <a:rPr lang="fr-FR" sz="2400" dirty="0">
                    <a:latin typeface="Times New Roman" panose="02020603050405020304" pitchFamily="18" charset="0"/>
                    <a:cs typeface="Times New Roman" panose="02020603050405020304" pitchFamily="18" charset="0"/>
                  </a:rPr>
                  <a:t>3(10)</a:t>
                </a:r>
                <a:r>
                  <a:rPr lang="fr-FR" sz="2400" baseline="30000" dirty="0">
                    <a:latin typeface="Times New Roman" panose="02020603050405020304" pitchFamily="18" charset="0"/>
                    <a:cs typeface="Times New Roman" panose="02020603050405020304" pitchFamily="18" charset="0"/>
                  </a:rPr>
                  <a:t>2</a:t>
                </a:r>
                <a:r>
                  <a:rPr lang="fr-FR" sz="2400" dirty="0">
                    <a:latin typeface="Times New Roman" panose="02020603050405020304" pitchFamily="18" charset="0"/>
                    <a:cs typeface="Times New Roman" panose="02020603050405020304" pitchFamily="18" charset="0"/>
                  </a:rPr>
                  <a:t> + 10(10) + </a:t>
                </a:r>
                <a:r>
                  <a:rPr lang="fr-FR" sz="2400" dirty="0" smtClean="0">
                    <a:latin typeface="Times New Roman" panose="02020603050405020304" pitchFamily="18" charset="0"/>
                    <a:cs typeface="Times New Roman" panose="02020603050405020304" pitchFamily="18" charset="0"/>
                  </a:rPr>
                  <a:t>10 = 24,4%</a:t>
                </a:r>
              </a:p>
              <a:p>
                <a:r>
                  <a:rPr lang="fr-FR" sz="2400" dirty="0">
                    <a:latin typeface="Times New Roman" panose="02020603050405020304" pitchFamily="18" charset="0"/>
                    <a:cs typeface="Times New Roman" panose="02020603050405020304" pitchFamily="18" charset="0"/>
                  </a:rPr>
                  <a:t>Temps d’exécution </a:t>
                </a:r>
                <a:r>
                  <a:rPr lang="fr-FR" sz="2400" dirty="0" smtClean="0">
                    <a:latin typeface="Times New Roman" panose="02020603050405020304" pitchFamily="18" charset="0"/>
                    <a:cs typeface="Times New Roman" panose="02020603050405020304" pitchFamily="18" charset="0"/>
                  </a:rPr>
                  <a:t>de 10  = 10 / </a:t>
                </a:r>
                <a:r>
                  <a:rPr lang="fr-FR" sz="2400" dirty="0">
                    <a:latin typeface="Times New Roman" panose="02020603050405020304" pitchFamily="18" charset="0"/>
                    <a:cs typeface="Times New Roman" panose="02020603050405020304" pitchFamily="18" charset="0"/>
                  </a:rPr>
                  <a:t>3(10)</a:t>
                </a:r>
                <a:r>
                  <a:rPr lang="fr-FR" sz="2400" baseline="30000" dirty="0">
                    <a:latin typeface="Times New Roman" panose="02020603050405020304" pitchFamily="18" charset="0"/>
                    <a:cs typeface="Times New Roman" panose="02020603050405020304" pitchFamily="18" charset="0"/>
                  </a:rPr>
                  <a:t>2</a:t>
                </a:r>
                <a:r>
                  <a:rPr lang="fr-FR" sz="2400" dirty="0">
                    <a:latin typeface="Times New Roman" panose="02020603050405020304" pitchFamily="18" charset="0"/>
                    <a:cs typeface="Times New Roman" panose="02020603050405020304" pitchFamily="18" charset="0"/>
                  </a:rPr>
                  <a:t> + 10(10) + </a:t>
                </a:r>
                <a:r>
                  <a:rPr lang="fr-FR" sz="2400" dirty="0" smtClean="0">
                    <a:latin typeface="Times New Roman" panose="02020603050405020304" pitchFamily="18" charset="0"/>
                    <a:cs typeface="Times New Roman" panose="02020603050405020304" pitchFamily="18" charset="0"/>
                  </a:rPr>
                  <a:t>10 = 2,4%</a:t>
                </a:r>
              </a:p>
              <a:p>
                <a:r>
                  <a:rPr lang="fr-FR" sz="2400" dirty="0" smtClean="0">
                    <a:latin typeface="Times New Roman" panose="02020603050405020304" pitchFamily="18" charset="0"/>
                    <a:cs typeface="Times New Roman" panose="02020603050405020304" pitchFamily="18" charset="0"/>
                  </a:rPr>
                  <a:t>Le poids de 3n2 devient encore plus grand quand n=100, soit 96,7%</a:t>
                </a:r>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 on peut négliger les quantités 10n et 10. Ceci explique la règle de la notation O.</a:t>
                </a:r>
                <a:endParaRPr lang="fr-FR" sz="2400" dirty="0" smtClean="0">
                  <a:latin typeface="Times New Roman" panose="02020603050405020304" pitchFamily="18" charset="0"/>
                  <a:cs typeface="Times New Roman" panose="02020603050405020304" pitchFamily="18" charset="0"/>
                </a:endParaRPr>
              </a:p>
              <a:p>
                <a:r>
                  <a:rPr lang="fr-FR" sz="2400" b="1" dirty="0" smtClean="0">
                    <a:latin typeface="Times New Roman" panose="02020603050405020304" pitchFamily="18" charset="0"/>
                    <a:cs typeface="Times New Roman" panose="02020603050405020304" pitchFamily="18" charset="0"/>
                  </a:rPr>
                  <a:t>Classe </a:t>
                </a:r>
                <a:r>
                  <a:rPr lang="fr-FR" sz="2400" b="1" dirty="0">
                    <a:latin typeface="Times New Roman" panose="02020603050405020304" pitchFamily="18" charset="0"/>
                    <a:cs typeface="Times New Roman" panose="02020603050405020304" pitchFamily="18" charset="0"/>
                  </a:rPr>
                  <a:t>de </a:t>
                </a:r>
                <a:r>
                  <a:rPr lang="fr-FR" sz="2400" b="1" dirty="0" smtClean="0">
                    <a:latin typeface="Times New Roman" panose="02020603050405020304" pitchFamily="18" charset="0"/>
                    <a:cs typeface="Times New Roman" panose="02020603050405020304" pitchFamily="18" charset="0"/>
                  </a:rPr>
                  <a:t>complexité</a:t>
                </a:r>
              </a:p>
              <a:p>
                <a:r>
                  <a:rPr lang="fr-FR" sz="2400" dirty="0" smtClean="0">
                    <a:latin typeface="Times New Roman" panose="02020603050405020304" pitchFamily="18" charset="0"/>
                    <a:cs typeface="Times New Roman" panose="02020603050405020304" pitchFamily="18" charset="0"/>
                  </a:rPr>
                  <a:t>Les algorithmes usuels peuvent être classée en un certain nombre de grandes classes de complexité.</a:t>
                </a:r>
                <a:endParaRPr lang="fr-FR" sz="2400" dirty="0">
                  <a:latin typeface="Times New Roman" panose="02020603050405020304" pitchFamily="18" charset="0"/>
                  <a:cs typeface="Times New Roman" panose="02020603050405020304" pitchFamily="18" charset="0"/>
                </a:endParaRPr>
              </a:p>
              <a:p>
                <a:r>
                  <a:rPr lang="fr-FR" sz="2400" b="1" i="1" dirty="0">
                    <a:latin typeface="Times New Roman" panose="02020603050405020304" pitchFamily="18" charset="0"/>
                    <a:cs typeface="Times New Roman" panose="02020603050405020304" pitchFamily="18" charset="0"/>
                  </a:rPr>
                  <a:t>O</a:t>
                </a:r>
                <a:r>
                  <a:rPr lang="fr-FR" sz="2400" b="1" dirty="0">
                    <a:latin typeface="Times New Roman" panose="02020603050405020304" pitchFamily="18" charset="0"/>
                    <a:cs typeface="Times New Roman" panose="02020603050405020304" pitchFamily="18" charset="0"/>
                  </a:rPr>
                  <a:t>		Type de complexité		Exemple d’utilisation</a:t>
                </a:r>
              </a:p>
              <a:p>
                <a:r>
                  <a:rPr lang="fr-FR" sz="2400" i="1" dirty="0">
                    <a:latin typeface="Times New Roman" panose="02020603050405020304" pitchFamily="18" charset="0"/>
                    <a:cs typeface="Times New Roman" panose="02020603050405020304" pitchFamily="18" charset="0"/>
                  </a:rPr>
                  <a:t>O(1)</a:t>
                </a:r>
                <a:r>
                  <a:rPr lang="fr-FR" sz="2400" dirty="0">
                    <a:latin typeface="Times New Roman" panose="02020603050405020304" pitchFamily="18" charset="0"/>
                    <a:cs typeface="Times New Roman" panose="02020603050405020304" pitchFamily="18" charset="0"/>
                  </a:rPr>
                  <a:t>		constante			</a:t>
                </a:r>
                <a:r>
                  <a:rPr lang="fr-FR" sz="2400" dirty="0" smtClean="0">
                    <a:latin typeface="Times New Roman" panose="02020603050405020304" pitchFamily="18" charset="0"/>
                    <a:cs typeface="Times New Roman" panose="02020603050405020304" pitchFamily="18" charset="0"/>
                  </a:rPr>
                  <a:t>accéder au premier élément d’un ensemble de   </a:t>
                </a:r>
              </a:p>
              <a:p>
                <a:r>
                  <a:rPr lang="fr-FR" sz="2400" dirty="0" smtClean="0">
                    <a:latin typeface="Times New Roman" panose="02020603050405020304" pitchFamily="18" charset="0"/>
                    <a:cs typeface="Times New Roman" panose="02020603050405020304" pitchFamily="18" charset="0"/>
                  </a:rPr>
                  <a:t>                                                                        données ou initialiser une </a:t>
                </a:r>
                <a:r>
                  <a:rPr lang="fr-FR" sz="2400" dirty="0">
                    <a:latin typeface="Times New Roman" panose="02020603050405020304" pitchFamily="18" charset="0"/>
                    <a:cs typeface="Times New Roman" panose="02020603050405020304" pitchFamily="18" charset="0"/>
                  </a:rPr>
                  <a:t>variable</a:t>
                </a:r>
              </a:p>
              <a:p>
                <a:r>
                  <a:rPr lang="fr-FR" sz="2400" i="1" dirty="0">
                    <a:latin typeface="Times New Roman" panose="02020603050405020304" pitchFamily="18" charset="0"/>
                    <a:cs typeface="Times New Roman" panose="02020603050405020304" pitchFamily="18" charset="0"/>
                  </a:rPr>
                  <a:t>O(log(n))</a:t>
                </a:r>
                <a:r>
                  <a:rPr lang="fr-FR" sz="2400" dirty="0">
                    <a:latin typeface="Times New Roman" panose="02020603050405020304" pitchFamily="18" charset="0"/>
                    <a:cs typeface="Times New Roman" panose="02020603050405020304" pitchFamily="18" charset="0"/>
                  </a:rPr>
                  <a:t>	logarithmique			</a:t>
                </a:r>
                <a:r>
                  <a:rPr lang="fr-FR" sz="2400" dirty="0" smtClean="0">
                    <a:latin typeface="Times New Roman" panose="02020603050405020304" pitchFamily="18" charset="0"/>
                    <a:cs typeface="Times New Roman" panose="02020603050405020304" pitchFamily="18" charset="0"/>
                  </a:rPr>
                  <a:t>couper un ensemble de données en deux parties </a:t>
                </a:r>
              </a:p>
              <a:p>
                <a:r>
                  <a:rPr lang="fr-FR" sz="2400" dirty="0" smtClean="0">
                    <a:latin typeface="Times New Roman" panose="02020603050405020304" pitchFamily="18" charset="0"/>
                    <a:cs typeface="Times New Roman" panose="02020603050405020304" pitchFamily="18" charset="0"/>
                  </a:rPr>
                  <a:t>                                                                        égales, puis couper ces moitiés en deux, etc.</a:t>
                </a:r>
                <a:endParaRPr lang="fr-FR" sz="2400" dirty="0">
                  <a:latin typeface="Times New Roman" panose="02020603050405020304" pitchFamily="18" charset="0"/>
                  <a:cs typeface="Times New Roman" panose="02020603050405020304" pitchFamily="18" charset="0"/>
                </a:endParaRPr>
              </a:p>
              <a:p>
                <a:r>
                  <a:rPr lang="fr-FR" sz="2400" i="1" dirty="0">
                    <a:latin typeface="Times New Roman" panose="02020603050405020304" pitchFamily="18" charset="0"/>
                    <a:cs typeface="Times New Roman" panose="02020603050405020304" pitchFamily="18" charset="0"/>
                  </a:rPr>
                  <a:t>O(</a:t>
                </a:r>
                <a14:m>
                  <m:oMath xmlns:m="http://schemas.openxmlformats.org/officeDocument/2006/math">
                    <m:r>
                      <a:rPr lang="fr-FR" sz="2400" i="1">
                        <a:latin typeface="Cambria Math" panose="02040503050406030204" pitchFamily="18" charset="0"/>
                        <a:ea typeface="Cambria Math" panose="02040503050406030204" pitchFamily="18" charset="0"/>
                        <a:cs typeface="Times New Roman" panose="02020603050405020304" pitchFamily="18" charset="0"/>
                      </a:rPr>
                      <m:t>√</m:t>
                    </m:r>
                    <m:r>
                      <a:rPr lang="fr-FR" sz="2400" i="1">
                        <a:latin typeface="Cambria Math" panose="02040503050406030204" pitchFamily="18" charset="0"/>
                        <a:ea typeface="Cambria Math" panose="02040503050406030204" pitchFamily="18" charset="0"/>
                        <a:cs typeface="Times New Roman" panose="02020603050405020304" pitchFamily="18" charset="0"/>
                      </a:rPr>
                      <m:t>𝑛</m:t>
                    </m:r>
                  </m:oMath>
                </a14:m>
                <a:r>
                  <a:rPr lang="fr-FR" sz="2400" i="1" dirty="0">
                    <a:latin typeface="Times New Roman" panose="02020603050405020304" pitchFamily="18" charset="0"/>
                    <a:cs typeface="Times New Roman" panose="02020603050405020304" pitchFamily="18" charset="0"/>
                  </a:rPr>
                  <a:t>)</a:t>
                </a:r>
                <a:r>
                  <a:rPr lang="fr-FR" sz="2400" dirty="0">
                    <a:latin typeface="Times New Roman" panose="02020603050405020304" pitchFamily="18" charset="0"/>
                    <a:cs typeface="Times New Roman" panose="02020603050405020304" pitchFamily="18" charset="0"/>
                  </a:rPr>
                  <a:t>		racine carrée			</a:t>
                </a:r>
                <a:r>
                  <a:rPr lang="fr-FR" sz="2400" dirty="0" smtClean="0">
                    <a:latin typeface="Times New Roman" panose="02020603050405020304" pitchFamily="18" charset="0"/>
                    <a:cs typeface="Times New Roman" panose="02020603050405020304" pitchFamily="18" charset="0"/>
                  </a:rPr>
                  <a:t>rechercher </a:t>
                </a:r>
                <a:r>
                  <a:rPr lang="fr-FR" sz="2400" dirty="0">
                    <a:latin typeface="Times New Roman" panose="02020603050405020304" pitchFamily="18" charset="0"/>
                    <a:cs typeface="Times New Roman" panose="02020603050405020304" pitchFamily="18" charset="0"/>
                  </a:rPr>
                  <a:t>dans une BD </a:t>
                </a:r>
                <a:r>
                  <a:rPr lang="fr-FR" sz="2400" dirty="0" smtClean="0">
                    <a:latin typeface="Times New Roman" panose="02020603050405020304" pitchFamily="18" charset="0"/>
                    <a:cs typeface="Times New Roman" panose="02020603050405020304" pitchFamily="18" charset="0"/>
                  </a:rPr>
                  <a:t>non </a:t>
                </a:r>
                <a:r>
                  <a:rPr lang="fr-FR" sz="2400" dirty="0">
                    <a:latin typeface="Times New Roman" panose="02020603050405020304" pitchFamily="18" charset="0"/>
                    <a:cs typeface="Times New Roman" panose="02020603050405020304" pitchFamily="18" charset="0"/>
                  </a:rPr>
                  <a:t>triée de </a:t>
                </a:r>
                <a:r>
                  <a:rPr lang="fr-FR" sz="2400" b="1" dirty="0">
                    <a:latin typeface="Times New Roman" panose="02020603050405020304" pitchFamily="18" charset="0"/>
                    <a:cs typeface="Times New Roman" panose="02020603050405020304" pitchFamily="18" charset="0"/>
                  </a:rPr>
                  <a:t>n</a:t>
                </a:r>
                <a:r>
                  <a:rPr lang="fr-FR" sz="2400" dirty="0">
                    <a:latin typeface="Times New Roman" panose="02020603050405020304" pitchFamily="18" charset="0"/>
                    <a:cs typeface="Times New Roman" panose="02020603050405020304" pitchFamily="18" charset="0"/>
                  </a:rPr>
                  <a:t> entrées</a:t>
                </a:r>
              </a:p>
            </p:txBody>
          </p:sp>
        </mc:Choice>
        <mc:Fallback xmlns="">
          <p:sp>
            <p:nvSpPr>
              <p:cNvPr id="2" name="Rectangle 1"/>
              <p:cNvSpPr>
                <a:spLocks noRot="1" noChangeAspect="1" noMove="1" noResize="1" noEditPoints="1" noAdjustHandles="1" noChangeArrowheads="1" noChangeShapeType="1" noTextEdit="1"/>
              </p:cNvSpPr>
              <p:nvPr/>
            </p:nvSpPr>
            <p:spPr>
              <a:xfrm>
                <a:off x="233680" y="449615"/>
                <a:ext cx="11694160" cy="6029151"/>
              </a:xfrm>
              <a:prstGeom prst="rect">
                <a:avLst/>
              </a:prstGeom>
              <a:blipFill>
                <a:blip r:embed="rId2"/>
                <a:stretch>
                  <a:fillRect l="-782" t="-809" b="-1416"/>
                </a:stretch>
              </a:blipFill>
            </p:spPr>
            <p:txBody>
              <a:bodyPr/>
              <a:lstStyle/>
              <a:p>
                <a:r>
                  <a:rPr lang="fr-FR">
                    <a:noFill/>
                  </a:rPr>
                  <a:t> </a:t>
                </a:r>
              </a:p>
            </p:txBody>
          </p:sp>
        </mc:Fallback>
      </mc:AlternateContent>
    </p:spTree>
    <p:extLst>
      <p:ext uri="{BB962C8B-B14F-4D97-AF65-F5344CB8AC3E}">
        <p14:creationId xmlns:p14="http://schemas.microsoft.com/office/powerpoint/2010/main" val="4037874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5120" y="606475"/>
            <a:ext cx="11531600" cy="4893647"/>
          </a:xfrm>
          <a:prstGeom prst="rect">
            <a:avLst/>
          </a:prstGeom>
        </p:spPr>
        <p:txBody>
          <a:bodyPr wrap="square">
            <a:spAutoFit/>
          </a:bodyPr>
          <a:lstStyle/>
          <a:p>
            <a:r>
              <a:rPr lang="fr-FR" sz="2400" i="1" dirty="0" smtClean="0">
                <a:latin typeface="Times New Roman" panose="02020603050405020304" pitchFamily="18" charset="0"/>
                <a:cs typeface="Times New Roman" panose="02020603050405020304" pitchFamily="18" charset="0"/>
              </a:rPr>
              <a:t>O(n)</a:t>
            </a:r>
            <a:r>
              <a:rPr lang="fr-FR" sz="2400" dirty="0" smtClean="0">
                <a:latin typeface="Times New Roman" panose="02020603050405020304" pitchFamily="18" charset="0"/>
                <a:cs typeface="Times New Roman" panose="02020603050405020304" pitchFamily="18" charset="0"/>
              </a:rPr>
              <a:t>		linéaire			parcourir un ensemble de données.</a:t>
            </a:r>
          </a:p>
          <a:p>
            <a:r>
              <a:rPr lang="fr-FR" sz="2400" i="1" dirty="0" smtClean="0">
                <a:latin typeface="Times New Roman" panose="02020603050405020304" pitchFamily="18" charset="0"/>
                <a:cs typeface="Times New Roman" panose="02020603050405020304" pitchFamily="18" charset="0"/>
              </a:rPr>
              <a:t>O(</a:t>
            </a:r>
            <a:r>
              <a:rPr lang="fr-FR" sz="2400" i="1" dirty="0" err="1" smtClean="0">
                <a:latin typeface="Times New Roman" panose="02020603050405020304" pitchFamily="18" charset="0"/>
                <a:cs typeface="Times New Roman" panose="02020603050405020304" pitchFamily="18" charset="0"/>
              </a:rPr>
              <a:t>nlog</a:t>
            </a:r>
            <a:r>
              <a:rPr lang="fr-FR" sz="2400" i="1" dirty="0" smtClean="0">
                <a:latin typeface="Times New Roman" panose="02020603050405020304" pitchFamily="18" charset="0"/>
                <a:cs typeface="Times New Roman" panose="02020603050405020304" pitchFamily="18" charset="0"/>
              </a:rPr>
              <a:t>(n))</a:t>
            </a:r>
            <a:r>
              <a:rPr lang="fr-FR" sz="2400" dirty="0" smtClean="0">
                <a:latin typeface="Times New Roman" panose="02020603050405020304" pitchFamily="18" charset="0"/>
                <a:cs typeface="Times New Roman" panose="02020603050405020304" pitchFamily="18" charset="0"/>
              </a:rPr>
              <a:t>	quasi-linéaire		couper répétitivement un ensemble de données en deux </a:t>
            </a:r>
          </a:p>
          <a:p>
            <a:r>
              <a:rPr lang="fr-FR" sz="2400" dirty="0" smtClean="0">
                <a:latin typeface="Times New Roman" panose="02020603050405020304" pitchFamily="18" charset="0"/>
                <a:cs typeface="Times New Roman" panose="02020603050405020304" pitchFamily="18" charset="0"/>
              </a:rPr>
              <a:t>                                                            et combiner les solutions partielles pour calculer la </a:t>
            </a:r>
          </a:p>
          <a:p>
            <a:r>
              <a:rPr lang="fr-FR" sz="2400" dirty="0" smtClean="0">
                <a:latin typeface="Times New Roman" panose="02020603050405020304" pitchFamily="18" charset="0"/>
                <a:cs typeface="Times New Roman" panose="02020603050405020304" pitchFamily="18" charset="0"/>
              </a:rPr>
              <a:t>                                                            solution générale.</a:t>
            </a:r>
          </a:p>
          <a:p>
            <a:r>
              <a:rPr lang="fr-FR" sz="2400" i="1" dirty="0" smtClean="0">
                <a:latin typeface="Times New Roman" panose="02020603050405020304" pitchFamily="18" charset="0"/>
                <a:cs typeface="Times New Roman" panose="02020603050405020304" pitchFamily="18" charset="0"/>
              </a:rPr>
              <a:t>O(n</a:t>
            </a:r>
            <a:r>
              <a:rPr lang="fr-FR" sz="2400" i="1" baseline="30000" dirty="0" smtClean="0">
                <a:latin typeface="Times New Roman" panose="02020603050405020304" pitchFamily="18" charset="0"/>
                <a:cs typeface="Times New Roman" panose="02020603050405020304" pitchFamily="18" charset="0"/>
              </a:rPr>
              <a:t>2</a:t>
            </a:r>
            <a:r>
              <a:rPr lang="fr-FR" sz="2400" i="1"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quadratique		parcourir un ensemble de données en utilisant deux  </a:t>
            </a:r>
          </a:p>
          <a:p>
            <a:r>
              <a:rPr lang="fr-FR" sz="2400" dirty="0" smtClean="0">
                <a:latin typeface="Times New Roman" panose="02020603050405020304" pitchFamily="18" charset="0"/>
                <a:cs typeface="Times New Roman" panose="02020603050405020304" pitchFamily="18" charset="0"/>
              </a:rPr>
              <a:t>                                                            boucles imbriquées.</a:t>
            </a:r>
          </a:p>
          <a:p>
            <a:r>
              <a:rPr lang="fr-FR" sz="2400" i="1" dirty="0" smtClean="0">
                <a:latin typeface="Times New Roman" panose="02020603050405020304" pitchFamily="18" charset="0"/>
                <a:cs typeface="Times New Roman" panose="02020603050405020304" pitchFamily="18" charset="0"/>
              </a:rPr>
              <a:t>O(n</a:t>
            </a:r>
            <a:r>
              <a:rPr lang="fr-FR" sz="2400" i="1" baseline="30000" dirty="0" smtClean="0">
                <a:latin typeface="Times New Roman" panose="02020603050405020304" pitchFamily="18" charset="0"/>
                <a:cs typeface="Times New Roman" panose="02020603050405020304" pitchFamily="18" charset="0"/>
              </a:rPr>
              <a:t>3</a:t>
            </a:r>
            <a:r>
              <a:rPr lang="fr-FR" sz="2400" i="1"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cubique		</a:t>
            </a:r>
            <a:r>
              <a:rPr lang="fr-FR" sz="2400" dirty="0">
                <a:latin typeface="Times New Roman" panose="02020603050405020304" pitchFamily="18" charset="0"/>
                <a:cs typeface="Times New Roman" panose="02020603050405020304" pitchFamily="18" charset="0"/>
              </a:rPr>
              <a:t>parcourir un ensemble de données en utilisant </a:t>
            </a:r>
            <a:r>
              <a:rPr lang="fr-FR" sz="2400" dirty="0" smtClean="0">
                <a:latin typeface="Times New Roman" panose="02020603050405020304" pitchFamily="18" charset="0"/>
                <a:cs typeface="Times New Roman" panose="02020603050405020304" pitchFamily="18" charset="0"/>
              </a:rPr>
              <a:t>trois  </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boucles imbriquées</a:t>
            </a:r>
          </a:p>
          <a:p>
            <a:r>
              <a:rPr lang="fr-FR" sz="2400" i="1" dirty="0" smtClean="0">
                <a:latin typeface="Times New Roman" panose="02020603050405020304" pitchFamily="18" charset="0"/>
                <a:cs typeface="Times New Roman" panose="02020603050405020304" pitchFamily="18" charset="0"/>
              </a:rPr>
              <a:t>O(</a:t>
            </a:r>
            <a:r>
              <a:rPr lang="fr-FR" sz="2400" i="1" dirty="0" err="1" smtClean="0">
                <a:latin typeface="Times New Roman" panose="02020603050405020304" pitchFamily="18" charset="0"/>
                <a:cs typeface="Times New Roman" panose="02020603050405020304" pitchFamily="18" charset="0"/>
              </a:rPr>
              <a:t>n</a:t>
            </a:r>
            <a:r>
              <a:rPr lang="fr-FR" sz="2400" i="1" baseline="30000" dirty="0" err="1" smtClean="0">
                <a:latin typeface="Times New Roman" panose="02020603050405020304" pitchFamily="18" charset="0"/>
                <a:cs typeface="Times New Roman" panose="02020603050405020304" pitchFamily="18" charset="0"/>
              </a:rPr>
              <a:t>p</a:t>
            </a:r>
            <a:r>
              <a:rPr lang="fr-FR" sz="2400" i="1"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polynomiale		</a:t>
            </a:r>
            <a:r>
              <a:rPr lang="fr-FR" sz="2400" dirty="0">
                <a:latin typeface="Times New Roman" panose="02020603050405020304" pitchFamily="18" charset="0"/>
                <a:cs typeface="Times New Roman" panose="02020603050405020304" pitchFamily="18" charset="0"/>
              </a:rPr>
              <a:t>parcourir un ensemble de données en utilisant p</a:t>
            </a:r>
            <a:r>
              <a:rPr lang="fr-FR" sz="2400" dirty="0" smtClean="0">
                <a:latin typeface="Times New Roman" panose="02020603050405020304" pitchFamily="18" charset="0"/>
                <a:cs typeface="Times New Roman" panose="02020603050405020304" pitchFamily="18" charset="0"/>
              </a:rPr>
              <a:t>  </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boucles imbriquées</a:t>
            </a:r>
            <a:r>
              <a:rPr lang="fr-FR" sz="2400" dirty="0" smtClean="0">
                <a:latin typeface="Times New Roman" panose="02020603050405020304" pitchFamily="18" charset="0"/>
                <a:cs typeface="Times New Roman" panose="02020603050405020304" pitchFamily="18" charset="0"/>
              </a:rPr>
              <a:t>.</a:t>
            </a:r>
          </a:p>
          <a:p>
            <a:r>
              <a:rPr lang="fr-FR" sz="2400" i="1" dirty="0" smtClean="0">
                <a:latin typeface="Times New Roman" panose="02020603050405020304" pitchFamily="18" charset="0"/>
                <a:cs typeface="Times New Roman" panose="02020603050405020304" pitchFamily="18" charset="0"/>
              </a:rPr>
              <a:t>O(2</a:t>
            </a:r>
            <a:r>
              <a:rPr lang="fr-FR" sz="2400" i="1" baseline="30000" dirty="0" smtClean="0">
                <a:latin typeface="Times New Roman" panose="02020603050405020304" pitchFamily="18" charset="0"/>
                <a:cs typeface="Times New Roman" panose="02020603050405020304" pitchFamily="18" charset="0"/>
              </a:rPr>
              <a:t>n</a:t>
            </a:r>
            <a:r>
              <a:rPr lang="fr-FR" sz="2400" i="1"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exponentielle		générer tous les sous-ensembles possibles d’un </a:t>
            </a:r>
          </a:p>
          <a:p>
            <a:r>
              <a:rPr lang="fr-FR" sz="2400" dirty="0" smtClean="0">
                <a:latin typeface="Times New Roman" panose="02020603050405020304" pitchFamily="18" charset="0"/>
                <a:cs typeface="Times New Roman" panose="02020603050405020304" pitchFamily="18" charset="0"/>
              </a:rPr>
              <a:t>                                                            ensemble de données (suite de nombres de </a:t>
            </a:r>
            <a:r>
              <a:rPr lang="fr-FR" sz="2400" dirty="0" err="1" smtClean="0">
                <a:latin typeface="Times New Roman" panose="02020603050405020304" pitchFamily="18" charset="0"/>
                <a:cs typeface="Times New Roman" panose="02020603050405020304" pitchFamily="18" charset="0"/>
              </a:rPr>
              <a:t>Fibonacci</a:t>
            </a:r>
            <a:r>
              <a:rPr lang="fr-FR" sz="2400" dirty="0" smtClean="0">
                <a:latin typeface="Times New Roman" panose="02020603050405020304" pitchFamily="18" charset="0"/>
                <a:cs typeface="Times New Roman" panose="02020603050405020304" pitchFamily="18" charset="0"/>
              </a:rPr>
              <a:t>).</a:t>
            </a:r>
          </a:p>
          <a:p>
            <a:r>
              <a:rPr lang="fr-FR" sz="2400" i="1" dirty="0" smtClean="0">
                <a:latin typeface="Times New Roman" panose="02020603050405020304" pitchFamily="18" charset="0"/>
                <a:cs typeface="Times New Roman" panose="02020603050405020304" pitchFamily="18" charset="0"/>
              </a:rPr>
              <a:t>O(n!)</a:t>
            </a:r>
            <a:r>
              <a:rPr lang="fr-FR" sz="2400" dirty="0" smtClean="0">
                <a:latin typeface="Times New Roman" panose="02020603050405020304" pitchFamily="18" charset="0"/>
                <a:cs typeface="Times New Roman" panose="02020603050405020304" pitchFamily="18" charset="0"/>
              </a:rPr>
              <a:t>		factorielle		arranger des villes dans un itinéraire de voyage.</a:t>
            </a:r>
          </a:p>
        </p:txBody>
      </p:sp>
    </p:spTree>
    <p:extLst>
      <p:ext uri="{BB962C8B-B14F-4D97-AF65-F5344CB8AC3E}">
        <p14:creationId xmlns:p14="http://schemas.microsoft.com/office/powerpoint/2010/main" val="1797904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Rectangle 1"/>
              <p:cNvSpPr/>
              <p:nvPr/>
            </p:nvSpPr>
            <p:spPr>
              <a:xfrm>
                <a:off x="274320" y="328920"/>
                <a:ext cx="11704320" cy="6370975"/>
              </a:xfrm>
              <a:prstGeom prst="rect">
                <a:avLst/>
              </a:prstGeom>
            </p:spPr>
            <p:txBody>
              <a:bodyPr wrap="square">
                <a:spAutoFit/>
              </a:bodyPr>
              <a:lstStyle/>
              <a:p>
                <a:r>
                  <a:rPr lang="fr-FR" sz="2400" b="1" dirty="0">
                    <a:latin typeface="Times New Roman" panose="02020603050405020304" pitchFamily="18" charset="0"/>
                    <a:cs typeface="Times New Roman" panose="02020603050405020304" pitchFamily="18" charset="0"/>
                  </a:rPr>
                  <a:t>Exemple de calcul de complexité</a:t>
                </a:r>
              </a:p>
              <a:p>
                <a:r>
                  <a:rPr lang="fr-FR" sz="2400" b="1" dirty="0">
                    <a:latin typeface="Times New Roman" panose="02020603050405020304" pitchFamily="18" charset="0"/>
                    <a:cs typeface="Times New Roman" panose="02020603050405020304" pitchFamily="18" charset="0"/>
                  </a:rPr>
                  <a:t>entier</a:t>
                </a:r>
                <a:r>
                  <a:rPr lang="fr-FR" sz="2400" dirty="0">
                    <a:latin typeface="Times New Roman" panose="02020603050405020304" pitchFamily="18" charset="0"/>
                    <a:cs typeface="Times New Roman" panose="02020603050405020304" pitchFamily="18" charset="0"/>
                  </a:rPr>
                  <a:t> factorielle(</a:t>
                </a:r>
                <a:r>
                  <a:rPr lang="fr-FR" sz="2400" b="1" dirty="0">
                    <a:latin typeface="Times New Roman" panose="02020603050405020304" pitchFamily="18" charset="0"/>
                    <a:cs typeface="Times New Roman" panose="02020603050405020304" pitchFamily="18" charset="0"/>
                  </a:rPr>
                  <a:t>d entier</a:t>
                </a:r>
                <a:r>
                  <a:rPr lang="fr-FR" sz="2400" dirty="0">
                    <a:latin typeface="Times New Roman" panose="02020603050405020304" pitchFamily="18" charset="0"/>
                    <a:cs typeface="Times New Roman" panose="02020603050405020304" pitchFamily="18" charset="0"/>
                  </a:rPr>
                  <a:t> n)</a:t>
                </a:r>
              </a:p>
              <a:p>
                <a:r>
                  <a:rPr lang="fr-FR" sz="2400" b="1" dirty="0" err="1">
                    <a:latin typeface="Times New Roman" panose="02020603050405020304" pitchFamily="18" charset="0"/>
                    <a:cs typeface="Times New Roman" panose="02020603050405020304" pitchFamily="18" charset="0"/>
                  </a:rPr>
                  <a:t>debfonc</a:t>
                </a:r>
                <a:endParaRPr lang="fr-FR" sz="2400" b="1"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a:t>
                </a:r>
                <a:r>
                  <a:rPr lang="fr-FR" sz="2400" b="1" dirty="0">
                    <a:latin typeface="Times New Roman" panose="02020603050405020304" pitchFamily="18" charset="0"/>
                    <a:cs typeface="Times New Roman" panose="02020603050405020304" pitchFamily="18" charset="0"/>
                  </a:rPr>
                  <a:t>entier</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fact</a:t>
                </a:r>
                <a:r>
                  <a:rPr lang="fr-FR" sz="2400" dirty="0">
                    <a:latin typeface="Times New Roman" panose="02020603050405020304" pitchFamily="18" charset="0"/>
                    <a:cs typeface="Times New Roman" panose="02020603050405020304" pitchFamily="18" charset="0"/>
                  </a:rPr>
                  <a:t>;</a:t>
                </a:r>
              </a:p>
              <a:p>
                <a:r>
                  <a:rPr lang="fr-FR" sz="2400" dirty="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fact</a:t>
                </a:r>
                <a:r>
                  <a:rPr lang="fr-FR" sz="2400" dirty="0" smtClean="0">
                    <a:latin typeface="Times New Roman" panose="02020603050405020304" pitchFamily="18" charset="0"/>
                    <a:cs typeface="Times New Roman" panose="02020603050405020304" pitchFamily="18" charset="0"/>
                  </a:rPr>
                  <a:t>:=1</a:t>
                </a:r>
                <a:r>
                  <a:rPr lang="fr-FR" sz="2400" dirty="0">
                    <a:latin typeface="Times New Roman" panose="02020603050405020304" pitchFamily="18" charset="0"/>
                    <a:cs typeface="Times New Roman" panose="02020603050405020304" pitchFamily="18" charset="0"/>
                  </a:rPr>
                  <a:t>;	//affectation : 1</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i:=2</a:t>
                </a:r>
                <a:r>
                  <a:rPr lang="fr-FR" sz="2400" dirty="0">
                    <a:latin typeface="Times New Roman" panose="02020603050405020304" pitchFamily="18" charset="0"/>
                    <a:cs typeface="Times New Roman" panose="02020603050405020304" pitchFamily="18" charset="0"/>
                  </a:rPr>
                  <a:t>;	//affectation : 1</a:t>
                </a:r>
              </a:p>
              <a:p>
                <a:r>
                  <a:rPr lang="fr-FR" sz="2400" b="1" dirty="0" smtClean="0">
                    <a:latin typeface="Times New Roman" panose="02020603050405020304" pitchFamily="18" charset="0"/>
                    <a:cs typeface="Times New Roman" panose="02020603050405020304" pitchFamily="18" charset="0"/>
                  </a:rPr>
                  <a:t>     </a:t>
                </a:r>
                <a:r>
                  <a:rPr lang="fr-FR" sz="2400" b="1" dirty="0" err="1" smtClean="0">
                    <a:latin typeface="Times New Roman" panose="02020603050405020304" pitchFamily="18" charset="0"/>
                    <a:cs typeface="Times New Roman" panose="02020603050405020304" pitchFamily="18" charset="0"/>
                  </a:rPr>
                  <a:t>tantque</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i</a:t>
                </a:r>
                <a14:m>
                  <m:oMath xmlns:m="http://schemas.openxmlformats.org/officeDocument/2006/math">
                    <m:r>
                      <a:rPr lang="fr-FR" sz="2400" i="1">
                        <a:latin typeface="Cambria Math" panose="02040503050406030204" pitchFamily="18" charset="0"/>
                        <a:ea typeface="Cambria Math" panose="02040503050406030204" pitchFamily="18" charset="0"/>
                        <a:cs typeface="Times New Roman" panose="02020603050405020304" pitchFamily="18" charset="0"/>
                      </a:rPr>
                      <m:t>≤</m:t>
                    </m:r>
                  </m:oMath>
                </a14:m>
                <a:r>
                  <a:rPr lang="fr-FR" sz="2400" dirty="0">
                    <a:latin typeface="Times New Roman" panose="02020603050405020304" pitchFamily="18" charset="0"/>
                    <a:cs typeface="Times New Roman" panose="02020603050405020304" pitchFamily="18" charset="0"/>
                  </a:rPr>
                  <a:t>n </a:t>
                </a:r>
                <a:r>
                  <a:rPr lang="fr-FR" sz="2400" b="1" dirty="0">
                    <a:latin typeface="Times New Roman" panose="02020603050405020304" pitchFamily="18" charset="0"/>
                    <a:cs typeface="Times New Roman" panose="02020603050405020304" pitchFamily="18" charset="0"/>
                  </a:rPr>
                  <a:t>faire</a:t>
                </a:r>
                <a:r>
                  <a:rPr lang="fr-FR" sz="2400" dirty="0">
                    <a:latin typeface="Times New Roman" panose="02020603050405020304" pitchFamily="18" charset="0"/>
                    <a:cs typeface="Times New Roman" panose="02020603050405020304" pitchFamily="18" charset="0"/>
                  </a:rPr>
                  <a:t>		 //itérations : au plus x(n-1)</a:t>
                </a:r>
              </a:p>
              <a:p>
                <a:r>
                  <a:rPr lang="fr-FR" sz="2400" dirty="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fact</a:t>
                </a:r>
                <a:r>
                  <a:rPr lang="fr-FR" sz="2400" dirty="0" smtClean="0">
                    <a:latin typeface="Times New Roman" panose="02020603050405020304" pitchFamily="18" charset="0"/>
                    <a:cs typeface="Times New Roman" panose="02020603050405020304" pitchFamily="18" charset="0"/>
                  </a:rPr>
                  <a:t>:=</a:t>
                </a:r>
                <a:r>
                  <a:rPr lang="fr-FR" sz="2400" dirty="0" err="1" smtClean="0">
                    <a:latin typeface="Times New Roman" panose="02020603050405020304" pitchFamily="18" charset="0"/>
                    <a:cs typeface="Times New Roman" panose="02020603050405020304" pitchFamily="18" charset="0"/>
                  </a:rPr>
                  <a:t>fact</a:t>
                </a:r>
                <a:r>
                  <a:rPr lang="fr-FR" sz="2400" dirty="0" smtClean="0">
                    <a:latin typeface="Times New Roman" panose="02020603050405020304" pitchFamily="18" charset="0"/>
                    <a:cs typeface="Times New Roman" panose="02020603050405020304" pitchFamily="18" charset="0"/>
                  </a:rPr>
                  <a:t>*i</a:t>
                </a:r>
                <a:r>
                  <a:rPr lang="fr-FR" sz="2400" dirty="0">
                    <a:latin typeface="Times New Roman" panose="02020603050405020304" pitchFamily="18" charset="0"/>
                    <a:cs typeface="Times New Roman" panose="02020603050405020304" pitchFamily="18" charset="0"/>
                  </a:rPr>
                  <a:t>; 		//comparaison : 1</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i:=i+1</a:t>
                </a:r>
                <a:r>
                  <a:rPr lang="fr-FR" sz="2400" dirty="0">
                    <a:latin typeface="Times New Roman" panose="02020603050405020304" pitchFamily="18" charset="0"/>
                    <a:cs typeface="Times New Roman" panose="02020603050405020304" pitchFamily="18" charset="0"/>
                  </a:rPr>
                  <a:t>;			//multiplication + affectation : 2</a:t>
                </a:r>
              </a:p>
              <a:p>
                <a:r>
                  <a:rPr lang="fr-FR" sz="2400" dirty="0">
                    <a:latin typeface="Times New Roman" panose="02020603050405020304" pitchFamily="18" charset="0"/>
                    <a:cs typeface="Times New Roman" panose="02020603050405020304" pitchFamily="18" charset="0"/>
                  </a:rPr>
                  <a:t>     </a:t>
                </a:r>
                <a:r>
                  <a:rPr lang="fr-FR" sz="2400" b="1" dirty="0" err="1">
                    <a:latin typeface="Times New Roman" panose="02020603050405020304" pitchFamily="18" charset="0"/>
                    <a:cs typeface="Times New Roman" panose="02020603050405020304" pitchFamily="18" charset="0"/>
                  </a:rPr>
                  <a:t>finfaire</a:t>
                </a:r>
                <a:r>
                  <a:rPr lang="fr-FR" sz="2400" dirty="0">
                    <a:latin typeface="Times New Roman" panose="02020603050405020304" pitchFamily="18" charset="0"/>
                    <a:cs typeface="Times New Roman" panose="02020603050405020304" pitchFamily="18" charset="0"/>
                  </a:rPr>
                  <a:t>;			//addition + affectation : </a:t>
                </a:r>
                <a:r>
                  <a:rPr lang="fr-FR" sz="2400" dirty="0" smtClean="0">
                    <a:latin typeface="Times New Roman" panose="02020603050405020304" pitchFamily="18" charset="0"/>
                    <a:cs typeface="Times New Roman" panose="02020603050405020304" pitchFamily="18" charset="0"/>
                  </a:rPr>
                  <a:t>2</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retourner</a:t>
                </a:r>
                <a:r>
                  <a:rPr lang="fr-FR" sz="2400" dirty="0" smtClean="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fact</a:t>
                </a:r>
                <a:r>
                  <a:rPr lang="fr-FR" sz="2400" dirty="0">
                    <a:latin typeface="Times New Roman" panose="02020603050405020304" pitchFamily="18" charset="0"/>
                    <a:cs typeface="Times New Roman" panose="02020603050405020304" pitchFamily="18" charset="0"/>
                  </a:rPr>
                  <a:t>;</a:t>
                </a:r>
              </a:p>
              <a:p>
                <a:r>
                  <a:rPr lang="fr-FR" sz="2400" b="1" dirty="0" err="1">
                    <a:latin typeface="Times New Roman" panose="02020603050405020304" pitchFamily="18" charset="0"/>
                    <a:cs typeface="Times New Roman" panose="02020603050405020304" pitchFamily="18" charset="0"/>
                  </a:rPr>
                  <a:t>finfonc</a:t>
                </a:r>
                <a:r>
                  <a:rPr lang="fr-FR" sz="2400" dirty="0" smtClean="0">
                    <a:latin typeface="Times New Roman" panose="02020603050405020304" pitchFamily="18" charset="0"/>
                    <a:cs typeface="Times New Roman" panose="02020603050405020304" pitchFamily="18" charset="0"/>
                  </a:rPr>
                  <a:t>;</a:t>
                </a:r>
              </a:p>
              <a:p>
                <a:r>
                  <a:rPr lang="fr-FR" sz="2400" dirty="0" smtClean="0">
                    <a:latin typeface="Times New Roman" panose="02020603050405020304" pitchFamily="18" charset="0"/>
                    <a:cs typeface="Times New Roman" panose="02020603050405020304" pitchFamily="18" charset="0"/>
                  </a:rPr>
                  <a:t>T(n</a:t>
                </a:r>
                <a:r>
                  <a:rPr lang="fr-FR" sz="2400" dirty="0">
                    <a:latin typeface="Times New Roman" panose="02020603050405020304" pitchFamily="18" charset="0"/>
                    <a:cs typeface="Times New Roman" panose="02020603050405020304" pitchFamily="18" charset="0"/>
                  </a:rPr>
                  <a:t>)=2+5x(n-1)=</a:t>
                </a:r>
                <a:r>
                  <a:rPr lang="fr-FR" sz="2400" i="1" dirty="0">
                    <a:latin typeface="Times New Roman" panose="02020603050405020304" pitchFamily="18" charset="0"/>
                    <a:cs typeface="Times New Roman" panose="02020603050405020304" pitchFamily="18" charset="0"/>
                  </a:rPr>
                  <a:t>O(n)</a:t>
                </a:r>
              </a:p>
              <a:p>
                <a:endParaRPr lang="fr-FR" sz="2400" dirty="0" smtClean="0">
                  <a:latin typeface="Times New Roman" panose="02020603050405020304" pitchFamily="18" charset="0"/>
                  <a:cs typeface="Times New Roman" panose="02020603050405020304" pitchFamily="18" charset="0"/>
                </a:endParaRPr>
              </a:p>
              <a:p>
                <a:r>
                  <a:rPr lang="fr-FR" sz="2400" b="1" dirty="0" smtClean="0">
                    <a:latin typeface="Times New Roman" panose="02020603050405020304" pitchFamily="18" charset="0"/>
                    <a:cs typeface="Times New Roman" panose="02020603050405020304" pitchFamily="18" charset="0"/>
                  </a:rPr>
                  <a:t>1.4.2.1. Algorithme itératif</a:t>
                </a:r>
                <a:r>
                  <a:rPr lang="fr-FR" sz="2400" dirty="0" smtClean="0">
                    <a:latin typeface="Times New Roman" panose="02020603050405020304" pitchFamily="18" charset="0"/>
                    <a:cs typeface="Times New Roman" panose="02020603050405020304" pitchFamily="18" charset="0"/>
                  </a:rPr>
                  <a:t> </a:t>
                </a:r>
              </a:p>
              <a:p>
                <a:r>
                  <a:rPr lang="fr-FR" sz="2400" dirty="0">
                    <a:latin typeface="Times New Roman" panose="02020603050405020304" pitchFamily="18" charset="0"/>
                    <a:cs typeface="Times New Roman" panose="02020603050405020304" pitchFamily="18" charset="0"/>
                  </a:rPr>
                  <a:t>Pour calculer la </a:t>
                </a:r>
                <a:r>
                  <a:rPr lang="fr-FR" sz="2400" b="1" dirty="0">
                    <a:latin typeface="Times New Roman" panose="02020603050405020304" pitchFamily="18" charset="0"/>
                    <a:cs typeface="Times New Roman" panose="02020603050405020304" pitchFamily="18" charset="0"/>
                  </a:rPr>
                  <a:t>complexité d’un algorithme itératif</a:t>
                </a:r>
                <a:r>
                  <a:rPr lang="fr-FR" sz="2400" dirty="0">
                    <a:latin typeface="Times New Roman" panose="02020603050405020304" pitchFamily="18" charset="0"/>
                    <a:cs typeface="Times New Roman" panose="02020603050405020304" pitchFamily="18" charset="0"/>
                  </a:rPr>
                  <a:t>, nous devons compter </a:t>
                </a:r>
                <a:r>
                  <a:rPr lang="fr-FR" sz="2400" dirty="0" smtClean="0">
                    <a:latin typeface="Times New Roman" panose="02020603050405020304" pitchFamily="18" charset="0"/>
                    <a:cs typeface="Times New Roman" panose="02020603050405020304" pitchFamily="18" charset="0"/>
                  </a:rPr>
                  <a:t>les itérations </a:t>
                </a:r>
                <a:r>
                  <a:rPr lang="fr-FR" sz="2400" dirty="0">
                    <a:latin typeface="Times New Roman" panose="02020603050405020304" pitchFamily="18" charset="0"/>
                    <a:cs typeface="Times New Roman" panose="02020603050405020304" pitchFamily="18" charset="0"/>
                  </a:rPr>
                  <a:t>des boucles</a:t>
                </a:r>
                <a:r>
                  <a:rPr lang="fr-FR" sz="2400" dirty="0" smtClean="0">
                    <a:latin typeface="Times New Roman" panose="02020603050405020304" pitchFamily="18" charset="0"/>
                    <a:cs typeface="Times New Roman" panose="02020603050405020304" pitchFamily="18" charset="0"/>
                  </a:rPr>
                  <a:t>.</a:t>
                </a:r>
                <a:endParaRPr lang="fr-FR" sz="2400" dirty="0">
                  <a:latin typeface="Times New Roman" panose="02020603050405020304" pitchFamily="18" charset="0"/>
                  <a:cs typeface="Times New Roman" panose="02020603050405020304" pitchFamily="18" charset="0"/>
                </a:endParaRPr>
              </a:p>
            </p:txBody>
          </p:sp>
        </mc:Choice>
        <mc:Fallback>
          <p:sp>
            <p:nvSpPr>
              <p:cNvPr id="2" name="Rectangle 1"/>
              <p:cNvSpPr>
                <a:spLocks noRot="1" noChangeAspect="1" noMove="1" noResize="1" noEditPoints="1" noAdjustHandles="1" noChangeArrowheads="1" noChangeShapeType="1" noTextEdit="1"/>
              </p:cNvSpPr>
              <p:nvPr/>
            </p:nvSpPr>
            <p:spPr>
              <a:xfrm>
                <a:off x="274320" y="328920"/>
                <a:ext cx="11704320" cy="6370975"/>
              </a:xfrm>
              <a:prstGeom prst="rect">
                <a:avLst/>
              </a:prstGeom>
              <a:blipFill>
                <a:blip r:embed="rId2"/>
                <a:stretch>
                  <a:fillRect l="-781" t="-766" r="-312" b="-1244"/>
                </a:stretch>
              </a:blipFill>
            </p:spPr>
            <p:txBody>
              <a:bodyPr/>
              <a:lstStyle/>
              <a:p>
                <a:r>
                  <a:rPr lang="fr-FR">
                    <a:noFill/>
                  </a:rPr>
                  <a:t> </a:t>
                </a:r>
              </a:p>
            </p:txBody>
          </p:sp>
        </mc:Fallback>
      </mc:AlternateContent>
    </p:spTree>
    <p:extLst>
      <p:ext uri="{BB962C8B-B14F-4D97-AF65-F5344CB8AC3E}">
        <p14:creationId xmlns:p14="http://schemas.microsoft.com/office/powerpoint/2010/main" val="3530457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Rectangle 1"/>
              <p:cNvSpPr/>
              <p:nvPr/>
            </p:nvSpPr>
            <p:spPr>
              <a:xfrm>
                <a:off x="223520" y="210235"/>
                <a:ext cx="11775440" cy="6810711"/>
              </a:xfrm>
              <a:prstGeom prst="rect">
                <a:avLst/>
              </a:prstGeom>
            </p:spPr>
            <p:txBody>
              <a:bodyPr wrap="square">
                <a:spAutoFit/>
              </a:bodyPr>
              <a:lstStyle/>
              <a:p>
                <a:pPr lvl="0" eaLnBrk="0" fontAlgn="base" hangingPunct="0">
                  <a:spcBef>
                    <a:spcPct val="0"/>
                  </a:spcBef>
                  <a:spcAft>
                    <a:spcPct val="0"/>
                  </a:spcAft>
                </a:pPr>
                <a:r>
                  <a:rPr lang="fr-FR" sz="2400" dirty="0" smtClean="0">
                    <a:latin typeface="Times New Roman" panose="02020603050405020304" pitchFamily="18" charset="0"/>
                    <a:cs typeface="Times New Roman" panose="02020603050405020304" pitchFamily="18" charset="0"/>
                  </a:rPr>
                  <a:t>Boucle</a:t>
                </a:r>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tantque</a:t>
                </a:r>
                <a:endParaRPr lang="fr-FR" sz="2400" b="1" dirty="0">
                  <a:latin typeface="Times New Roman" pitchFamily="18" charset="0"/>
                  <a:cs typeface="Times New Roman" pitchFamily="18" charset="0"/>
                </a:endParaRPr>
              </a:p>
              <a:p>
                <a:pPr lvl="0" eaLnBrk="0" fontAlgn="base" hangingPunct="0">
                  <a:spcBef>
                    <a:spcPct val="0"/>
                  </a:spcBef>
                  <a:spcAft>
                    <a:spcPct val="0"/>
                  </a:spcAft>
                </a:pPr>
                <a:r>
                  <a:rPr lang="fr-FR" sz="2400" b="1" dirty="0" err="1">
                    <a:latin typeface="Times New Roman" pitchFamily="18" charset="0"/>
                    <a:cs typeface="Times New Roman" pitchFamily="18" charset="0"/>
                  </a:rPr>
                  <a:t>tantque</a:t>
                </a:r>
                <a:r>
                  <a:rPr lang="fr-FR" sz="2400" dirty="0">
                    <a:latin typeface="Times New Roman" pitchFamily="18" charset="0"/>
                    <a:cs typeface="Times New Roman" pitchFamily="18" charset="0"/>
                  </a:rPr>
                  <a:t> </a:t>
                </a:r>
                <a:r>
                  <a:rPr lang="fr-FR" sz="2400" dirty="0" err="1">
                    <a:latin typeface="Times New Roman" pitchFamily="18" charset="0"/>
                    <a:cs typeface="Times New Roman" pitchFamily="18" charset="0"/>
                  </a:rPr>
                  <a:t>condituon</a:t>
                </a:r>
                <a:r>
                  <a:rPr lang="fr-FR" sz="2400" dirty="0">
                    <a:latin typeface="Times New Roman" pitchFamily="18" charset="0"/>
                    <a:cs typeface="Times New Roman" pitchFamily="18" charset="0"/>
                  </a:rPr>
                  <a:t> </a:t>
                </a:r>
                <a:r>
                  <a:rPr lang="fr-FR" sz="2400" b="1" dirty="0">
                    <a:latin typeface="Times New Roman" pitchFamily="18" charset="0"/>
                    <a:cs typeface="Times New Roman" pitchFamily="18" charset="0"/>
                  </a:rPr>
                  <a:t>faire</a:t>
                </a:r>
              </a:p>
              <a:p>
                <a:pPr lvl="0" eaLnBrk="0" fontAlgn="base" hangingPunct="0">
                  <a:spcBef>
                    <a:spcPct val="0"/>
                  </a:spcBef>
                  <a:spcAft>
                    <a:spcPct val="0"/>
                  </a:spcAft>
                </a:pPr>
                <a:r>
                  <a:rPr lang="fr-FR" sz="2400" dirty="0">
                    <a:latin typeface="Times New Roman" pitchFamily="18" charset="0"/>
                    <a:cs typeface="Times New Roman" pitchFamily="18" charset="0"/>
                  </a:rPr>
                  <a:t>     traitement</a:t>
                </a:r>
              </a:p>
              <a:p>
                <a:pPr lvl="0" eaLnBrk="0" fontAlgn="base" hangingPunct="0">
                  <a:spcBef>
                    <a:spcPct val="0"/>
                  </a:spcBef>
                  <a:spcAft>
                    <a:spcPct val="0"/>
                  </a:spcAft>
                </a:pPr>
                <a:r>
                  <a:rPr lang="fr-FR" sz="2400" b="1" dirty="0" err="1" smtClean="0">
                    <a:latin typeface="Times New Roman" pitchFamily="18" charset="0"/>
                    <a:cs typeface="Times New Roman" pitchFamily="18" charset="0"/>
                  </a:rPr>
                  <a:t>finfaire</a:t>
                </a:r>
                <a:r>
                  <a:rPr lang="fr-FR" sz="2400" b="1" dirty="0">
                    <a:latin typeface="Times New Roman" pitchFamily="18" charset="0"/>
                    <a:cs typeface="Times New Roman" pitchFamily="18" charset="0"/>
                  </a:rPr>
                  <a:t>;</a:t>
                </a:r>
              </a:p>
              <a:p>
                <a:r>
                  <a:rPr lang="fr-FR" sz="2400" dirty="0" smtClean="0">
                    <a:latin typeface="Times New Roman" panose="02020603050405020304" pitchFamily="18" charset="0"/>
                    <a:cs typeface="Times New Roman" panose="02020603050405020304" pitchFamily="18" charset="0"/>
                  </a:rPr>
                  <a:t>Complexité : nombre d’itérations*(</a:t>
                </a:r>
                <a:r>
                  <a:rPr lang="fr-FR" sz="2400" i="1" dirty="0" smtClean="0">
                    <a:latin typeface="Times New Roman" panose="02020603050405020304" pitchFamily="18" charset="0"/>
                    <a:cs typeface="Times New Roman" panose="02020603050405020304" pitchFamily="18" charset="0"/>
                  </a:rPr>
                  <a:t>O(</a:t>
                </a:r>
                <a:r>
                  <a:rPr lang="fr-FR" sz="2400" i="1" dirty="0" err="1" smtClean="0">
                    <a:latin typeface="Times New Roman" panose="02020603050405020304" pitchFamily="18" charset="0"/>
                    <a:cs typeface="Times New Roman" panose="02020603050405020304" pitchFamily="18" charset="0"/>
                  </a:rPr>
                  <a:t>T</a:t>
                </a:r>
                <a:r>
                  <a:rPr lang="fr-FR" sz="2400" i="1" baseline="-25000" dirty="0" err="1" smtClean="0">
                    <a:latin typeface="Times New Roman" panose="02020603050405020304" pitchFamily="18" charset="0"/>
                    <a:cs typeface="Times New Roman" panose="02020603050405020304" pitchFamily="18" charset="0"/>
                  </a:rPr>
                  <a:t>condition</a:t>
                </a:r>
                <a:r>
                  <a:rPr lang="fr-FR" sz="2400" i="1" dirty="0" smtClean="0">
                    <a:latin typeface="Times New Roman" pitchFamily="18" charset="0"/>
                    <a:cs typeface="Times New Roman" pitchFamily="18" charset="0"/>
                  </a:rPr>
                  <a:t>)</a:t>
                </a:r>
                <a:r>
                  <a:rPr lang="fr-FR" sz="2400" dirty="0" smtClean="0">
                    <a:latin typeface="Times New Roman" panose="02020603050405020304" pitchFamily="18" charset="0"/>
                    <a:cs typeface="Times New Roman" panose="02020603050405020304" pitchFamily="18" charset="0"/>
                  </a:rPr>
                  <a:t> + </a:t>
                </a:r>
                <a:r>
                  <a:rPr lang="fr-FR" sz="2400" i="1" dirty="0" smtClean="0">
                    <a:latin typeface="Times New Roman" panose="02020603050405020304" pitchFamily="18" charset="0"/>
                    <a:cs typeface="Times New Roman" panose="02020603050405020304" pitchFamily="18" charset="0"/>
                  </a:rPr>
                  <a:t>O(</a:t>
                </a:r>
                <a:r>
                  <a:rPr lang="fr-FR" sz="2400" i="1" dirty="0" err="1" smtClean="0">
                    <a:latin typeface="Times New Roman" panose="02020603050405020304" pitchFamily="18" charset="0"/>
                    <a:cs typeface="Times New Roman" panose="02020603050405020304" pitchFamily="18" charset="0"/>
                  </a:rPr>
                  <a:t>T</a:t>
                </a:r>
                <a:r>
                  <a:rPr lang="fr-FR" sz="2400" i="1" baseline="-25000" dirty="0" err="1" smtClean="0">
                    <a:latin typeface="Times New Roman" panose="02020603050405020304" pitchFamily="18" charset="0"/>
                    <a:cs typeface="Times New Roman" panose="02020603050405020304" pitchFamily="18" charset="0"/>
                  </a:rPr>
                  <a:t>traitement</a:t>
                </a:r>
                <a:r>
                  <a:rPr lang="fr-FR" sz="2400" i="1" dirty="0" smtClean="0">
                    <a:latin typeface="Times New Roman" pitchFamily="18" charset="0"/>
                    <a:cs typeface="Times New Roman" pitchFamily="18" charset="0"/>
                  </a:rPr>
                  <a:t>)</a:t>
                </a:r>
                <a:r>
                  <a:rPr lang="fr-FR" sz="2400" dirty="0" smtClean="0">
                    <a:latin typeface="Times New Roman" panose="02020603050405020304" pitchFamily="18" charset="0"/>
                    <a:cs typeface="Times New Roman" panose="02020603050405020304" pitchFamily="18" charset="0"/>
                  </a:rPr>
                  <a:t>)</a:t>
                </a:r>
              </a:p>
              <a:p>
                <a:r>
                  <a:rPr lang="fr-FR" sz="2400" dirty="0" smtClean="0">
                    <a:latin typeface="Times New Roman" panose="02020603050405020304" pitchFamily="18" charset="0"/>
                    <a:cs typeface="Times New Roman" panose="02020603050405020304" pitchFamily="18" charset="0"/>
                  </a:rPr>
                  <a:t>Boucle </a:t>
                </a:r>
                <a:r>
                  <a:rPr lang="fr-FR" sz="2400" b="1" dirty="0" smtClean="0">
                    <a:latin typeface="Times New Roman" panose="02020603050405020304" pitchFamily="18" charset="0"/>
                    <a:cs typeface="Times New Roman" panose="02020603050405020304" pitchFamily="18" charset="0"/>
                  </a:rPr>
                  <a:t>pour</a:t>
                </a:r>
              </a:p>
              <a:p>
                <a:r>
                  <a:rPr lang="fr-FR" sz="2400" b="1" dirty="0" smtClean="0">
                    <a:latin typeface="Times New Roman" panose="02020603050405020304" pitchFamily="18" charset="0"/>
                    <a:cs typeface="Times New Roman" panose="02020603050405020304" pitchFamily="18" charset="0"/>
                  </a:rPr>
                  <a:t>Pour </a:t>
                </a:r>
                <a:r>
                  <a:rPr lang="fr-FR" sz="2400" dirty="0" smtClean="0">
                    <a:latin typeface="Times New Roman" panose="02020603050405020304" pitchFamily="18" charset="0"/>
                    <a:cs typeface="Times New Roman" panose="02020603050405020304" pitchFamily="18" charset="0"/>
                  </a:rPr>
                  <a:t>i:=indDeb</a:t>
                </a:r>
                <a:r>
                  <a:rPr lang="fr-FR" sz="2400" b="1"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haut </a:t>
                </a:r>
                <a:r>
                  <a:rPr lang="fr-FR" sz="2400" dirty="0" err="1" smtClean="0">
                    <a:latin typeface="Times New Roman" panose="02020603050405020304" pitchFamily="18" charset="0"/>
                    <a:cs typeface="Times New Roman" panose="02020603050405020304" pitchFamily="18" charset="0"/>
                  </a:rPr>
                  <a:t>indFin</a:t>
                </a:r>
                <a:r>
                  <a:rPr lang="fr-FR" sz="2400" b="1" dirty="0" smtClean="0">
                    <a:latin typeface="Times New Roman" panose="02020603050405020304" pitchFamily="18" charset="0"/>
                    <a:cs typeface="Times New Roman" panose="02020603050405020304" pitchFamily="18" charset="0"/>
                  </a:rPr>
                  <a:t> faire</a:t>
                </a:r>
              </a:p>
              <a:p>
                <a:r>
                  <a:rPr lang="fr-FR" sz="2400" b="1" dirty="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traitement</a:t>
                </a:r>
              </a:p>
              <a:p>
                <a:r>
                  <a:rPr lang="fr-FR" sz="2400" b="1" dirty="0" err="1" smtClean="0">
                    <a:latin typeface="Times New Roman" panose="02020603050405020304" pitchFamily="18" charset="0"/>
                    <a:cs typeface="Times New Roman" panose="02020603050405020304" pitchFamily="18" charset="0"/>
                  </a:rPr>
                  <a:t>finFaire</a:t>
                </a:r>
                <a:r>
                  <a:rPr lang="fr-FR" sz="2400" b="1"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endParaRPr lang="fr-FR" sz="2400" u="sng" dirty="0" smtClean="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Complexité : </a:t>
                </a:r>
                <a14:m>
                  <m:oMath xmlns:m="http://schemas.openxmlformats.org/officeDocument/2006/math">
                    <m:nary>
                      <m:naryPr>
                        <m:chr m:val="∑"/>
                        <m:ctrlPr>
                          <a:rPr lang="fr-FR" sz="2400" i="1" smtClean="0">
                            <a:latin typeface="Cambria Math" panose="02040503050406030204" pitchFamily="18" charset="0"/>
                            <a:cs typeface="Times New Roman" panose="02020603050405020304" pitchFamily="18" charset="0"/>
                          </a:rPr>
                        </m:ctrlPr>
                      </m:naryPr>
                      <m:sub>
                        <m:r>
                          <m:rPr>
                            <m:brk m:alnAt="23"/>
                          </m:rPr>
                          <a:rPr lang="fr-FR" sz="2400" b="0" i="1" smtClean="0">
                            <a:latin typeface="Cambria Math" panose="02040503050406030204" pitchFamily="18" charset="0"/>
                            <a:cs typeface="Times New Roman" panose="02020603050405020304" pitchFamily="18" charset="0"/>
                          </a:rPr>
                          <m:t>𝑖</m:t>
                        </m:r>
                        <m:r>
                          <a:rPr lang="fr-FR" sz="2400" b="0" i="1" smtClean="0">
                            <a:latin typeface="Cambria Math" panose="02040503050406030204" pitchFamily="18" charset="0"/>
                            <a:cs typeface="Times New Roman" panose="02020603050405020304" pitchFamily="18" charset="0"/>
                          </a:rPr>
                          <m:t>𝑛𝑑𝑑𝑒𝑏</m:t>
                        </m:r>
                      </m:sub>
                      <m:sup>
                        <m:r>
                          <a:rPr lang="fr-FR" sz="2400" b="0" i="1" smtClean="0">
                            <a:latin typeface="Cambria Math" panose="02040503050406030204" pitchFamily="18" charset="0"/>
                            <a:cs typeface="Times New Roman" panose="02020603050405020304" pitchFamily="18" charset="0"/>
                          </a:rPr>
                          <m:t>𝑖𝑛𝑑𝑓𝑖𝑛</m:t>
                        </m:r>
                      </m:sup>
                      <m:e>
                        <m:r>
                          <a:rPr lang="fr-FR" sz="2400" b="0" i="1" smtClean="0">
                            <a:latin typeface="Cambria Math" panose="02040503050406030204" pitchFamily="18" charset="0"/>
                            <a:cs typeface="Times New Roman" panose="02020603050405020304" pitchFamily="18" charset="0"/>
                          </a:rPr>
                          <m:t>𝑂</m:t>
                        </m:r>
                        <m:r>
                          <a:rPr lang="fr-FR" sz="2400" b="0" i="1" smtClean="0">
                            <a:latin typeface="Cambria Math" panose="02040503050406030204" pitchFamily="18" charset="0"/>
                            <a:cs typeface="Times New Roman" panose="02020603050405020304" pitchFamily="18" charset="0"/>
                          </a:rPr>
                          <m:t>(</m:t>
                        </m:r>
                        <m:r>
                          <a:rPr lang="fr-FR" sz="2400" b="0" i="1" smtClean="0">
                            <a:latin typeface="Cambria Math" panose="02040503050406030204" pitchFamily="18" charset="0"/>
                            <a:cs typeface="Times New Roman" panose="02020603050405020304" pitchFamily="18" charset="0"/>
                          </a:rPr>
                          <m:t>𝑇𝑡𝑟𝑎𝑡𝑖𝑒𝑚𝑒𝑛𝑡</m:t>
                        </m:r>
                        <m:r>
                          <a:rPr lang="fr-FR" sz="2400" b="0" i="1" smtClean="0">
                            <a:latin typeface="Cambria Math" panose="02040503050406030204" pitchFamily="18" charset="0"/>
                            <a:cs typeface="Times New Roman" panose="02020603050405020304" pitchFamily="18" charset="0"/>
                          </a:rPr>
                          <m:t>)</m:t>
                        </m:r>
                      </m:e>
                    </m:nary>
                  </m:oMath>
                </a14:m>
                <a:endParaRPr lang="fr-FR" sz="2400" dirty="0">
                  <a:latin typeface="Times New Roman" panose="02020603050405020304" pitchFamily="18" charset="0"/>
                  <a:cs typeface="Times New Roman" panose="02020603050405020304" pitchFamily="18" charset="0"/>
                </a:endParaRPr>
              </a:p>
              <a:p>
                <a:r>
                  <a:rPr lang="fr-FR" sz="2400" u="sng" dirty="0" smtClean="0">
                    <a:latin typeface="Times New Roman" panose="02020603050405020304" pitchFamily="18" charset="0"/>
                    <a:cs typeface="Times New Roman" panose="02020603050405020304" pitchFamily="18" charset="0"/>
                  </a:rPr>
                  <a:t>Exercice 3</a:t>
                </a:r>
                <a:r>
                  <a:rPr lang="fr-FR" sz="2400" dirty="0" smtClean="0">
                    <a:latin typeface="Times New Roman" panose="02020603050405020304" pitchFamily="18" charset="0"/>
                    <a:cs typeface="Times New Roman" panose="02020603050405020304" pitchFamily="18" charset="0"/>
                  </a:rPr>
                  <a:t>. Quelle est la complexité T(n) de l’algorithme suivant :</a:t>
                </a:r>
              </a:p>
              <a:p>
                <a:r>
                  <a:rPr lang="fr-FR" sz="2400" b="1" dirty="0" smtClean="0">
                    <a:latin typeface="Times New Roman" panose="02020603050405020304" pitchFamily="18" charset="0"/>
                    <a:cs typeface="Times New Roman" panose="02020603050405020304" pitchFamily="18" charset="0"/>
                  </a:rPr>
                  <a:t>entier</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calculN</a:t>
                </a:r>
                <a:r>
                  <a:rPr lang="fr-FR" sz="2400" dirty="0" smtClean="0">
                    <a:latin typeface="Times New Roman" panose="02020603050405020304" pitchFamily="18" charset="0"/>
                    <a:cs typeface="Times New Roman" panose="02020603050405020304" pitchFamily="18" charset="0"/>
                  </a:rPr>
                  <a:t>(</a:t>
                </a:r>
                <a:r>
                  <a:rPr lang="fr-FR" sz="2400" b="1" dirty="0" smtClean="0">
                    <a:latin typeface="Times New Roman" panose="02020603050405020304" pitchFamily="18" charset="0"/>
                    <a:cs typeface="Times New Roman" panose="02020603050405020304" pitchFamily="18" charset="0"/>
                  </a:rPr>
                  <a:t>vide</a:t>
                </a:r>
                <a:r>
                  <a:rPr lang="fr-FR" sz="2400" dirty="0" smtClean="0">
                    <a:latin typeface="Times New Roman" panose="02020603050405020304" pitchFamily="18" charset="0"/>
                    <a:cs typeface="Times New Roman" panose="02020603050405020304" pitchFamily="18" charset="0"/>
                  </a:rPr>
                  <a:t>)</a:t>
                </a:r>
              </a:p>
              <a:p>
                <a:r>
                  <a:rPr lang="fr-FR" sz="2400" b="1" dirty="0" err="1" smtClean="0">
                    <a:latin typeface="Times New Roman" panose="02020603050405020304" pitchFamily="18" charset="0"/>
                    <a:cs typeface="Times New Roman" panose="02020603050405020304" pitchFamily="18" charset="0"/>
                  </a:rPr>
                  <a:t>debfonc</a:t>
                </a:r>
                <a:endParaRPr lang="fr-FR" sz="2400" b="1" dirty="0" smtClean="0">
                  <a:latin typeface="Times New Roman" panose="02020603050405020304" pitchFamily="18" charset="0"/>
                  <a:cs typeface="Times New Roman" panose="02020603050405020304" pitchFamily="18" charset="0"/>
                </a:endParaRPr>
              </a:p>
              <a:p>
                <a:r>
                  <a:rPr lang="fr-FR" sz="2400" dirty="0">
                    <a:latin typeface="Times New Roman" pitchFamily="18" charset="0"/>
                    <a:cs typeface="Times New Roman"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entier</a:t>
                </a:r>
                <a:r>
                  <a:rPr lang="fr-FR" sz="2400" dirty="0" smtClean="0">
                    <a:latin typeface="Times New Roman" panose="02020603050405020304" pitchFamily="18" charset="0"/>
                    <a:cs typeface="Times New Roman" panose="02020603050405020304" pitchFamily="18" charset="0"/>
                  </a:rPr>
                  <a:t> n, a;</a:t>
                </a:r>
              </a:p>
              <a:p>
                <a:r>
                  <a:rPr lang="fr-FR" sz="2400" dirty="0">
                    <a:latin typeface="Times New Roman" pitchFamily="18" charset="0"/>
                    <a:cs typeface="Times New Roman"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écrire</a:t>
                </a:r>
                <a:r>
                  <a:rPr lang="fr-FR" sz="2400" dirty="0" smtClean="0">
                    <a:latin typeface="Times New Roman" panose="02020603050405020304" pitchFamily="18" charset="0"/>
                    <a:cs typeface="Times New Roman" panose="02020603050405020304" pitchFamily="18" charset="0"/>
                  </a:rPr>
                  <a:t>(ʺSaisir un nombre :ʺ); </a:t>
                </a:r>
                <a:r>
                  <a:rPr lang="fr-FR" sz="2400" b="1" dirty="0" smtClean="0">
                    <a:latin typeface="Times New Roman" panose="02020603050405020304" pitchFamily="18" charset="0"/>
                    <a:cs typeface="Times New Roman" panose="02020603050405020304" pitchFamily="18" charset="0"/>
                  </a:rPr>
                  <a:t>lire</a:t>
                </a:r>
                <a:r>
                  <a:rPr lang="fr-FR" sz="2400" dirty="0" smtClean="0">
                    <a:latin typeface="Times New Roman" panose="02020603050405020304" pitchFamily="18" charset="0"/>
                    <a:cs typeface="Times New Roman" panose="02020603050405020304" pitchFamily="18" charset="0"/>
                  </a:rPr>
                  <a:t>(a); </a:t>
                </a:r>
                <a:r>
                  <a:rPr lang="fr-FR" sz="2400" dirty="0" smtClean="0">
                    <a:latin typeface="Times New Roman" panose="02020603050405020304" pitchFamily="18" charset="0"/>
                    <a:cs typeface="Times New Roman" panose="02020603050405020304" pitchFamily="18" charset="0"/>
                  </a:rPr>
                  <a:t>n:=a+15</a:t>
                </a:r>
                <a:r>
                  <a:rPr lang="fr-FR" sz="2400" dirty="0" smtClean="0">
                    <a:latin typeface="Times New Roman" panose="02020603050405020304" pitchFamily="18" charset="0"/>
                    <a:cs typeface="Times New Roman" panose="02020603050405020304" pitchFamily="18" charset="0"/>
                  </a:rPr>
                  <a:t>;</a:t>
                </a:r>
              </a:p>
              <a:p>
                <a:r>
                  <a:rPr lang="fr-FR" sz="2400" dirty="0">
                    <a:latin typeface="Times New Roman" pitchFamily="18" charset="0"/>
                    <a:cs typeface="Times New Roman"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retourner</a:t>
                </a:r>
                <a:r>
                  <a:rPr lang="fr-FR" sz="2400" dirty="0" smtClean="0">
                    <a:latin typeface="Times New Roman" panose="02020603050405020304" pitchFamily="18" charset="0"/>
                    <a:cs typeface="Times New Roman" panose="02020603050405020304" pitchFamily="18" charset="0"/>
                  </a:rPr>
                  <a:t> n;</a:t>
                </a:r>
              </a:p>
              <a:p>
                <a:r>
                  <a:rPr lang="fr-FR" sz="2400" b="1" dirty="0" err="1">
                    <a:latin typeface="Times New Roman" panose="02020603050405020304" pitchFamily="18" charset="0"/>
                    <a:cs typeface="Times New Roman" panose="02020603050405020304" pitchFamily="18" charset="0"/>
                  </a:rPr>
                  <a:t>f</a:t>
                </a:r>
                <a:r>
                  <a:rPr lang="fr-FR" sz="2400" b="1" dirty="0" err="1" smtClean="0">
                    <a:latin typeface="Times New Roman" panose="02020603050405020304" pitchFamily="18" charset="0"/>
                    <a:cs typeface="Times New Roman" panose="02020603050405020304" pitchFamily="18" charset="0"/>
                  </a:rPr>
                  <a:t>infonc</a:t>
                </a:r>
                <a:r>
                  <a:rPr lang="fr-FR" sz="2400" dirty="0" smtClean="0">
                    <a:latin typeface="Times New Roman" panose="02020603050405020304" pitchFamily="18" charset="0"/>
                    <a:cs typeface="Times New Roman" panose="02020603050405020304" pitchFamily="18" charset="0"/>
                  </a:rPr>
                  <a:t>; </a:t>
                </a:r>
              </a:p>
              <a:p>
                <a:endParaRPr lang="fr-FR" sz="2400" dirty="0" smtClean="0">
                  <a:latin typeface="Times New Roman" panose="02020603050405020304" pitchFamily="18" charset="0"/>
                  <a:cs typeface="Times New Roman" panose="02020603050405020304" pitchFamily="18" charset="0"/>
                </a:endParaRPr>
              </a:p>
            </p:txBody>
          </p:sp>
        </mc:Choice>
        <mc:Fallback>
          <p:sp>
            <p:nvSpPr>
              <p:cNvPr id="2" name="Rectangle 1"/>
              <p:cNvSpPr>
                <a:spLocks noRot="1" noChangeAspect="1" noMove="1" noResize="1" noEditPoints="1" noAdjustHandles="1" noChangeArrowheads="1" noChangeShapeType="1" noTextEdit="1"/>
              </p:cNvSpPr>
              <p:nvPr/>
            </p:nvSpPr>
            <p:spPr>
              <a:xfrm>
                <a:off x="223520" y="210235"/>
                <a:ext cx="11775440" cy="6810711"/>
              </a:xfrm>
              <a:prstGeom prst="rect">
                <a:avLst/>
              </a:prstGeom>
              <a:blipFill>
                <a:blip r:embed="rId2"/>
                <a:stretch>
                  <a:fillRect l="-829" t="-716"/>
                </a:stretch>
              </a:blipFill>
            </p:spPr>
            <p:txBody>
              <a:bodyPr/>
              <a:lstStyle/>
              <a:p>
                <a:r>
                  <a:rPr lang="fr-FR">
                    <a:noFill/>
                  </a:rPr>
                  <a:t> </a:t>
                </a:r>
              </a:p>
            </p:txBody>
          </p:sp>
        </mc:Fallback>
      </mc:AlternateContent>
    </p:spTree>
    <p:extLst>
      <p:ext uri="{BB962C8B-B14F-4D97-AF65-F5344CB8AC3E}">
        <p14:creationId xmlns:p14="http://schemas.microsoft.com/office/powerpoint/2010/main" val="4101413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3840" y="20564"/>
            <a:ext cx="11714480" cy="6740307"/>
          </a:xfrm>
          <a:prstGeom prst="rect">
            <a:avLst/>
          </a:prstGeom>
        </p:spPr>
        <p:txBody>
          <a:bodyPr wrap="square">
            <a:spAutoFit/>
          </a:bodyPr>
          <a:lstStyle/>
          <a:p>
            <a:r>
              <a:rPr lang="fr-FR" sz="2400" u="sng" dirty="0">
                <a:latin typeface="Times New Roman" panose="02020603050405020304" pitchFamily="18" charset="0"/>
                <a:cs typeface="Times New Roman" panose="02020603050405020304" pitchFamily="18" charset="0"/>
              </a:rPr>
              <a:t>Exercice </a:t>
            </a:r>
            <a:r>
              <a:rPr lang="fr-FR" sz="2400" u="sng" dirty="0" smtClean="0">
                <a:latin typeface="Times New Roman" panose="02020603050405020304" pitchFamily="18" charset="0"/>
                <a:cs typeface="Times New Roman" panose="02020603050405020304" pitchFamily="18" charset="0"/>
              </a:rPr>
              <a:t>4</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écrivez une fonction qui reçoit en argument un nombre entier </a:t>
            </a:r>
            <a:r>
              <a:rPr lang="fr-FR" sz="2400" b="1" dirty="0">
                <a:latin typeface="Times New Roman" panose="02020603050405020304" pitchFamily="18" charset="0"/>
                <a:cs typeface="Times New Roman" panose="02020603050405020304" pitchFamily="18" charset="0"/>
              </a:rPr>
              <a:t>n</a:t>
            </a:r>
            <a:r>
              <a:rPr lang="fr-FR" sz="2400" dirty="0">
                <a:latin typeface="Times New Roman" panose="02020603050405020304" pitchFamily="18" charset="0"/>
                <a:cs typeface="Times New Roman" panose="02020603050405020304" pitchFamily="18" charset="0"/>
              </a:rPr>
              <a:t> et affiche à l’écran </a:t>
            </a:r>
            <a:r>
              <a:rPr lang="fr-FR" sz="2400" b="1" dirty="0">
                <a:latin typeface="Times New Roman" panose="02020603050405020304" pitchFamily="18" charset="0"/>
                <a:cs typeface="Times New Roman" panose="02020603050405020304" pitchFamily="18" charset="0"/>
              </a:rPr>
              <a:t>n fois</a:t>
            </a:r>
            <a:r>
              <a:rPr lang="fr-FR" sz="2400" dirty="0">
                <a:latin typeface="Times New Roman" panose="02020603050405020304" pitchFamily="18" charset="0"/>
                <a:cs typeface="Times New Roman" panose="02020603050405020304" pitchFamily="18" charset="0"/>
              </a:rPr>
              <a:t> la chaine ʺAlgorithmeʺ. Calculez la complexité de cet algorithme</a:t>
            </a:r>
            <a:r>
              <a:rPr lang="fr-FR" sz="2400" dirty="0" smtClean="0">
                <a:latin typeface="Times New Roman" panose="02020603050405020304" pitchFamily="18" charset="0"/>
                <a:cs typeface="Times New Roman" panose="02020603050405020304" pitchFamily="18" charset="0"/>
              </a:rPr>
              <a:t>.</a:t>
            </a:r>
          </a:p>
          <a:p>
            <a:r>
              <a:rPr lang="fr-FR" sz="2400" u="sng" dirty="0">
                <a:latin typeface="Times New Roman" panose="02020603050405020304" pitchFamily="18" charset="0"/>
                <a:cs typeface="Times New Roman" panose="02020603050405020304" pitchFamily="18" charset="0"/>
              </a:rPr>
              <a:t>Exercice </a:t>
            </a:r>
            <a:r>
              <a:rPr lang="fr-FR" sz="2400" u="sng" dirty="0" smtClean="0">
                <a:latin typeface="Times New Roman" panose="02020603050405020304" pitchFamily="18" charset="0"/>
                <a:cs typeface="Times New Roman" panose="02020603050405020304" pitchFamily="18" charset="0"/>
              </a:rPr>
              <a:t>5.</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Déterminer la complexité T(n) de l’algorithme itératif </a:t>
            </a:r>
            <a:r>
              <a:rPr lang="fr-FR" sz="2400" dirty="0" smtClean="0">
                <a:latin typeface="Times New Roman" panose="02020603050405020304" pitchFamily="18" charset="0"/>
                <a:cs typeface="Times New Roman" panose="02020603050405020304" pitchFamily="18" charset="0"/>
              </a:rPr>
              <a:t>de la </a:t>
            </a:r>
            <a:r>
              <a:rPr lang="fr-FR" sz="2400" dirty="0">
                <a:latin typeface="Times New Roman" panose="02020603050405020304" pitchFamily="18" charset="0"/>
                <a:cs typeface="Times New Roman" panose="02020603050405020304" pitchFamily="18" charset="0"/>
              </a:rPr>
              <a:t>somme de n </a:t>
            </a:r>
            <a:r>
              <a:rPr lang="fr-FR" sz="2400" dirty="0" smtClean="0">
                <a:latin typeface="Times New Roman" panose="02020603050405020304" pitchFamily="18" charset="0"/>
                <a:cs typeface="Times New Roman" panose="02020603050405020304" pitchFamily="18" charset="0"/>
              </a:rPr>
              <a:t>entiers : </a:t>
            </a:r>
            <a:endParaRPr lang="fr-FR" sz="2400" dirty="0">
              <a:latin typeface="Times New Roman" panose="02020603050405020304" pitchFamily="18" charset="0"/>
              <a:cs typeface="Times New Roman" panose="02020603050405020304" pitchFamily="18" charset="0"/>
            </a:endParaRPr>
          </a:p>
          <a:p>
            <a:r>
              <a:rPr lang="fr-FR" sz="2400" b="1" dirty="0">
                <a:latin typeface="Times New Roman" panose="02020603050405020304" pitchFamily="18" charset="0"/>
                <a:cs typeface="Times New Roman" panose="02020603050405020304" pitchFamily="18" charset="0"/>
              </a:rPr>
              <a:t>entier</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somDGEntier</a:t>
            </a:r>
            <a:r>
              <a:rPr lang="fr-FR" sz="2400" dirty="0">
                <a:latin typeface="Times New Roman" panose="02020603050405020304" pitchFamily="18" charset="0"/>
                <a:cs typeface="Times New Roman" panose="02020603050405020304" pitchFamily="18" charset="0"/>
              </a:rPr>
              <a:t>(</a:t>
            </a:r>
            <a:r>
              <a:rPr lang="fr-FR" sz="2400" b="1" dirty="0">
                <a:latin typeface="Times New Roman" panose="02020603050405020304" pitchFamily="18" charset="0"/>
                <a:cs typeface="Times New Roman" panose="02020603050405020304" pitchFamily="18" charset="0"/>
              </a:rPr>
              <a:t>entier</a:t>
            </a:r>
            <a:r>
              <a:rPr lang="fr-FR" sz="2400" dirty="0">
                <a:latin typeface="Times New Roman" panose="02020603050405020304" pitchFamily="18" charset="0"/>
                <a:cs typeface="Times New Roman" panose="02020603050405020304" pitchFamily="18" charset="0"/>
              </a:rPr>
              <a:t> n</a:t>
            </a:r>
            <a:r>
              <a:rPr lang="fr-FR" sz="2400" dirty="0" smtClean="0">
                <a:latin typeface="Times New Roman" panose="02020603050405020304" pitchFamily="18" charset="0"/>
                <a:cs typeface="Times New Roman" panose="02020603050405020304" pitchFamily="18" charset="0"/>
              </a:rPr>
              <a:t>).</a:t>
            </a:r>
            <a:r>
              <a:rPr lang="fr-FR" sz="2400" u="sng" dirty="0">
                <a:latin typeface="Times New Roman" panose="02020603050405020304" pitchFamily="18" charset="0"/>
                <a:cs typeface="Times New Roman" panose="02020603050405020304" pitchFamily="18" charset="0"/>
              </a:rPr>
              <a:t> </a:t>
            </a:r>
            <a:endParaRPr lang="fr-FR" sz="2400" u="sng" dirty="0" smtClean="0">
              <a:latin typeface="Times New Roman" panose="02020603050405020304" pitchFamily="18" charset="0"/>
              <a:cs typeface="Times New Roman" panose="02020603050405020304" pitchFamily="18" charset="0"/>
            </a:endParaRPr>
          </a:p>
          <a:p>
            <a:r>
              <a:rPr lang="fr-FR" sz="2400" u="sng" dirty="0" smtClean="0">
                <a:latin typeface="Times New Roman" panose="02020603050405020304" pitchFamily="18" charset="0"/>
                <a:cs typeface="Times New Roman" panose="02020603050405020304" pitchFamily="18" charset="0"/>
              </a:rPr>
              <a:t>Exercice </a:t>
            </a:r>
            <a:r>
              <a:rPr lang="fr-FR" sz="2400" u="sng" dirty="0">
                <a:latin typeface="Times New Roman" panose="02020603050405020304" pitchFamily="18" charset="0"/>
                <a:cs typeface="Times New Roman" panose="02020603050405020304" pitchFamily="18" charset="0"/>
              </a:rPr>
              <a:t>6</a:t>
            </a:r>
            <a:r>
              <a:rPr lang="fr-FR" sz="2400" dirty="0" smtClean="0">
                <a:latin typeface="Times New Roman" panose="02020603050405020304" pitchFamily="18" charset="0"/>
                <a:cs typeface="Times New Roman" panose="02020603050405020304" pitchFamily="18" charset="0"/>
              </a:rPr>
              <a:t>. Déterminer la complexité de l’algorithme suivant :</a:t>
            </a:r>
          </a:p>
          <a:p>
            <a:r>
              <a:rPr lang="fr-FR" sz="2400" b="1" dirty="0">
                <a:latin typeface="Times New Roman" panose="02020603050405020304" pitchFamily="18" charset="0"/>
                <a:cs typeface="Times New Roman" panose="02020603050405020304" pitchFamily="18" charset="0"/>
              </a:rPr>
              <a:t>e</a:t>
            </a:r>
            <a:r>
              <a:rPr lang="fr-FR" sz="2400" b="1" dirty="0" smtClean="0">
                <a:latin typeface="Times New Roman" panose="02020603050405020304" pitchFamily="18" charset="0"/>
                <a:cs typeface="Times New Roman" panose="02020603050405020304" pitchFamily="18" charset="0"/>
              </a:rPr>
              <a:t>ntier</a:t>
            </a:r>
            <a:r>
              <a:rPr lang="fr-FR" sz="2400" dirty="0" smtClean="0">
                <a:latin typeface="Times New Roman" panose="02020603050405020304" pitchFamily="18" charset="0"/>
                <a:cs typeface="Times New Roman" panose="02020603050405020304" pitchFamily="18" charset="0"/>
              </a:rPr>
              <a:t> somme(</a:t>
            </a:r>
            <a:r>
              <a:rPr lang="fr-FR" sz="2400" b="1" dirty="0" smtClean="0">
                <a:latin typeface="Times New Roman" panose="02020603050405020304" pitchFamily="18" charset="0"/>
                <a:cs typeface="Times New Roman" panose="02020603050405020304" pitchFamily="18" charset="0"/>
              </a:rPr>
              <a:t>vide</a:t>
            </a:r>
            <a:r>
              <a:rPr lang="fr-FR" sz="2400" dirty="0" smtClean="0">
                <a:latin typeface="Times New Roman" panose="02020603050405020304" pitchFamily="18" charset="0"/>
                <a:cs typeface="Times New Roman" panose="02020603050405020304" pitchFamily="18" charset="0"/>
              </a:rPr>
              <a:t>)</a:t>
            </a:r>
          </a:p>
          <a:p>
            <a:r>
              <a:rPr lang="fr-FR" sz="2400" b="1" dirty="0" err="1">
                <a:latin typeface="Times New Roman" panose="02020603050405020304" pitchFamily="18" charset="0"/>
                <a:cs typeface="Times New Roman" panose="02020603050405020304" pitchFamily="18" charset="0"/>
              </a:rPr>
              <a:t>d</a:t>
            </a:r>
            <a:r>
              <a:rPr lang="fr-FR" sz="2400" b="1" dirty="0" err="1" smtClean="0">
                <a:latin typeface="Times New Roman" panose="02020603050405020304" pitchFamily="18" charset="0"/>
                <a:cs typeface="Times New Roman" panose="02020603050405020304" pitchFamily="18" charset="0"/>
              </a:rPr>
              <a:t>efonc</a:t>
            </a:r>
            <a:endParaRPr lang="fr-FR" sz="2400" b="1" dirty="0" smtClean="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entier</a:t>
            </a:r>
            <a:r>
              <a:rPr lang="fr-FR" sz="2400" dirty="0" smtClean="0">
                <a:latin typeface="Times New Roman" panose="02020603050405020304" pitchFamily="18" charset="0"/>
                <a:cs typeface="Times New Roman" panose="02020603050405020304" pitchFamily="18" charset="0"/>
              </a:rPr>
              <a:t> n, s;</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n:=100</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s:=0</a:t>
            </a:r>
            <a:r>
              <a:rPr lang="fr-FR" sz="2400" dirty="0" smtClean="0">
                <a:latin typeface="Times New Roman" panose="02020603050405020304" pitchFamily="18" charset="0"/>
                <a:cs typeface="Times New Roman" panose="02020603050405020304" pitchFamily="18" charset="0"/>
              </a:rPr>
              <a:t>;</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pour</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i:=1 </a:t>
            </a:r>
            <a:r>
              <a:rPr lang="fr-FR" sz="2400" b="1" dirty="0" smtClean="0">
                <a:latin typeface="Times New Roman" panose="02020603050405020304" pitchFamily="18" charset="0"/>
                <a:cs typeface="Times New Roman" panose="02020603050405020304" pitchFamily="18" charset="0"/>
              </a:rPr>
              <a:t>haut</a:t>
            </a:r>
            <a:r>
              <a:rPr lang="fr-FR" sz="2400" dirty="0" smtClean="0">
                <a:latin typeface="Times New Roman" panose="02020603050405020304" pitchFamily="18" charset="0"/>
                <a:cs typeface="Times New Roman" panose="02020603050405020304" pitchFamily="18" charset="0"/>
              </a:rPr>
              <a:t> n</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a:=n</a:t>
            </a:r>
            <a:endParaRPr lang="fr-FR" sz="2400" dirty="0" smtClean="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err="1" smtClean="0">
                <a:latin typeface="Times New Roman" panose="02020603050405020304" pitchFamily="18" charset="0"/>
                <a:cs typeface="Times New Roman" panose="02020603050405020304" pitchFamily="18" charset="0"/>
              </a:rPr>
              <a:t>tantque</a:t>
            </a:r>
            <a:r>
              <a:rPr lang="fr-FR" sz="2400" dirty="0" smtClean="0">
                <a:latin typeface="Times New Roman" panose="02020603050405020304" pitchFamily="18" charset="0"/>
                <a:cs typeface="Times New Roman" panose="02020603050405020304" pitchFamily="18" charset="0"/>
              </a:rPr>
              <a:t> a&gt;1 </a:t>
            </a:r>
            <a:r>
              <a:rPr lang="fr-FR" sz="2400" b="1" dirty="0" smtClean="0">
                <a:latin typeface="Times New Roman" panose="02020603050405020304" pitchFamily="18" charset="0"/>
                <a:cs typeface="Times New Roman" panose="02020603050405020304" pitchFamily="18" charset="0"/>
              </a:rPr>
              <a:t>faire</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a:=a/2</a:t>
            </a:r>
            <a:endParaRPr lang="fr-FR" sz="2400" dirty="0" smtClean="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err="1" smtClean="0">
                <a:latin typeface="Times New Roman" panose="02020603050405020304" pitchFamily="18" charset="0"/>
                <a:cs typeface="Times New Roman" panose="02020603050405020304" pitchFamily="18" charset="0"/>
              </a:rPr>
              <a:t>finfaire</a:t>
            </a:r>
            <a:r>
              <a:rPr lang="fr-FR" sz="2400" dirty="0" smtClean="0">
                <a:latin typeface="Times New Roman" panose="02020603050405020304" pitchFamily="18" charset="0"/>
                <a:cs typeface="Times New Roman" panose="02020603050405020304" pitchFamily="18" charset="0"/>
              </a:rPr>
              <a:t>;</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s:=s+1</a:t>
            </a:r>
            <a:r>
              <a:rPr lang="fr-FR" sz="2400" dirty="0" smtClean="0">
                <a:latin typeface="Times New Roman" panose="02020603050405020304" pitchFamily="18" charset="0"/>
                <a:cs typeface="Times New Roman" panose="02020603050405020304" pitchFamily="18" charset="0"/>
              </a:rPr>
              <a:t>;</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err="1" smtClean="0">
                <a:latin typeface="Times New Roman" panose="02020603050405020304" pitchFamily="18" charset="0"/>
                <a:cs typeface="Times New Roman" panose="02020603050405020304" pitchFamily="18" charset="0"/>
              </a:rPr>
              <a:t>finpour</a:t>
            </a:r>
            <a:r>
              <a:rPr lang="fr-FR" sz="2400" dirty="0" smtClean="0">
                <a:latin typeface="Times New Roman" panose="02020603050405020304" pitchFamily="18" charset="0"/>
                <a:cs typeface="Times New Roman" panose="02020603050405020304" pitchFamily="18" charset="0"/>
              </a:rPr>
              <a:t>;</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retourner</a:t>
            </a:r>
            <a:r>
              <a:rPr lang="fr-FR" sz="2400" dirty="0" smtClean="0">
                <a:latin typeface="Times New Roman" panose="02020603050405020304" pitchFamily="18" charset="0"/>
                <a:cs typeface="Times New Roman" panose="02020603050405020304" pitchFamily="18" charset="0"/>
              </a:rPr>
              <a:t> s;</a:t>
            </a:r>
          </a:p>
          <a:p>
            <a:r>
              <a:rPr lang="fr-FR" sz="2400" b="1" dirty="0" err="1">
                <a:latin typeface="Times New Roman" panose="02020603050405020304" pitchFamily="18" charset="0"/>
                <a:cs typeface="Times New Roman" panose="02020603050405020304" pitchFamily="18" charset="0"/>
              </a:rPr>
              <a:t>f</a:t>
            </a:r>
            <a:r>
              <a:rPr lang="fr-FR" sz="2400" b="1" dirty="0" err="1" smtClean="0">
                <a:latin typeface="Times New Roman" panose="02020603050405020304" pitchFamily="18" charset="0"/>
                <a:cs typeface="Times New Roman" panose="02020603050405020304" pitchFamily="18" charset="0"/>
              </a:rPr>
              <a:t>infonc</a:t>
            </a:r>
            <a:r>
              <a:rPr lang="fr-FR" sz="2400" dirty="0" smtClean="0">
                <a:latin typeface="Times New Roman" panose="02020603050405020304" pitchFamily="18" charset="0"/>
                <a:cs typeface="Times New Roman" panose="02020603050405020304" pitchFamily="18" charset="0"/>
              </a:rPr>
              <a:t>; </a:t>
            </a:r>
          </a:p>
        </p:txBody>
      </p:sp>
      <p:cxnSp>
        <p:nvCxnSpPr>
          <p:cNvPr id="4" name="Connecteur en angle 3"/>
          <p:cNvCxnSpPr/>
          <p:nvPr/>
        </p:nvCxnSpPr>
        <p:spPr>
          <a:xfrm>
            <a:off x="12483966" y="1915427"/>
            <a:ext cx="914400" cy="914400"/>
          </a:xfrm>
          <a:prstGeom prst="bentConnector3">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304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 y="301675"/>
            <a:ext cx="11846560" cy="6370975"/>
          </a:xfrm>
          <a:prstGeom prst="rect">
            <a:avLst/>
          </a:prstGeom>
        </p:spPr>
        <p:txBody>
          <a:bodyPr wrap="square">
            <a:spAutoFit/>
          </a:bodyPr>
          <a:lstStyle/>
          <a:p>
            <a:r>
              <a:rPr lang="fr-FR" sz="2400" b="1" dirty="0" smtClean="0">
                <a:latin typeface="Times New Roman" panose="02020603050405020304" pitchFamily="18" charset="0"/>
                <a:cs typeface="Times New Roman" panose="02020603050405020304" pitchFamily="18" charset="0"/>
              </a:rPr>
              <a:t>1.4.2.2. Complexité </a:t>
            </a:r>
            <a:r>
              <a:rPr lang="fr-FR" sz="2400" b="1" dirty="0">
                <a:latin typeface="Times New Roman" panose="02020603050405020304" pitchFamily="18" charset="0"/>
                <a:cs typeface="Times New Roman" panose="02020603050405020304" pitchFamily="18" charset="0"/>
              </a:rPr>
              <a:t>d’un </a:t>
            </a:r>
            <a:r>
              <a:rPr lang="fr-FR" sz="2400" b="1" dirty="0" smtClean="0">
                <a:latin typeface="Times New Roman" panose="02020603050405020304" pitchFamily="18" charset="0"/>
                <a:cs typeface="Times New Roman" panose="02020603050405020304" pitchFamily="18" charset="0"/>
              </a:rPr>
              <a:t>conditionnel</a:t>
            </a:r>
            <a:endParaRPr lang="fr-FR" sz="2400" dirty="0">
              <a:latin typeface="Times New Roman" panose="02020603050405020304" pitchFamily="18" charset="0"/>
              <a:cs typeface="Times New Roman" panose="02020603050405020304" pitchFamily="18" charset="0"/>
            </a:endParaRPr>
          </a:p>
          <a:p>
            <a:endParaRPr lang="fr-FR" sz="2400" dirty="0" smtClean="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a) Conditionnel simple : </a:t>
            </a:r>
          </a:p>
          <a:p>
            <a:r>
              <a:rPr lang="fr-FR" sz="2400" b="1" dirty="0" smtClean="0">
                <a:latin typeface="Times New Roman" panose="02020603050405020304" pitchFamily="18" charset="0"/>
                <a:cs typeface="Times New Roman" panose="02020603050405020304" pitchFamily="18" charset="0"/>
              </a:rPr>
              <a:t>si</a:t>
            </a:r>
            <a:r>
              <a:rPr lang="fr-FR" sz="2400" dirty="0" smtClean="0">
                <a:latin typeface="Times New Roman" panose="02020603050405020304" pitchFamily="18" charset="0"/>
                <a:cs typeface="Times New Roman" panose="02020603050405020304" pitchFamily="18" charset="0"/>
              </a:rPr>
              <a:t> &lt;condition&gt; </a:t>
            </a:r>
            <a:r>
              <a:rPr lang="fr-FR" sz="2400" b="1" dirty="0" smtClean="0">
                <a:latin typeface="Times New Roman" panose="02020603050405020304" pitchFamily="18" charset="0"/>
                <a:cs typeface="Times New Roman" panose="02020603050405020304" pitchFamily="18" charset="0"/>
              </a:rPr>
              <a:t>alors</a:t>
            </a:r>
            <a:r>
              <a:rPr lang="fr-FR" sz="2400" dirty="0" smtClean="0">
                <a:latin typeface="Times New Roman" panose="02020603050405020304" pitchFamily="18" charset="0"/>
                <a:cs typeface="Times New Roman" panose="02020603050405020304" pitchFamily="18" charset="0"/>
              </a:rPr>
              <a:t> I;</a:t>
            </a:r>
          </a:p>
          <a:p>
            <a:r>
              <a:rPr lang="fr-FR" sz="2400" dirty="0" smtClean="0">
                <a:latin typeface="Times New Roman" panose="02020603050405020304" pitchFamily="18" charset="0"/>
                <a:cs typeface="Times New Roman" panose="02020603050405020304" pitchFamily="18" charset="0"/>
              </a:rPr>
              <a:t>- Cas favorable : T(n) = </a:t>
            </a:r>
            <a:r>
              <a:rPr lang="fr-FR" sz="2400" dirty="0" err="1" smtClean="0">
                <a:latin typeface="Times New Roman" panose="02020603050405020304" pitchFamily="18" charset="0"/>
                <a:cs typeface="Times New Roman" panose="02020603050405020304" pitchFamily="18" charset="0"/>
              </a:rPr>
              <a:t>Tcondition</a:t>
            </a:r>
            <a:r>
              <a:rPr lang="fr-FR" sz="2400" dirty="0" smtClean="0">
                <a:latin typeface="Times New Roman" panose="02020603050405020304" pitchFamily="18" charset="0"/>
                <a:cs typeface="Times New Roman" panose="02020603050405020304" pitchFamily="18" charset="0"/>
              </a:rPr>
              <a:t>(n) ; //Situation où la condition est fausse.</a:t>
            </a:r>
          </a:p>
          <a:p>
            <a:r>
              <a:rPr lang="fr-FR" sz="2400" dirty="0" smtClean="0">
                <a:latin typeface="Times New Roman" panose="02020603050405020304" pitchFamily="18" charset="0"/>
                <a:cs typeface="Times New Roman" panose="02020603050405020304" pitchFamily="18" charset="0"/>
              </a:rPr>
              <a:t>Où T(n) : nombre total d’instructions</a:t>
            </a:r>
          </a:p>
          <a:p>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Tcondition</a:t>
            </a:r>
            <a:r>
              <a:rPr lang="fr-FR" sz="2400" dirty="0" smtClean="0">
                <a:latin typeface="Times New Roman" panose="02020603050405020304" pitchFamily="18" charset="0"/>
                <a:cs typeface="Times New Roman" panose="02020603050405020304" pitchFamily="18" charset="0"/>
              </a:rPr>
              <a:t>(n) : nombre d’instructions nécessaire pour tester la condition </a:t>
            </a:r>
          </a:p>
          <a:p>
            <a:endParaRPr lang="fr-FR" sz="2400" dirty="0" smtClean="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 Cas défavorable : </a:t>
            </a:r>
            <a:r>
              <a:rPr lang="fr-FR" sz="2400" dirty="0">
                <a:latin typeface="Times New Roman" panose="02020603050405020304" pitchFamily="18" charset="0"/>
                <a:cs typeface="Times New Roman" panose="02020603050405020304" pitchFamily="18" charset="0"/>
              </a:rPr>
              <a:t>T(n) = </a:t>
            </a:r>
            <a:r>
              <a:rPr lang="fr-FR" sz="2400" dirty="0" err="1">
                <a:latin typeface="Times New Roman" panose="02020603050405020304" pitchFamily="18" charset="0"/>
                <a:cs typeface="Times New Roman" panose="02020603050405020304" pitchFamily="18" charset="0"/>
              </a:rPr>
              <a:t>Tcondition</a:t>
            </a:r>
            <a:r>
              <a:rPr lang="fr-FR" sz="2400" dirty="0">
                <a:latin typeface="Times New Roman" panose="02020603050405020304" pitchFamily="18" charset="0"/>
                <a:cs typeface="Times New Roman" panose="02020603050405020304" pitchFamily="18" charset="0"/>
              </a:rPr>
              <a:t>(n) </a:t>
            </a:r>
            <a:r>
              <a:rPr lang="fr-FR" sz="2400" dirty="0" smtClean="0">
                <a:latin typeface="Times New Roman" panose="02020603050405020304" pitchFamily="18" charset="0"/>
                <a:cs typeface="Times New Roman" panose="02020603050405020304" pitchFamily="18" charset="0"/>
              </a:rPr>
              <a:t>+ TI(n);</a:t>
            </a:r>
          </a:p>
          <a:p>
            <a:r>
              <a:rPr lang="fr-FR" sz="2400" dirty="0">
                <a:latin typeface="Times New Roman" panose="02020603050405020304" pitchFamily="18" charset="0"/>
                <a:cs typeface="Times New Roman" panose="02020603050405020304" pitchFamily="18" charset="0"/>
              </a:rPr>
              <a:t>Où T(n) : </a:t>
            </a:r>
            <a:r>
              <a:rPr lang="fr-FR" sz="2400" dirty="0" smtClean="0">
                <a:latin typeface="Times New Roman" panose="02020603050405020304" pitchFamily="18" charset="0"/>
                <a:cs typeface="Times New Roman" panose="02020603050405020304" pitchFamily="18" charset="0"/>
              </a:rPr>
              <a:t>nombre </a:t>
            </a:r>
            <a:r>
              <a:rPr lang="fr-FR" sz="2400" dirty="0">
                <a:latin typeface="Times New Roman" panose="02020603050405020304" pitchFamily="18" charset="0"/>
                <a:cs typeface="Times New Roman" panose="02020603050405020304" pitchFamily="18" charset="0"/>
              </a:rPr>
              <a:t>total </a:t>
            </a:r>
            <a:r>
              <a:rPr lang="fr-FR" sz="2400" dirty="0" smtClean="0">
                <a:latin typeface="Times New Roman" panose="02020603050405020304" pitchFamily="18" charset="0"/>
                <a:cs typeface="Times New Roman" panose="02020603050405020304" pitchFamily="18" charset="0"/>
              </a:rPr>
              <a:t>d’instructions.</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TI(n</a:t>
            </a:r>
            <a:r>
              <a:rPr lang="fr-FR" sz="2400" dirty="0">
                <a:latin typeface="Times New Roman" panose="02020603050405020304" pitchFamily="18" charset="0"/>
                <a:cs typeface="Times New Roman" panose="02020603050405020304" pitchFamily="18" charset="0"/>
              </a:rPr>
              <a:t>) : nombre d’instructions </a:t>
            </a:r>
            <a:r>
              <a:rPr lang="fr-FR" sz="2400" dirty="0" smtClean="0">
                <a:latin typeface="Times New Roman" panose="02020603050405020304" pitchFamily="18" charset="0"/>
                <a:cs typeface="Times New Roman" panose="02020603050405020304" pitchFamily="18" charset="0"/>
              </a:rPr>
              <a:t>dans I.</a:t>
            </a:r>
            <a:endParaRPr lang="fr-FR" sz="2400" dirty="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Exemple : </a:t>
            </a:r>
            <a:r>
              <a:rPr lang="fr-FR" sz="2400" b="1" dirty="0" smtClean="0">
                <a:latin typeface="Times New Roman" panose="02020603050405020304" pitchFamily="18" charset="0"/>
                <a:cs typeface="Times New Roman" panose="02020603050405020304" pitchFamily="18" charset="0"/>
              </a:rPr>
              <a:t>si</a:t>
            </a:r>
            <a:r>
              <a:rPr lang="fr-FR" sz="2400" dirty="0" smtClean="0">
                <a:latin typeface="Times New Roman" panose="02020603050405020304" pitchFamily="18" charset="0"/>
                <a:cs typeface="Times New Roman" panose="02020603050405020304" pitchFamily="18" charset="0"/>
              </a:rPr>
              <a:t> i=0 </a:t>
            </a:r>
            <a:r>
              <a:rPr lang="fr-FR" sz="2400" b="1" dirty="0" smtClean="0">
                <a:latin typeface="Times New Roman" panose="02020603050405020304" pitchFamily="18" charset="0"/>
                <a:cs typeface="Times New Roman" panose="02020603050405020304" pitchFamily="18" charset="0"/>
              </a:rPr>
              <a:t>alors</a:t>
            </a:r>
            <a:r>
              <a:rPr lang="fr-FR" sz="2400" dirty="0" smtClean="0">
                <a:latin typeface="Times New Roman" panose="02020603050405020304" pitchFamily="18" charset="0"/>
                <a:cs typeface="Times New Roman" panose="02020603050405020304" pitchFamily="18" charset="0"/>
              </a:rPr>
              <a:t> 			#1 (condition)</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debut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nouveau(joueur);	#2 (I)</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p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debut</a:t>
            </a:r>
            <a:r>
              <a:rPr lang="fr-FR" sz="2400" dirty="0" smtClean="0">
                <a:latin typeface="Times New Roman" panose="02020603050405020304" pitchFamily="18" charset="0"/>
                <a:cs typeface="Times New Roman" panose="02020603050405020304" pitchFamily="18" charset="0"/>
              </a:rPr>
              <a:t>;</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err="1" smtClean="0">
                <a:latin typeface="Times New Roman" panose="02020603050405020304" pitchFamily="18" charset="0"/>
                <a:cs typeface="Times New Roman" panose="02020603050405020304" pitchFamily="18" charset="0"/>
              </a:rPr>
              <a:t>finsi</a:t>
            </a:r>
            <a:r>
              <a:rPr lang="fr-FR" sz="2400" dirty="0" smtClean="0">
                <a:latin typeface="Times New Roman" panose="02020603050405020304" pitchFamily="18" charset="0"/>
                <a:cs typeface="Times New Roman" panose="02020603050405020304" pitchFamily="18" charset="0"/>
              </a:rPr>
              <a:t>;</a:t>
            </a:r>
          </a:p>
          <a:p>
            <a:endParaRPr lang="fr-FR" sz="2400" dirty="0" smtClean="0">
              <a:latin typeface="Times New Roman" panose="02020603050405020304" pitchFamily="18" charset="0"/>
              <a:cs typeface="Times New Roman" panose="02020603050405020304" pitchFamily="18" charset="0"/>
            </a:endParaRPr>
          </a:p>
          <a:p>
            <a:r>
              <a:rPr lang="fr-FR" sz="2400" dirty="0" err="1" smtClean="0">
                <a:latin typeface="Times New Roman" panose="02020603050405020304" pitchFamily="18" charset="0"/>
                <a:cs typeface="Times New Roman" panose="02020603050405020304" pitchFamily="18" charset="0"/>
              </a:rPr>
              <a:t>Compléxité</a:t>
            </a:r>
            <a:r>
              <a:rPr lang="fr-FR" sz="2400" dirty="0" smtClean="0">
                <a:latin typeface="Times New Roman" panose="02020603050405020304" pitchFamily="18" charset="0"/>
                <a:cs typeface="Times New Roman" panose="02020603050405020304" pitchFamily="18" charset="0"/>
              </a:rPr>
              <a:t> T(n) = 1+2 = 3 = O(3)</a:t>
            </a:r>
          </a:p>
        </p:txBody>
      </p:sp>
    </p:spTree>
    <p:extLst>
      <p:ext uri="{BB962C8B-B14F-4D97-AF65-F5344CB8AC3E}">
        <p14:creationId xmlns:p14="http://schemas.microsoft.com/office/powerpoint/2010/main" val="884984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3520" y="411818"/>
            <a:ext cx="11795760" cy="6001643"/>
          </a:xfrm>
          <a:prstGeom prst="rect">
            <a:avLst/>
          </a:prstGeom>
        </p:spPr>
        <p:txBody>
          <a:bodyPr wrap="square">
            <a:spAutoFit/>
          </a:bodyPr>
          <a:lstStyle/>
          <a:p>
            <a:r>
              <a:rPr lang="fr-FR" sz="2400" dirty="0">
                <a:latin typeface="Times New Roman" panose="02020603050405020304" pitchFamily="18" charset="0"/>
                <a:cs typeface="Times New Roman" panose="02020603050405020304" pitchFamily="18" charset="0"/>
              </a:rPr>
              <a:t>b) Conditionnel de la forme : </a:t>
            </a:r>
            <a:r>
              <a:rPr lang="fr-FR" sz="2400" b="1" dirty="0">
                <a:latin typeface="Times New Roman" panose="02020603050405020304" pitchFamily="18" charset="0"/>
                <a:cs typeface="Times New Roman" panose="02020603050405020304" pitchFamily="18" charset="0"/>
              </a:rPr>
              <a:t>si</a:t>
            </a:r>
            <a:r>
              <a:rPr lang="fr-FR" sz="2400" dirty="0">
                <a:latin typeface="Times New Roman" panose="02020603050405020304" pitchFamily="18" charset="0"/>
                <a:cs typeface="Times New Roman" panose="02020603050405020304" pitchFamily="18" charset="0"/>
              </a:rPr>
              <a:t> &lt;condition&gt; </a:t>
            </a:r>
            <a:r>
              <a:rPr lang="fr-FR" sz="2400" b="1" dirty="0">
                <a:latin typeface="Times New Roman" panose="02020603050405020304" pitchFamily="18" charset="0"/>
                <a:cs typeface="Times New Roman" panose="02020603050405020304" pitchFamily="18" charset="0"/>
              </a:rPr>
              <a:t>alors</a:t>
            </a:r>
            <a:r>
              <a:rPr lang="fr-FR" sz="2400" dirty="0">
                <a:latin typeface="Times New Roman" panose="02020603050405020304" pitchFamily="18" charset="0"/>
                <a:cs typeface="Times New Roman" panose="02020603050405020304" pitchFamily="18" charset="0"/>
              </a:rPr>
              <a:t> I1</a:t>
            </a:r>
          </a:p>
          <a:p>
            <a:r>
              <a:rPr lang="fr-FR" sz="2400" dirty="0">
                <a:latin typeface="Times New Roman" panose="02020603050405020304" pitchFamily="18" charset="0"/>
                <a:cs typeface="Times New Roman" panose="02020603050405020304" pitchFamily="18" charset="0"/>
              </a:rPr>
              <a:t>                                                </a:t>
            </a:r>
            <a:r>
              <a:rPr lang="fr-FR" sz="2400" b="1" dirty="0">
                <a:latin typeface="Times New Roman" panose="02020603050405020304" pitchFamily="18" charset="0"/>
                <a:cs typeface="Times New Roman" panose="02020603050405020304" pitchFamily="18" charset="0"/>
              </a:rPr>
              <a:t>sinon</a:t>
            </a:r>
            <a:r>
              <a:rPr lang="fr-FR" sz="2400" dirty="0">
                <a:latin typeface="Times New Roman" panose="02020603050405020304" pitchFamily="18" charset="0"/>
                <a:cs typeface="Times New Roman" panose="02020603050405020304" pitchFamily="18" charset="0"/>
              </a:rPr>
              <a:t> I2;</a:t>
            </a:r>
          </a:p>
          <a:p>
            <a:r>
              <a:rPr lang="fr-FR" sz="2400" dirty="0" smtClean="0">
                <a:latin typeface="Times New Roman" panose="02020603050405020304" pitchFamily="18" charset="0"/>
                <a:cs typeface="Times New Roman" panose="02020603050405020304" pitchFamily="18" charset="0"/>
              </a:rPr>
              <a:t>Cas </a:t>
            </a:r>
            <a:r>
              <a:rPr lang="fr-FR" sz="2400" dirty="0">
                <a:latin typeface="Times New Roman" panose="02020603050405020304" pitchFamily="18" charset="0"/>
                <a:cs typeface="Times New Roman" panose="02020603050405020304" pitchFamily="18" charset="0"/>
              </a:rPr>
              <a:t>favorable :  </a:t>
            </a:r>
          </a:p>
          <a:p>
            <a:r>
              <a:rPr lang="fr-FR" sz="2400" dirty="0" smtClean="0">
                <a:latin typeface="Times New Roman" panose="02020603050405020304" pitchFamily="18" charset="0"/>
                <a:cs typeface="Times New Roman" panose="02020603050405020304" pitchFamily="18" charset="0"/>
              </a:rPr>
              <a:t>T(n</a:t>
            </a:r>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Tcondition</a:t>
            </a:r>
            <a:r>
              <a:rPr lang="fr-FR" sz="2400" dirty="0" smtClean="0">
                <a:latin typeface="Times New Roman" panose="02020603050405020304" pitchFamily="18" charset="0"/>
                <a:cs typeface="Times New Roman" panose="02020603050405020304" pitchFamily="18" charset="0"/>
              </a:rPr>
              <a:t>(n</a:t>
            </a:r>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min(TI1(n), TI2(n))</a:t>
            </a:r>
          </a:p>
          <a:p>
            <a:r>
              <a:rPr lang="fr-FR" sz="2400" dirty="0" smtClean="0">
                <a:latin typeface="Times New Roman" panose="02020603050405020304" pitchFamily="18" charset="0"/>
                <a:cs typeface="Times New Roman" panose="02020603050405020304" pitchFamily="18" charset="0"/>
              </a:rPr>
              <a:t>Cas défavorable :</a:t>
            </a:r>
          </a:p>
          <a:p>
            <a:r>
              <a:rPr lang="fr-FR" sz="2400" dirty="0" smtClean="0">
                <a:latin typeface="Times New Roman" panose="02020603050405020304" pitchFamily="18" charset="0"/>
                <a:cs typeface="Times New Roman" panose="02020603050405020304" pitchFamily="18" charset="0"/>
              </a:rPr>
              <a:t>T(n</a:t>
            </a:r>
            <a:r>
              <a:rPr lang="fr-FR" sz="2400" dirty="0">
                <a:latin typeface="Times New Roman" panose="02020603050405020304" pitchFamily="18" charset="0"/>
                <a:cs typeface="Times New Roman" panose="02020603050405020304" pitchFamily="18" charset="0"/>
              </a:rPr>
              <a:t>) = </a:t>
            </a:r>
            <a:r>
              <a:rPr lang="fr-FR" sz="2400" dirty="0" err="1">
                <a:latin typeface="Times New Roman" panose="02020603050405020304" pitchFamily="18" charset="0"/>
                <a:cs typeface="Times New Roman" panose="02020603050405020304" pitchFamily="18" charset="0"/>
              </a:rPr>
              <a:t>Tcondition</a:t>
            </a:r>
            <a:r>
              <a:rPr lang="fr-FR" sz="2400" dirty="0">
                <a:latin typeface="Times New Roman" panose="02020603050405020304" pitchFamily="18" charset="0"/>
                <a:cs typeface="Times New Roman" panose="02020603050405020304" pitchFamily="18" charset="0"/>
              </a:rPr>
              <a:t>(n) + </a:t>
            </a:r>
            <a:r>
              <a:rPr lang="fr-FR" sz="2400" dirty="0" smtClean="0">
                <a:latin typeface="Times New Roman" panose="02020603050405020304" pitchFamily="18" charset="0"/>
                <a:cs typeface="Times New Roman" panose="02020603050405020304" pitchFamily="18" charset="0"/>
              </a:rPr>
              <a:t>max(TI1(n</a:t>
            </a:r>
            <a:r>
              <a:rPr lang="fr-FR" sz="2400" dirty="0">
                <a:latin typeface="Times New Roman" panose="02020603050405020304" pitchFamily="18" charset="0"/>
                <a:cs typeface="Times New Roman" panose="02020603050405020304" pitchFamily="18" charset="0"/>
              </a:rPr>
              <a:t>), TI2(n</a:t>
            </a:r>
            <a:r>
              <a:rPr lang="fr-FR" sz="2400" dirty="0" smtClean="0">
                <a:latin typeface="Times New Roman" panose="02020603050405020304" pitchFamily="18" charset="0"/>
                <a:cs typeface="Times New Roman" panose="02020603050405020304" pitchFamily="18" charset="0"/>
              </a:rPr>
              <a:t>))</a:t>
            </a:r>
          </a:p>
          <a:p>
            <a:endParaRPr lang="fr-FR" sz="2400" dirty="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Exemple :</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si</a:t>
            </a:r>
            <a:r>
              <a:rPr lang="fr-FR" sz="2400" dirty="0" smtClean="0">
                <a:latin typeface="Times New Roman" panose="02020603050405020304" pitchFamily="18" charset="0"/>
                <a:cs typeface="Times New Roman" panose="02020603050405020304" pitchFamily="18" charset="0"/>
              </a:rPr>
              <a:t> i=0 </a:t>
            </a:r>
            <a:r>
              <a:rPr lang="fr-FR" sz="2400" b="1" dirty="0" smtClean="0">
                <a:latin typeface="Times New Roman" panose="02020603050405020304" pitchFamily="18" charset="0"/>
                <a:cs typeface="Times New Roman" panose="02020603050405020304" pitchFamily="18" charset="0"/>
              </a:rPr>
              <a:t>alors</a:t>
            </a:r>
            <a:r>
              <a:rPr lang="fr-FR" sz="2400" dirty="0" smtClean="0">
                <a:latin typeface="Times New Roman" panose="02020603050405020304" pitchFamily="18" charset="0"/>
                <a:cs typeface="Times New Roman" panose="02020603050405020304" pitchFamily="18" charset="0"/>
              </a:rPr>
              <a:t>				 #1</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debut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nouveau(joueur);	 #2	</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p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debut</a:t>
            </a:r>
            <a:r>
              <a:rPr lang="fr-FR" sz="2400" dirty="0" smtClean="0">
                <a:latin typeface="Times New Roman" panose="02020603050405020304" pitchFamily="18" charset="0"/>
                <a:cs typeface="Times New Roman" panose="02020603050405020304" pitchFamily="18" charset="0"/>
              </a:rPr>
              <a:t>;</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sinon</a:t>
            </a:r>
          </a:p>
          <a:p>
            <a:r>
              <a:rPr lang="fr-FR" sz="2400" dirty="0" smtClean="0">
                <a:latin typeface="Times New Roman" panose="02020603050405020304" pitchFamily="18" charset="0"/>
                <a:cs typeface="Times New Roman" panose="02020603050405020304" pitchFamily="18" charset="0"/>
              </a:rPr>
              <a:t>        p -&gt; suivant </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nouveau(joueur</a:t>
            </a:r>
            <a:r>
              <a:rPr lang="fr-FR" sz="2400" dirty="0" smtClean="0">
                <a:latin typeface="Times New Roman" panose="02020603050405020304" pitchFamily="18" charset="0"/>
                <a:cs typeface="Times New Roman" panose="02020603050405020304" pitchFamily="18" charset="0"/>
              </a:rPr>
              <a:t>); #2</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p </a:t>
            </a:r>
            <a:r>
              <a:rPr lang="fr-FR" sz="2400" dirty="0" smtClean="0">
                <a:latin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p-&gt;suivant;</a:t>
            </a:r>
            <a:endParaRPr lang="fr-FR" sz="2400" dirty="0">
              <a:latin typeface="Times New Roman" panose="02020603050405020304" pitchFamily="18" charset="0"/>
              <a:cs typeface="Times New Roman" panose="02020603050405020304" pitchFamily="18" charset="0"/>
            </a:endParaRPr>
          </a:p>
          <a:p>
            <a:endParaRPr lang="fr-FR" sz="2400" dirty="0" smtClean="0">
              <a:latin typeface="Times New Roman" panose="02020603050405020304" pitchFamily="18" charset="0"/>
              <a:cs typeface="Times New Roman" panose="02020603050405020304" pitchFamily="18" charset="0"/>
            </a:endParaRPr>
          </a:p>
          <a:p>
            <a:r>
              <a:rPr lang="fr-FR" sz="2400" dirty="0" smtClean="0">
                <a:latin typeface="Times New Roman" panose="02020603050405020304" pitchFamily="18" charset="0"/>
                <a:cs typeface="Times New Roman" panose="02020603050405020304" pitchFamily="18" charset="0"/>
              </a:rPr>
              <a:t>Condition fausse : T(n) = 1 + max(2, 2) =3 = O(3)</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61306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193040" y="67995"/>
                <a:ext cx="11816080" cy="6865213"/>
              </a:xfrm>
              <a:prstGeom prst="rect">
                <a:avLst/>
              </a:prstGeom>
            </p:spPr>
            <p:txBody>
              <a:bodyPr wrap="square">
                <a:spAutoFit/>
              </a:bodyPr>
              <a:lstStyle/>
              <a:p>
                <a:pPr algn="just"/>
                <a:r>
                  <a:rPr lang="fr-FR" sz="2400" b="1" dirty="0" smtClean="0">
                    <a:latin typeface="Times New Roman" panose="02020603050405020304" pitchFamily="18" charset="0"/>
                    <a:cs typeface="Times New Roman" panose="02020603050405020304" pitchFamily="18" charset="0"/>
                  </a:rPr>
                  <a:t>1.4.2.3. Algorithme récursif</a:t>
                </a:r>
              </a:p>
              <a:p>
                <a:pPr algn="just"/>
                <a:r>
                  <a:rPr lang="fr-FR" sz="2400" dirty="0" smtClean="0">
                    <a:latin typeface="Times New Roman" panose="02020603050405020304" pitchFamily="18" charset="0"/>
                    <a:cs typeface="Times New Roman" panose="02020603050405020304" pitchFamily="18" charset="0"/>
                  </a:rPr>
                  <a:t>Pour déterminer la </a:t>
                </a:r>
                <a:r>
                  <a:rPr lang="fr-FR" sz="2400" b="1" dirty="0" smtClean="0">
                    <a:latin typeface="Times New Roman" panose="02020603050405020304" pitchFamily="18" charset="0"/>
                    <a:cs typeface="Times New Roman" panose="02020603050405020304" pitchFamily="18" charset="0"/>
                  </a:rPr>
                  <a:t>complexité d’un algorithme récursif</a:t>
                </a:r>
                <a:r>
                  <a:rPr lang="fr-FR" sz="2400" dirty="0" smtClean="0">
                    <a:latin typeface="Times New Roman" panose="02020603050405020304" pitchFamily="18" charset="0"/>
                    <a:cs typeface="Times New Roman" panose="02020603050405020304" pitchFamily="18" charset="0"/>
                  </a:rPr>
                  <a:t>, on doit compter le nombre d’appels récursif et ce que l’on fait à chaque appel.</a:t>
                </a:r>
              </a:p>
              <a:p>
                <a:pPr algn="just"/>
                <a:r>
                  <a:rPr lang="fr-FR" sz="2400" dirty="0" smtClean="0">
                    <a:latin typeface="Times New Roman" panose="02020603050405020304" pitchFamily="18" charset="0"/>
                    <a:cs typeface="Times New Roman" panose="02020603050405020304" pitchFamily="18" charset="0"/>
                  </a:rPr>
                  <a:t>Principe général : diviser un problème de taille </a:t>
                </a:r>
                <a:r>
                  <a:rPr lang="fr-FR" sz="2400" b="1" dirty="0" smtClean="0">
                    <a:latin typeface="Times New Roman" panose="02020603050405020304" pitchFamily="18" charset="0"/>
                    <a:cs typeface="Times New Roman" panose="02020603050405020304" pitchFamily="18" charset="0"/>
                  </a:rPr>
                  <a:t>n</a:t>
                </a:r>
                <a:r>
                  <a:rPr lang="fr-FR" sz="2400" dirty="0" smtClean="0">
                    <a:latin typeface="Times New Roman" panose="02020603050405020304" pitchFamily="18" charset="0"/>
                    <a:cs typeface="Times New Roman" panose="02020603050405020304" pitchFamily="18" charset="0"/>
                  </a:rPr>
                  <a:t> en </a:t>
                </a:r>
                <a:r>
                  <a:rPr lang="fr-FR" sz="2400" b="1" dirty="0" smtClean="0">
                    <a:latin typeface="Times New Roman" panose="02020603050405020304" pitchFamily="18" charset="0"/>
                    <a:cs typeface="Times New Roman" panose="02020603050405020304" pitchFamily="18" charset="0"/>
                  </a:rPr>
                  <a:t>a ≥1</a:t>
                </a:r>
                <a:r>
                  <a:rPr lang="fr-FR" sz="2400" dirty="0" smtClean="0">
                    <a:latin typeface="Times New Roman" panose="02020603050405020304" pitchFamily="18" charset="0"/>
                    <a:cs typeface="Times New Roman" panose="02020603050405020304" pitchFamily="18" charset="0"/>
                  </a:rPr>
                  <a:t> sous-problèmes de taille </a:t>
                </a:r>
                <a:r>
                  <a:rPr lang="fr-FR" sz="2400" b="1" dirty="0" smtClean="0">
                    <a:latin typeface="Times New Roman" panose="02020603050405020304" pitchFamily="18" charset="0"/>
                    <a:cs typeface="Times New Roman" panose="02020603050405020304" pitchFamily="18" charset="0"/>
                  </a:rPr>
                  <a:t>n/b</a:t>
                </a:r>
                <a:r>
                  <a:rPr lang="fr-FR" sz="2400" dirty="0" smtClean="0">
                    <a:latin typeface="Times New Roman" panose="02020603050405020304" pitchFamily="18" charset="0"/>
                    <a:cs typeface="Times New Roman" panose="02020603050405020304" pitchFamily="18" charset="0"/>
                  </a:rPr>
                  <a:t> avec </a:t>
                </a:r>
                <a:r>
                  <a:rPr lang="fr-FR" sz="2400" b="1" dirty="0" smtClean="0">
                    <a:latin typeface="Times New Roman" panose="02020603050405020304" pitchFamily="18" charset="0"/>
                    <a:cs typeface="Times New Roman" panose="02020603050405020304" pitchFamily="18" charset="0"/>
                  </a:rPr>
                  <a:t>b&gt;1</a:t>
                </a:r>
                <a:r>
                  <a:rPr lang="fr-FR" sz="2400" dirty="0" smtClean="0">
                    <a:latin typeface="Times New Roman" panose="02020603050405020304" pitchFamily="18" charset="0"/>
                    <a:cs typeface="Times New Roman" panose="02020603050405020304" pitchFamily="18" charset="0"/>
                  </a:rPr>
                  <a:t> (stratégie de « diviser pour régner »).</a:t>
                </a:r>
              </a:p>
              <a:p>
                <a:r>
                  <a:rPr lang="fr-FR" sz="2400" dirty="0" smtClean="0">
                    <a:latin typeface="Times New Roman" panose="02020603050405020304" pitchFamily="18" charset="0"/>
                    <a:cs typeface="Times New Roman" panose="02020603050405020304" pitchFamily="18" charset="0"/>
                  </a:rPr>
                  <a:t>T(n)=a x T(</a:t>
                </a:r>
                <a14:m>
                  <m:oMath xmlns:m="http://schemas.openxmlformats.org/officeDocument/2006/math">
                    <m:f>
                      <m:fPr>
                        <m:ctrlPr>
                          <a:rPr lang="fr-FR" sz="2400" i="1" smtClean="0">
                            <a:latin typeface="Cambria Math" panose="02040503050406030204" pitchFamily="18" charset="0"/>
                            <a:cs typeface="Times New Roman" panose="02020603050405020304" pitchFamily="18" charset="0"/>
                          </a:rPr>
                        </m:ctrlPr>
                      </m:fPr>
                      <m:num>
                        <m:r>
                          <a:rPr lang="fr-FR" sz="2400" b="0" i="1" smtClean="0">
                            <a:latin typeface="Cambria Math" panose="02040503050406030204" pitchFamily="18" charset="0"/>
                            <a:cs typeface="Times New Roman" panose="02020603050405020304" pitchFamily="18" charset="0"/>
                          </a:rPr>
                          <m:t>𝑛</m:t>
                        </m:r>
                      </m:num>
                      <m:den>
                        <m:r>
                          <a:rPr lang="fr-FR" sz="2400" b="0" i="1" smtClean="0">
                            <a:latin typeface="Cambria Math" panose="02040503050406030204" pitchFamily="18" charset="0"/>
                            <a:cs typeface="Times New Roman" panose="02020603050405020304" pitchFamily="18" charset="0"/>
                          </a:rPr>
                          <m:t>𝑏</m:t>
                        </m:r>
                      </m:den>
                    </m:f>
                  </m:oMath>
                </a14:m>
                <a:r>
                  <a:rPr lang="fr-FR" sz="2400" dirty="0" smtClean="0">
                    <a:latin typeface="Times New Roman" panose="02020603050405020304" pitchFamily="18" charset="0"/>
                    <a:cs typeface="Times New Roman" panose="02020603050405020304" pitchFamily="18" charset="0"/>
                  </a:rPr>
                  <a:t>) + f(n)</a:t>
                </a:r>
              </a:p>
              <a:p>
                <a:pPr marL="342900" indent="-342900">
                  <a:buFontTx/>
                  <a:buChar char="-"/>
                </a:pPr>
                <a:r>
                  <a:rPr lang="fr-FR" sz="2400" dirty="0">
                    <a:latin typeface="Times New Roman" panose="02020603050405020304" pitchFamily="18" charset="0"/>
                    <a:cs typeface="Times New Roman" panose="02020603050405020304" pitchFamily="18" charset="0"/>
                  </a:rPr>
                  <a:t>a</a:t>
                </a:r>
                <a:r>
                  <a:rPr lang="fr-FR" sz="2400" dirty="0" smtClean="0">
                    <a:latin typeface="Times New Roman" panose="02020603050405020304" pitchFamily="18" charset="0"/>
                    <a:cs typeface="Times New Roman" panose="02020603050405020304" pitchFamily="18" charset="0"/>
                  </a:rPr>
                  <a:t> = nombre de sous-problèmes</a:t>
                </a:r>
              </a:p>
              <a:p>
                <a:pPr marL="342900" indent="-342900">
                  <a:buFontTx/>
                  <a:buChar char="-"/>
                </a:pPr>
                <a:r>
                  <a:rPr lang="fr-FR" sz="2400" dirty="0">
                    <a:latin typeface="Times New Roman" panose="02020603050405020304" pitchFamily="18" charset="0"/>
                    <a:cs typeface="Times New Roman" panose="02020603050405020304" pitchFamily="18" charset="0"/>
                  </a:rPr>
                  <a:t>b</a:t>
                </a:r>
                <a:r>
                  <a:rPr lang="fr-FR" sz="2400" dirty="0" smtClean="0">
                    <a:latin typeface="Times New Roman" panose="02020603050405020304" pitchFamily="18" charset="0"/>
                    <a:cs typeface="Times New Roman" panose="02020603050405020304" pitchFamily="18" charset="0"/>
                  </a:rPr>
                  <a:t> = facteur de réduction de taille de sous-problèmes</a:t>
                </a:r>
              </a:p>
              <a:p>
                <a:pPr marL="342900" indent="-342900">
                  <a:buFontTx/>
                  <a:buChar char="-"/>
                </a:pPr>
                <a:r>
                  <a:rPr lang="fr-FR" sz="2400" dirty="0">
                    <a:latin typeface="Times New Roman" panose="02020603050405020304" pitchFamily="18" charset="0"/>
                    <a:cs typeface="Times New Roman" panose="02020603050405020304" pitchFamily="18" charset="0"/>
                  </a:rPr>
                  <a:t>f</a:t>
                </a:r>
                <a:r>
                  <a:rPr lang="fr-FR" sz="2400" dirty="0" smtClean="0">
                    <a:latin typeface="Times New Roman" panose="02020603050405020304" pitchFamily="18" charset="0"/>
                    <a:cs typeface="Times New Roman" panose="02020603050405020304" pitchFamily="18" charset="0"/>
                  </a:rPr>
                  <a:t>(n) = coût de la décomposition du problème et de la recomposition des solutions.</a:t>
                </a:r>
              </a:p>
              <a:p>
                <a:endParaRPr lang="fr-FR" sz="2400" dirty="0" smtClean="0">
                  <a:latin typeface="Times New Roman" panose="02020603050405020304" pitchFamily="18" charset="0"/>
                  <a:cs typeface="Times New Roman" panose="02020603050405020304" pitchFamily="18" charset="0"/>
                </a:endParaRPr>
              </a:p>
              <a:p>
                <a:r>
                  <a:rPr lang="fr-FR" sz="2400" u="sng" dirty="0" smtClean="0">
                    <a:latin typeface="Times New Roman" panose="02020603050405020304" pitchFamily="18" charset="0"/>
                    <a:cs typeface="Times New Roman" panose="02020603050405020304" pitchFamily="18" charset="0"/>
                  </a:rPr>
                  <a:t>Exercice </a:t>
                </a:r>
                <a:r>
                  <a:rPr lang="fr-FR" sz="2400" u="sng" dirty="0">
                    <a:latin typeface="Times New Roman" panose="02020603050405020304" pitchFamily="18" charset="0"/>
                    <a:cs typeface="Times New Roman" panose="02020603050405020304" pitchFamily="18" charset="0"/>
                  </a:rPr>
                  <a:t>7</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Q</a:t>
                </a:r>
                <a:r>
                  <a:rPr lang="fr-FR" sz="2400" dirty="0" smtClean="0">
                    <a:latin typeface="Times New Roman" panose="02020603050405020304" pitchFamily="18" charset="0"/>
                    <a:cs typeface="Times New Roman" panose="02020603050405020304" pitchFamily="18" charset="0"/>
                  </a:rPr>
                  <a:t>uelle est </a:t>
                </a:r>
                <a:r>
                  <a:rPr lang="fr-FR" sz="2400" dirty="0">
                    <a:latin typeface="Times New Roman" panose="02020603050405020304" pitchFamily="18" charset="0"/>
                    <a:cs typeface="Times New Roman" panose="02020603050405020304" pitchFamily="18" charset="0"/>
                  </a:rPr>
                  <a:t>la complexité T(n) de l’algorithme </a:t>
                </a:r>
                <a:r>
                  <a:rPr lang="fr-FR" sz="2400" dirty="0" smtClean="0">
                    <a:latin typeface="Times New Roman" panose="02020603050405020304" pitchFamily="18" charset="0"/>
                    <a:cs typeface="Times New Roman" panose="02020603050405020304" pitchFamily="18" charset="0"/>
                  </a:rPr>
                  <a:t>de l’exercice 2.</a:t>
                </a:r>
              </a:p>
              <a:p>
                <a:r>
                  <a:rPr lang="fr-FR" sz="2400" u="sng" dirty="0" smtClean="0">
                    <a:latin typeface="Times New Roman" panose="02020603050405020304" pitchFamily="18" charset="0"/>
                    <a:cs typeface="Times New Roman" panose="02020603050405020304" pitchFamily="18" charset="0"/>
                  </a:rPr>
                  <a:t>Exercice 8</a:t>
                </a:r>
                <a:r>
                  <a:rPr lang="fr-FR" sz="2400" dirty="0" smtClean="0">
                    <a:latin typeface="Times New Roman" panose="02020603050405020304" pitchFamily="18" charset="0"/>
                    <a:cs typeface="Times New Roman" panose="02020603050405020304" pitchFamily="18" charset="0"/>
                  </a:rPr>
                  <a:t>. Calculer la complexité de l’algorithme suivant pour n = 100, puis n=1000  :</a:t>
                </a:r>
              </a:p>
              <a:p>
                <a:r>
                  <a:rPr lang="fr-FR" sz="2400" b="1" dirty="0" smtClean="0">
                    <a:latin typeface="Times New Roman" panose="02020603050405020304" pitchFamily="18" charset="0"/>
                    <a:cs typeface="Times New Roman" panose="02020603050405020304" pitchFamily="18" charset="0"/>
                  </a:rPr>
                  <a:t>entier</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fct</a:t>
                </a:r>
                <a:r>
                  <a:rPr lang="fr-FR" sz="2400" dirty="0" smtClean="0">
                    <a:latin typeface="Times New Roman" panose="02020603050405020304" pitchFamily="18" charset="0"/>
                    <a:cs typeface="Times New Roman" panose="02020603050405020304" pitchFamily="18" charset="0"/>
                  </a:rPr>
                  <a:t>(</a:t>
                </a:r>
                <a:r>
                  <a:rPr lang="fr-FR" sz="2400" b="1" dirty="0" smtClean="0">
                    <a:latin typeface="Times New Roman" panose="02020603050405020304" pitchFamily="18" charset="0"/>
                    <a:cs typeface="Times New Roman" panose="02020603050405020304" pitchFamily="18" charset="0"/>
                  </a:rPr>
                  <a:t>d entier</a:t>
                </a:r>
                <a:r>
                  <a:rPr lang="fr-FR" sz="2400" dirty="0" smtClean="0">
                    <a:latin typeface="Times New Roman" panose="02020603050405020304" pitchFamily="18" charset="0"/>
                    <a:cs typeface="Times New Roman" panose="02020603050405020304" pitchFamily="18" charset="0"/>
                  </a:rPr>
                  <a:t> n)</a:t>
                </a:r>
              </a:p>
              <a:p>
                <a:r>
                  <a:rPr lang="fr-FR" sz="2400" b="1" dirty="0" err="1">
                    <a:latin typeface="Times New Roman" panose="02020603050405020304" pitchFamily="18" charset="0"/>
                    <a:cs typeface="Times New Roman" panose="02020603050405020304" pitchFamily="18" charset="0"/>
                  </a:rPr>
                  <a:t>d</a:t>
                </a:r>
                <a:r>
                  <a:rPr lang="fr-FR" sz="2400" b="1" dirty="0" err="1" smtClean="0">
                    <a:latin typeface="Times New Roman" panose="02020603050405020304" pitchFamily="18" charset="0"/>
                    <a:cs typeface="Times New Roman" panose="02020603050405020304" pitchFamily="18" charset="0"/>
                  </a:rPr>
                  <a:t>ebfonc</a:t>
                </a:r>
                <a:endParaRPr lang="fr-FR" sz="2400" b="1" dirty="0" smtClean="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si</a:t>
                </a:r>
                <a:r>
                  <a:rPr lang="fr-FR" sz="2400" dirty="0" smtClean="0">
                    <a:latin typeface="Times New Roman" panose="02020603050405020304" pitchFamily="18" charset="0"/>
                    <a:cs typeface="Times New Roman" panose="02020603050405020304" pitchFamily="18" charset="0"/>
                  </a:rPr>
                  <a:t> n≤0 </a:t>
                </a:r>
                <a:r>
                  <a:rPr lang="fr-FR" sz="2400" b="1" dirty="0" smtClean="0">
                    <a:latin typeface="Times New Roman" panose="02020603050405020304" pitchFamily="18" charset="0"/>
                    <a:cs typeface="Times New Roman" panose="02020603050405020304" pitchFamily="18" charset="0"/>
                  </a:rPr>
                  <a:t>alors</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retourner</a:t>
                </a:r>
                <a:r>
                  <a:rPr lang="fr-FR" sz="2400" dirty="0" smtClean="0">
                    <a:latin typeface="Times New Roman" panose="02020603050405020304" pitchFamily="18" charset="0"/>
                    <a:cs typeface="Times New Roman" panose="02020603050405020304" pitchFamily="18" charset="0"/>
                  </a:rPr>
                  <a:t> 1</a:t>
                </a:r>
              </a:p>
              <a:p>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sinon</a:t>
                </a:r>
                <a:r>
                  <a:rPr lang="fr-FR" sz="2400" dirty="0" smtClean="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retourner</a:t>
                </a:r>
                <a:r>
                  <a:rPr lang="fr-FR" sz="2400" dirty="0" smtClean="0">
                    <a:latin typeface="Times New Roman" panose="02020603050405020304" pitchFamily="18" charset="0"/>
                    <a:cs typeface="Times New Roman" panose="02020603050405020304" pitchFamily="18" charset="0"/>
                  </a:rPr>
                  <a:t> 1 + </a:t>
                </a:r>
                <a:r>
                  <a:rPr lang="fr-FR" sz="2400" dirty="0" err="1" smtClean="0">
                    <a:latin typeface="Times New Roman" panose="02020603050405020304" pitchFamily="18" charset="0"/>
                    <a:cs typeface="Times New Roman" panose="02020603050405020304" pitchFamily="18" charset="0"/>
                  </a:rPr>
                  <a:t>fct</a:t>
                </a:r>
                <a:r>
                  <a:rPr lang="fr-FR" sz="2400" dirty="0" smtClean="0">
                    <a:latin typeface="Times New Roman" panose="02020603050405020304" pitchFamily="18" charset="0"/>
                    <a:cs typeface="Times New Roman" panose="02020603050405020304" pitchFamily="18" charset="0"/>
                  </a:rPr>
                  <a:t>(n div 5); </a:t>
                </a:r>
              </a:p>
              <a:p>
                <a:r>
                  <a:rPr lang="fr-FR" sz="2400" b="1" dirty="0">
                    <a:latin typeface="Times New Roman" panose="02020603050405020304" pitchFamily="18" charset="0"/>
                    <a:cs typeface="Times New Roman" panose="02020603050405020304" pitchFamily="18" charset="0"/>
                  </a:rPr>
                  <a:t> </a:t>
                </a:r>
                <a:r>
                  <a:rPr lang="fr-FR" sz="2400" b="1" dirty="0" smtClean="0">
                    <a:latin typeface="Times New Roman" panose="02020603050405020304" pitchFamily="18" charset="0"/>
                    <a:cs typeface="Times New Roman" panose="02020603050405020304" pitchFamily="18" charset="0"/>
                  </a:rPr>
                  <a:t>   </a:t>
                </a:r>
                <a:r>
                  <a:rPr lang="fr-FR" sz="2400" b="1" dirty="0" err="1" smtClean="0">
                    <a:latin typeface="Times New Roman" panose="02020603050405020304" pitchFamily="18" charset="0"/>
                    <a:cs typeface="Times New Roman" panose="02020603050405020304" pitchFamily="18" charset="0"/>
                  </a:rPr>
                  <a:t>finsi</a:t>
                </a:r>
                <a:r>
                  <a:rPr lang="fr-FR" sz="2400" dirty="0" smtClean="0">
                    <a:latin typeface="Times New Roman" panose="02020603050405020304" pitchFamily="18" charset="0"/>
                    <a:cs typeface="Times New Roman" panose="02020603050405020304" pitchFamily="18" charset="0"/>
                  </a:rPr>
                  <a:t>;</a:t>
                </a:r>
              </a:p>
              <a:p>
                <a:r>
                  <a:rPr lang="fr-FR" sz="2400" b="1" dirty="0" err="1">
                    <a:latin typeface="Times New Roman" panose="02020603050405020304" pitchFamily="18" charset="0"/>
                    <a:cs typeface="Times New Roman" panose="02020603050405020304" pitchFamily="18" charset="0"/>
                  </a:rPr>
                  <a:t>f</a:t>
                </a:r>
                <a:r>
                  <a:rPr lang="fr-FR" sz="2400" b="1" dirty="0" err="1" smtClean="0">
                    <a:latin typeface="Times New Roman" panose="02020603050405020304" pitchFamily="18" charset="0"/>
                    <a:cs typeface="Times New Roman" panose="02020603050405020304" pitchFamily="18" charset="0"/>
                  </a:rPr>
                  <a:t>infonc</a:t>
                </a:r>
                <a:r>
                  <a:rPr lang="fr-FR" sz="2400" dirty="0" smtClean="0">
                    <a:latin typeface="Times New Roman" panose="02020603050405020304" pitchFamily="18" charset="0"/>
                    <a:cs typeface="Times New Roman" panose="02020603050405020304" pitchFamily="18" charset="0"/>
                  </a:rPr>
                  <a:t>; </a:t>
                </a:r>
                <a:endParaRPr lang="fr-FR" sz="2400" dirty="0"/>
              </a:p>
            </p:txBody>
          </p:sp>
        </mc:Choice>
        <mc:Fallback xmlns="">
          <p:sp>
            <p:nvSpPr>
              <p:cNvPr id="2" name="Rectangle 1"/>
              <p:cNvSpPr>
                <a:spLocks noRot="1" noChangeAspect="1" noMove="1" noResize="1" noEditPoints="1" noAdjustHandles="1" noChangeArrowheads="1" noChangeShapeType="1" noTextEdit="1"/>
              </p:cNvSpPr>
              <p:nvPr/>
            </p:nvSpPr>
            <p:spPr>
              <a:xfrm>
                <a:off x="193040" y="67995"/>
                <a:ext cx="11816080" cy="6865213"/>
              </a:xfrm>
              <a:prstGeom prst="rect">
                <a:avLst/>
              </a:prstGeom>
              <a:blipFill>
                <a:blip r:embed="rId3"/>
                <a:stretch>
                  <a:fillRect l="-826" t="-710" r="-774" b="-977"/>
                </a:stretch>
              </a:blipFill>
            </p:spPr>
            <p:txBody>
              <a:bodyPr/>
              <a:lstStyle/>
              <a:p>
                <a:r>
                  <a:rPr lang="fr-FR">
                    <a:noFill/>
                  </a:rPr>
                  <a:t> </a:t>
                </a:r>
              </a:p>
            </p:txBody>
          </p:sp>
        </mc:Fallback>
      </mc:AlternateContent>
    </p:spTree>
    <p:extLst>
      <p:ext uri="{BB962C8B-B14F-4D97-AF65-F5344CB8AC3E}">
        <p14:creationId xmlns:p14="http://schemas.microsoft.com/office/powerpoint/2010/main" val="2631036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3918" y="369054"/>
            <a:ext cx="11664081" cy="6001643"/>
          </a:xfrm>
          <a:prstGeom prst="rect">
            <a:avLst/>
          </a:prstGeom>
        </p:spPr>
        <p:txBody>
          <a:bodyPr wrap="square">
            <a:spAutoFit/>
          </a:bodyPr>
          <a:lstStyle/>
          <a:p>
            <a:r>
              <a:rPr lang="fr-FR" sz="2400" b="1" dirty="0">
                <a:latin typeface="Times New Roman" panose="02020603050405020304" pitchFamily="18" charset="0"/>
                <a:cs typeface="Times New Roman" panose="02020603050405020304" pitchFamily="18" charset="0"/>
              </a:rPr>
              <a:t>Chapitre </a:t>
            </a:r>
            <a:r>
              <a:rPr lang="fr-FR" sz="2400" b="1" dirty="0" smtClean="0">
                <a:latin typeface="Times New Roman" panose="02020603050405020304" pitchFamily="18" charset="0"/>
                <a:cs typeface="Times New Roman" panose="02020603050405020304" pitchFamily="18" charset="0"/>
              </a:rPr>
              <a:t>2. Structures de données : tableaux et listes linéaires chaînées</a:t>
            </a:r>
            <a:endParaRPr lang="fr-FR" sz="2400" b="1" dirty="0">
              <a:latin typeface="Times New Roman" pitchFamily="18" charset="0"/>
              <a:ea typeface="Times New Roman" pitchFamily="18" charset="0"/>
              <a:cs typeface="Times New Roman" pitchFamily="18" charset="0"/>
            </a:endParaRPr>
          </a:p>
          <a:p>
            <a:pPr lvl="0" eaLnBrk="0" fontAlgn="base" hangingPunct="0">
              <a:spcBef>
                <a:spcPct val="0"/>
              </a:spcBef>
              <a:spcAft>
                <a:spcPct val="0"/>
              </a:spcAft>
              <a:tabLst>
                <a:tab pos="114300" algn="l"/>
              </a:tabLst>
            </a:pPr>
            <a:endParaRPr lang="fr-FR" sz="2400" dirty="0" smtClean="0">
              <a:latin typeface="Times New Roman" pitchFamily="18" charset="0"/>
              <a:ea typeface="Times New Roman" pitchFamily="18" charset="0"/>
              <a:cs typeface="Times New Roman" pitchFamily="18" charset="0"/>
            </a:endParaRPr>
          </a:p>
          <a:p>
            <a:pPr lvl="0" eaLnBrk="0" fontAlgn="base" hangingPunct="0">
              <a:spcBef>
                <a:spcPct val="0"/>
              </a:spcBef>
              <a:spcAft>
                <a:spcPct val="0"/>
              </a:spcAft>
              <a:tabLst>
                <a:tab pos="114300" algn="l"/>
              </a:tabLst>
            </a:pPr>
            <a:r>
              <a:rPr lang="fr-FR" sz="2400" dirty="0" smtClean="0">
                <a:latin typeface="Times New Roman" pitchFamily="18" charset="0"/>
                <a:ea typeface="Times New Roman" pitchFamily="18" charset="0"/>
                <a:cs typeface="Times New Roman" pitchFamily="18" charset="0"/>
              </a:rPr>
              <a:t>2.1. Tableaux</a:t>
            </a:r>
          </a:p>
          <a:p>
            <a:pPr lvl="0" eaLnBrk="0" fontAlgn="base" hangingPunct="0">
              <a:spcBef>
                <a:spcPct val="0"/>
              </a:spcBef>
              <a:spcAft>
                <a:spcPct val="0"/>
              </a:spcAft>
              <a:tabLst>
                <a:tab pos="114300" algn="l"/>
              </a:tabLst>
            </a:pPr>
            <a:r>
              <a:rPr lang="fr-FR" sz="2400" dirty="0" smtClean="0">
                <a:latin typeface="Times New Roman" pitchFamily="18" charset="0"/>
                <a:ea typeface="Times New Roman" pitchFamily="18" charset="0"/>
                <a:cs typeface="Times New Roman" pitchFamily="18" charset="0"/>
              </a:rPr>
              <a:t>2.2. Listes linéaires chainées</a:t>
            </a:r>
          </a:p>
          <a:p>
            <a:pPr lvl="0" eaLnBrk="0" fontAlgn="base" hangingPunct="0">
              <a:spcBef>
                <a:spcPct val="0"/>
              </a:spcBef>
              <a:spcAft>
                <a:spcPct val="0"/>
              </a:spcAft>
              <a:tabLst>
                <a:tab pos="114300" algn="l"/>
              </a:tabLst>
            </a:pPr>
            <a:endParaRPr lang="fr-FR" sz="2400" dirty="0">
              <a:latin typeface="Times New Roman" pitchFamily="18" charset="0"/>
              <a:ea typeface="Times New Roman" pitchFamily="18" charset="0"/>
              <a:cs typeface="Times New Roman" pitchFamily="18" charset="0"/>
            </a:endParaRPr>
          </a:p>
          <a:p>
            <a:pPr lvl="0" eaLnBrk="0" fontAlgn="base" hangingPunct="0">
              <a:spcBef>
                <a:spcPct val="0"/>
              </a:spcBef>
              <a:spcAft>
                <a:spcPct val="0"/>
              </a:spcAft>
              <a:tabLst>
                <a:tab pos="114300" algn="l"/>
              </a:tabLst>
            </a:pPr>
            <a:r>
              <a:rPr lang="fr-FR" sz="2400" dirty="0" smtClean="0">
                <a:latin typeface="Times New Roman" pitchFamily="18" charset="0"/>
                <a:ea typeface="Times New Roman" pitchFamily="18" charset="0"/>
                <a:cs typeface="Times New Roman" pitchFamily="18" charset="0"/>
              </a:rPr>
              <a:t>Au </a:t>
            </a:r>
            <a:r>
              <a:rPr lang="fr-FR" sz="2400" dirty="0">
                <a:latin typeface="Times New Roman" pitchFamily="18" charset="0"/>
                <a:ea typeface="Times New Roman" pitchFamily="18" charset="0"/>
                <a:cs typeface="Times New Roman" pitchFamily="18" charset="0"/>
              </a:rPr>
              <a:t>chapitre 1, on a introduit la notion de variable de différents types. Il arrive souvent que l’on est amené à considérer  un ensemble de variables de même nature qu’on peut accéder :  </a:t>
            </a:r>
          </a:p>
          <a:p>
            <a:pPr lvl="0" eaLnBrk="0" fontAlgn="base" hangingPunct="0">
              <a:spcBef>
                <a:spcPct val="0"/>
              </a:spcBef>
              <a:spcAft>
                <a:spcPct val="0"/>
              </a:spcAft>
              <a:buFont typeface="Arial" charset="0"/>
              <a:buChar char="•"/>
              <a:tabLst>
                <a:tab pos="114300" algn="l"/>
              </a:tabLst>
            </a:pPr>
            <a:r>
              <a:rPr lang="fr-FR" sz="2400" dirty="0">
                <a:latin typeface="Times New Roman" pitchFamily="18" charset="0"/>
                <a:ea typeface="Times New Roman" pitchFamily="18" charset="0"/>
                <a:cs typeface="Times New Roman" pitchFamily="18" charset="0"/>
              </a:rPr>
              <a:t> soit en les parcourant toutes dans l’ordre (</a:t>
            </a:r>
            <a:r>
              <a:rPr lang="fr-FR" sz="2400" b="1" dirty="0">
                <a:latin typeface="Times New Roman" pitchFamily="18" charset="0"/>
                <a:ea typeface="Times New Roman" pitchFamily="18" charset="0"/>
                <a:cs typeface="Times New Roman" pitchFamily="18" charset="0"/>
              </a:rPr>
              <a:t>recherche séquentielle</a:t>
            </a:r>
            <a:r>
              <a:rPr lang="fr-FR" sz="2400" b="1" dirty="0" smtClean="0">
                <a:latin typeface="Times New Roman" pitchFamily="18" charset="0"/>
                <a:ea typeface="Times New Roman" pitchFamily="18" charset="0"/>
                <a:cs typeface="Times New Roman" pitchFamily="18" charset="0"/>
              </a:rPr>
              <a:t>)</a:t>
            </a:r>
            <a:r>
              <a:rPr lang="fr-FR" sz="2400" dirty="0" smtClean="0">
                <a:latin typeface="Times New Roman" pitchFamily="18" charset="0"/>
                <a:ea typeface="Times New Roman" pitchFamily="18" charset="0"/>
                <a:cs typeface="Times New Roman" pitchFamily="18" charset="0"/>
              </a:rPr>
              <a:t>,</a:t>
            </a:r>
          </a:p>
          <a:p>
            <a:pPr lvl="0" eaLnBrk="0" fontAlgn="base" hangingPunct="0">
              <a:spcBef>
                <a:spcPct val="0"/>
              </a:spcBef>
              <a:spcAft>
                <a:spcPct val="0"/>
              </a:spcAft>
              <a:tabLst>
                <a:tab pos="114300" algn="l"/>
              </a:tabLst>
            </a:pPr>
            <a:r>
              <a:rPr lang="fr-FR" sz="2400" dirty="0" smtClean="0">
                <a:latin typeface="Times New Roman" pitchFamily="18" charset="0"/>
                <a:ea typeface="Times New Roman" pitchFamily="18" charset="0"/>
                <a:cs typeface="Times New Roman" pitchFamily="18" charset="0"/>
              </a:rPr>
              <a:t> </a:t>
            </a:r>
            <a:endParaRPr lang="fr-FR" sz="2400" dirty="0">
              <a:latin typeface="Times New Roman" pitchFamily="18" charset="0"/>
              <a:ea typeface="Times New Roman" pitchFamily="18" charset="0"/>
              <a:cs typeface="Times New Roman" pitchFamily="18" charset="0"/>
            </a:endParaRPr>
          </a:p>
          <a:p>
            <a:pPr lvl="0" eaLnBrk="0" fontAlgn="base" hangingPunct="0">
              <a:spcBef>
                <a:spcPct val="0"/>
              </a:spcBef>
              <a:spcAft>
                <a:spcPct val="0"/>
              </a:spcAft>
              <a:buFont typeface="Arial" charset="0"/>
              <a:buChar char="•"/>
              <a:tabLst>
                <a:tab pos="114300" algn="l"/>
              </a:tabLst>
            </a:pPr>
            <a:r>
              <a:rPr lang="fr-FR" sz="2400" dirty="0">
                <a:latin typeface="Times New Roman" pitchFamily="18" charset="0"/>
                <a:ea typeface="Times New Roman" pitchFamily="18" charset="0"/>
                <a:cs typeface="Times New Roman" pitchFamily="18" charset="0"/>
              </a:rPr>
              <a:t> soit directement par leur numéro d’ordre (</a:t>
            </a:r>
            <a:r>
              <a:rPr lang="fr-FR" sz="2400" b="1" dirty="0">
                <a:latin typeface="Times New Roman" pitchFamily="18" charset="0"/>
                <a:ea typeface="Times New Roman" pitchFamily="18" charset="0"/>
                <a:cs typeface="Times New Roman" pitchFamily="18" charset="0"/>
              </a:rPr>
              <a:t>accès direct</a:t>
            </a:r>
            <a:r>
              <a:rPr lang="fr-FR" sz="2400" dirty="0" smtClean="0">
                <a:latin typeface="Times New Roman" pitchFamily="18" charset="0"/>
                <a:ea typeface="Times New Roman" pitchFamily="18" charset="0"/>
                <a:cs typeface="Times New Roman" pitchFamily="18" charset="0"/>
              </a:rPr>
              <a:t>),</a:t>
            </a:r>
          </a:p>
          <a:p>
            <a:pPr lvl="0" eaLnBrk="0" fontAlgn="base" hangingPunct="0">
              <a:spcBef>
                <a:spcPct val="0"/>
              </a:spcBef>
              <a:spcAft>
                <a:spcPct val="0"/>
              </a:spcAft>
              <a:tabLst>
                <a:tab pos="114300" algn="l"/>
              </a:tabLst>
            </a:pPr>
            <a:endParaRPr lang="fr-FR" sz="2400" dirty="0">
              <a:latin typeface="Times New Roman" pitchFamily="18" charset="0"/>
              <a:ea typeface="Times New Roman" pitchFamily="18" charset="0"/>
              <a:cs typeface="Times New Roman" pitchFamily="18" charset="0"/>
            </a:endParaRPr>
          </a:p>
          <a:p>
            <a:pPr eaLnBrk="0" fontAlgn="base" hangingPunct="0">
              <a:spcBef>
                <a:spcPct val="0"/>
              </a:spcBef>
              <a:spcAft>
                <a:spcPct val="0"/>
              </a:spcAft>
              <a:buFont typeface="Arial" charset="0"/>
              <a:buChar char="•"/>
              <a:tabLst>
                <a:tab pos="114300" algn="l"/>
              </a:tabLst>
            </a:pPr>
            <a:r>
              <a:rPr lang="fr-FR" sz="2400" dirty="0">
                <a:latin typeface="Times New Roman" pitchFamily="18" charset="0"/>
                <a:ea typeface="Times New Roman" pitchFamily="18" charset="0"/>
                <a:cs typeface="Times New Roman" pitchFamily="18" charset="0"/>
              </a:rPr>
              <a:t> soit en faisant une </a:t>
            </a:r>
            <a:r>
              <a:rPr lang="fr-FR" sz="2400" b="1" dirty="0">
                <a:latin typeface="Times New Roman" pitchFamily="18" charset="0"/>
                <a:ea typeface="Times New Roman" pitchFamily="18" charset="0"/>
                <a:cs typeface="Times New Roman" pitchFamily="18" charset="0"/>
              </a:rPr>
              <a:t>recherche de type dichotomique</a:t>
            </a:r>
            <a:r>
              <a:rPr lang="fr-FR" sz="2400" dirty="0">
                <a:latin typeface="Times New Roman" pitchFamily="18" charset="0"/>
                <a:ea typeface="Times New Roman" pitchFamily="18" charset="0"/>
                <a:cs typeface="Times New Roman" pitchFamily="18" charset="0"/>
              </a:rPr>
              <a:t>.</a:t>
            </a:r>
          </a:p>
          <a:p>
            <a:pPr lvl="0" eaLnBrk="0" fontAlgn="base" hangingPunct="0">
              <a:spcBef>
                <a:spcPct val="0"/>
              </a:spcBef>
              <a:spcAft>
                <a:spcPct val="0"/>
              </a:spcAft>
              <a:tabLst>
                <a:tab pos="114300" algn="l"/>
              </a:tabLst>
            </a:pPr>
            <a:r>
              <a:rPr lang="fr-FR" sz="2400" u="sng" dirty="0">
                <a:latin typeface="Times New Roman" pitchFamily="18" charset="0"/>
                <a:ea typeface="Times New Roman" pitchFamily="18" charset="0"/>
                <a:cs typeface="Times New Roman" pitchFamily="18" charset="0"/>
              </a:rPr>
              <a:t>Exemple</a:t>
            </a:r>
            <a:r>
              <a:rPr lang="fr-FR" sz="2400" dirty="0">
                <a:latin typeface="Times New Roman" pitchFamily="18" charset="0"/>
                <a:ea typeface="Times New Roman" pitchFamily="18" charset="0"/>
                <a:cs typeface="Times New Roman" pitchFamily="18" charset="0"/>
              </a:rPr>
              <a:t> : recherche d’un mot dans un dictionnaire encyclopédique.</a:t>
            </a:r>
          </a:p>
          <a:p>
            <a:pPr eaLnBrk="0" fontAlgn="base" hangingPunct="0">
              <a:spcBef>
                <a:spcPct val="0"/>
              </a:spcBef>
              <a:spcAft>
                <a:spcPct val="0"/>
              </a:spcAft>
              <a:tabLst>
                <a:tab pos="114300" algn="l"/>
              </a:tabLst>
            </a:pPr>
            <a:endParaRPr lang="fr-FR" sz="2400" dirty="0" smtClean="0">
              <a:latin typeface="Times New Roman" pitchFamily="18" charset="0"/>
              <a:cs typeface="Times New Roman" pitchFamily="18" charset="0"/>
            </a:endParaRPr>
          </a:p>
          <a:p>
            <a:pPr eaLnBrk="0" fontAlgn="base" hangingPunct="0">
              <a:spcBef>
                <a:spcPct val="0"/>
              </a:spcBef>
              <a:spcAft>
                <a:spcPct val="0"/>
              </a:spcAft>
              <a:tabLst>
                <a:tab pos="114300" algn="l"/>
              </a:tabLst>
            </a:pPr>
            <a:r>
              <a:rPr lang="fr-FR" sz="2400" dirty="0" smtClean="0">
                <a:latin typeface="Times New Roman" pitchFamily="18" charset="0"/>
                <a:cs typeface="Times New Roman" pitchFamily="18" charset="0"/>
              </a:rPr>
              <a:t>On utilise dans ce cas, des structures de données : tableaux ou liste linéaires chaînées. </a:t>
            </a:r>
            <a:endParaRPr lang="fr-FR" sz="2400" dirty="0">
              <a:latin typeface="Times New Roman" pitchFamily="18" charset="0"/>
              <a:cs typeface="Times New Roman" pitchFamily="18" charset="0"/>
            </a:endParaRPr>
          </a:p>
          <a:p>
            <a:pPr lvl="0" eaLnBrk="0" fontAlgn="base" hangingPunct="0">
              <a:spcBef>
                <a:spcPct val="0"/>
              </a:spcBef>
              <a:spcAft>
                <a:spcPct val="0"/>
              </a:spcAft>
              <a:tabLst>
                <a:tab pos="114300" algn="l"/>
              </a:tabLst>
            </a:pPr>
            <a:endParaRPr lang="fr-FR" sz="2400" b="1" dirty="0" smtClean="0">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14785307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2720" y="423039"/>
            <a:ext cx="11846560" cy="5632311"/>
          </a:xfrm>
          <a:prstGeom prst="rect">
            <a:avLst/>
          </a:prstGeom>
        </p:spPr>
        <p:txBody>
          <a:bodyPr wrap="square">
            <a:spAutoFit/>
          </a:bodyPr>
          <a:lstStyle/>
          <a:p>
            <a:pPr lvl="0" eaLnBrk="0" fontAlgn="base" hangingPunct="0">
              <a:spcBef>
                <a:spcPct val="0"/>
              </a:spcBef>
              <a:spcAft>
                <a:spcPct val="0"/>
              </a:spcAft>
              <a:tabLst>
                <a:tab pos="114300" algn="l"/>
              </a:tabLst>
            </a:pPr>
            <a:r>
              <a:rPr lang="fr-FR" sz="2400" b="1" dirty="0">
                <a:latin typeface="Times New Roman" pitchFamily="18" charset="0"/>
                <a:ea typeface="Times New Roman" pitchFamily="18" charset="0"/>
                <a:cs typeface="Times New Roman" pitchFamily="18" charset="0"/>
              </a:rPr>
              <a:t>2.1. </a:t>
            </a:r>
            <a:r>
              <a:rPr lang="fr-FR" sz="2400" b="1" dirty="0" smtClean="0">
                <a:latin typeface="Times New Roman" pitchFamily="18" charset="0"/>
                <a:ea typeface="Times New Roman" pitchFamily="18" charset="0"/>
                <a:cs typeface="Times New Roman" pitchFamily="18" charset="0"/>
              </a:rPr>
              <a:t>Tableaux</a:t>
            </a:r>
          </a:p>
          <a:p>
            <a:pPr lvl="0" eaLnBrk="0" fontAlgn="base" hangingPunct="0">
              <a:spcBef>
                <a:spcPct val="0"/>
              </a:spcBef>
              <a:spcAft>
                <a:spcPct val="0"/>
              </a:spcAft>
              <a:tabLst>
                <a:tab pos="114300" algn="l"/>
              </a:tabLst>
            </a:pPr>
            <a:endParaRPr lang="fr-FR" sz="2400" dirty="0">
              <a:latin typeface="Times New Roman" pitchFamily="18" charset="0"/>
              <a:cs typeface="Times New Roman" pitchFamily="18" charset="0"/>
            </a:endParaRPr>
          </a:p>
          <a:p>
            <a:pPr lvl="0" eaLnBrk="0" fontAlgn="base" hangingPunct="0">
              <a:spcBef>
                <a:spcPct val="0"/>
              </a:spcBef>
              <a:spcAft>
                <a:spcPct val="0"/>
              </a:spcAft>
              <a:tabLst>
                <a:tab pos="114300" algn="l"/>
              </a:tabLst>
            </a:pPr>
            <a:r>
              <a:rPr lang="fr-FR" sz="2400" dirty="0">
                <a:latin typeface="Times New Roman" pitchFamily="18" charset="0"/>
                <a:ea typeface="Times New Roman" pitchFamily="18" charset="0"/>
                <a:cs typeface="Times New Roman" pitchFamily="18" charset="0"/>
              </a:rPr>
              <a:t>Soient un : </a:t>
            </a:r>
            <a:endParaRPr lang="fr-FR" sz="2400" dirty="0" smtClean="0">
              <a:latin typeface="Times New Roman" pitchFamily="18" charset="0"/>
              <a:ea typeface="Times New Roman" pitchFamily="18" charset="0"/>
              <a:cs typeface="Times New Roman" pitchFamily="18" charset="0"/>
            </a:endParaRPr>
          </a:p>
          <a:p>
            <a:pPr lvl="0" eaLnBrk="0" fontAlgn="base" hangingPunct="0">
              <a:spcBef>
                <a:spcPct val="0"/>
              </a:spcBef>
              <a:spcAft>
                <a:spcPct val="0"/>
              </a:spcAft>
              <a:tabLst>
                <a:tab pos="114300" algn="l"/>
              </a:tabLst>
            </a:pPr>
            <a:endParaRPr lang="fr-FR" sz="2400" dirty="0">
              <a:latin typeface="Times New Roman" pitchFamily="18" charset="0"/>
              <a:ea typeface="Times New Roman" pitchFamily="18" charset="0"/>
              <a:cs typeface="Times New Roman" pitchFamily="18" charset="0"/>
            </a:endParaRPr>
          </a:p>
          <a:p>
            <a:pPr lvl="0" eaLnBrk="0" fontAlgn="base" hangingPunct="0">
              <a:spcBef>
                <a:spcPct val="0"/>
              </a:spcBef>
              <a:spcAft>
                <a:spcPct val="0"/>
              </a:spcAft>
              <a:buFont typeface="Arial" pitchFamily="34" charset="0"/>
              <a:buChar char="•"/>
              <a:tabLst>
                <a:tab pos="114300" algn="l"/>
              </a:tabLst>
            </a:pPr>
            <a:r>
              <a:rPr lang="fr-FR" sz="2400" dirty="0">
                <a:latin typeface="Times New Roman" pitchFamily="18" charset="0"/>
                <a:ea typeface="Times New Roman" pitchFamily="18" charset="0"/>
                <a:cs typeface="Times New Roman" pitchFamily="18" charset="0"/>
              </a:rPr>
              <a:t> ensemble quelconque : l’ensemble des valeurs </a:t>
            </a:r>
            <a:r>
              <a:rPr lang="fr-FR" sz="2400" b="1" dirty="0">
                <a:latin typeface="Times New Roman" pitchFamily="18" charset="0"/>
                <a:ea typeface="Times New Roman" pitchFamily="18" charset="0"/>
                <a:cs typeface="Times New Roman" pitchFamily="18" charset="0"/>
              </a:rPr>
              <a:t>E</a:t>
            </a:r>
            <a:r>
              <a:rPr lang="fr-FR" sz="2400" dirty="0" smtClean="0">
                <a:latin typeface="Times New Roman" pitchFamily="18" charset="0"/>
                <a:ea typeface="Times New Roman" pitchFamily="18" charset="0"/>
                <a:cs typeface="Times New Roman" pitchFamily="18" charset="0"/>
              </a:rPr>
              <a:t>,</a:t>
            </a:r>
          </a:p>
          <a:p>
            <a:pPr lvl="0" eaLnBrk="0" fontAlgn="base" hangingPunct="0">
              <a:spcBef>
                <a:spcPct val="0"/>
              </a:spcBef>
              <a:spcAft>
                <a:spcPct val="0"/>
              </a:spcAft>
              <a:buFont typeface="Arial" pitchFamily="34" charset="0"/>
              <a:buChar char="•"/>
              <a:tabLst>
                <a:tab pos="114300" algn="l"/>
              </a:tabLst>
            </a:pPr>
            <a:endParaRPr lang="fr-FR" sz="2400" dirty="0">
              <a:latin typeface="Times New Roman" pitchFamily="18" charset="0"/>
              <a:ea typeface="Times New Roman" pitchFamily="18" charset="0"/>
              <a:cs typeface="Times New Roman" pitchFamily="18" charset="0"/>
            </a:endParaRPr>
          </a:p>
          <a:p>
            <a:pPr lvl="0" eaLnBrk="0" fontAlgn="base" hangingPunct="0">
              <a:spcBef>
                <a:spcPct val="0"/>
              </a:spcBef>
              <a:spcAft>
                <a:spcPct val="0"/>
              </a:spcAft>
              <a:buFont typeface="Arial" pitchFamily="34" charset="0"/>
              <a:buChar char="•"/>
              <a:tabLst>
                <a:tab pos="114300" algn="l"/>
              </a:tabLst>
            </a:pPr>
            <a:r>
              <a:rPr lang="fr-FR" sz="2400" dirty="0">
                <a:latin typeface="Times New Roman" pitchFamily="18" charset="0"/>
                <a:ea typeface="Times New Roman" pitchFamily="18" charset="0"/>
                <a:cs typeface="Times New Roman" pitchFamily="18" charset="0"/>
              </a:rPr>
              <a:t> entier </a:t>
            </a:r>
            <a:r>
              <a:rPr lang="fr-FR" sz="2400" b="1" dirty="0">
                <a:latin typeface="Times New Roman" pitchFamily="18" charset="0"/>
                <a:ea typeface="Times New Roman" pitchFamily="18" charset="0"/>
                <a:cs typeface="Times New Roman" pitchFamily="18" charset="0"/>
              </a:rPr>
              <a:t>n</a:t>
            </a:r>
            <a:r>
              <a:rPr lang="fr-FR" sz="2400" dirty="0">
                <a:latin typeface="Times New Roman" pitchFamily="18" charset="0"/>
                <a:ea typeface="Times New Roman" pitchFamily="18" charset="0"/>
                <a:cs typeface="Times New Roman" pitchFamily="18" charset="0"/>
              </a:rPr>
              <a:t> : nombre d’éléments du vecteur</a:t>
            </a:r>
            <a:r>
              <a:rPr lang="fr-FR" sz="2400" dirty="0" smtClean="0">
                <a:latin typeface="Times New Roman" pitchFamily="18" charset="0"/>
                <a:ea typeface="Times New Roman" pitchFamily="18" charset="0"/>
                <a:cs typeface="Times New Roman" pitchFamily="18" charset="0"/>
              </a:rPr>
              <a:t>,</a:t>
            </a:r>
          </a:p>
          <a:p>
            <a:pPr lvl="0" eaLnBrk="0" fontAlgn="base" hangingPunct="0">
              <a:spcBef>
                <a:spcPct val="0"/>
              </a:spcBef>
              <a:spcAft>
                <a:spcPct val="0"/>
              </a:spcAft>
              <a:buFont typeface="Arial" pitchFamily="34" charset="0"/>
              <a:buChar char="•"/>
              <a:tabLst>
                <a:tab pos="114300" algn="l"/>
              </a:tabLst>
            </a:pPr>
            <a:endParaRPr lang="fr-FR" sz="2400" dirty="0">
              <a:latin typeface="Times New Roman" pitchFamily="18" charset="0"/>
              <a:ea typeface="Times New Roman" pitchFamily="18" charset="0"/>
              <a:cs typeface="Times New Roman" pitchFamily="18" charset="0"/>
            </a:endParaRPr>
          </a:p>
          <a:p>
            <a:pPr lvl="0" eaLnBrk="0" fontAlgn="base" hangingPunct="0">
              <a:spcBef>
                <a:spcPct val="0"/>
              </a:spcBef>
              <a:spcAft>
                <a:spcPct val="0"/>
              </a:spcAft>
              <a:buFont typeface="Arial" pitchFamily="34" charset="0"/>
              <a:buChar char="•"/>
              <a:tabLst>
                <a:tab pos="114300" algn="l"/>
              </a:tabLst>
            </a:pPr>
            <a:r>
              <a:rPr lang="fr-FR" sz="2400" dirty="0">
                <a:latin typeface="Times New Roman" pitchFamily="18" charset="0"/>
                <a:ea typeface="Times New Roman" pitchFamily="18" charset="0"/>
                <a:cs typeface="Times New Roman" pitchFamily="18" charset="0"/>
              </a:rPr>
              <a:t> intervalle </a:t>
            </a:r>
            <a:r>
              <a:rPr lang="fr-FR" sz="2400" b="1" dirty="0">
                <a:latin typeface="Times New Roman" pitchFamily="18" charset="0"/>
                <a:ea typeface="Times New Roman" pitchFamily="18" charset="0"/>
                <a:cs typeface="Times New Roman" pitchFamily="18" charset="0"/>
              </a:rPr>
              <a:t>I</a:t>
            </a:r>
            <a:r>
              <a:rPr lang="fr-FR" sz="2400" dirty="0">
                <a:latin typeface="Times New Roman" pitchFamily="18" charset="0"/>
                <a:ea typeface="Times New Roman" pitchFamily="18" charset="0"/>
                <a:cs typeface="Times New Roman" pitchFamily="18" charset="0"/>
              </a:rPr>
              <a:t> de </a:t>
            </a:r>
            <a:r>
              <a:rPr lang="fr-FR" sz="2400" b="1" dirty="0">
                <a:latin typeface="Times New Roman" pitchFamily="18" charset="0"/>
                <a:ea typeface="Times New Roman" pitchFamily="18" charset="0"/>
                <a:cs typeface="Times New Roman" pitchFamily="18" charset="0"/>
              </a:rPr>
              <a:t>N</a:t>
            </a:r>
            <a:r>
              <a:rPr lang="fr-FR" sz="2400" dirty="0">
                <a:latin typeface="Times New Roman" pitchFamily="18" charset="0"/>
                <a:ea typeface="Times New Roman" pitchFamily="18" charset="0"/>
                <a:cs typeface="Times New Roman" pitchFamily="18" charset="0"/>
              </a:rPr>
              <a:t> tel que </a:t>
            </a:r>
            <a:r>
              <a:rPr lang="fr-FR" sz="2400" b="1" dirty="0">
                <a:latin typeface="Times New Roman" pitchFamily="18" charset="0"/>
                <a:ea typeface="Times New Roman" pitchFamily="18" charset="0"/>
                <a:cs typeface="Times New Roman" pitchFamily="18" charset="0"/>
              </a:rPr>
              <a:t>I = [1..n], </a:t>
            </a:r>
            <a:r>
              <a:rPr lang="fr-FR" sz="2400" dirty="0">
                <a:latin typeface="Times New Roman" pitchFamily="18" charset="0"/>
                <a:ea typeface="Times New Roman" pitchFamily="18" charset="0"/>
                <a:cs typeface="Times New Roman" pitchFamily="18" charset="0"/>
              </a:rPr>
              <a:t>avec (</a:t>
            </a:r>
            <a:r>
              <a:rPr lang="fr-FR" sz="2400" b="1" dirty="0">
                <a:latin typeface="Times New Roman" pitchFamily="18" charset="0"/>
                <a:ea typeface="Times New Roman" pitchFamily="18" charset="0"/>
                <a:cs typeface="Times New Roman" pitchFamily="18" charset="0"/>
              </a:rPr>
              <a:t>n ≥ 0</a:t>
            </a:r>
            <a:r>
              <a:rPr lang="fr-FR" sz="2400" dirty="0" smtClean="0">
                <a:latin typeface="Times New Roman" pitchFamily="18" charset="0"/>
                <a:ea typeface="Times New Roman" pitchFamily="18" charset="0"/>
                <a:cs typeface="Times New Roman" pitchFamily="18" charset="0"/>
              </a:rPr>
              <a:t>).</a:t>
            </a:r>
          </a:p>
          <a:p>
            <a:pPr lvl="0" eaLnBrk="0" fontAlgn="base" hangingPunct="0">
              <a:spcBef>
                <a:spcPct val="0"/>
              </a:spcBef>
              <a:spcAft>
                <a:spcPct val="0"/>
              </a:spcAft>
              <a:buFont typeface="Arial" pitchFamily="34" charset="0"/>
              <a:buChar char="•"/>
              <a:tabLst>
                <a:tab pos="114300" algn="l"/>
              </a:tabLst>
            </a:pPr>
            <a:endParaRPr lang="fr-FR" sz="2400" dirty="0">
              <a:latin typeface="Times New Roman" pitchFamily="18" charset="0"/>
              <a:ea typeface="Times New Roman" pitchFamily="18" charset="0"/>
              <a:cs typeface="Times New Roman" pitchFamily="18" charset="0"/>
            </a:endParaRPr>
          </a:p>
          <a:p>
            <a:pPr lvl="0" eaLnBrk="0" fontAlgn="base" hangingPunct="0">
              <a:spcBef>
                <a:spcPct val="0"/>
              </a:spcBef>
              <a:spcAft>
                <a:spcPct val="0"/>
              </a:spcAft>
              <a:tabLst>
                <a:tab pos="114300" algn="l"/>
              </a:tabLst>
            </a:pPr>
            <a:r>
              <a:rPr lang="fr-FR" sz="2400" dirty="0">
                <a:latin typeface="Times New Roman" pitchFamily="18" charset="0"/>
                <a:ea typeface="Times New Roman" pitchFamily="18" charset="0"/>
                <a:cs typeface="Times New Roman" pitchFamily="18" charset="0"/>
              </a:rPr>
              <a:t>Un tableau est une </a:t>
            </a:r>
            <a:r>
              <a:rPr lang="fr-FR" sz="2400" b="1" dirty="0">
                <a:latin typeface="Times New Roman" pitchFamily="18" charset="0"/>
                <a:ea typeface="Times New Roman" pitchFamily="18" charset="0"/>
                <a:cs typeface="Times New Roman" pitchFamily="18" charset="0"/>
              </a:rPr>
              <a:t>application T de I dans E</a:t>
            </a:r>
            <a:r>
              <a:rPr lang="fr-FR" sz="2400" dirty="0">
                <a:latin typeface="Times New Roman" pitchFamily="18" charset="0"/>
                <a:ea typeface="Times New Roman" pitchFamily="18" charset="0"/>
                <a:cs typeface="Times New Roman" pitchFamily="18" charset="0"/>
              </a:rPr>
              <a:t> ; I est appelé ensemble des indices.</a:t>
            </a:r>
          </a:p>
          <a:p>
            <a:pPr lvl="0" eaLnBrk="0" fontAlgn="base" hangingPunct="0">
              <a:spcBef>
                <a:spcPct val="0"/>
              </a:spcBef>
              <a:spcAft>
                <a:spcPct val="0"/>
              </a:spcAft>
              <a:tabLst>
                <a:tab pos="114300" algn="l"/>
              </a:tabLst>
            </a:pPr>
            <a:endParaRPr lang="fr-FR" sz="2400" dirty="0" smtClean="0">
              <a:latin typeface="Times New Roman" pitchFamily="18" charset="0"/>
              <a:ea typeface="Times New Roman" pitchFamily="18" charset="0"/>
              <a:cs typeface="Times New Roman" pitchFamily="18" charset="0"/>
            </a:endParaRPr>
          </a:p>
          <a:p>
            <a:pPr lvl="0" eaLnBrk="0" fontAlgn="base" hangingPunct="0">
              <a:spcBef>
                <a:spcPct val="0"/>
              </a:spcBef>
              <a:spcAft>
                <a:spcPct val="0"/>
              </a:spcAft>
              <a:tabLst>
                <a:tab pos="114300" algn="l"/>
              </a:tabLst>
            </a:pPr>
            <a:r>
              <a:rPr lang="fr-FR" sz="2400" dirty="0" smtClean="0">
                <a:latin typeface="Times New Roman" pitchFamily="18" charset="0"/>
                <a:ea typeface="Times New Roman" pitchFamily="18" charset="0"/>
                <a:cs typeface="Times New Roman" pitchFamily="18" charset="0"/>
              </a:rPr>
              <a:t>Un </a:t>
            </a:r>
            <a:r>
              <a:rPr lang="fr-FR" sz="2400" dirty="0">
                <a:latin typeface="Times New Roman" pitchFamily="18" charset="0"/>
                <a:ea typeface="Times New Roman" pitchFamily="18" charset="0"/>
                <a:cs typeface="Times New Roman" pitchFamily="18" charset="0"/>
              </a:rPr>
              <a:t>tableau est noté </a:t>
            </a:r>
            <a:r>
              <a:rPr lang="fr-FR" sz="2400" b="1" dirty="0">
                <a:latin typeface="Times New Roman" pitchFamily="18" charset="0"/>
                <a:ea typeface="Times New Roman" pitchFamily="18" charset="0"/>
                <a:cs typeface="Times New Roman" pitchFamily="18" charset="0"/>
              </a:rPr>
              <a:t>t[1..n]</a:t>
            </a:r>
            <a:r>
              <a:rPr lang="fr-FR" sz="2400" dirty="0">
                <a:latin typeface="Times New Roman" pitchFamily="18" charset="0"/>
                <a:ea typeface="Times New Roman" pitchFamily="18" charset="0"/>
                <a:cs typeface="Times New Roman" pitchFamily="18" charset="0"/>
              </a:rPr>
              <a:t>.</a:t>
            </a:r>
            <a:endParaRPr lang="fr-FR" sz="2400" dirty="0">
              <a:latin typeface="Times New Roman" pitchFamily="18" charset="0"/>
              <a:cs typeface="Times New Roman" pitchFamily="18" charset="0"/>
            </a:endParaRPr>
          </a:p>
          <a:p>
            <a:pPr lvl="0" eaLnBrk="0" fontAlgn="base" hangingPunct="0">
              <a:spcBef>
                <a:spcPct val="0"/>
              </a:spcBef>
              <a:spcAft>
                <a:spcPct val="0"/>
              </a:spcAft>
              <a:tabLst>
                <a:tab pos="114300" algn="l"/>
              </a:tabLst>
            </a:pPr>
            <a:endParaRPr lang="fr-FR" sz="2400" dirty="0" smtClean="0">
              <a:latin typeface="Times New Roman" pitchFamily="18" charset="0"/>
              <a:ea typeface="Times New Roman" pitchFamily="18" charset="0"/>
              <a:cs typeface="Times New Roman" pitchFamily="18" charset="0"/>
            </a:endParaRPr>
          </a:p>
          <a:p>
            <a:pPr lvl="0" eaLnBrk="0" fontAlgn="base" hangingPunct="0">
              <a:spcBef>
                <a:spcPct val="0"/>
              </a:spcBef>
              <a:spcAft>
                <a:spcPct val="0"/>
              </a:spcAft>
              <a:tabLst>
                <a:tab pos="114300" algn="l"/>
              </a:tabLst>
            </a:pPr>
            <a:r>
              <a:rPr lang="fr-FR" sz="2400" dirty="0" smtClean="0">
                <a:latin typeface="Times New Roman" pitchFamily="18" charset="0"/>
                <a:ea typeface="Times New Roman" pitchFamily="18" charset="0"/>
                <a:cs typeface="Times New Roman" pitchFamily="18" charset="0"/>
              </a:rPr>
              <a:t>L’opération </a:t>
            </a:r>
            <a:r>
              <a:rPr lang="fr-FR" sz="2400" dirty="0">
                <a:latin typeface="Times New Roman" pitchFamily="18" charset="0"/>
                <a:ea typeface="Times New Roman" pitchFamily="18" charset="0"/>
                <a:cs typeface="Times New Roman" pitchFamily="18" charset="0"/>
              </a:rPr>
              <a:t>d’</a:t>
            </a:r>
            <a:r>
              <a:rPr lang="fr-FR" sz="2400" dirty="0" err="1">
                <a:latin typeface="Times New Roman" pitchFamily="18" charset="0"/>
                <a:ea typeface="Times New Roman" pitchFamily="18" charset="0"/>
                <a:cs typeface="Times New Roman" pitchFamily="18" charset="0"/>
              </a:rPr>
              <a:t>indiçage</a:t>
            </a:r>
            <a:r>
              <a:rPr lang="fr-FR" sz="2400" dirty="0">
                <a:latin typeface="Times New Roman" pitchFamily="18" charset="0"/>
                <a:ea typeface="Times New Roman" pitchFamily="18" charset="0"/>
                <a:cs typeface="Times New Roman" pitchFamily="18" charset="0"/>
              </a:rPr>
              <a:t>  </a:t>
            </a:r>
            <a:r>
              <a:rPr lang="fr-FR" sz="2400" b="1" dirty="0">
                <a:latin typeface="Times New Roman" pitchFamily="18" charset="0"/>
                <a:ea typeface="Times New Roman" pitchFamily="18" charset="0"/>
                <a:cs typeface="Times New Roman" pitchFamily="18" charset="0"/>
              </a:rPr>
              <a:t>t[i]</a:t>
            </a:r>
            <a:r>
              <a:rPr lang="fr-FR" sz="2400" dirty="0">
                <a:latin typeface="Times New Roman" pitchFamily="18" charset="0"/>
                <a:ea typeface="Times New Roman" pitchFamily="18" charset="0"/>
                <a:cs typeface="Times New Roman" pitchFamily="18" charset="0"/>
              </a:rPr>
              <a:t> délivre la valeur de l’élément d’indice </a:t>
            </a:r>
            <a:r>
              <a:rPr lang="fr-FR" sz="2400" b="1" dirty="0">
                <a:latin typeface="Times New Roman" pitchFamily="18" charset="0"/>
                <a:ea typeface="Times New Roman" pitchFamily="18" charset="0"/>
                <a:cs typeface="Times New Roman" pitchFamily="18" charset="0"/>
              </a:rPr>
              <a:t>i</a:t>
            </a:r>
            <a:r>
              <a:rPr lang="fr-FR" sz="2400" dirty="0">
                <a:latin typeface="Times New Roman" pitchFamily="18" charset="0"/>
                <a:ea typeface="Times New Roman" pitchFamily="18" charset="0"/>
                <a:cs typeface="Times New Roman" pitchFamily="18" charset="0"/>
              </a:rPr>
              <a:t> du tableau.</a:t>
            </a:r>
            <a:endParaRPr lang="fr-FR" sz="2400" dirty="0">
              <a:latin typeface="Times New Roman" pitchFamily="18" charset="0"/>
              <a:cs typeface="Times New Roman" pitchFamily="18" charset="0"/>
            </a:endParaRPr>
          </a:p>
        </p:txBody>
      </p:sp>
    </p:spTree>
    <p:extLst>
      <p:ext uri="{BB962C8B-B14F-4D97-AF65-F5344CB8AC3E}">
        <p14:creationId xmlns:p14="http://schemas.microsoft.com/office/powerpoint/2010/main" val="2628000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000" y="321439"/>
            <a:ext cx="11663680" cy="6370975"/>
          </a:xfrm>
          <a:prstGeom prst="rect">
            <a:avLst/>
          </a:prstGeom>
        </p:spPr>
        <p:txBody>
          <a:bodyPr wrap="square">
            <a:spAutoFit/>
          </a:bodyPr>
          <a:lstStyle/>
          <a:p>
            <a:pPr lvl="0" eaLnBrk="0" fontAlgn="base" hangingPunct="0">
              <a:spcBef>
                <a:spcPct val="0"/>
              </a:spcBef>
              <a:spcAft>
                <a:spcPct val="0"/>
              </a:spcAft>
            </a:pPr>
            <a:r>
              <a:rPr lang="fr-FR" sz="2400" b="1" dirty="0" smtClean="0">
                <a:latin typeface="Times New Roman" pitchFamily="18" charset="0"/>
                <a:ea typeface="Times New Roman" pitchFamily="18" charset="0"/>
                <a:cs typeface="Times New Roman" pitchFamily="18" charset="0"/>
              </a:rPr>
              <a:t>2.1.1. Algorithmes de parcours d’un tableau</a:t>
            </a:r>
            <a:endParaRPr lang="fr-FR" sz="2400" dirty="0">
              <a:latin typeface="Times New Roman" pitchFamily="18" charset="0"/>
              <a:cs typeface="Times New Roman" pitchFamily="18" charset="0"/>
            </a:endParaRPr>
          </a:p>
          <a:p>
            <a:pPr marL="457200" lvl="0" indent="-457200" eaLnBrk="0" fontAlgn="base" hangingPunct="0">
              <a:spcBef>
                <a:spcPct val="0"/>
              </a:spcBef>
              <a:spcAft>
                <a:spcPct val="0"/>
              </a:spcAft>
              <a:buAutoNum type="alphaLcParenR"/>
            </a:pPr>
            <a:r>
              <a:rPr lang="fr-FR" sz="2400" u="sng" dirty="0" smtClean="0">
                <a:latin typeface="Times New Roman" pitchFamily="18" charset="0"/>
                <a:ea typeface="Times New Roman" pitchFamily="18" charset="0"/>
                <a:cs typeface="Times New Roman" pitchFamily="18" charset="0"/>
              </a:rPr>
              <a:t>Parcours itératif</a:t>
            </a:r>
          </a:p>
          <a:p>
            <a:pPr lvl="0" indent="449263"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vide </a:t>
            </a:r>
            <a:r>
              <a:rPr lang="fr-FR" sz="2400" dirty="0">
                <a:latin typeface="Times New Roman" pitchFamily="18" charset="0"/>
                <a:ea typeface="Times New Roman" pitchFamily="18" charset="0"/>
                <a:cs typeface="Times New Roman" pitchFamily="18" charset="0"/>
              </a:rPr>
              <a:t>parcours</a:t>
            </a:r>
            <a:r>
              <a:rPr lang="fr-FR" sz="2400" b="1" dirty="0">
                <a:latin typeface="Times New Roman" pitchFamily="18" charset="0"/>
                <a:ea typeface="Times New Roman" pitchFamily="18" charset="0"/>
                <a:cs typeface="Times New Roman" pitchFamily="18" charset="0"/>
              </a:rPr>
              <a:t>(d entier </a:t>
            </a:r>
            <a:r>
              <a:rPr lang="fr-FR" sz="2400" dirty="0">
                <a:latin typeface="Times New Roman" pitchFamily="18" charset="0"/>
                <a:ea typeface="Times New Roman" pitchFamily="18" charset="0"/>
                <a:cs typeface="Times New Roman" pitchFamily="18" charset="0"/>
              </a:rPr>
              <a:t>t</a:t>
            </a:r>
            <a:r>
              <a:rPr lang="fr-FR" sz="2400" b="1" dirty="0">
                <a:latin typeface="Times New Roman" pitchFamily="18" charset="0"/>
                <a:ea typeface="Times New Roman" pitchFamily="18" charset="0"/>
                <a:cs typeface="Times New Roman" pitchFamily="18" charset="0"/>
              </a:rPr>
              <a:t>[], d entier </a:t>
            </a:r>
            <a:r>
              <a:rPr lang="fr-FR" sz="2400" dirty="0">
                <a:latin typeface="Times New Roman" pitchFamily="18" charset="0"/>
                <a:ea typeface="Times New Roman" pitchFamily="18" charset="0"/>
                <a:cs typeface="Times New Roman" pitchFamily="18" charset="0"/>
              </a:rPr>
              <a:t>n</a:t>
            </a:r>
            <a:r>
              <a:rPr lang="fr-FR" sz="2400" b="1" dirty="0">
                <a:latin typeface="Times New Roman" pitchFamily="18" charset="0"/>
                <a:ea typeface="Times New Roman" pitchFamily="18" charset="0"/>
                <a:cs typeface="Times New Roman" pitchFamily="18" charset="0"/>
              </a:rPr>
              <a:t>)</a:t>
            </a:r>
          </a:p>
          <a:p>
            <a:pPr lvl="0" indent="449263" eaLnBrk="0" fontAlgn="base" hangingPunct="0">
              <a:spcBef>
                <a:spcPct val="0"/>
              </a:spcBef>
              <a:spcAft>
                <a:spcPct val="0"/>
              </a:spcAft>
            </a:pPr>
            <a:r>
              <a:rPr lang="fr-FR" sz="2400" b="1" dirty="0" err="1">
                <a:latin typeface="Times New Roman" pitchFamily="18" charset="0"/>
                <a:ea typeface="Times New Roman" pitchFamily="18" charset="0"/>
                <a:cs typeface="Times New Roman" pitchFamily="18" charset="0"/>
              </a:rPr>
              <a:t>debfonc</a:t>
            </a:r>
            <a:r>
              <a:rPr lang="fr-FR" sz="2400" b="1" dirty="0">
                <a:latin typeface="Times New Roman" pitchFamily="18" charset="0"/>
                <a:ea typeface="Times New Roman" pitchFamily="18" charset="0"/>
                <a:cs typeface="Times New Roman" pitchFamily="18" charset="0"/>
              </a:rPr>
              <a:t> </a:t>
            </a:r>
          </a:p>
          <a:p>
            <a:pPr lvl="0" indent="449263"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entier </a:t>
            </a:r>
            <a:r>
              <a:rPr lang="fr-FR" sz="2400" dirty="0">
                <a:latin typeface="Times New Roman" pitchFamily="18" charset="0"/>
                <a:ea typeface="Times New Roman" pitchFamily="18" charset="0"/>
                <a:cs typeface="Times New Roman" pitchFamily="18" charset="0"/>
              </a:rPr>
              <a:t>i</a:t>
            </a:r>
            <a:r>
              <a:rPr lang="fr-FR" sz="2400" b="1" dirty="0">
                <a:latin typeface="Times New Roman" pitchFamily="18" charset="0"/>
                <a:ea typeface="Times New Roman" pitchFamily="18" charset="0"/>
                <a:cs typeface="Times New Roman" pitchFamily="18" charset="0"/>
              </a:rPr>
              <a:t>; </a:t>
            </a:r>
          </a:p>
          <a:p>
            <a:pPr lvl="0" indent="449263"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a:t>
            </a:r>
            <a:r>
              <a:rPr lang="fr-FR" sz="2400" dirty="0" smtClean="0">
                <a:latin typeface="Times New Roman" pitchFamily="18" charset="0"/>
                <a:ea typeface="Times New Roman" pitchFamily="18" charset="0"/>
                <a:cs typeface="Times New Roman" pitchFamily="18" charset="0"/>
              </a:rPr>
              <a:t>i</a:t>
            </a:r>
            <a:r>
              <a:rPr lang="fr-FR" sz="2400" b="1" dirty="0" smtClean="0">
                <a:latin typeface="Times New Roman" pitchFamily="18" charset="0"/>
                <a:ea typeface="Times New Roman" pitchFamily="18" charset="0"/>
                <a:cs typeface="Times New Roman" pitchFamily="18" charset="0"/>
              </a:rPr>
              <a:t>:=</a:t>
            </a:r>
            <a:r>
              <a:rPr lang="fr-FR" sz="2400" dirty="0" smtClean="0">
                <a:latin typeface="Times New Roman" pitchFamily="18" charset="0"/>
                <a:ea typeface="Times New Roman" pitchFamily="18" charset="0"/>
                <a:cs typeface="Times New Roman" pitchFamily="18" charset="0"/>
              </a:rPr>
              <a:t>1</a:t>
            </a:r>
            <a:r>
              <a:rPr lang="fr-FR" sz="2400" b="1" dirty="0">
                <a:latin typeface="Times New Roman" pitchFamily="18" charset="0"/>
                <a:ea typeface="Times New Roman" pitchFamily="18" charset="0"/>
                <a:cs typeface="Times New Roman" pitchFamily="18" charset="0"/>
              </a:rPr>
              <a:t>;</a:t>
            </a:r>
            <a:endParaRPr lang="fr-FR" sz="2400" dirty="0">
              <a:latin typeface="Times New Roman" pitchFamily="18" charset="0"/>
              <a:cs typeface="Times New Roman" pitchFamily="18" charset="0"/>
            </a:endParaRPr>
          </a:p>
          <a:p>
            <a:pPr lvl="0" indent="449263"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a:t>
            </a:r>
            <a:r>
              <a:rPr lang="fr-FR" sz="2400" b="1" dirty="0" err="1">
                <a:latin typeface="Times New Roman" pitchFamily="18" charset="0"/>
                <a:ea typeface="Times New Roman" pitchFamily="18" charset="0"/>
                <a:cs typeface="Times New Roman" pitchFamily="18" charset="0"/>
              </a:rPr>
              <a:t>tantque</a:t>
            </a:r>
            <a:r>
              <a:rPr lang="fr-FR" sz="2400" b="1" dirty="0">
                <a:latin typeface="Times New Roman" pitchFamily="18" charset="0"/>
                <a:ea typeface="Times New Roman" pitchFamily="18" charset="0"/>
                <a:cs typeface="Times New Roman" pitchFamily="18" charset="0"/>
              </a:rPr>
              <a:t> </a:t>
            </a:r>
            <a:r>
              <a:rPr lang="fr-FR" sz="2400" dirty="0" err="1">
                <a:latin typeface="Times New Roman" pitchFamily="18" charset="0"/>
                <a:ea typeface="Times New Roman" pitchFamily="18" charset="0"/>
                <a:cs typeface="Times New Roman" pitchFamily="18" charset="0"/>
              </a:rPr>
              <a:t>i</a:t>
            </a:r>
            <a:r>
              <a:rPr lang="fr-FR" sz="2400" b="1" dirty="0" err="1">
                <a:latin typeface="Times New Roman" pitchFamily="18" charset="0"/>
                <a:ea typeface="Times New Roman" pitchFamily="18" charset="0"/>
                <a:cs typeface="Times New Roman" pitchFamily="18" charset="0"/>
              </a:rPr>
              <a:t>≤</a:t>
            </a:r>
            <a:r>
              <a:rPr lang="fr-FR" sz="2400" dirty="0" err="1">
                <a:latin typeface="Times New Roman" pitchFamily="18" charset="0"/>
                <a:ea typeface="Times New Roman" pitchFamily="18" charset="0"/>
                <a:cs typeface="Times New Roman" pitchFamily="18" charset="0"/>
              </a:rPr>
              <a:t>n</a:t>
            </a:r>
            <a:r>
              <a:rPr lang="fr-FR" sz="2400" b="1" dirty="0">
                <a:latin typeface="Times New Roman" pitchFamily="18" charset="0"/>
                <a:ea typeface="Times New Roman" pitchFamily="18" charset="0"/>
                <a:cs typeface="Times New Roman" pitchFamily="18" charset="0"/>
              </a:rPr>
              <a:t> faire </a:t>
            </a:r>
          </a:p>
          <a:p>
            <a:pPr lvl="0" indent="449263"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traiter(</a:t>
            </a:r>
            <a:r>
              <a:rPr lang="fr-FR" sz="2400" dirty="0">
                <a:latin typeface="Times New Roman" pitchFamily="18" charset="0"/>
                <a:ea typeface="Times New Roman" pitchFamily="18" charset="0"/>
                <a:cs typeface="Times New Roman" pitchFamily="18" charset="0"/>
              </a:rPr>
              <a:t>t</a:t>
            </a:r>
            <a:r>
              <a:rPr lang="fr-FR" sz="2400" b="1" dirty="0">
                <a:latin typeface="Times New Roman" pitchFamily="18" charset="0"/>
                <a:ea typeface="Times New Roman" pitchFamily="18" charset="0"/>
                <a:cs typeface="Times New Roman" pitchFamily="18" charset="0"/>
              </a:rPr>
              <a:t>[</a:t>
            </a:r>
            <a:r>
              <a:rPr lang="fr-FR" sz="2400" dirty="0">
                <a:latin typeface="Times New Roman" pitchFamily="18" charset="0"/>
                <a:ea typeface="Times New Roman" pitchFamily="18" charset="0"/>
                <a:cs typeface="Times New Roman" pitchFamily="18" charset="0"/>
              </a:rPr>
              <a:t>i</a:t>
            </a:r>
            <a:r>
              <a:rPr lang="fr-FR" sz="2400" b="1" dirty="0">
                <a:latin typeface="Times New Roman" pitchFamily="18" charset="0"/>
                <a:ea typeface="Times New Roman" pitchFamily="18" charset="0"/>
                <a:cs typeface="Times New Roman" pitchFamily="18" charset="0"/>
              </a:rPr>
              <a:t>]); </a:t>
            </a:r>
          </a:p>
          <a:p>
            <a:pPr lvl="0" indent="449263"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a:t>
            </a:r>
            <a:r>
              <a:rPr lang="fr-FR" sz="2400" dirty="0" smtClean="0">
                <a:latin typeface="Times New Roman" pitchFamily="18" charset="0"/>
                <a:ea typeface="Times New Roman" pitchFamily="18" charset="0"/>
                <a:cs typeface="Times New Roman" pitchFamily="18" charset="0"/>
              </a:rPr>
              <a:t>i</a:t>
            </a:r>
            <a:r>
              <a:rPr lang="fr-FR" sz="2400" b="1" dirty="0" smtClean="0">
                <a:latin typeface="Times New Roman" pitchFamily="18" charset="0"/>
                <a:ea typeface="Times New Roman" pitchFamily="18" charset="0"/>
                <a:cs typeface="Times New Roman" pitchFamily="18" charset="0"/>
              </a:rPr>
              <a:t>:=</a:t>
            </a:r>
            <a:r>
              <a:rPr lang="fr-FR" sz="2400" dirty="0" smtClean="0">
                <a:latin typeface="Times New Roman" pitchFamily="18" charset="0"/>
                <a:ea typeface="Times New Roman" pitchFamily="18" charset="0"/>
                <a:cs typeface="Times New Roman" pitchFamily="18" charset="0"/>
              </a:rPr>
              <a:t>i</a:t>
            </a:r>
            <a:r>
              <a:rPr lang="fr-FR" sz="2400" b="1" dirty="0" smtClean="0">
                <a:latin typeface="Times New Roman" pitchFamily="18" charset="0"/>
                <a:ea typeface="Times New Roman" pitchFamily="18" charset="0"/>
                <a:cs typeface="Times New Roman" pitchFamily="18" charset="0"/>
              </a:rPr>
              <a:t>+</a:t>
            </a:r>
            <a:r>
              <a:rPr lang="fr-FR" sz="2400" dirty="0" smtClean="0">
                <a:latin typeface="Times New Roman" pitchFamily="18" charset="0"/>
                <a:ea typeface="Times New Roman" pitchFamily="18" charset="0"/>
                <a:cs typeface="Times New Roman" pitchFamily="18" charset="0"/>
              </a:rPr>
              <a:t>1</a:t>
            </a:r>
            <a:r>
              <a:rPr lang="fr-FR" sz="2400" b="1" dirty="0">
                <a:latin typeface="Times New Roman" pitchFamily="18" charset="0"/>
                <a:ea typeface="Times New Roman" pitchFamily="18" charset="0"/>
                <a:cs typeface="Times New Roman" pitchFamily="18" charset="0"/>
              </a:rPr>
              <a:t>; </a:t>
            </a:r>
          </a:p>
          <a:p>
            <a:pPr lvl="0" indent="449263" eaLnBrk="0" fontAlgn="base" hangingPunct="0">
              <a:spcBef>
                <a:spcPct val="0"/>
              </a:spcBef>
              <a:spcAft>
                <a:spcPct val="0"/>
              </a:spcAft>
            </a:pPr>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finfaire</a:t>
            </a:r>
            <a:r>
              <a:rPr lang="fr-FR" sz="2400" b="1" dirty="0">
                <a:latin typeface="Times New Roman" pitchFamily="18" charset="0"/>
                <a:cs typeface="Times New Roman" pitchFamily="18" charset="0"/>
              </a:rPr>
              <a:t>;</a:t>
            </a:r>
          </a:p>
          <a:p>
            <a:pPr lvl="0" indent="449263" eaLnBrk="0" fontAlgn="base" hangingPunct="0">
              <a:spcBef>
                <a:spcPct val="0"/>
              </a:spcBef>
              <a:spcAft>
                <a:spcPct val="0"/>
              </a:spcAft>
            </a:pPr>
            <a:r>
              <a:rPr lang="fr-FR" sz="2400" b="1" dirty="0" err="1">
                <a:latin typeface="Times New Roman" pitchFamily="18" charset="0"/>
                <a:cs typeface="Times New Roman" pitchFamily="18" charset="0"/>
              </a:rPr>
              <a:t>finfonc</a:t>
            </a:r>
            <a:r>
              <a:rPr lang="fr-FR" sz="2400" b="1" dirty="0">
                <a:latin typeface="Times New Roman" pitchFamily="18" charset="0"/>
                <a:cs typeface="Times New Roman" pitchFamily="18" charset="0"/>
              </a:rPr>
              <a:t>;</a:t>
            </a:r>
            <a:endParaRPr lang="fr-FR" sz="2400" dirty="0">
              <a:latin typeface="Times New Roman" pitchFamily="18" charset="0"/>
              <a:cs typeface="Times New Roman" pitchFamily="18" charset="0"/>
            </a:endParaRPr>
          </a:p>
          <a:p>
            <a:pPr lvl="0" indent="449263" eaLnBrk="0" fontAlgn="base" hangingPunct="0">
              <a:spcBef>
                <a:spcPct val="0"/>
              </a:spcBef>
              <a:spcAft>
                <a:spcPct val="0"/>
              </a:spcAft>
            </a:pPr>
            <a:r>
              <a:rPr lang="fr-FR" sz="2400" dirty="0">
                <a:latin typeface="Times New Roman" pitchFamily="18" charset="0"/>
                <a:ea typeface="Times New Roman" pitchFamily="18" charset="0"/>
                <a:cs typeface="Times New Roman" pitchFamily="18" charset="0"/>
              </a:rPr>
              <a:t>Où </a:t>
            </a:r>
            <a:r>
              <a:rPr lang="fr-FR" sz="2400" b="1" dirty="0">
                <a:latin typeface="Times New Roman" pitchFamily="18" charset="0"/>
                <a:ea typeface="Times New Roman" pitchFamily="18" charset="0"/>
                <a:cs typeface="Times New Roman" pitchFamily="18" charset="0"/>
              </a:rPr>
              <a:t>traiter</a:t>
            </a:r>
            <a:r>
              <a:rPr lang="fr-FR" sz="2400" dirty="0">
                <a:latin typeface="Times New Roman" pitchFamily="18" charset="0"/>
                <a:ea typeface="Times New Roman" pitchFamily="18" charset="0"/>
                <a:cs typeface="Times New Roman" pitchFamily="18" charset="0"/>
              </a:rPr>
              <a:t> est une instruction quelconque sur l’élément </a:t>
            </a:r>
            <a:r>
              <a:rPr lang="fr-FR" sz="2400" b="1" dirty="0">
                <a:latin typeface="Times New Roman" pitchFamily="18" charset="0"/>
                <a:ea typeface="Times New Roman" pitchFamily="18" charset="0"/>
                <a:cs typeface="Times New Roman" pitchFamily="18" charset="0"/>
              </a:rPr>
              <a:t>t[i]</a:t>
            </a:r>
            <a:r>
              <a:rPr lang="fr-FR" sz="2400" dirty="0">
                <a:latin typeface="Times New Roman" pitchFamily="18" charset="0"/>
                <a:ea typeface="Times New Roman" pitchFamily="18" charset="0"/>
                <a:cs typeface="Times New Roman" pitchFamily="18" charset="0"/>
              </a:rPr>
              <a:t>.</a:t>
            </a:r>
          </a:p>
          <a:p>
            <a:pPr lvl="0" indent="449263" eaLnBrk="0" fontAlgn="base" hangingPunct="0">
              <a:spcBef>
                <a:spcPct val="0"/>
              </a:spcBef>
              <a:spcAft>
                <a:spcPct val="0"/>
              </a:spcAft>
            </a:pPr>
            <a:r>
              <a:rPr lang="fr-FR" sz="2400" dirty="0" smtClean="0">
                <a:latin typeface="Times New Roman" pitchFamily="18" charset="0"/>
                <a:ea typeface="Times New Roman" pitchFamily="18" charset="0"/>
                <a:cs typeface="Times New Roman" pitchFamily="18" charset="0"/>
              </a:rPr>
              <a:t>Complexité : T(n) = 1+3n = </a:t>
            </a:r>
            <a:r>
              <a:rPr lang="fr-FR" sz="2400" i="1" dirty="0" smtClean="0">
                <a:latin typeface="Times New Roman" pitchFamily="18" charset="0"/>
                <a:ea typeface="Times New Roman" pitchFamily="18" charset="0"/>
                <a:cs typeface="Times New Roman" pitchFamily="18" charset="0"/>
              </a:rPr>
              <a:t>O(n)</a:t>
            </a:r>
          </a:p>
          <a:p>
            <a:pPr lvl="0" indent="449263" eaLnBrk="0" fontAlgn="base" hangingPunct="0">
              <a:spcBef>
                <a:spcPct val="0"/>
              </a:spcBef>
              <a:spcAft>
                <a:spcPct val="0"/>
              </a:spcAft>
            </a:pPr>
            <a:endParaRPr lang="fr-FR" sz="2400" dirty="0" smtClean="0">
              <a:latin typeface="Times New Roman" pitchFamily="18" charset="0"/>
              <a:ea typeface="Times New Roman" pitchFamily="18" charset="0"/>
              <a:cs typeface="Times New Roman" pitchFamily="18" charset="0"/>
            </a:endParaRPr>
          </a:p>
          <a:p>
            <a:pPr lvl="0" indent="449263" eaLnBrk="0" fontAlgn="base" hangingPunct="0">
              <a:spcBef>
                <a:spcPct val="0"/>
              </a:spcBef>
              <a:spcAft>
                <a:spcPct val="0"/>
              </a:spcAft>
            </a:pPr>
            <a:r>
              <a:rPr lang="fr-FR" sz="2400" dirty="0" smtClean="0">
                <a:latin typeface="Times New Roman" pitchFamily="18" charset="0"/>
                <a:ea typeface="Times New Roman" pitchFamily="18" charset="0"/>
                <a:cs typeface="Times New Roman" pitchFamily="18" charset="0"/>
              </a:rPr>
              <a:t>Ou </a:t>
            </a:r>
            <a:r>
              <a:rPr lang="fr-FR" sz="2400" dirty="0">
                <a:latin typeface="Times New Roman" pitchFamily="18" charset="0"/>
                <a:ea typeface="Times New Roman" pitchFamily="18" charset="0"/>
                <a:cs typeface="Times New Roman" pitchFamily="18" charset="0"/>
              </a:rPr>
              <a:t>bien </a:t>
            </a:r>
          </a:p>
          <a:p>
            <a:pPr lvl="0" indent="449263"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Pour </a:t>
            </a:r>
            <a:r>
              <a:rPr lang="fr-FR" sz="2400" dirty="0" smtClean="0">
                <a:latin typeface="Times New Roman" pitchFamily="18" charset="0"/>
                <a:ea typeface="Times New Roman" pitchFamily="18" charset="0"/>
                <a:cs typeface="Times New Roman" pitchFamily="18" charset="0"/>
              </a:rPr>
              <a:t>i</a:t>
            </a:r>
            <a:r>
              <a:rPr lang="fr-FR" sz="2400" b="1" dirty="0" smtClean="0">
                <a:latin typeface="Times New Roman" pitchFamily="18" charset="0"/>
                <a:ea typeface="Times New Roman" pitchFamily="18" charset="0"/>
                <a:cs typeface="Times New Roman" pitchFamily="18" charset="0"/>
              </a:rPr>
              <a:t>:=</a:t>
            </a:r>
            <a:r>
              <a:rPr lang="fr-FR" sz="2400" dirty="0" smtClean="0">
                <a:latin typeface="Times New Roman" pitchFamily="18" charset="0"/>
                <a:ea typeface="Times New Roman" pitchFamily="18" charset="0"/>
                <a:cs typeface="Times New Roman" pitchFamily="18" charset="0"/>
              </a:rPr>
              <a:t>0</a:t>
            </a:r>
            <a:r>
              <a:rPr lang="fr-FR" sz="2400" b="1" dirty="0" smtClean="0">
                <a:latin typeface="Times New Roman" pitchFamily="18" charset="0"/>
                <a:ea typeface="Times New Roman" pitchFamily="18" charset="0"/>
                <a:cs typeface="Times New Roman" pitchFamily="18" charset="0"/>
              </a:rPr>
              <a:t> </a:t>
            </a:r>
            <a:r>
              <a:rPr lang="fr-FR" sz="2400" b="1" dirty="0">
                <a:latin typeface="Times New Roman" pitchFamily="18" charset="0"/>
                <a:ea typeface="Times New Roman" pitchFamily="18" charset="0"/>
                <a:cs typeface="Times New Roman" pitchFamily="18" charset="0"/>
              </a:rPr>
              <a:t>haut </a:t>
            </a:r>
            <a:r>
              <a:rPr lang="fr-FR" sz="2400" dirty="0">
                <a:latin typeface="Times New Roman" pitchFamily="18" charset="0"/>
                <a:ea typeface="Times New Roman" pitchFamily="18" charset="0"/>
                <a:cs typeface="Times New Roman" pitchFamily="18" charset="0"/>
              </a:rPr>
              <a:t>n</a:t>
            </a:r>
            <a:r>
              <a:rPr lang="fr-FR" sz="2400" b="1" dirty="0">
                <a:latin typeface="Times New Roman" pitchFamily="18" charset="0"/>
                <a:ea typeface="Times New Roman" pitchFamily="18" charset="0"/>
                <a:cs typeface="Times New Roman" pitchFamily="18" charset="0"/>
              </a:rPr>
              <a:t> faire </a:t>
            </a:r>
            <a:r>
              <a:rPr lang="fr-FR" sz="2400" dirty="0">
                <a:latin typeface="Times New Roman" pitchFamily="18" charset="0"/>
                <a:ea typeface="Times New Roman" pitchFamily="18" charset="0"/>
                <a:cs typeface="Times New Roman" pitchFamily="18" charset="0"/>
              </a:rPr>
              <a:t>traiter(t[i]) </a:t>
            </a:r>
            <a:r>
              <a:rPr lang="fr-FR" sz="2400" dirty="0" err="1">
                <a:latin typeface="Times New Roman" pitchFamily="18" charset="0"/>
                <a:ea typeface="Times New Roman" pitchFamily="18" charset="0"/>
                <a:cs typeface="Times New Roman" pitchFamily="18" charset="0"/>
              </a:rPr>
              <a:t>finpour</a:t>
            </a:r>
            <a:r>
              <a:rPr lang="fr-FR" sz="2400" b="1" dirty="0" smtClean="0">
                <a:latin typeface="Times New Roman" pitchFamily="18" charset="0"/>
                <a:ea typeface="Times New Roman" pitchFamily="18" charset="0"/>
                <a:cs typeface="Times New Roman" pitchFamily="18" charset="0"/>
              </a:rPr>
              <a:t>;</a:t>
            </a:r>
          </a:p>
          <a:p>
            <a:pPr lvl="0" indent="449263" eaLnBrk="0" fontAlgn="base" hangingPunct="0">
              <a:spcBef>
                <a:spcPct val="0"/>
              </a:spcBef>
              <a:spcAft>
                <a:spcPct val="0"/>
              </a:spcAft>
            </a:pPr>
            <a:r>
              <a:rPr lang="fr-FR" sz="2400" dirty="0" smtClean="0">
                <a:latin typeface="Times New Roman" pitchFamily="18" charset="0"/>
                <a:ea typeface="Times New Roman" pitchFamily="18" charset="0"/>
                <a:cs typeface="Times New Roman" pitchFamily="18" charset="0"/>
              </a:rPr>
              <a:t>Complexité </a:t>
            </a:r>
            <a:r>
              <a:rPr lang="fr-FR" sz="2400" b="1" dirty="0" smtClean="0">
                <a:latin typeface="Times New Roman" pitchFamily="18" charset="0"/>
                <a:ea typeface="Times New Roman" pitchFamily="18" charset="0"/>
                <a:cs typeface="Times New Roman" pitchFamily="18" charset="0"/>
              </a:rPr>
              <a:t>= </a:t>
            </a:r>
            <a:r>
              <a:rPr lang="fr-FR" sz="2400" i="1" dirty="0" smtClean="0">
                <a:latin typeface="Times New Roman" pitchFamily="18" charset="0"/>
                <a:ea typeface="Times New Roman" pitchFamily="18" charset="0"/>
                <a:cs typeface="Times New Roman" pitchFamily="18" charset="0"/>
              </a:rPr>
              <a:t>O(n)</a:t>
            </a:r>
            <a:endParaRPr lang="fr-FR" sz="2400" i="1" dirty="0">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2176071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9167365-6BF9-4C89-0AA5-83178466A442}"/>
              </a:ext>
            </a:extLst>
          </p:cNvPr>
          <p:cNvSpPr txBox="1"/>
          <p:nvPr/>
        </p:nvSpPr>
        <p:spPr>
          <a:xfrm>
            <a:off x="179512" y="404664"/>
            <a:ext cx="11849928" cy="6247864"/>
          </a:xfrm>
          <a:prstGeom prst="rect">
            <a:avLst/>
          </a:prstGeom>
          <a:noFill/>
        </p:spPr>
        <p:txBody>
          <a:bodyPr wrap="square">
            <a:spAutoFit/>
          </a:bodyPr>
          <a:lstStyle/>
          <a:p>
            <a:pPr marL="0" marR="0" lvl="0" indent="449263" algn="l" defTabSz="914400" rtl="0" eaLnBrk="0" fontAlgn="base" latinLnBrk="0" hangingPunct="0">
              <a:lnSpc>
                <a:spcPct val="100000"/>
              </a:lnSpc>
              <a:spcBef>
                <a:spcPct val="0"/>
              </a:spcBef>
              <a:spcAft>
                <a:spcPct val="0"/>
              </a:spcAft>
              <a:buClrTx/>
              <a:buSzTx/>
              <a:buFontTx/>
              <a:buNone/>
              <a:tabLst/>
            </a:pPr>
            <a:r>
              <a:rPr lang="fr-FR" sz="2000" dirty="0">
                <a:latin typeface="Times New Roman" pitchFamily="18" charset="0"/>
                <a:ea typeface="Times New Roman" pitchFamily="18" charset="0"/>
                <a:cs typeface="Times New Roman" pitchFamily="18" charset="0"/>
              </a:rPr>
              <a:t>b)</a:t>
            </a:r>
            <a:r>
              <a:rPr kumimoji="0" lang="fr-FR"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fr-FR" sz="2000" b="1" i="0" u="sng"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Parcours récursif</a:t>
            </a:r>
            <a:endParaRPr kumimoji="0" lang="fr-FR" sz="20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449263" algn="l" defTabSz="914400" rtl="0" eaLnBrk="0" fontAlgn="base" latinLnBrk="0" hangingPunct="0">
              <a:lnSpc>
                <a:spcPct val="100000"/>
              </a:lnSpc>
              <a:spcBef>
                <a:spcPct val="0"/>
              </a:spcBef>
              <a:spcAft>
                <a:spcPct val="0"/>
              </a:spcAft>
              <a:buClrTx/>
              <a:buSzTx/>
              <a:buFontTx/>
              <a:buNone/>
              <a:tabLst/>
            </a:pPr>
            <a:r>
              <a:rPr lang="fr-FR" sz="2000" b="1" dirty="0" smtClean="0">
                <a:latin typeface="Times New Roman" pitchFamily="18" charset="0"/>
                <a:ea typeface="Times New Roman" pitchFamily="18" charset="0"/>
                <a:cs typeface="Times New Roman" pitchFamily="18" charset="0"/>
              </a:rPr>
              <a:t>vide</a:t>
            </a:r>
            <a:r>
              <a:rPr kumimoji="0" lang="fr-FR"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parcours</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(d </a:t>
            </a:r>
            <a:r>
              <a:rPr lang="fr-FR" sz="2000" b="1" dirty="0">
                <a:latin typeface="Times New Roman" pitchFamily="18" charset="0"/>
                <a:ea typeface="Times New Roman" pitchFamily="18" charset="0"/>
                <a:cs typeface="Times New Roman" pitchFamily="18" charset="0"/>
              </a:rPr>
              <a:t>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ntier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d </a:t>
            </a:r>
            <a:r>
              <a:rPr lang="fr-FR" sz="2000" b="1" dirty="0">
                <a:latin typeface="Times New Roman" pitchFamily="18" charset="0"/>
                <a:ea typeface="Times New Roman" pitchFamily="18" charset="0"/>
                <a:cs typeface="Times New Roman" pitchFamily="18" charset="0"/>
              </a:rPr>
              <a:t>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ntier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i</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d </a:t>
            </a:r>
            <a:r>
              <a:rPr lang="fr-FR" sz="2000" b="1" dirty="0">
                <a:latin typeface="Times New Roman" pitchFamily="18" charset="0"/>
                <a:ea typeface="Times New Roman" pitchFamily="18" charset="0"/>
                <a:cs typeface="Times New Roman" pitchFamily="18" charset="0"/>
              </a:rPr>
              <a:t>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ntier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p>
          <a:p>
            <a:pPr marL="0" marR="0" lvl="0" indent="449263" algn="l" defTabSz="914400" rtl="0" eaLnBrk="0" fontAlgn="base" latinLnBrk="0" hangingPunct="0">
              <a:lnSpc>
                <a:spcPct val="100000"/>
              </a:lnSpc>
              <a:spcBef>
                <a:spcPct val="0"/>
              </a:spcBef>
              <a:spcAft>
                <a:spcPct val="0"/>
              </a:spcAft>
              <a:buClrTx/>
              <a:buSzTx/>
              <a:buFontTx/>
              <a:buNone/>
              <a:tabLst/>
            </a:pPr>
            <a:r>
              <a:rPr lang="fr-FR" sz="2000" b="1" dirty="0" err="1">
                <a:latin typeface="Times New Roman" pitchFamily="18" charset="0"/>
                <a:cs typeface="Times New Roman" pitchFamily="18" charset="0"/>
              </a:rPr>
              <a:t>debfonc</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449263" algn="l" defTabSz="914400" rtl="0" eaLnBrk="0" fontAlgn="base" latinLnBrk="0" hangingPunct="0">
              <a:lnSpc>
                <a:spcPct val="100000"/>
              </a:lnSpc>
              <a:spcBef>
                <a:spcPct val="0"/>
              </a:spcBef>
              <a:spcAft>
                <a:spcPct val="0"/>
              </a:spcAft>
              <a:buClrTx/>
              <a:buSzTx/>
              <a:buFontTx/>
              <a:buNone/>
              <a:tabLst/>
            </a:pPr>
            <a:r>
              <a:rPr lang="fr-FR" sz="2000" b="1" dirty="0">
                <a:latin typeface="Times New Roman" pitchFamily="18" charset="0"/>
                <a:ea typeface="Times New Roman" pitchFamily="18" charset="0"/>
                <a:cs typeface="Times New Roman" pitchFamily="18" charset="0"/>
              </a:rPr>
              <a:t> si </a:t>
            </a:r>
            <a:r>
              <a:rPr kumimoji="0" lang="fr-FR" sz="200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i</a:t>
            </a:r>
            <a:r>
              <a:rPr lang="fr-FR" sz="2000" dirty="0" err="1">
                <a:latin typeface="Times New Roman" pitchFamily="18" charset="0"/>
                <a:ea typeface="Times New Roman" pitchFamily="18" charset="0"/>
                <a:cs typeface="Times New Roman" pitchFamily="18" charset="0"/>
              </a:rPr>
              <a:t>≤</a:t>
            </a:r>
            <a:r>
              <a:rPr kumimoji="0" lang="fr-FR" sz="200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n</a:t>
            </a:r>
            <a:r>
              <a:rPr lang="fr-FR" sz="2000" b="1" dirty="0">
                <a:latin typeface="Times New Roman" pitchFamily="18" charset="0"/>
                <a:ea typeface="Times New Roman" pitchFamily="18" charset="0"/>
                <a:cs typeface="Times New Roman" pitchFamily="18" charset="0"/>
              </a:rPr>
              <a:t> alors</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p>
          <a:p>
            <a:pPr marL="0" marR="0" lvl="0" indent="449263" algn="l" defTabSz="914400" rtl="0" eaLnBrk="0" fontAlgn="base" latinLnBrk="0" hangingPunct="0">
              <a:lnSpc>
                <a:spcPct val="100000"/>
              </a:lnSpc>
              <a:spcBef>
                <a:spcPct val="0"/>
              </a:spcBef>
              <a:spcAft>
                <a:spcPct val="0"/>
              </a:spcAft>
              <a:buClrTx/>
              <a:buSzTx/>
              <a:buFontTx/>
              <a:buNone/>
              <a:tabLst/>
            </a:pPr>
            <a:r>
              <a:rPr lang="fr-FR" sz="2000" b="1" dirty="0">
                <a:latin typeface="Times New Roman" pitchFamily="18" charset="0"/>
                <a:ea typeface="Times New Roman" pitchFamily="18" charset="0"/>
                <a:cs typeface="Times New Roman" pitchFamily="18" charset="0"/>
              </a:rPr>
              <a:t>      </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traiter(t[i]);</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449263" algn="l" defTabSz="914400" rtl="0" eaLnBrk="0" fontAlgn="base" latinLnBrk="0" hangingPunct="0">
              <a:lnSpc>
                <a:spcPct val="100000"/>
              </a:lnSpc>
              <a:spcBef>
                <a:spcPct val="0"/>
              </a:spcBef>
              <a:spcAft>
                <a:spcPct val="0"/>
              </a:spcAft>
              <a:buClrTx/>
              <a:buSzTx/>
              <a:buFontTx/>
              <a:buNone/>
              <a:tabLst/>
            </a:pP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parcours</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i+1</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p>
          <a:p>
            <a:pPr marL="0" marR="0" lvl="0" indent="449263" algn="l" defTabSz="914400" rtl="0" eaLnBrk="0" fontAlgn="base" latinLnBrk="0" hangingPunct="0">
              <a:lnSpc>
                <a:spcPct val="100000"/>
              </a:lnSpc>
              <a:spcBef>
                <a:spcPct val="0"/>
              </a:spcBef>
              <a:spcAft>
                <a:spcPct val="0"/>
              </a:spcAft>
              <a:buClrTx/>
              <a:buSzTx/>
              <a:buFontTx/>
              <a:buNone/>
              <a:tabLst/>
            </a:pP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fr-FR" sz="20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finsi</a:t>
            </a:r>
            <a:r>
              <a:rPr lang="fr-FR" sz="2000" b="1" dirty="0">
                <a:latin typeface="Times New Roman" pitchFamily="18" charset="0"/>
                <a:ea typeface="Times New Roman" pitchFamily="18" charset="0"/>
                <a:cs typeface="Times New Roman" pitchFamily="18" charset="0"/>
              </a:rPr>
              <a:t>;</a:t>
            </a:r>
          </a:p>
          <a:p>
            <a:pPr marL="0" marR="0" lvl="0" indent="449263" algn="l" defTabSz="914400" rtl="0" eaLnBrk="0" fontAlgn="base" latinLnBrk="0" hangingPunct="0">
              <a:lnSpc>
                <a:spcPct val="100000"/>
              </a:lnSpc>
              <a:spcBef>
                <a:spcPct val="0"/>
              </a:spcBef>
              <a:spcAft>
                <a:spcPct val="0"/>
              </a:spcAft>
              <a:buClrTx/>
              <a:buSzTx/>
              <a:buFontTx/>
              <a:buNone/>
              <a:tabLst/>
            </a:pPr>
            <a:r>
              <a:rPr lang="fr-FR" sz="2000" b="1" dirty="0" err="1">
                <a:latin typeface="Times New Roman" pitchFamily="18" charset="0"/>
                <a:cs typeface="Times New Roman" pitchFamily="18" charset="0"/>
              </a:rPr>
              <a:t>f</a:t>
            </a:r>
            <a:r>
              <a:rPr kumimoji="0" lang="fr-FR" sz="2000" b="1" i="0" u="none" strike="noStrike" cap="none" normalizeH="0" baseline="0" dirty="0" err="1">
                <a:ln>
                  <a:noFill/>
                </a:ln>
                <a:solidFill>
                  <a:schemeClr val="tx1"/>
                </a:solidFill>
                <a:effectLst/>
                <a:latin typeface="Times New Roman" pitchFamily="18" charset="0"/>
                <a:cs typeface="Times New Roman" pitchFamily="18" charset="0"/>
              </a:rPr>
              <a:t>infonc</a:t>
            </a:r>
            <a:r>
              <a:rPr kumimoji="0" lang="fr-FR" sz="2000" b="1" i="0" u="none" strike="noStrike" cap="none" normalizeH="0" baseline="0" dirty="0">
                <a:ln>
                  <a:noFill/>
                </a:ln>
                <a:solidFill>
                  <a:schemeClr val="tx1"/>
                </a:solidFill>
                <a:effectLst/>
                <a:latin typeface="Times New Roman" pitchFamily="18" charset="0"/>
                <a:cs typeface="Times New Roman" pitchFamily="18" charset="0"/>
              </a:rPr>
              <a:t>;</a:t>
            </a:r>
          </a:p>
          <a:p>
            <a:pPr marL="0" marR="0" lvl="0" indent="449263" algn="l" defTabSz="914400" rtl="0" eaLnBrk="0" fontAlgn="base" latinLnBrk="0" hangingPunct="0">
              <a:lnSpc>
                <a:spcPct val="100000"/>
              </a:lnSpc>
              <a:spcBef>
                <a:spcPct val="0"/>
              </a:spcBef>
              <a:spcAft>
                <a:spcPct val="0"/>
              </a:spcAft>
              <a:buClrTx/>
              <a:buSzTx/>
              <a:buFontTx/>
              <a:buNone/>
              <a:tabLst/>
            </a:pPr>
            <a:endParaRPr kumimoji="0" lang="fr-FR" sz="2000" b="1" i="0" u="none" strike="noStrike" cap="none" normalizeH="0" baseline="0" dirty="0">
              <a:ln>
                <a:noFill/>
              </a:ln>
              <a:solidFill>
                <a:schemeClr val="tx1"/>
              </a:solidFill>
              <a:effectLst/>
              <a:latin typeface="Times New Roman" pitchFamily="18" charset="0"/>
              <a:cs typeface="Times New Roman" pitchFamily="18" charset="0"/>
            </a:endParaRPr>
          </a:p>
          <a:p>
            <a:pPr marL="0" marR="0" lvl="0" algn="l" defTabSz="914400" rtl="0" eaLnBrk="1" fontAlgn="base" latinLnBrk="0" hangingPunct="1">
              <a:lnSpc>
                <a:spcPct val="100000"/>
              </a:lnSpc>
              <a:spcBef>
                <a:spcPct val="0"/>
              </a:spcBef>
              <a:spcAft>
                <a:spcPct val="0"/>
              </a:spcAft>
              <a:buClrTx/>
              <a:buSzTx/>
              <a:buFontTx/>
              <a:buNone/>
              <a:tabLst>
                <a:tab pos="457200" algn="l"/>
              </a:tabLst>
            </a:pPr>
            <a:r>
              <a:rPr lang="fr-FR" sz="2000" b="1" dirty="0">
                <a:latin typeface="Times New Roman" pitchFamily="18" charset="0"/>
                <a:ea typeface="Times New Roman" pitchFamily="18" charset="0"/>
                <a:cs typeface="Times New Roman" pitchFamily="18" charset="0"/>
              </a:rPr>
              <a:t>2</a:t>
            </a:r>
            <a:r>
              <a:rPr kumimoji="0" lang="fr-FR"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.1.2</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fr-FR" sz="2000" b="1" i="0"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Algorithme d’accès à un élément d’un </a:t>
            </a:r>
            <a:r>
              <a:rPr kumimoji="0" lang="fr-FR" sz="2000" b="1" i="0"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tableau</a:t>
            </a:r>
          </a:p>
          <a:p>
            <a:pPr marL="0" marR="0" lvl="0" algn="l" defTabSz="914400" rtl="0" eaLnBrk="1" fontAlgn="base" latinLnBrk="0" hangingPunct="1">
              <a:lnSpc>
                <a:spcPct val="100000"/>
              </a:lnSpc>
              <a:spcBef>
                <a:spcPct val="0"/>
              </a:spcBef>
              <a:spcAft>
                <a:spcPct val="0"/>
              </a:spcAft>
              <a:buClrTx/>
              <a:buSzTx/>
              <a:buFontTx/>
              <a:buNone/>
              <a:tabLst>
                <a:tab pos="457200" algn="l"/>
              </a:tabLst>
            </a:pPr>
            <a:endParaRPr kumimoji="0" lang="fr-FR" sz="2000" b="1" i="0" strike="noStrike" cap="none" normalizeH="0" baseline="0" dirty="0">
              <a:ln>
                <a:noFill/>
              </a:ln>
              <a:solidFill>
                <a:schemeClr val="tx1"/>
              </a:solidFill>
              <a:effectLst/>
              <a:latin typeface="Times New Roman" pitchFamily="18" charset="0"/>
              <a:cs typeface="Times New Roman" pitchFamily="18" charset="0"/>
            </a:endParaRPr>
          </a:p>
          <a:p>
            <a:pPr marL="0" marR="0" lvl="0" indent="180975" algn="l" defTabSz="914400" rtl="0" eaLnBrk="0" fontAlgn="base" latinLnBrk="0" hangingPunct="0">
              <a:lnSpc>
                <a:spcPct val="100000"/>
              </a:lnSpc>
              <a:spcBef>
                <a:spcPct val="0"/>
              </a:spcBef>
              <a:spcAft>
                <a:spcPct val="0"/>
              </a:spcAft>
              <a:buClrTx/>
              <a:buSzTx/>
              <a:tabLst>
                <a:tab pos="457200" algn="l"/>
              </a:tabLst>
            </a:pPr>
            <a:r>
              <a:rPr kumimoji="0" lang="fr-FR" sz="2000" b="0" i="0"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 </a:t>
            </a:r>
            <a:r>
              <a:rPr kumimoji="0" lang="fr-FR" sz="2000" b="0" i="0" u="sng"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Recherche séquentielle dans un tableau non trié</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entier </a:t>
            </a:r>
            <a:r>
              <a:rPr kumimoji="0" lang="fr-FR" sz="20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acces1</a:t>
            </a:r>
            <a:r>
              <a:rPr kumimoji="0" lang="fr-FR"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(d </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entier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d entier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d entier </a:t>
            </a:r>
            <a:r>
              <a:rPr kumimoji="0" lang="fr-FR" sz="200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elem</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lang="fr-FR" sz="2000" b="1" dirty="0" err="1">
                <a:latin typeface="Times New Roman" pitchFamily="18" charset="0"/>
                <a:ea typeface="Times New Roman" pitchFamily="18" charset="0"/>
                <a:cs typeface="Times New Roman" pitchFamily="18" charset="0"/>
              </a:rPr>
              <a:t>debfonc</a:t>
            </a:r>
            <a:endParaRPr lang="fr-FR" sz="2000" b="1" dirty="0">
              <a:latin typeface="Times New Roman" pitchFamily="18" charset="0"/>
              <a:ea typeface="Times New Roman" pitchFamily="18" charset="0"/>
              <a:cs typeface="Times New Roman" pitchFamily="18" charset="0"/>
            </a:endParaRP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entier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i</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kumimoji="0" lang="en-GB"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en-GB" sz="20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a:t>
            </a:r>
            <a:r>
              <a:rPr lang="en-GB" sz="2000" dirty="0" smtClean="0">
                <a:latin typeface="Times New Roman" pitchFamily="18" charset="0"/>
                <a:ea typeface="Times New Roman" pitchFamily="18" charset="0"/>
                <a:cs typeface="Times New Roman" pitchFamily="18" charset="0"/>
              </a:rPr>
              <a:t>:=</a:t>
            </a:r>
            <a:r>
              <a:rPr kumimoji="0" lang="en-GB" sz="20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1</a:t>
            </a:r>
            <a:r>
              <a:rPr kumimoji="0" lang="en-GB"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kumimoji="0" lang="en-GB"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en-GB" sz="20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tantque</a:t>
            </a:r>
            <a:r>
              <a:rPr lang="en-GB" sz="2000" b="1" dirty="0">
                <a:latin typeface="Times New Roman" pitchFamily="18" charset="0"/>
                <a:ea typeface="Times New Roman" pitchFamily="18" charset="0"/>
                <a:cs typeface="Times New Roman" pitchFamily="18" charset="0"/>
              </a:rPr>
              <a:t> </a:t>
            </a:r>
            <a:r>
              <a:rPr kumimoji="0" lang="en-GB" sz="200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i≤n</a:t>
            </a:r>
            <a:r>
              <a:rPr kumimoji="0" lang="en-GB"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et </a:t>
            </a:r>
            <a:r>
              <a:rPr kumimoji="0" lang="en-GB"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a:t>
            </a:r>
            <a:r>
              <a:rPr kumimoji="0" lang="en-GB" sz="200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i</a:t>
            </a:r>
            <a:r>
              <a:rPr kumimoji="0" lang="en-GB"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r>
              <a:rPr kumimoji="0" lang="en-GB" sz="200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elem</a:t>
            </a:r>
            <a:r>
              <a:rPr kumimoji="0" lang="en-GB"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r>
              <a:rPr kumimoji="0" lang="en-GB"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faire </a:t>
            </a: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lang="en-GB" sz="2000" b="1" dirty="0">
                <a:latin typeface="Times New Roman" pitchFamily="18" charset="0"/>
                <a:ea typeface="Times New Roman" pitchFamily="18" charset="0"/>
                <a:cs typeface="Times New Roman" pitchFamily="18" charset="0"/>
              </a:rPr>
              <a:t>     </a:t>
            </a:r>
            <a:r>
              <a:rPr kumimoji="0" lang="en-GB" sz="20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a:t>
            </a:r>
            <a:r>
              <a:rPr lang="en-GB" sz="2000" dirty="0" smtClean="0">
                <a:latin typeface="Times New Roman" pitchFamily="18" charset="0"/>
                <a:ea typeface="Times New Roman" pitchFamily="18" charset="0"/>
                <a:cs typeface="Times New Roman" pitchFamily="18" charset="0"/>
              </a:rPr>
              <a:t>:=</a:t>
            </a:r>
            <a:r>
              <a:rPr lang="en-GB" sz="2000" dirty="0" smtClean="0">
                <a:latin typeface="Times New Roman" pitchFamily="18" charset="0"/>
                <a:ea typeface="Times New Roman" pitchFamily="18" charset="0"/>
                <a:cs typeface="Times New Roman" pitchFamily="18" charset="0"/>
              </a:rPr>
              <a:t>i+1</a:t>
            </a:r>
            <a:r>
              <a:rPr kumimoji="0" lang="en-GB"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en-GB"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a:t>
            </a:r>
            <a:endParaRPr kumimoji="0" lang="fr-FR" sz="2000" i="0" u="none" strike="noStrike" cap="none" normalizeH="0" baseline="0" dirty="0">
              <a:ln>
                <a:noFill/>
              </a:ln>
              <a:solidFill>
                <a:schemeClr val="tx1"/>
              </a:solidFill>
              <a:effectLst/>
              <a:latin typeface="Times New Roman" pitchFamily="18" charset="0"/>
              <a:cs typeface="Times New Roman" pitchFamily="18" charset="0"/>
              <a:sym typeface="Symbol" pitchFamily="18" charset="2"/>
            </a:endParaRP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lang="fr-FR" sz="2000" b="1" dirty="0">
                <a:latin typeface="Times New Roman" pitchFamily="18" charset="0"/>
                <a:cs typeface="Times New Roman" pitchFamily="18" charset="0"/>
                <a:sym typeface="Symbol" pitchFamily="18" charset="2"/>
              </a:rPr>
              <a:t>  </a:t>
            </a:r>
            <a:r>
              <a:rPr lang="fr-FR" sz="2000" b="1" dirty="0" err="1">
                <a:latin typeface="Times New Roman" pitchFamily="18" charset="0"/>
                <a:cs typeface="Times New Roman" pitchFamily="18" charset="0"/>
                <a:sym typeface="Symbol" pitchFamily="18" charset="2"/>
              </a:rPr>
              <a:t>finfaire</a:t>
            </a:r>
            <a:r>
              <a:rPr lang="fr-FR" sz="2000" b="1" dirty="0">
                <a:latin typeface="Times New Roman" pitchFamily="18" charset="0"/>
                <a:cs typeface="Times New Roman" pitchFamily="18" charset="0"/>
                <a:sym typeface="Symbol" pitchFamily="18" charset="2"/>
              </a:rPr>
              <a:t>;</a:t>
            </a: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lang="fr-FR" sz="2000" b="1" dirty="0" err="1">
                <a:latin typeface="Times New Roman" pitchFamily="18" charset="0"/>
                <a:cs typeface="Times New Roman" pitchFamily="18" charset="0"/>
                <a:sym typeface="Symbol" pitchFamily="18" charset="2"/>
              </a:rPr>
              <a:t>f</a:t>
            </a:r>
            <a:r>
              <a:rPr kumimoji="0" lang="fr-FR" sz="2000" b="1" i="0" u="none" strike="noStrike" cap="none" normalizeH="0" baseline="0" dirty="0" err="1">
                <a:ln>
                  <a:noFill/>
                </a:ln>
                <a:solidFill>
                  <a:schemeClr val="tx1"/>
                </a:solidFill>
                <a:effectLst/>
                <a:latin typeface="Times New Roman" pitchFamily="18" charset="0"/>
                <a:cs typeface="Times New Roman" pitchFamily="18" charset="0"/>
                <a:sym typeface="Symbol" pitchFamily="18" charset="2"/>
              </a:rPr>
              <a:t>infonc</a:t>
            </a:r>
            <a:r>
              <a:rPr kumimoji="0" lang="fr-FR" sz="2000" b="1" i="0" u="none" strike="noStrike" cap="none" normalizeH="0" baseline="0" dirty="0">
                <a:ln>
                  <a:noFill/>
                </a:ln>
                <a:solidFill>
                  <a:schemeClr val="tx1"/>
                </a:solidFill>
                <a:effectLst/>
                <a:latin typeface="Times New Roman" pitchFamily="18" charset="0"/>
                <a:cs typeface="Times New Roman" pitchFamily="18" charset="0"/>
                <a:sym typeface="Symbol" pitchFamily="18" charset="2"/>
              </a:rPr>
              <a:t>;</a:t>
            </a:r>
            <a:endParaRPr lang="fr-FR" sz="2000" dirty="0">
              <a:latin typeface="Times New Roman" pitchFamily="18" charset="0"/>
              <a:cs typeface="Times New Roman" pitchFamily="18" charset="0"/>
              <a:sym typeface="Symbol" pitchFamily="18" charset="2"/>
            </a:endParaRPr>
          </a:p>
        </p:txBody>
      </p:sp>
    </p:spTree>
    <p:extLst>
      <p:ext uri="{BB962C8B-B14F-4D97-AF65-F5344CB8AC3E}">
        <p14:creationId xmlns:p14="http://schemas.microsoft.com/office/powerpoint/2010/main" val="2190200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84480" y="523120"/>
            <a:ext cx="11521440"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Mais si</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a:t>
            </a:r>
            <a:r>
              <a:rPr kumimoji="0" lang="fr-FR" sz="20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sym typeface="Symbol" pitchFamily="18" charset="2"/>
              </a:rPr>
              <a:t>elem</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t[1..n],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il y a une incohérence,</a:t>
            </a:r>
            <a:r>
              <a:rPr kumimoji="0" lang="fr-FR" sz="2000" i="0" u="none" strike="noStrike" cap="none" normalizeH="0" dirty="0">
                <a:ln>
                  <a:noFill/>
                </a:ln>
                <a:solidFill>
                  <a:schemeClr val="tx1"/>
                </a:solidFill>
                <a:effectLst/>
                <a:latin typeface="Times New Roman" pitchFamily="18" charset="0"/>
                <a:ea typeface="Times New Roman" pitchFamily="18" charset="0"/>
                <a:cs typeface="Times New Roman" pitchFamily="18" charset="0"/>
              </a:rPr>
              <a:t> p</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our l’éviter on a quelques solutions</a:t>
            </a:r>
            <a:r>
              <a:rPr lang="fr-FR" sz="2000" dirty="0">
                <a:latin typeface="Times New Roman" pitchFamily="18" charset="0"/>
                <a:ea typeface="Times New Roman" pitchFamily="18" charset="0"/>
                <a:cs typeface="Times New Roman" pitchFamily="18" charset="0"/>
              </a:rPr>
              <a:t>:</a:t>
            </a:r>
            <a:endParaRPr kumimoji="0" lang="fr-FR" sz="2000" i="0" u="none" strike="noStrike" cap="none" normalizeH="0" baseline="0" dirty="0">
              <a:ln>
                <a:noFill/>
              </a:ln>
              <a:solidFill>
                <a:schemeClr val="tx1"/>
              </a:solidFill>
              <a:effectLst/>
              <a:latin typeface="Times New Roman" pitchFamily="18" charset="0"/>
              <a:cs typeface="Times New Roman" pitchFamily="18" charset="0"/>
              <a:sym typeface="Symbol" pitchFamily="18" charset="2"/>
            </a:endParaRPr>
          </a:p>
          <a:p>
            <a:pPr marL="457200" marR="0" lvl="1" indent="0" algn="l" defTabSz="914400" rtl="0" eaLnBrk="0" fontAlgn="base" latinLnBrk="0" hangingPunct="0">
              <a:lnSpc>
                <a:spcPct val="100000"/>
              </a:lnSpc>
              <a:spcBef>
                <a:spcPct val="0"/>
              </a:spcBef>
              <a:spcAft>
                <a:spcPct val="0"/>
              </a:spcAft>
              <a:buClrTx/>
              <a:buSzTx/>
              <a:buFontTx/>
              <a:buChar char="-"/>
              <a:tabLst>
                <a:tab pos="457200" algn="l"/>
              </a:tabLst>
            </a:pP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a:t>
            </a:r>
            <a:r>
              <a:rPr lang="fr-FR" sz="2000" b="1" dirty="0">
                <a:latin typeface="Times New Roman" pitchFamily="18" charset="0"/>
                <a:ea typeface="Times New Roman" pitchFamily="18" charset="0"/>
                <a:cs typeface="Times New Roman" pitchFamily="18" charset="0"/>
                <a:sym typeface="Symbol" pitchFamily="18" charset="2"/>
              </a:rPr>
              <a:t>s</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oit remplacer </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(t[i]</a:t>
            </a:r>
            <a:r>
              <a:rPr kumimoji="0" lang="nb-NO"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a:t>
            </a:r>
            <a:r>
              <a:rPr kumimoji="0" lang="fr-FR" sz="20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elem</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par une variable booléenne,</a:t>
            </a:r>
            <a:endParaRPr kumimoji="0" lang="fr-FR" sz="2000" i="0" u="none" strike="noStrike" cap="none" normalizeH="0" baseline="0" dirty="0">
              <a:ln>
                <a:noFill/>
              </a:ln>
              <a:solidFill>
                <a:schemeClr val="tx1"/>
              </a:solidFill>
              <a:effectLst/>
              <a:latin typeface="Times New Roman" pitchFamily="18" charset="0"/>
              <a:cs typeface="Times New Roman" pitchFamily="18" charset="0"/>
              <a:sym typeface="Symbol" pitchFamily="18" charset="2"/>
            </a:endParaRPr>
          </a:p>
          <a:p>
            <a:pPr marL="457200" marR="0" lvl="1" indent="0" algn="l" defTabSz="914400" rtl="0" eaLnBrk="0" fontAlgn="base" latinLnBrk="0" hangingPunct="0">
              <a:lnSpc>
                <a:spcPct val="100000"/>
              </a:lnSpc>
              <a:spcBef>
                <a:spcPct val="0"/>
              </a:spcBef>
              <a:spcAft>
                <a:spcPct val="0"/>
              </a:spcAft>
              <a:buClrTx/>
              <a:buSzTx/>
              <a:buFontTx/>
              <a:buChar char="-"/>
              <a:tabLst>
                <a:tab pos="457200" algn="l"/>
              </a:tabLst>
            </a:pP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soit s’arrêter un coup avant </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(i&lt;n),</a:t>
            </a:r>
            <a:endParaRPr kumimoji="0" lang="fr-FR" sz="2000" i="0" u="none" strike="noStrike" cap="none" normalizeH="0" baseline="0" dirty="0">
              <a:ln>
                <a:noFill/>
              </a:ln>
              <a:solidFill>
                <a:schemeClr val="tx1"/>
              </a:solidFill>
              <a:effectLst/>
              <a:latin typeface="Times New Roman" pitchFamily="18" charset="0"/>
              <a:cs typeface="Times New Roman" pitchFamily="18" charset="0"/>
              <a:sym typeface="Symbol" pitchFamily="18" charset="2"/>
            </a:endParaRPr>
          </a:p>
          <a:p>
            <a:pPr marL="457200" marR="0" lvl="1" indent="0" algn="l" defTabSz="914400" rtl="0" eaLnBrk="0" fontAlgn="base" latinLnBrk="0" hangingPunct="0">
              <a:lnSpc>
                <a:spcPct val="100000"/>
              </a:lnSpc>
              <a:spcBef>
                <a:spcPct val="0"/>
              </a:spcBef>
              <a:spcAft>
                <a:spcPct val="0"/>
              </a:spcAft>
              <a:buClrTx/>
              <a:buSzTx/>
              <a:buFontTx/>
              <a:buChar char="-"/>
              <a:tabLst>
                <a:tab pos="457200" algn="l"/>
              </a:tabLst>
            </a:pP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soit s’arrêter sur la première occurrence de </a:t>
            </a:r>
            <a:r>
              <a:rPr kumimoji="0" lang="fr-FR" sz="20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sym typeface="Symbol" pitchFamily="18" charset="2"/>
              </a:rPr>
              <a:t>elem</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et de vérifier si </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i</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est alors inférieur à </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n.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On peut donc effectuer un parcours de gauche à droite avec une seule condition </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t[i]±</a:t>
            </a:r>
            <a:r>
              <a:rPr kumimoji="0" lang="fr-FR" sz="20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elem</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tab pos="457200" algn="l"/>
              </a:tabLst>
            </a:pPr>
            <a:endParaRPr kumimoji="0" lang="fr-FR" sz="2000" b="1" i="0" u="none" strike="noStrike" cap="none" normalizeH="0" baseline="0" dirty="0">
              <a:ln>
                <a:noFill/>
              </a:ln>
              <a:solidFill>
                <a:schemeClr val="tx1"/>
              </a:solidFill>
              <a:effectLst/>
              <a:latin typeface="Times New Roman" pitchFamily="18" charset="0"/>
              <a:cs typeface="Times New Roman" pitchFamily="18" charset="0"/>
              <a:sym typeface="Symbol" pitchFamily="18" charset="2"/>
            </a:endParaRP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kumimoji="0" lang="fr-FR" sz="2000" i="0" u="sng"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Algorithme itératif</a:t>
            </a:r>
            <a:endParaRPr kumimoji="0" lang="fr-FR" sz="2000" i="0" u="none" strike="noStrike" cap="none" normalizeH="0" baseline="0" dirty="0">
              <a:ln>
                <a:noFill/>
              </a:ln>
              <a:solidFill>
                <a:schemeClr val="tx1"/>
              </a:solidFill>
              <a:effectLst/>
              <a:latin typeface="Times New Roman" pitchFamily="18" charset="0"/>
              <a:cs typeface="Times New Roman" pitchFamily="18" charset="0"/>
              <a:sym typeface="Symbol" pitchFamily="18" charset="2"/>
            </a:endParaRP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lang="fr-FR" sz="2000" b="1" dirty="0" smtClean="0">
                <a:latin typeface="Times New Roman" pitchFamily="18" charset="0"/>
                <a:ea typeface="Times New Roman" pitchFamily="18" charset="0"/>
                <a:cs typeface="Times New Roman" pitchFamily="18" charset="0"/>
                <a:sym typeface="Symbol" pitchFamily="18" charset="2"/>
              </a:rPr>
              <a:t>bool</a:t>
            </a:r>
            <a:r>
              <a:rPr kumimoji="0" lang="fr-FR"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sym typeface="Symbol" pitchFamily="18" charset="2"/>
              </a:rPr>
              <a:t>éen </a:t>
            </a:r>
            <a:r>
              <a:rPr kumimoji="0" lang="fr-FR" sz="20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sym typeface="Symbol" pitchFamily="18" charset="2"/>
              </a:rPr>
              <a:t>acces2</a:t>
            </a:r>
            <a:r>
              <a:rPr kumimoji="0" lang="fr-FR"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sym typeface="Symbol" pitchFamily="18" charset="2"/>
              </a:rPr>
              <a:t>(d </a:t>
            </a:r>
            <a:r>
              <a:rPr lang="fr-FR" sz="2000" b="1" dirty="0">
                <a:latin typeface="Times New Roman" pitchFamily="18" charset="0"/>
                <a:ea typeface="Times New Roman" pitchFamily="18" charset="0"/>
                <a:cs typeface="Times New Roman" pitchFamily="18" charset="0"/>
                <a:sym typeface="Symbol" pitchFamily="18" charset="2"/>
              </a:rPr>
              <a:t>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ntier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t[]</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d </a:t>
            </a:r>
            <a:r>
              <a:rPr lang="fr-FR" sz="2000" b="1" dirty="0">
                <a:latin typeface="Times New Roman" pitchFamily="18" charset="0"/>
                <a:ea typeface="Times New Roman" pitchFamily="18" charset="0"/>
                <a:cs typeface="Times New Roman" pitchFamily="18" charset="0"/>
                <a:sym typeface="Symbol" pitchFamily="18" charset="2"/>
              </a:rPr>
              <a:t>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ntier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n</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d </a:t>
            </a:r>
            <a:r>
              <a:rPr lang="fr-FR" sz="2000" b="1" dirty="0">
                <a:latin typeface="Times New Roman" pitchFamily="18" charset="0"/>
                <a:ea typeface="Times New Roman" pitchFamily="18" charset="0"/>
                <a:cs typeface="Times New Roman" pitchFamily="18" charset="0"/>
                <a:sym typeface="Symbol" pitchFamily="18" charset="2"/>
              </a:rPr>
              <a:t>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ntier </a:t>
            </a:r>
            <a:r>
              <a:rPr kumimoji="0" lang="fr-FR" sz="200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sym typeface="Symbol" pitchFamily="18" charset="2"/>
              </a:rPr>
              <a:t>elem</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a:t>
            </a: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lang="fr-FR" sz="2000" b="1" dirty="0" err="1">
                <a:latin typeface="Times New Roman" pitchFamily="18" charset="0"/>
                <a:ea typeface="Times New Roman" pitchFamily="18" charset="0"/>
                <a:cs typeface="Times New Roman" pitchFamily="18" charset="0"/>
                <a:sym typeface="Symbol" pitchFamily="18" charset="2"/>
              </a:rPr>
              <a:t>debfonc</a:t>
            </a:r>
            <a:endParaRPr lang="fr-FR" sz="2000" b="1" dirty="0">
              <a:latin typeface="Times New Roman" pitchFamily="18" charset="0"/>
              <a:ea typeface="Times New Roman" pitchFamily="18" charset="0"/>
              <a:cs typeface="Times New Roman" pitchFamily="18" charset="0"/>
              <a:sym typeface="Symbol" pitchFamily="18" charset="2"/>
            </a:endParaRP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a:t>
            </a:r>
            <a:r>
              <a:rPr lang="fr-FR" sz="2000" b="1" dirty="0">
                <a:latin typeface="Times New Roman" pitchFamily="18" charset="0"/>
                <a:ea typeface="Times New Roman" pitchFamily="18" charset="0"/>
                <a:cs typeface="Times New Roman" pitchFamily="18" charset="0"/>
                <a:sym typeface="Symbol" pitchFamily="18" charset="2"/>
              </a:rPr>
              <a:t>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ntier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i</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booléen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trouve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sym typeface="Symbol" pitchFamily="18" charset="2"/>
            </a:endParaRP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a:t>
            </a:r>
            <a:r>
              <a:rPr kumimoji="0" lang="fr-FR" sz="20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sym typeface="Symbol" pitchFamily="18" charset="2"/>
              </a:rPr>
              <a:t>i:=0</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a:t>
            </a:r>
            <a:r>
              <a:rPr kumimoji="0" lang="fr-FR" sz="20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sym typeface="Symbol" pitchFamily="18" charset="2"/>
              </a:rPr>
              <a:t>trouve:=</a:t>
            </a:r>
            <a:r>
              <a:rPr kumimoji="0" lang="fr-FR"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sym typeface="Symbol" pitchFamily="18" charset="2"/>
              </a:rPr>
              <a:t>faux</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sym typeface="Symbol" pitchFamily="18" charset="2"/>
            </a:endParaRP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lang="fr-FR" sz="2000" b="1" dirty="0">
                <a:latin typeface="Times New Roman" pitchFamily="18" charset="0"/>
                <a:ea typeface="Times New Roman" pitchFamily="18" charset="0"/>
                <a:cs typeface="Times New Roman" pitchFamily="18" charset="0"/>
                <a:sym typeface="Symbol" pitchFamily="18" charset="2"/>
              </a:rPr>
              <a:t>  </a:t>
            </a:r>
            <a:r>
              <a:rPr lang="fr-FR" sz="2000" b="1" dirty="0" err="1">
                <a:latin typeface="Times New Roman" pitchFamily="18" charset="0"/>
                <a:ea typeface="Times New Roman" pitchFamily="18" charset="0"/>
                <a:cs typeface="Times New Roman" pitchFamily="18" charset="0"/>
                <a:sym typeface="Symbol" pitchFamily="18" charset="2"/>
              </a:rPr>
              <a:t>tantque</a:t>
            </a:r>
            <a:r>
              <a:rPr lang="fr-FR" sz="2000" b="1" dirty="0">
                <a:latin typeface="Times New Roman" pitchFamily="18" charset="0"/>
                <a:ea typeface="Times New Roman" pitchFamily="18" charset="0"/>
                <a:cs typeface="Times New Roman" pitchFamily="18" charset="0"/>
                <a:sym typeface="Symbol" pitchFamily="18" charset="2"/>
              </a:rPr>
              <a:t>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(i&lt;n)</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et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(non trouve)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faire</a:t>
            </a: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s</a:t>
            </a:r>
            <a:r>
              <a:rPr lang="fr-FR" sz="2000" b="1" dirty="0">
                <a:latin typeface="Times New Roman" pitchFamily="18" charset="0"/>
                <a:ea typeface="Times New Roman" pitchFamily="18" charset="0"/>
                <a:cs typeface="Times New Roman" pitchFamily="18" charset="0"/>
                <a:sym typeface="Symbol" pitchFamily="18" charset="2"/>
              </a:rPr>
              <a:t>i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t[i]=</a:t>
            </a:r>
            <a:r>
              <a:rPr kumimoji="0" lang="fr-FR" sz="200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sym typeface="Symbol" pitchFamily="18" charset="2"/>
              </a:rPr>
              <a:t>elem</a:t>
            </a:r>
            <a:r>
              <a:rPr lang="fr-FR" sz="2000" b="1" dirty="0">
                <a:latin typeface="Times New Roman" pitchFamily="18" charset="0"/>
                <a:ea typeface="Times New Roman" pitchFamily="18" charset="0"/>
                <a:cs typeface="Times New Roman" pitchFamily="18" charset="0"/>
                <a:sym typeface="Symbol" pitchFamily="18" charset="2"/>
              </a:rPr>
              <a:t> faire </a:t>
            </a:r>
            <a:r>
              <a:rPr kumimoji="0" lang="fr-FR" sz="20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sym typeface="Symbol" pitchFamily="18" charset="2"/>
              </a:rPr>
              <a:t>trouve:=</a:t>
            </a:r>
            <a:r>
              <a:rPr kumimoji="0" lang="fr-FR" sz="2000" b="1"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sym typeface="Symbol" pitchFamily="18" charset="2"/>
              </a:rPr>
              <a:t>true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sym typeface="Symbol" pitchFamily="18" charset="2"/>
            </a:endParaRP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a:t>
            </a:r>
            <a:r>
              <a:rPr lang="fr-FR" sz="2000" b="1" dirty="0">
                <a:latin typeface="Times New Roman" pitchFamily="18" charset="0"/>
                <a:ea typeface="Times New Roman" pitchFamily="18" charset="0"/>
                <a:cs typeface="Times New Roman" pitchFamily="18" charset="0"/>
                <a:sym typeface="Symbol" pitchFamily="18" charset="2"/>
              </a:rPr>
              <a:t> sinon</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a:t>
            </a:r>
            <a:r>
              <a:rPr kumimoji="0" lang="fr-FR" sz="20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sym typeface="Symbol" pitchFamily="18" charset="2"/>
              </a:rPr>
              <a:t>i</a:t>
            </a:r>
            <a:r>
              <a:rPr lang="fr-FR" sz="2000" dirty="0" smtClean="0">
                <a:latin typeface="Times New Roman" pitchFamily="18" charset="0"/>
                <a:ea typeface="Times New Roman" pitchFamily="18" charset="0"/>
                <a:cs typeface="Times New Roman" pitchFamily="18" charset="0"/>
                <a:sym typeface="Symbol" pitchFamily="18" charset="2"/>
              </a:rPr>
              <a:t>:=</a:t>
            </a:r>
            <a:r>
              <a:rPr lang="fr-FR" sz="2000" dirty="0" smtClean="0">
                <a:latin typeface="Times New Roman" pitchFamily="18" charset="0"/>
                <a:ea typeface="Times New Roman" pitchFamily="18" charset="0"/>
                <a:cs typeface="Times New Roman" pitchFamily="18" charset="0"/>
                <a:sym typeface="Symbol" pitchFamily="18" charset="2"/>
              </a:rPr>
              <a:t>i+1</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a:t>
            </a: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lang="fr-FR" sz="2000" b="1" dirty="0">
                <a:latin typeface="Times New Roman" pitchFamily="18" charset="0"/>
                <a:ea typeface="Times New Roman" pitchFamily="18" charset="0"/>
                <a:cs typeface="Times New Roman" pitchFamily="18" charset="0"/>
                <a:sym typeface="Symbol" pitchFamily="18" charset="2"/>
              </a:rPr>
              <a:t>    </a:t>
            </a:r>
            <a:r>
              <a:rPr lang="fr-FR" sz="2000" b="1" dirty="0" err="1">
                <a:latin typeface="Times New Roman" pitchFamily="18" charset="0"/>
                <a:ea typeface="Times New Roman" pitchFamily="18" charset="0"/>
                <a:cs typeface="Times New Roman" pitchFamily="18" charset="0"/>
                <a:sym typeface="Symbol" pitchFamily="18" charset="2"/>
              </a:rPr>
              <a:t>finsi</a:t>
            </a:r>
            <a:r>
              <a:rPr lang="fr-FR" sz="2000" b="1" dirty="0">
                <a:latin typeface="Times New Roman" pitchFamily="18" charset="0"/>
                <a:ea typeface="Times New Roman" pitchFamily="18" charset="0"/>
                <a:cs typeface="Times New Roman" pitchFamily="18" charset="0"/>
                <a:sym typeface="Symbol" pitchFamily="18" charset="2"/>
              </a:rPr>
              <a:t>;</a:t>
            </a: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a:t>
            </a:r>
            <a:r>
              <a:rPr kumimoji="0" lang="fr-FR" sz="2000" b="1"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sym typeface="Symbol" pitchFamily="18" charset="2"/>
              </a:rPr>
              <a:t>finfaire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sym typeface="Symbol" pitchFamily="18" charset="2"/>
            </a:endParaRP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a:t>
            </a:r>
            <a:r>
              <a:rPr kumimoji="0" lang="fr-FR"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sym typeface="Symbol" pitchFamily="18" charset="2"/>
              </a:rPr>
              <a:t>retourner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trouve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rPr>
              <a:t>; </a:t>
            </a:r>
            <a:endParaRPr lang="fr-FR" sz="2000" b="1" dirty="0">
              <a:latin typeface="Times New Roman" pitchFamily="18" charset="0"/>
              <a:ea typeface="Times New Roman" pitchFamily="18" charset="0"/>
              <a:cs typeface="Times New Roman" pitchFamily="18" charset="0"/>
              <a:sym typeface="Symbol" pitchFamily="18" charset="2"/>
            </a:endParaRP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lang="fr-FR" sz="2000" b="1" dirty="0" err="1">
                <a:latin typeface="Times New Roman" pitchFamily="18" charset="0"/>
                <a:ea typeface="Times New Roman" pitchFamily="18" charset="0"/>
                <a:cs typeface="Times New Roman" pitchFamily="18" charset="0"/>
                <a:sym typeface="Symbol" pitchFamily="18" charset="2"/>
              </a:rPr>
              <a:t>finfonc</a:t>
            </a:r>
            <a:r>
              <a:rPr lang="fr-FR" sz="2000" b="1" dirty="0">
                <a:latin typeface="Times New Roman" pitchFamily="18" charset="0"/>
                <a:ea typeface="Times New Roman" pitchFamily="18" charset="0"/>
                <a:cs typeface="Times New Roman" pitchFamily="18" charset="0"/>
                <a:sym typeface="Symbol" pitchFamily="18" charset="2"/>
              </a:rPr>
              <a:t>;</a:t>
            </a:r>
            <a:endPar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sym typeface="Symbol" pitchFamily="18" charset="2"/>
            </a:endParaRPr>
          </a:p>
        </p:txBody>
      </p:sp>
    </p:spTree>
    <p:extLst>
      <p:ext uri="{BB962C8B-B14F-4D97-AF65-F5344CB8AC3E}">
        <p14:creationId xmlns:p14="http://schemas.microsoft.com/office/powerpoint/2010/main" val="25572493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14960" y="230627"/>
            <a:ext cx="11612880" cy="624786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2000" b="0" i="0" u="sng"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Algorithme récursif</a:t>
            </a:r>
            <a:r>
              <a:rPr kumimoji="0" lang="fr-FR" sz="2000" b="0" i="0"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endParaRPr kumimoji="0" lang="fr-FR" sz="2000" b="0" i="0"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booléen </a:t>
            </a:r>
            <a:r>
              <a:rPr kumimoji="0" lang="fr-FR" sz="20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acces3</a:t>
            </a:r>
            <a:r>
              <a:rPr kumimoji="0" lang="fr-FR"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(d </a:t>
            </a:r>
            <a:r>
              <a:rPr lang="fr-FR" sz="2000" b="1" dirty="0">
                <a:latin typeface="Times New Roman" pitchFamily="18" charset="0"/>
                <a:ea typeface="Times New Roman" pitchFamily="18" charset="0"/>
                <a:cs typeface="Times New Roman" pitchFamily="18" charset="0"/>
              </a:rPr>
              <a:t>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ntier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d </a:t>
            </a:r>
            <a:r>
              <a:rPr lang="fr-FR" sz="2000" b="1" dirty="0">
                <a:latin typeface="Times New Roman" pitchFamily="18" charset="0"/>
                <a:ea typeface="Times New Roman" pitchFamily="18" charset="0"/>
                <a:cs typeface="Times New Roman" pitchFamily="18" charset="0"/>
              </a:rPr>
              <a:t>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ntier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d </a:t>
            </a:r>
            <a:r>
              <a:rPr lang="fr-FR" sz="2000" b="1" dirty="0">
                <a:latin typeface="Times New Roman" pitchFamily="18" charset="0"/>
                <a:ea typeface="Times New Roman" pitchFamily="18" charset="0"/>
                <a:cs typeface="Times New Roman" pitchFamily="18" charset="0"/>
              </a:rPr>
              <a:t>e</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ntier </a:t>
            </a:r>
            <a:r>
              <a:rPr kumimoji="0" lang="fr-FR" sz="200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elem</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fr-FR" sz="2000" b="1" dirty="0" err="1">
                <a:latin typeface="Times New Roman" pitchFamily="18" charset="0"/>
                <a:ea typeface="Times New Roman" pitchFamily="18" charset="0"/>
                <a:cs typeface="Times New Roman" pitchFamily="18" charset="0"/>
              </a:rPr>
              <a:t>debfonc</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fr-FR" sz="2000" b="1" dirty="0">
                <a:latin typeface="Times New Roman" pitchFamily="18" charset="0"/>
                <a:ea typeface="Times New Roman" pitchFamily="18" charset="0"/>
                <a:cs typeface="Times New Roman" pitchFamily="18" charset="0"/>
              </a:rPr>
              <a:t>  </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si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n&lt;</a:t>
            </a:r>
            <a:r>
              <a:rPr lang="fr-FR" sz="2000" dirty="0">
                <a:latin typeface="Times New Roman" pitchFamily="18" charset="0"/>
                <a:ea typeface="Times New Roman" pitchFamily="18" charset="0"/>
                <a:cs typeface="Times New Roman" pitchFamily="18" charset="0"/>
              </a:rPr>
              <a:t>1</a:t>
            </a:r>
            <a:r>
              <a:rPr lang="fr-FR" sz="2000" b="1" dirty="0">
                <a:latin typeface="Times New Roman" pitchFamily="18" charset="0"/>
                <a:ea typeface="Times New Roman" pitchFamily="18" charset="0"/>
                <a:cs typeface="Times New Roman" pitchFamily="18" charset="0"/>
              </a:rPr>
              <a:t> alors </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retourner </a:t>
            </a:r>
            <a:r>
              <a:rPr lang="fr-FR" sz="2000" b="1" dirty="0">
                <a:latin typeface="Times New Roman" pitchFamily="18" charset="0"/>
                <a:ea typeface="Times New Roman" pitchFamily="18" charset="0"/>
                <a:cs typeface="Times New Roman" pitchFamily="18" charset="0"/>
              </a:rPr>
              <a:t>faux</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lang="fr-FR" sz="2000" b="1" dirty="0">
                <a:latin typeface="Times New Roman" pitchFamily="18" charset="0"/>
                <a:ea typeface="Times New Roman" pitchFamily="18" charset="0"/>
                <a:cs typeface="Times New Roman" pitchFamily="18" charset="0"/>
              </a:rPr>
              <a:t>sinon</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si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t[n]=</a:t>
            </a:r>
            <a:r>
              <a:rPr kumimoji="0" lang="fr-FR" sz="200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elem</a:t>
            </a:r>
            <a:r>
              <a:rPr lang="fr-FR" sz="2000" b="1" dirty="0">
                <a:latin typeface="Times New Roman" pitchFamily="18" charset="0"/>
                <a:ea typeface="Times New Roman" pitchFamily="18" charset="0"/>
                <a:cs typeface="Times New Roman" pitchFamily="18" charset="0"/>
              </a:rPr>
              <a:t> </a:t>
            </a:r>
            <a:r>
              <a:rPr kumimoji="0" lang="fr-FR"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retourner </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vrai;</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lang="fr-FR" sz="2000" b="1" dirty="0">
                <a:latin typeface="Times New Roman" pitchFamily="18" charset="0"/>
                <a:ea typeface="Times New Roman" pitchFamily="18" charset="0"/>
                <a:cs typeface="Times New Roman" pitchFamily="18" charset="0"/>
              </a:rPr>
              <a:t>     sinon</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acces2</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r>
              <a:rPr kumimoji="0" lang="fr-FR" sz="20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 n-1, </a:t>
            </a:r>
            <a:r>
              <a:rPr kumimoji="0" lang="fr-FR" sz="200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elem</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fr-FR" sz="2000" b="1" dirty="0">
                <a:latin typeface="Times New Roman" pitchFamily="18" charset="0"/>
                <a:ea typeface="Times New Roman" pitchFamily="18" charset="0"/>
                <a:cs typeface="Times New Roman" pitchFamily="18" charset="0"/>
              </a:rPr>
              <a:t>            </a:t>
            </a:r>
            <a:r>
              <a:rPr lang="fr-FR" sz="2000" b="1" dirty="0" err="1">
                <a:latin typeface="Times New Roman" pitchFamily="18" charset="0"/>
                <a:ea typeface="Times New Roman" pitchFamily="18" charset="0"/>
                <a:cs typeface="Times New Roman" pitchFamily="18" charset="0"/>
              </a:rPr>
              <a:t>finsi</a:t>
            </a:r>
            <a:r>
              <a:rPr lang="fr-FR" sz="2000" b="1" dirty="0">
                <a:latin typeface="Times New Roman" pitchFamily="18" charset="0"/>
                <a:ea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fr-FR" sz="20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f</a:t>
            </a:r>
            <a:r>
              <a:rPr lang="fr-FR" sz="2000" b="1" dirty="0" err="1">
                <a:latin typeface="Times New Roman" pitchFamily="18" charset="0"/>
                <a:ea typeface="Times New Roman" pitchFamily="18" charset="0"/>
                <a:cs typeface="Times New Roman" pitchFamily="18" charset="0"/>
              </a:rPr>
              <a:t>insi</a:t>
            </a:r>
            <a:r>
              <a:rPr lang="fr-FR" sz="2000" b="1" dirty="0">
                <a:latin typeface="Times New Roman" pitchFamily="18" charset="0"/>
                <a:ea typeface="Times New Roman" pitchFamily="18" charset="0"/>
                <a:cs typeface="Times New Roman" pitchFamily="18" charset="0"/>
              </a:rPr>
              <a:t>;</a:t>
            </a:r>
            <a:endPar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fr-FR" sz="2000" b="1" dirty="0" err="1">
                <a:latin typeface="Times New Roman" pitchFamily="18" charset="0"/>
                <a:ea typeface="Times New Roman" pitchFamily="18" charset="0"/>
                <a:cs typeface="Times New Roman" pitchFamily="18" charset="0"/>
              </a:rPr>
              <a:t>f</a:t>
            </a:r>
            <a:r>
              <a:rPr kumimoji="0" lang="fr-FR" sz="20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infonc</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p>
          <a:p>
            <a:pPr lvl="0"/>
            <a:r>
              <a:rPr lang="fr-FR" sz="2000" dirty="0">
                <a:latin typeface="Times New Roman" pitchFamily="18" charset="0"/>
                <a:cs typeface="Times New Roman" pitchFamily="18" charset="0"/>
              </a:rPr>
              <a:t>b) </a:t>
            </a:r>
            <a:r>
              <a:rPr lang="fr-FR" sz="2000" u="sng" dirty="0">
                <a:latin typeface="Times New Roman" pitchFamily="18" charset="0"/>
                <a:cs typeface="Times New Roman" pitchFamily="18" charset="0"/>
              </a:rPr>
              <a:t>Recherche dichotomique</a:t>
            </a:r>
            <a:endParaRPr lang="fr-FR" sz="2000" dirty="0">
              <a:latin typeface="Times New Roman" pitchFamily="18" charset="0"/>
              <a:cs typeface="Times New Roman" pitchFamily="18" charset="0"/>
            </a:endParaRPr>
          </a:p>
          <a:p>
            <a:r>
              <a:rPr lang="fr-FR" sz="2000" dirty="0">
                <a:latin typeface="Times New Roman" pitchFamily="18" charset="0"/>
                <a:cs typeface="Times New Roman" pitchFamily="18" charset="0"/>
              </a:rPr>
              <a:t>Soit le tableau </a:t>
            </a:r>
            <a:r>
              <a:rPr lang="fr-FR" sz="2000" b="1" dirty="0">
                <a:latin typeface="Times New Roman" pitchFamily="18" charset="0"/>
                <a:cs typeface="Times New Roman" pitchFamily="18" charset="0"/>
              </a:rPr>
              <a:t>t[1..n]</a:t>
            </a:r>
            <a:r>
              <a:rPr lang="fr-FR" sz="2000" dirty="0">
                <a:latin typeface="Times New Roman" pitchFamily="18" charset="0"/>
                <a:cs typeface="Times New Roman" pitchFamily="18" charset="0"/>
              </a:rPr>
              <a:t> trié : </a:t>
            </a:r>
            <a:r>
              <a:rPr lang="fr-FR" sz="2000" b="1" dirty="0">
                <a:latin typeface="Times New Roman" pitchFamily="18" charset="0"/>
                <a:cs typeface="Times New Roman" pitchFamily="18" charset="0"/>
                <a:sym typeface="Symbol"/>
              </a:rPr>
              <a:t></a:t>
            </a:r>
            <a:r>
              <a:rPr lang="fr-FR" sz="2000" b="1" dirty="0">
                <a:latin typeface="Times New Roman" pitchFamily="18" charset="0"/>
                <a:cs typeface="Times New Roman" pitchFamily="18" charset="0"/>
              </a:rPr>
              <a:t>i </a:t>
            </a:r>
            <a:r>
              <a:rPr lang="fr-FR" sz="2000" b="1" dirty="0">
                <a:latin typeface="Times New Roman" pitchFamily="18" charset="0"/>
                <a:cs typeface="Times New Roman" pitchFamily="18" charset="0"/>
                <a:sym typeface="Symbol"/>
              </a:rPr>
              <a:t></a:t>
            </a:r>
            <a:r>
              <a:rPr lang="fr-FR" sz="2000" b="1" dirty="0">
                <a:latin typeface="Times New Roman" pitchFamily="18" charset="0"/>
                <a:cs typeface="Times New Roman" pitchFamily="18" charset="0"/>
              </a:rPr>
              <a:t> [1..n], t[i-1] </a:t>
            </a:r>
            <a:r>
              <a:rPr lang="fr-FR" sz="2000" b="1" dirty="0">
                <a:latin typeface="Times New Roman" pitchFamily="18" charset="0"/>
                <a:cs typeface="Times New Roman" pitchFamily="18" charset="0"/>
                <a:sym typeface="Symbol"/>
              </a:rPr>
              <a:t></a:t>
            </a:r>
            <a:r>
              <a:rPr lang="fr-FR" sz="2000" b="1" dirty="0">
                <a:latin typeface="Times New Roman" pitchFamily="18" charset="0"/>
                <a:cs typeface="Times New Roman" pitchFamily="18" charset="0"/>
              </a:rPr>
              <a:t> t[i]</a:t>
            </a:r>
            <a:r>
              <a:rPr lang="fr-FR" sz="2000" dirty="0">
                <a:latin typeface="Times New Roman" pitchFamily="18" charset="0"/>
                <a:cs typeface="Times New Roman" pitchFamily="18" charset="0"/>
              </a:rPr>
              <a:t>.</a:t>
            </a:r>
          </a:p>
          <a:p>
            <a:r>
              <a:rPr lang="fr-FR" sz="2000" dirty="0">
                <a:latin typeface="Times New Roman" pitchFamily="18" charset="0"/>
                <a:cs typeface="Times New Roman" pitchFamily="18" charset="0"/>
              </a:rPr>
              <a:t>On va partitionner le tableau </a:t>
            </a:r>
            <a:r>
              <a:rPr lang="fr-FR" sz="2000" b="1" dirty="0">
                <a:latin typeface="Times New Roman" pitchFamily="18" charset="0"/>
                <a:cs typeface="Times New Roman" pitchFamily="18" charset="0"/>
              </a:rPr>
              <a:t>t</a:t>
            </a:r>
            <a:r>
              <a:rPr lang="fr-FR" sz="2000" dirty="0">
                <a:latin typeface="Times New Roman" pitchFamily="18" charset="0"/>
                <a:cs typeface="Times New Roman" pitchFamily="18" charset="0"/>
              </a:rPr>
              <a:t> en 3 sous-tableaux </a:t>
            </a:r>
            <a:r>
              <a:rPr lang="fr-FR" sz="2000" b="1" dirty="0">
                <a:latin typeface="Times New Roman" pitchFamily="18" charset="0"/>
                <a:cs typeface="Times New Roman" pitchFamily="18" charset="0"/>
              </a:rPr>
              <a:t>t[1..m-1]</a:t>
            </a:r>
            <a:r>
              <a:rPr lang="fr-FR" sz="2000" dirty="0">
                <a:latin typeface="Times New Roman" pitchFamily="18" charset="0"/>
                <a:cs typeface="Times New Roman" pitchFamily="18" charset="0"/>
              </a:rPr>
              <a:t>, </a:t>
            </a:r>
            <a:r>
              <a:rPr lang="fr-FR" sz="2000" b="1" dirty="0">
                <a:latin typeface="Times New Roman" pitchFamily="18" charset="0"/>
                <a:cs typeface="Times New Roman" pitchFamily="18" charset="0"/>
              </a:rPr>
              <a:t>t[</a:t>
            </a:r>
            <a:r>
              <a:rPr lang="fr-FR" sz="2000" b="1" dirty="0" err="1">
                <a:latin typeface="Times New Roman" pitchFamily="18" charset="0"/>
                <a:cs typeface="Times New Roman" pitchFamily="18" charset="0"/>
              </a:rPr>
              <a:t>m..m</a:t>
            </a:r>
            <a:r>
              <a:rPr lang="fr-FR" sz="2000" b="1" dirty="0">
                <a:latin typeface="Times New Roman" pitchFamily="18" charset="0"/>
                <a:cs typeface="Times New Roman" pitchFamily="18" charset="0"/>
              </a:rPr>
              <a:t>]</a:t>
            </a:r>
            <a:r>
              <a:rPr lang="fr-FR" sz="2000" dirty="0">
                <a:latin typeface="Times New Roman" pitchFamily="18" charset="0"/>
                <a:cs typeface="Times New Roman" pitchFamily="18" charset="0"/>
              </a:rPr>
              <a:t>, </a:t>
            </a:r>
            <a:r>
              <a:rPr lang="fr-FR" sz="2000" b="1" dirty="0">
                <a:latin typeface="Times New Roman" pitchFamily="18" charset="0"/>
                <a:cs typeface="Times New Roman" pitchFamily="18" charset="0"/>
              </a:rPr>
              <a:t>t[m+1..n] triés</a:t>
            </a:r>
            <a:r>
              <a:rPr lang="fr-FR" sz="2000" dirty="0">
                <a:latin typeface="Times New Roman" pitchFamily="18" charset="0"/>
                <a:cs typeface="Times New Roman" pitchFamily="18" charset="0"/>
              </a:rPr>
              <a:t>. </a:t>
            </a:r>
          </a:p>
          <a:p>
            <a:r>
              <a:rPr lang="fr-FR" sz="2000" dirty="0">
                <a:latin typeface="Times New Roman" pitchFamily="18" charset="0"/>
                <a:cs typeface="Times New Roman" pitchFamily="18" charset="0"/>
              </a:rPr>
              <a:t>Cette partition vérifie la relation : </a:t>
            </a:r>
            <a:r>
              <a:rPr lang="fr-FR" sz="2000" b="1" dirty="0">
                <a:latin typeface="Times New Roman" pitchFamily="18" charset="0"/>
                <a:cs typeface="Times New Roman" pitchFamily="18" charset="0"/>
              </a:rPr>
              <a:t>t[1..m-1] </a:t>
            </a:r>
            <a:r>
              <a:rPr lang="fr-FR" sz="2000" b="1" dirty="0">
                <a:latin typeface="Times New Roman" pitchFamily="18" charset="0"/>
                <a:cs typeface="Times New Roman" pitchFamily="18" charset="0"/>
                <a:sym typeface="Symbol"/>
              </a:rPr>
              <a:t></a:t>
            </a:r>
            <a:r>
              <a:rPr lang="fr-FR" sz="2000" b="1" dirty="0">
                <a:latin typeface="Times New Roman" pitchFamily="18" charset="0"/>
                <a:cs typeface="Times New Roman" pitchFamily="18" charset="0"/>
              </a:rPr>
              <a:t> t[m] </a:t>
            </a:r>
            <a:r>
              <a:rPr lang="fr-FR" sz="2000" b="1" dirty="0">
                <a:latin typeface="Times New Roman" pitchFamily="18" charset="0"/>
                <a:cs typeface="Times New Roman" pitchFamily="18" charset="0"/>
                <a:sym typeface="Symbol"/>
              </a:rPr>
              <a:t></a:t>
            </a:r>
            <a:r>
              <a:rPr lang="fr-FR" sz="2000" b="1" dirty="0">
                <a:latin typeface="Times New Roman" pitchFamily="18" charset="0"/>
                <a:cs typeface="Times New Roman" pitchFamily="18" charset="0"/>
              </a:rPr>
              <a:t> t[m+1..n]</a:t>
            </a:r>
          </a:p>
          <a:p>
            <a:endParaRPr lang="fr-FR" sz="2000" dirty="0">
              <a:latin typeface="Times New Roman" pitchFamily="18" charset="0"/>
              <a:cs typeface="Times New Roman" pitchFamily="18" charset="0"/>
            </a:endParaRPr>
          </a:p>
          <a:p>
            <a:r>
              <a:rPr lang="fr-FR" sz="2000" dirty="0">
                <a:latin typeface="Times New Roman" pitchFamily="18" charset="0"/>
                <a:cs typeface="Times New Roman" pitchFamily="18" charset="0"/>
              </a:rPr>
              <a:t>En comparant </a:t>
            </a:r>
            <a:r>
              <a:rPr lang="fr-FR" sz="2000" b="1" dirty="0" err="1">
                <a:latin typeface="Times New Roman" pitchFamily="18" charset="0"/>
                <a:cs typeface="Times New Roman" pitchFamily="18" charset="0"/>
              </a:rPr>
              <a:t>elem</a:t>
            </a:r>
            <a:r>
              <a:rPr lang="fr-FR" sz="2000" dirty="0">
                <a:latin typeface="Times New Roman" pitchFamily="18" charset="0"/>
                <a:cs typeface="Times New Roman" pitchFamily="18" charset="0"/>
              </a:rPr>
              <a:t> à </a:t>
            </a:r>
            <a:r>
              <a:rPr lang="fr-FR" sz="2000" b="1" dirty="0">
                <a:latin typeface="Times New Roman" pitchFamily="18" charset="0"/>
                <a:cs typeface="Times New Roman" pitchFamily="18" charset="0"/>
              </a:rPr>
              <a:t>t[m]</a:t>
            </a:r>
            <a:r>
              <a:rPr lang="fr-FR" sz="2000" dirty="0">
                <a:latin typeface="Times New Roman" pitchFamily="18" charset="0"/>
                <a:cs typeface="Times New Roman" pitchFamily="18" charset="0"/>
              </a:rPr>
              <a:t>, on peut décider, si </a:t>
            </a:r>
            <a:r>
              <a:rPr lang="fr-FR" sz="2000" b="1" dirty="0" err="1">
                <a:latin typeface="Times New Roman" pitchFamily="18" charset="0"/>
                <a:cs typeface="Times New Roman" pitchFamily="18" charset="0"/>
              </a:rPr>
              <a:t>elem</a:t>
            </a:r>
            <a:r>
              <a:rPr lang="fr-FR" sz="2000" dirty="0">
                <a:latin typeface="Times New Roman" pitchFamily="18" charset="0"/>
                <a:cs typeface="Times New Roman" pitchFamily="18" charset="0"/>
              </a:rPr>
              <a:t> n’est pas égal à </a:t>
            </a:r>
            <a:r>
              <a:rPr lang="fr-FR" sz="2000" b="1" dirty="0">
                <a:latin typeface="Times New Roman" pitchFamily="18" charset="0"/>
                <a:cs typeface="Times New Roman" pitchFamily="18" charset="0"/>
              </a:rPr>
              <a:t>t[m],</a:t>
            </a:r>
            <a:r>
              <a:rPr lang="fr-FR" sz="2000" dirty="0">
                <a:latin typeface="Times New Roman" pitchFamily="18" charset="0"/>
                <a:cs typeface="Times New Roman" pitchFamily="18" charset="0"/>
              </a:rPr>
              <a:t> à quel sous-tableau il peut appartenir :</a:t>
            </a:r>
          </a:p>
          <a:p>
            <a:pPr lvl="0"/>
            <a:r>
              <a:rPr lang="fr-FR" sz="2000" dirty="0">
                <a:latin typeface="Times New Roman" pitchFamily="18" charset="0"/>
                <a:cs typeface="Times New Roman" pitchFamily="18" charset="0"/>
              </a:rPr>
              <a:t>à </a:t>
            </a:r>
            <a:r>
              <a:rPr lang="fr-FR" sz="2000" b="1" dirty="0">
                <a:latin typeface="Times New Roman" pitchFamily="18" charset="0"/>
                <a:cs typeface="Times New Roman" pitchFamily="18" charset="0"/>
              </a:rPr>
              <a:t>t[1..m-1]</a:t>
            </a:r>
            <a:r>
              <a:rPr lang="fr-FR" sz="2000" dirty="0">
                <a:latin typeface="Times New Roman" pitchFamily="18" charset="0"/>
                <a:cs typeface="Times New Roman" pitchFamily="18" charset="0"/>
              </a:rPr>
              <a:t>  si </a:t>
            </a:r>
            <a:r>
              <a:rPr lang="fr-FR" sz="2000" b="1" dirty="0" err="1">
                <a:latin typeface="Times New Roman" pitchFamily="18" charset="0"/>
                <a:cs typeface="Times New Roman" pitchFamily="18" charset="0"/>
              </a:rPr>
              <a:t>elem</a:t>
            </a:r>
            <a:r>
              <a:rPr lang="fr-FR" sz="2000" b="1" dirty="0">
                <a:latin typeface="Times New Roman" pitchFamily="18" charset="0"/>
                <a:cs typeface="Times New Roman" pitchFamily="18" charset="0"/>
              </a:rPr>
              <a:t>&lt;t[m]</a:t>
            </a:r>
          </a:p>
          <a:p>
            <a:pPr lvl="0"/>
            <a:r>
              <a:rPr lang="fr-FR" sz="2000" dirty="0">
                <a:latin typeface="Times New Roman" pitchFamily="18" charset="0"/>
                <a:cs typeface="Times New Roman" pitchFamily="18" charset="0"/>
              </a:rPr>
              <a:t>à </a:t>
            </a:r>
            <a:r>
              <a:rPr lang="fr-FR" sz="2000" b="1" dirty="0">
                <a:latin typeface="Times New Roman" pitchFamily="18" charset="0"/>
                <a:cs typeface="Times New Roman" pitchFamily="18" charset="0"/>
              </a:rPr>
              <a:t>t[m+1..n]</a:t>
            </a:r>
            <a:r>
              <a:rPr lang="fr-FR" sz="2000" dirty="0">
                <a:latin typeface="Times New Roman" pitchFamily="18" charset="0"/>
                <a:cs typeface="Times New Roman" pitchFamily="18" charset="0"/>
              </a:rPr>
              <a:t> si </a:t>
            </a:r>
            <a:r>
              <a:rPr lang="fr-FR" sz="2000" b="1" dirty="0" err="1">
                <a:latin typeface="Times New Roman" pitchFamily="18" charset="0"/>
                <a:cs typeface="Times New Roman" pitchFamily="18" charset="0"/>
              </a:rPr>
              <a:t>elem</a:t>
            </a:r>
            <a:r>
              <a:rPr lang="fr-FR" sz="2000" b="1" dirty="0">
                <a:latin typeface="Times New Roman" pitchFamily="18" charset="0"/>
                <a:cs typeface="Times New Roman" pitchFamily="18" charset="0"/>
              </a:rPr>
              <a:t>&gt;t[m]</a:t>
            </a:r>
            <a:r>
              <a:rPr lang="fr-FR" sz="2000" dirty="0">
                <a:latin typeface="Times New Roman" pitchFamily="18" charset="0"/>
                <a:cs typeface="Times New Roman" pitchFamily="18" charset="0"/>
              </a:rPr>
              <a:t>.</a:t>
            </a:r>
          </a:p>
          <a:p>
            <a:pPr lvl="0"/>
            <a:endParaRPr lang="fr-FR" sz="2000" dirty="0">
              <a:latin typeface="Times New Roman" pitchFamily="18" charset="0"/>
              <a:cs typeface="Times New Roman" pitchFamily="18" charset="0"/>
            </a:endParaRPr>
          </a:p>
          <a:p>
            <a:r>
              <a:rPr lang="fr-FR" sz="2000" dirty="0">
                <a:latin typeface="Times New Roman" pitchFamily="18" charset="0"/>
                <a:cs typeface="Times New Roman" pitchFamily="18" charset="0"/>
              </a:rPr>
              <a:t>On est ramené au même problème que précédemment : rechercher </a:t>
            </a:r>
            <a:r>
              <a:rPr lang="fr-FR" sz="2000" b="1" dirty="0" err="1">
                <a:latin typeface="Times New Roman" pitchFamily="18" charset="0"/>
                <a:cs typeface="Times New Roman" pitchFamily="18" charset="0"/>
              </a:rPr>
              <a:t>elem</a:t>
            </a:r>
            <a:r>
              <a:rPr lang="fr-FR" sz="2000" dirty="0">
                <a:latin typeface="Times New Roman" pitchFamily="18" charset="0"/>
                <a:cs typeface="Times New Roman" pitchFamily="18" charset="0"/>
              </a:rPr>
              <a:t> dans un tableau </a:t>
            </a:r>
            <a:r>
              <a:rPr lang="fr-FR" sz="2000" b="1" dirty="0">
                <a:latin typeface="Times New Roman" pitchFamily="18" charset="0"/>
                <a:cs typeface="Times New Roman" pitchFamily="18" charset="0"/>
              </a:rPr>
              <a:t>t[1..m-1]</a:t>
            </a:r>
            <a:r>
              <a:rPr lang="fr-FR" sz="2000" dirty="0">
                <a:latin typeface="Times New Roman" pitchFamily="18" charset="0"/>
                <a:cs typeface="Times New Roman" pitchFamily="18" charset="0"/>
              </a:rPr>
              <a:t> ou </a:t>
            </a:r>
            <a:r>
              <a:rPr lang="fr-FR" sz="2000" b="1" dirty="0">
                <a:latin typeface="Times New Roman" pitchFamily="18" charset="0"/>
                <a:cs typeface="Times New Roman" pitchFamily="18" charset="0"/>
              </a:rPr>
              <a:t>t[m+1..n]</a:t>
            </a:r>
            <a:r>
              <a:rPr lang="fr-FR" sz="2000" dirty="0">
                <a:latin typeface="Times New Roman" pitchFamily="18" charset="0"/>
                <a:cs typeface="Times New Roman" pitchFamily="18" charset="0"/>
              </a:rPr>
              <a:t>. </a:t>
            </a:r>
          </a:p>
          <a:p>
            <a:r>
              <a:rPr lang="fr-FR" sz="2000" dirty="0">
                <a:latin typeface="Times New Roman" pitchFamily="18" charset="0"/>
                <a:cs typeface="Times New Roman" pitchFamily="18" charset="0"/>
              </a:rPr>
              <a:t>Par contre si </a:t>
            </a:r>
            <a:r>
              <a:rPr lang="fr-FR" sz="2000" b="1" dirty="0" err="1">
                <a:latin typeface="Times New Roman" pitchFamily="18" charset="0"/>
                <a:cs typeface="Times New Roman" pitchFamily="18" charset="0"/>
              </a:rPr>
              <a:t>elem</a:t>
            </a:r>
            <a:r>
              <a:rPr lang="fr-FR" sz="2000" dirty="0">
                <a:latin typeface="Times New Roman" pitchFamily="18" charset="0"/>
                <a:cs typeface="Times New Roman" pitchFamily="18" charset="0"/>
              </a:rPr>
              <a:t> est égal à </a:t>
            </a:r>
            <a:r>
              <a:rPr lang="fr-FR" sz="2000" b="1" dirty="0">
                <a:latin typeface="Times New Roman" pitchFamily="18" charset="0"/>
                <a:cs typeface="Times New Roman" pitchFamily="18" charset="0"/>
              </a:rPr>
              <a:t>t[m]</a:t>
            </a:r>
            <a:r>
              <a:rPr lang="fr-FR" sz="2000" dirty="0">
                <a:latin typeface="Times New Roman" pitchFamily="18" charset="0"/>
                <a:cs typeface="Times New Roman" pitchFamily="18" charset="0"/>
              </a:rPr>
              <a:t>, l’algorithme est terminé.</a:t>
            </a:r>
          </a:p>
        </p:txBody>
      </p:sp>
    </p:spTree>
    <p:extLst>
      <p:ext uri="{BB962C8B-B14F-4D97-AF65-F5344CB8AC3E}">
        <p14:creationId xmlns:p14="http://schemas.microsoft.com/office/powerpoint/2010/main" val="21394882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p:cNvSpPr>
            <a:spLocks noChangeArrowheads="1"/>
          </p:cNvSpPr>
          <p:nvPr/>
        </p:nvSpPr>
        <p:spPr bwMode="auto">
          <a:xfrm>
            <a:off x="172720" y="214290"/>
            <a:ext cx="11795760" cy="655564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2000" b="0" i="0" u="sng"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Construction de l’algorithme</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Après un certain nombre de pas, on dispose d’un sous-tableau </a:t>
            </a:r>
            <a:r>
              <a:rPr kumimoji="0" lang="fr-FR"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t[inf..sup]</a:t>
            </a:r>
            <a:r>
              <a:rPr kumimoji="0" lang="fr-FR"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tel que :</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t[1..inf-1] &lt; </a:t>
            </a:r>
            <a:r>
              <a:rPr kumimoji="0" lang="de-DE" sz="20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elem</a:t>
            </a:r>
            <a:r>
              <a:rPr kumimoji="0" lang="de-DE"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&lt; t[sup+1..n]</a:t>
            </a:r>
          </a:p>
          <a:p>
            <a:pPr marL="0" marR="0" lvl="0" indent="0" algn="l" defTabSz="914400" rtl="0" eaLnBrk="0" fontAlgn="base" latinLnBrk="0" hangingPunct="0">
              <a:lnSpc>
                <a:spcPct val="100000"/>
              </a:lnSpc>
              <a:spcBef>
                <a:spcPct val="0"/>
              </a:spcBef>
              <a:spcAft>
                <a:spcPct val="0"/>
              </a:spcAft>
              <a:buClrTx/>
              <a:buSzTx/>
              <a:buFontTx/>
              <a:buNone/>
              <a:tabLst/>
            </a:pPr>
            <a:r>
              <a:rPr lang="de-DE" sz="2000" dirty="0">
                <a:latin typeface="Times New Roman" pitchFamily="18" charset="0"/>
                <a:cs typeface="Times New Roman" pitchFamily="18" charset="0"/>
              </a:rPr>
              <a:t>     &lt;</a:t>
            </a:r>
            <a:r>
              <a:rPr lang="de-DE" sz="2000" dirty="0" err="1">
                <a:latin typeface="Times New Roman" pitchFamily="18" charset="0"/>
                <a:cs typeface="Times New Roman" pitchFamily="18" charset="0"/>
              </a:rPr>
              <a:t>elem</a:t>
            </a:r>
            <a:r>
              <a:rPr lang="de-DE" sz="2000" dirty="0">
                <a:latin typeface="Times New Roman" pitchFamily="18" charset="0"/>
                <a:cs typeface="Times New Roman" pitchFamily="18" charset="0"/>
              </a:rPr>
              <a:t>					                   &gt;</a:t>
            </a:r>
            <a:r>
              <a:rPr lang="de-DE" sz="2000" dirty="0" err="1">
                <a:latin typeface="Times New Roman" pitchFamily="18" charset="0"/>
                <a:cs typeface="Times New Roman" pitchFamily="18" charset="0"/>
              </a:rPr>
              <a:t>elem</a:t>
            </a:r>
            <a:endParaRPr lang="de-DE" sz="2000" dirty="0">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2000" b="0" i="0" u="none" strike="noStrike" cap="none" normalizeH="0" baseline="0" dirty="0">
                <a:ln>
                  <a:noFill/>
                </a:ln>
                <a:solidFill>
                  <a:schemeClr val="tx1"/>
                </a:solidFill>
                <a:effectLst/>
                <a:latin typeface="Times New Roman" pitchFamily="18" charset="0"/>
                <a:cs typeface="Times New Roman" pitchFamily="18" charset="0"/>
              </a:rPr>
              <a:t>	 		 					        </a:t>
            </a:r>
            <a:r>
              <a:rPr kumimoji="0" lang="de-DE" sz="2000" b="0" i="0" u="none" strike="noStrike" cap="none" normalizeH="0" baseline="0" dirty="0" smtClean="0">
                <a:ln>
                  <a:noFill/>
                </a:ln>
                <a:solidFill>
                  <a:schemeClr val="tx1"/>
                </a:solidFill>
                <a:effectLst/>
                <a:latin typeface="Times New Roman" pitchFamily="18" charset="0"/>
                <a:cs typeface="Times New Roman" pitchFamily="18" charset="0"/>
              </a:rPr>
              <a:t> </a:t>
            </a:r>
            <a:endParaRPr kumimoji="0" lang="fr-FR"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sz="2000" b="0" i="0" u="none" strike="noStrike" cap="none" normalizeH="0" baseline="0" dirty="0" smtClean="0">
                <a:ln>
                  <a:noFill/>
                </a:ln>
                <a:solidFill>
                  <a:schemeClr val="tx1"/>
                </a:solidFill>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fr-FR" sz="2000" u="sng" dirty="0" smtClean="0">
                <a:latin typeface="Times New Roman" pitchFamily="18" charset="0"/>
                <a:cs typeface="Times New Roman" pitchFamily="18" charset="0"/>
              </a:rPr>
              <a:t>Algorithme itératif</a:t>
            </a:r>
          </a:p>
          <a:p>
            <a:r>
              <a:rPr lang="fr-FR" sz="2000" b="1" dirty="0" smtClean="0">
                <a:latin typeface="Times New Roman" pitchFamily="18" charset="0"/>
                <a:cs typeface="Times New Roman" pitchFamily="18" charset="0"/>
              </a:rPr>
              <a:t>booléen </a:t>
            </a:r>
            <a:r>
              <a:rPr lang="fr-FR" sz="2000" dirty="0" err="1">
                <a:latin typeface="Times New Roman" pitchFamily="18" charset="0"/>
                <a:cs typeface="Times New Roman" pitchFamily="18" charset="0"/>
              </a:rPr>
              <a:t>dich</a:t>
            </a:r>
            <a:r>
              <a:rPr lang="fr-FR" sz="2000" b="1" dirty="0">
                <a:latin typeface="Times New Roman" pitchFamily="18" charset="0"/>
                <a:cs typeface="Times New Roman" pitchFamily="18" charset="0"/>
              </a:rPr>
              <a:t>(d entier </a:t>
            </a:r>
            <a:r>
              <a:rPr lang="fr-FR" sz="2000" dirty="0">
                <a:latin typeface="Times New Roman" pitchFamily="18" charset="0"/>
                <a:cs typeface="Times New Roman" pitchFamily="18" charset="0"/>
              </a:rPr>
              <a:t>t</a:t>
            </a:r>
            <a:r>
              <a:rPr lang="fr-FR" sz="2000" b="1" dirty="0">
                <a:latin typeface="Times New Roman" pitchFamily="18" charset="0"/>
                <a:cs typeface="Times New Roman" pitchFamily="18" charset="0"/>
              </a:rPr>
              <a:t>[], d entier </a:t>
            </a:r>
            <a:r>
              <a:rPr lang="fr-FR" sz="2000" dirty="0">
                <a:latin typeface="Times New Roman" pitchFamily="18" charset="0"/>
                <a:cs typeface="Times New Roman" pitchFamily="18" charset="0"/>
              </a:rPr>
              <a:t>n</a:t>
            </a:r>
            <a:r>
              <a:rPr lang="fr-FR" sz="2000" b="1" dirty="0">
                <a:latin typeface="Times New Roman" pitchFamily="18" charset="0"/>
                <a:cs typeface="Times New Roman" pitchFamily="18" charset="0"/>
              </a:rPr>
              <a:t>, d entier </a:t>
            </a:r>
            <a:r>
              <a:rPr lang="fr-FR" sz="2000" dirty="0" err="1">
                <a:latin typeface="Times New Roman" pitchFamily="18" charset="0"/>
                <a:cs typeface="Times New Roman" pitchFamily="18" charset="0"/>
              </a:rPr>
              <a:t>elem</a:t>
            </a:r>
            <a:r>
              <a:rPr lang="fr-FR" sz="2000" dirty="0">
                <a:latin typeface="Times New Roman" pitchFamily="18" charset="0"/>
                <a:cs typeface="Times New Roman" pitchFamily="18" charset="0"/>
              </a:rPr>
              <a:t>)</a:t>
            </a:r>
          </a:p>
          <a:p>
            <a:r>
              <a:rPr lang="fr-FR" sz="2000" b="1" dirty="0" err="1">
                <a:latin typeface="Times New Roman" pitchFamily="18" charset="0"/>
                <a:cs typeface="Times New Roman" pitchFamily="18" charset="0"/>
              </a:rPr>
              <a:t>debfonc</a:t>
            </a:r>
            <a:r>
              <a:rPr lang="fr-FR" sz="2000" b="1" dirty="0">
                <a:latin typeface="Times New Roman" pitchFamily="18" charset="0"/>
                <a:cs typeface="Times New Roman" pitchFamily="18" charset="0"/>
              </a:rPr>
              <a:t>  entier </a:t>
            </a:r>
            <a:r>
              <a:rPr lang="fr-FR" sz="2000" dirty="0" err="1">
                <a:latin typeface="Times New Roman" pitchFamily="18" charset="0"/>
                <a:cs typeface="Times New Roman" pitchFamily="18" charset="0"/>
              </a:rPr>
              <a:t>inf</a:t>
            </a:r>
            <a:r>
              <a:rPr lang="fr-FR" sz="2000" dirty="0">
                <a:latin typeface="Times New Roman" pitchFamily="18" charset="0"/>
                <a:cs typeface="Times New Roman" pitchFamily="18" charset="0"/>
              </a:rPr>
              <a:t>, sup, m</a:t>
            </a:r>
            <a:r>
              <a:rPr lang="fr-FR" sz="2000" b="1" dirty="0">
                <a:latin typeface="Times New Roman" pitchFamily="18" charset="0"/>
                <a:cs typeface="Times New Roman" pitchFamily="18" charset="0"/>
              </a:rPr>
              <a:t>; booléen </a:t>
            </a:r>
            <a:r>
              <a:rPr lang="fr-FR" sz="2000" dirty="0">
                <a:latin typeface="Times New Roman" pitchFamily="18" charset="0"/>
                <a:cs typeface="Times New Roman" pitchFamily="18" charset="0"/>
              </a:rPr>
              <a:t>trouve</a:t>
            </a:r>
            <a:r>
              <a:rPr lang="fr-FR" sz="2000" b="1" dirty="0">
                <a:latin typeface="Times New Roman" pitchFamily="18" charset="0"/>
                <a:cs typeface="Times New Roman" pitchFamily="18" charset="0"/>
              </a:rPr>
              <a:t>;</a:t>
            </a:r>
            <a:endParaRPr lang="fr-FR" sz="2000" dirty="0">
              <a:latin typeface="Times New Roman" pitchFamily="18" charset="0"/>
              <a:cs typeface="Times New Roman" pitchFamily="18" charset="0"/>
            </a:endParaRPr>
          </a:p>
          <a:p>
            <a:r>
              <a:rPr lang="fr-FR" sz="2000" b="1" dirty="0">
                <a:latin typeface="Times New Roman" pitchFamily="18" charset="0"/>
                <a:cs typeface="Times New Roman" pitchFamily="18" charset="0"/>
              </a:rPr>
              <a:t>    </a:t>
            </a:r>
            <a:r>
              <a:rPr lang="fr-FR" sz="2000" dirty="0" smtClean="0">
                <a:latin typeface="Times New Roman" pitchFamily="18" charset="0"/>
                <a:cs typeface="Times New Roman" pitchFamily="18" charset="0"/>
              </a:rPr>
              <a:t>trouve</a:t>
            </a:r>
            <a:r>
              <a:rPr lang="fr-FR" sz="2000" b="1" dirty="0" smtClean="0">
                <a:latin typeface="Times New Roman" pitchFamily="18" charset="0"/>
                <a:cs typeface="Times New Roman" pitchFamily="18" charset="0"/>
              </a:rPr>
              <a:t>:=</a:t>
            </a:r>
            <a:r>
              <a:rPr lang="fr-FR" sz="2000" b="1" dirty="0" smtClean="0">
                <a:latin typeface="Times New Roman" pitchFamily="18" charset="0"/>
                <a:cs typeface="Times New Roman" pitchFamily="18" charset="0"/>
              </a:rPr>
              <a:t>faux</a:t>
            </a:r>
            <a:r>
              <a:rPr lang="fr-FR" sz="2000" b="1" dirty="0">
                <a:latin typeface="Times New Roman" pitchFamily="18" charset="0"/>
                <a:cs typeface="Times New Roman" pitchFamily="18" charset="0"/>
              </a:rPr>
              <a:t>;</a:t>
            </a:r>
            <a:endParaRPr lang="fr-FR" sz="2000" dirty="0">
              <a:latin typeface="Times New Roman" pitchFamily="18" charset="0"/>
              <a:cs typeface="Times New Roman" pitchFamily="18" charset="0"/>
            </a:endParaRPr>
          </a:p>
          <a:p>
            <a:r>
              <a:rPr lang="fr-FR" sz="2000" b="1" dirty="0">
                <a:latin typeface="Times New Roman" pitchFamily="18" charset="0"/>
                <a:cs typeface="Times New Roman" pitchFamily="18" charset="0"/>
              </a:rPr>
              <a:t>    si (</a:t>
            </a:r>
            <a:r>
              <a:rPr lang="fr-FR" sz="2000" dirty="0" err="1">
                <a:latin typeface="Times New Roman" pitchFamily="18" charset="0"/>
                <a:cs typeface="Times New Roman" pitchFamily="18" charset="0"/>
              </a:rPr>
              <a:t>elem</a:t>
            </a:r>
            <a:r>
              <a:rPr lang="fr-FR" sz="2000" dirty="0">
                <a:latin typeface="Times New Roman" pitchFamily="18" charset="0"/>
                <a:cs typeface="Times New Roman" pitchFamily="18" charset="0"/>
                <a:sym typeface="Symbol"/>
              </a:rPr>
              <a:t>&gt;=</a:t>
            </a:r>
            <a:r>
              <a:rPr lang="fr-FR" sz="2000" dirty="0">
                <a:latin typeface="Times New Roman" pitchFamily="18" charset="0"/>
                <a:cs typeface="Times New Roman" pitchFamily="18" charset="0"/>
              </a:rPr>
              <a:t>t[1]</a:t>
            </a:r>
            <a:r>
              <a:rPr lang="fr-FR" sz="2000" b="1" dirty="0">
                <a:latin typeface="Times New Roman" pitchFamily="18" charset="0"/>
                <a:cs typeface="Times New Roman" pitchFamily="18" charset="0"/>
              </a:rPr>
              <a:t>) et (</a:t>
            </a:r>
            <a:r>
              <a:rPr lang="fr-FR" sz="2000" dirty="0" err="1">
                <a:latin typeface="Times New Roman" pitchFamily="18" charset="0"/>
                <a:cs typeface="Times New Roman" pitchFamily="18" charset="0"/>
              </a:rPr>
              <a:t>elem</a:t>
            </a:r>
            <a:r>
              <a:rPr lang="fr-FR" sz="2000" dirty="0">
                <a:latin typeface="Times New Roman" pitchFamily="18" charset="0"/>
                <a:cs typeface="Times New Roman" pitchFamily="18" charset="0"/>
                <a:sym typeface="Symbol"/>
              </a:rPr>
              <a:t>&lt;=</a:t>
            </a:r>
            <a:r>
              <a:rPr lang="fr-FR" sz="2000" dirty="0">
                <a:latin typeface="Times New Roman" pitchFamily="18" charset="0"/>
                <a:cs typeface="Times New Roman" pitchFamily="18" charset="0"/>
              </a:rPr>
              <a:t>t[n]</a:t>
            </a:r>
            <a:r>
              <a:rPr lang="fr-FR" sz="2000" b="1" dirty="0">
                <a:latin typeface="Times New Roman" pitchFamily="18" charset="0"/>
                <a:cs typeface="Times New Roman" pitchFamily="18" charset="0"/>
              </a:rPr>
              <a:t>) alors</a:t>
            </a:r>
            <a:endParaRPr lang="fr-FR" sz="2000" dirty="0">
              <a:latin typeface="Times New Roman" pitchFamily="18" charset="0"/>
              <a:cs typeface="Times New Roman" pitchFamily="18" charset="0"/>
            </a:endParaRPr>
          </a:p>
          <a:p>
            <a:r>
              <a:rPr lang="fr-FR" sz="2000" b="1" dirty="0">
                <a:latin typeface="Times New Roman" pitchFamily="18" charset="0"/>
                <a:cs typeface="Times New Roman" pitchFamily="18" charset="0"/>
              </a:rPr>
              <a:t>      </a:t>
            </a:r>
            <a:r>
              <a:rPr lang="fr-FR" sz="2000" dirty="0" err="1" smtClean="0">
                <a:latin typeface="Times New Roman" pitchFamily="18" charset="0"/>
                <a:cs typeface="Times New Roman" pitchFamily="18" charset="0"/>
              </a:rPr>
              <a:t>inf</a:t>
            </a:r>
            <a:r>
              <a:rPr lang="fr-FR" sz="2000" dirty="0" smtClean="0">
                <a:latin typeface="Times New Roman" pitchFamily="18" charset="0"/>
                <a:cs typeface="Times New Roman" pitchFamily="18" charset="0"/>
              </a:rPr>
              <a:t>:=</a:t>
            </a:r>
            <a:r>
              <a:rPr lang="fr-FR" sz="2000" dirty="0" smtClean="0">
                <a:latin typeface="Times New Roman" pitchFamily="18" charset="0"/>
                <a:cs typeface="Times New Roman" pitchFamily="18" charset="0"/>
              </a:rPr>
              <a:t>1</a:t>
            </a:r>
            <a:r>
              <a:rPr lang="fr-FR" sz="2000" b="1" dirty="0">
                <a:latin typeface="Times New Roman" pitchFamily="18" charset="0"/>
                <a:cs typeface="Times New Roman" pitchFamily="18" charset="0"/>
              </a:rPr>
              <a:t>;</a:t>
            </a:r>
            <a:r>
              <a:rPr lang="fr-FR" sz="2000" dirty="0">
                <a:latin typeface="Times New Roman" pitchFamily="18" charset="0"/>
                <a:cs typeface="Times New Roman" pitchFamily="18" charset="0"/>
              </a:rPr>
              <a:t> </a:t>
            </a:r>
            <a:r>
              <a:rPr lang="fr-FR" sz="2000" dirty="0" smtClean="0">
                <a:latin typeface="Times New Roman" pitchFamily="18" charset="0"/>
                <a:cs typeface="Times New Roman" pitchFamily="18" charset="0"/>
              </a:rPr>
              <a:t>sup:=n</a:t>
            </a:r>
            <a:r>
              <a:rPr lang="fr-FR" sz="2000" b="1" dirty="0">
                <a:latin typeface="Times New Roman" pitchFamily="18" charset="0"/>
                <a:cs typeface="Times New Roman" pitchFamily="18" charset="0"/>
              </a:rPr>
              <a:t>;</a:t>
            </a:r>
            <a:endParaRPr lang="fr-FR" sz="2000" dirty="0">
              <a:latin typeface="Times New Roman" pitchFamily="18" charset="0"/>
              <a:cs typeface="Times New Roman" pitchFamily="18" charset="0"/>
            </a:endParaRPr>
          </a:p>
          <a:p>
            <a:r>
              <a:rPr lang="fr-FR" sz="2000" b="1" dirty="0">
                <a:latin typeface="Times New Roman" pitchFamily="18" charset="0"/>
                <a:cs typeface="Times New Roman" pitchFamily="18" charset="0"/>
              </a:rPr>
              <a:t>      </a:t>
            </a:r>
            <a:r>
              <a:rPr lang="fr-FR" sz="2000" b="1" dirty="0" err="1">
                <a:latin typeface="Times New Roman" pitchFamily="18" charset="0"/>
                <a:cs typeface="Times New Roman" pitchFamily="18" charset="0"/>
              </a:rPr>
              <a:t>tantque</a:t>
            </a:r>
            <a:r>
              <a:rPr lang="fr-FR" sz="2000" b="1" dirty="0">
                <a:latin typeface="Times New Roman" pitchFamily="18" charset="0"/>
                <a:cs typeface="Times New Roman" pitchFamily="18" charset="0"/>
              </a:rPr>
              <a:t> (</a:t>
            </a:r>
            <a:r>
              <a:rPr lang="fr-FR" sz="2000" dirty="0" err="1">
                <a:latin typeface="Times New Roman" pitchFamily="18" charset="0"/>
                <a:cs typeface="Times New Roman" pitchFamily="18" charset="0"/>
              </a:rPr>
              <a:t>inf</a:t>
            </a:r>
            <a:r>
              <a:rPr lang="fr-FR" sz="2000" dirty="0">
                <a:latin typeface="Times New Roman" pitchFamily="18" charset="0"/>
                <a:cs typeface="Times New Roman" pitchFamily="18" charset="0"/>
                <a:sym typeface="Symbol"/>
              </a:rPr>
              <a:t>&lt;=</a:t>
            </a:r>
            <a:r>
              <a:rPr lang="fr-FR" sz="2000" dirty="0">
                <a:latin typeface="Times New Roman" pitchFamily="18" charset="0"/>
                <a:cs typeface="Times New Roman" pitchFamily="18" charset="0"/>
              </a:rPr>
              <a:t>sup</a:t>
            </a:r>
            <a:r>
              <a:rPr lang="fr-FR" sz="2000" b="1" dirty="0">
                <a:latin typeface="Times New Roman" pitchFamily="18" charset="0"/>
                <a:cs typeface="Times New Roman" pitchFamily="18" charset="0"/>
              </a:rPr>
              <a:t>) et (</a:t>
            </a:r>
            <a:r>
              <a:rPr lang="fr-FR" sz="2000" dirty="0">
                <a:latin typeface="Times New Roman" pitchFamily="18" charset="0"/>
                <a:cs typeface="Times New Roman" pitchFamily="18" charset="0"/>
              </a:rPr>
              <a:t>non trouve)</a:t>
            </a:r>
            <a:r>
              <a:rPr lang="fr-FR" sz="2000" b="1" dirty="0">
                <a:latin typeface="Times New Roman" pitchFamily="18" charset="0"/>
                <a:cs typeface="Times New Roman" pitchFamily="18" charset="0"/>
              </a:rPr>
              <a:t> faire</a:t>
            </a:r>
          </a:p>
          <a:p>
            <a:r>
              <a:rPr lang="fr-FR" sz="2000" b="1" dirty="0">
                <a:latin typeface="Times New Roman" pitchFamily="18" charset="0"/>
                <a:cs typeface="Times New Roman" pitchFamily="18" charset="0"/>
              </a:rPr>
              <a:t>        </a:t>
            </a:r>
            <a:r>
              <a:rPr lang="fr-FR" sz="2000" dirty="0" smtClean="0">
                <a:latin typeface="Times New Roman" pitchFamily="18" charset="0"/>
                <a:cs typeface="Times New Roman" pitchFamily="18" charset="0"/>
              </a:rPr>
              <a:t>m</a:t>
            </a:r>
            <a:r>
              <a:rPr lang="fr-FR" sz="2000" dirty="0" smtClean="0">
                <a:latin typeface="Times New Roman" pitchFamily="18" charset="0"/>
                <a:cs typeface="Times New Roman" pitchFamily="18" charset="0"/>
              </a:rPr>
              <a:t>:=</a:t>
            </a:r>
            <a:r>
              <a:rPr lang="fr-FR" sz="2000" dirty="0" smtClean="0">
                <a:latin typeface="Times New Roman" pitchFamily="18" charset="0"/>
                <a:cs typeface="Times New Roman" pitchFamily="18" charset="0"/>
              </a:rPr>
              <a:t>(inf+sup</a:t>
            </a:r>
            <a:r>
              <a:rPr lang="fr-FR" sz="2000" dirty="0">
                <a:latin typeface="Times New Roman" pitchFamily="18" charset="0"/>
                <a:cs typeface="Times New Roman" pitchFamily="18" charset="0"/>
              </a:rPr>
              <a:t>) div 2</a:t>
            </a:r>
            <a:r>
              <a:rPr lang="fr-FR" sz="2000" b="1" dirty="0">
                <a:latin typeface="Times New Roman" pitchFamily="18" charset="0"/>
                <a:cs typeface="Times New Roman" pitchFamily="18" charset="0"/>
              </a:rPr>
              <a:t>;</a:t>
            </a:r>
            <a:endParaRPr lang="fr-FR" sz="2000" dirty="0">
              <a:latin typeface="Times New Roman" pitchFamily="18" charset="0"/>
              <a:cs typeface="Times New Roman" pitchFamily="18" charset="0"/>
            </a:endParaRPr>
          </a:p>
          <a:p>
            <a:r>
              <a:rPr lang="fr-FR" sz="2000" b="1" dirty="0">
                <a:latin typeface="Times New Roman" pitchFamily="18" charset="0"/>
                <a:cs typeface="Times New Roman" pitchFamily="18" charset="0"/>
              </a:rPr>
              <a:t>        si </a:t>
            </a:r>
            <a:r>
              <a:rPr lang="fr-FR" sz="2000" dirty="0">
                <a:latin typeface="Times New Roman" pitchFamily="18" charset="0"/>
                <a:cs typeface="Times New Roman" pitchFamily="18" charset="0"/>
              </a:rPr>
              <a:t>t[m]=</a:t>
            </a:r>
            <a:r>
              <a:rPr lang="fr-FR" sz="2000" dirty="0" err="1">
                <a:latin typeface="Times New Roman" pitchFamily="18" charset="0"/>
                <a:cs typeface="Times New Roman" pitchFamily="18" charset="0"/>
              </a:rPr>
              <a:t>elem</a:t>
            </a:r>
            <a:r>
              <a:rPr lang="fr-FR" sz="2000" b="1" dirty="0">
                <a:latin typeface="Times New Roman" pitchFamily="18" charset="0"/>
                <a:cs typeface="Times New Roman" pitchFamily="18" charset="0"/>
              </a:rPr>
              <a:t> alors </a:t>
            </a:r>
            <a:r>
              <a:rPr lang="fr-FR" sz="2000" dirty="0" smtClean="0">
                <a:latin typeface="Times New Roman" pitchFamily="18" charset="0"/>
                <a:cs typeface="Times New Roman" pitchFamily="18" charset="0"/>
              </a:rPr>
              <a:t>trouve</a:t>
            </a:r>
            <a:r>
              <a:rPr lang="fr-FR" sz="2000" b="1" dirty="0" smtClean="0">
                <a:latin typeface="Times New Roman" pitchFamily="18" charset="0"/>
                <a:cs typeface="Times New Roman" pitchFamily="18" charset="0"/>
              </a:rPr>
              <a:t>:=</a:t>
            </a:r>
            <a:r>
              <a:rPr lang="fr-FR" sz="2000" b="1" dirty="0" smtClean="0">
                <a:latin typeface="Times New Roman" pitchFamily="18" charset="0"/>
                <a:cs typeface="Times New Roman" pitchFamily="18" charset="0"/>
              </a:rPr>
              <a:t>vrai</a:t>
            </a:r>
            <a:r>
              <a:rPr lang="fr-FR" sz="2000" b="1" dirty="0">
                <a:latin typeface="Times New Roman" pitchFamily="18" charset="0"/>
                <a:cs typeface="Times New Roman" pitchFamily="18" charset="0"/>
              </a:rPr>
              <a:t>;</a:t>
            </a:r>
            <a:endParaRPr lang="fr-FR" sz="2000" dirty="0">
              <a:latin typeface="Times New Roman" pitchFamily="18" charset="0"/>
              <a:cs typeface="Times New Roman" pitchFamily="18" charset="0"/>
            </a:endParaRPr>
          </a:p>
          <a:p>
            <a:r>
              <a:rPr lang="fr-FR" sz="2000" b="1" dirty="0">
                <a:latin typeface="Times New Roman" pitchFamily="18" charset="0"/>
                <a:cs typeface="Times New Roman" pitchFamily="18" charset="0"/>
              </a:rPr>
              <a:t>        sinon si t[m]&lt;</a:t>
            </a:r>
            <a:r>
              <a:rPr lang="fr-FR" sz="2000" b="1" dirty="0" err="1">
                <a:latin typeface="Times New Roman" pitchFamily="18" charset="0"/>
                <a:cs typeface="Times New Roman" pitchFamily="18" charset="0"/>
              </a:rPr>
              <a:t>elem</a:t>
            </a:r>
            <a:r>
              <a:rPr lang="fr-FR" sz="2000" b="1" dirty="0">
                <a:latin typeface="Times New Roman" pitchFamily="18" charset="0"/>
                <a:cs typeface="Times New Roman" pitchFamily="18" charset="0"/>
              </a:rPr>
              <a:t> alors </a:t>
            </a:r>
            <a:r>
              <a:rPr lang="fr-FR" sz="2000" dirty="0" err="1" smtClean="0">
                <a:latin typeface="Times New Roman" pitchFamily="18" charset="0"/>
                <a:cs typeface="Times New Roman" pitchFamily="18" charset="0"/>
              </a:rPr>
              <a:t>inf</a:t>
            </a:r>
            <a:r>
              <a:rPr lang="fr-FR" sz="2000" dirty="0" smtClean="0">
                <a:latin typeface="Times New Roman" pitchFamily="18" charset="0"/>
                <a:cs typeface="Times New Roman" pitchFamily="18" charset="0"/>
              </a:rPr>
              <a:t>:=</a:t>
            </a:r>
            <a:r>
              <a:rPr lang="fr-FR" sz="2000" dirty="0" smtClean="0">
                <a:latin typeface="Times New Roman" pitchFamily="18" charset="0"/>
                <a:cs typeface="Times New Roman" pitchFamily="18" charset="0"/>
              </a:rPr>
              <a:t>m+1</a:t>
            </a:r>
            <a:r>
              <a:rPr lang="fr-FR" sz="2000" b="1" dirty="0">
                <a:latin typeface="Times New Roman" pitchFamily="18" charset="0"/>
                <a:cs typeface="Times New Roman" pitchFamily="18" charset="0"/>
              </a:rPr>
              <a:t>;</a:t>
            </a:r>
            <a:endParaRPr lang="fr-FR" sz="2000" dirty="0">
              <a:latin typeface="Times New Roman" pitchFamily="18" charset="0"/>
              <a:cs typeface="Times New Roman" pitchFamily="18" charset="0"/>
            </a:endParaRPr>
          </a:p>
          <a:p>
            <a:r>
              <a:rPr lang="fr-FR" sz="2000" b="1" dirty="0">
                <a:latin typeface="Times New Roman" pitchFamily="18" charset="0"/>
                <a:cs typeface="Times New Roman" pitchFamily="18" charset="0"/>
              </a:rPr>
              <a:t>                 sinon </a:t>
            </a:r>
            <a:r>
              <a:rPr lang="fr-FR" sz="2000" dirty="0" smtClean="0">
                <a:latin typeface="Times New Roman" pitchFamily="18" charset="0"/>
                <a:cs typeface="Times New Roman" pitchFamily="18" charset="0"/>
              </a:rPr>
              <a:t>sup:=m-1</a:t>
            </a:r>
            <a:r>
              <a:rPr lang="fr-FR" sz="2000" b="1" dirty="0">
                <a:latin typeface="Times New Roman" pitchFamily="18" charset="0"/>
                <a:cs typeface="Times New Roman" pitchFamily="18" charset="0"/>
              </a:rPr>
              <a:t>;</a:t>
            </a:r>
            <a:endParaRPr lang="fr-FR" sz="2000" dirty="0">
              <a:latin typeface="Times New Roman" pitchFamily="18" charset="0"/>
              <a:cs typeface="Times New Roman" pitchFamily="18" charset="0"/>
            </a:endParaRPr>
          </a:p>
          <a:p>
            <a:r>
              <a:rPr lang="fr-FR" sz="2000" b="1" dirty="0">
                <a:latin typeface="Times New Roman" pitchFamily="18" charset="0"/>
                <a:cs typeface="Times New Roman" pitchFamily="18" charset="0"/>
              </a:rPr>
              <a:t>        </a:t>
            </a:r>
            <a:r>
              <a:rPr lang="fr-FR" sz="2000" b="1" dirty="0" err="1">
                <a:latin typeface="Times New Roman" pitchFamily="18" charset="0"/>
                <a:cs typeface="Times New Roman" pitchFamily="18" charset="0"/>
              </a:rPr>
              <a:t>finsi</a:t>
            </a:r>
            <a:r>
              <a:rPr lang="fr-FR" sz="2000" b="1" dirty="0">
                <a:latin typeface="Times New Roman" pitchFamily="18" charset="0"/>
                <a:cs typeface="Times New Roman" pitchFamily="18" charset="0"/>
              </a:rPr>
              <a:t>; </a:t>
            </a:r>
            <a:r>
              <a:rPr lang="fr-FR" sz="2000" b="1" dirty="0" err="1">
                <a:latin typeface="Times New Roman" pitchFamily="18" charset="0"/>
                <a:cs typeface="Times New Roman" pitchFamily="18" charset="0"/>
              </a:rPr>
              <a:t>finsi</a:t>
            </a:r>
            <a:r>
              <a:rPr lang="fr-FR" sz="2000" b="1" dirty="0">
                <a:latin typeface="Times New Roman" pitchFamily="18" charset="0"/>
                <a:cs typeface="Times New Roman" pitchFamily="18" charset="0"/>
              </a:rPr>
              <a:t>;</a:t>
            </a:r>
            <a:endParaRPr lang="fr-FR" sz="2000" dirty="0">
              <a:latin typeface="Times New Roman" pitchFamily="18" charset="0"/>
              <a:cs typeface="Times New Roman" pitchFamily="18" charset="0"/>
            </a:endParaRPr>
          </a:p>
          <a:p>
            <a:r>
              <a:rPr lang="fr-FR" sz="2000" b="1" dirty="0">
                <a:latin typeface="Times New Roman" pitchFamily="18" charset="0"/>
                <a:cs typeface="Times New Roman" pitchFamily="18" charset="0"/>
              </a:rPr>
              <a:t>    retourner </a:t>
            </a:r>
            <a:r>
              <a:rPr lang="fr-FR" sz="2000" dirty="0">
                <a:latin typeface="Times New Roman" pitchFamily="18" charset="0"/>
                <a:cs typeface="Times New Roman" pitchFamily="18" charset="0"/>
              </a:rPr>
              <a:t>trouve</a:t>
            </a:r>
            <a:r>
              <a:rPr lang="fr-FR" sz="2000" b="1" dirty="0">
                <a:latin typeface="Times New Roman" pitchFamily="18" charset="0"/>
                <a:cs typeface="Times New Roman" pitchFamily="18" charset="0"/>
              </a:rPr>
              <a:t>; </a:t>
            </a:r>
          </a:p>
          <a:p>
            <a:r>
              <a:rPr lang="fr-FR" sz="2000" b="1" dirty="0">
                <a:latin typeface="Times New Roman" pitchFamily="18" charset="0"/>
                <a:cs typeface="Times New Roman" pitchFamily="18" charset="0"/>
              </a:rPr>
              <a:t>    </a:t>
            </a:r>
            <a:r>
              <a:rPr lang="fr-FR" sz="2000" b="1" dirty="0" err="1">
                <a:latin typeface="Times New Roman" pitchFamily="18" charset="0"/>
                <a:cs typeface="Times New Roman" pitchFamily="18" charset="0"/>
              </a:rPr>
              <a:t>finfaire</a:t>
            </a:r>
            <a:r>
              <a:rPr lang="fr-FR" sz="2000" b="1" dirty="0">
                <a:latin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eaLnBrk="0" fontAlgn="base" hangingPunct="0">
              <a:spcBef>
                <a:spcPct val="0"/>
              </a:spcBef>
              <a:spcAft>
                <a:spcPct val="0"/>
              </a:spcAft>
            </a:pPr>
            <a:r>
              <a:rPr lang="en-GB" sz="2000" b="1" dirty="0" err="1">
                <a:latin typeface="Times New Roman" pitchFamily="18" charset="0"/>
                <a:cs typeface="Times New Roman" pitchFamily="18" charset="0"/>
              </a:rPr>
              <a:t>f</a:t>
            </a:r>
            <a:r>
              <a:rPr lang="en-GB" sz="2000" b="1" dirty="0" err="1" smtClean="0">
                <a:latin typeface="Times New Roman" pitchFamily="18" charset="0"/>
                <a:cs typeface="Times New Roman" pitchFamily="18" charset="0"/>
              </a:rPr>
              <a:t>infonc</a:t>
            </a:r>
            <a:r>
              <a:rPr lang="en-GB" sz="2000" b="1" dirty="0" smtClean="0">
                <a:latin typeface="Times New Roman" pitchFamily="18" charset="0"/>
                <a:cs typeface="Times New Roman" pitchFamily="18" charset="0"/>
              </a:rPr>
              <a:t>;</a:t>
            </a:r>
            <a:endParaRPr lang="fr-FR" sz="2000" b="1" dirty="0">
              <a:latin typeface="Times New Roman" pitchFamily="18" charset="0"/>
              <a:cs typeface="Times New Roman" pitchFamily="18" charset="0"/>
            </a:endParaRPr>
          </a:p>
        </p:txBody>
      </p:sp>
      <p:cxnSp>
        <p:nvCxnSpPr>
          <p:cNvPr id="3" name="Connecteur droit avec flèche 2"/>
          <p:cNvCxnSpPr/>
          <p:nvPr/>
        </p:nvCxnSpPr>
        <p:spPr>
          <a:xfrm>
            <a:off x="345440" y="1540180"/>
            <a:ext cx="1857356" cy="1588"/>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 name="Connecteur droit avec flèche 3"/>
          <p:cNvCxnSpPr/>
          <p:nvPr/>
        </p:nvCxnSpPr>
        <p:spPr>
          <a:xfrm>
            <a:off x="6316356" y="1521130"/>
            <a:ext cx="2000264" cy="1588"/>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5" name="Connecteur droit avec flèche 4"/>
          <p:cNvCxnSpPr/>
          <p:nvPr/>
        </p:nvCxnSpPr>
        <p:spPr>
          <a:xfrm>
            <a:off x="2326624" y="1513514"/>
            <a:ext cx="3867812" cy="10486"/>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graphicFrame>
        <p:nvGraphicFramePr>
          <p:cNvPr id="6" name="Tableau 5"/>
          <p:cNvGraphicFramePr>
            <a:graphicFrameLocks noGrp="1"/>
          </p:cNvGraphicFramePr>
          <p:nvPr>
            <p:extLst>
              <p:ext uri="{D42A27DB-BD31-4B8C-83A1-F6EECF244321}">
                <p14:modId xmlns:p14="http://schemas.microsoft.com/office/powerpoint/2010/main" val="502609902"/>
              </p:ext>
            </p:extLst>
          </p:nvPr>
        </p:nvGraphicFramePr>
        <p:xfrm>
          <a:off x="294640" y="1664546"/>
          <a:ext cx="8127999" cy="370840"/>
        </p:xfrm>
        <a:graphic>
          <a:graphicData uri="http://schemas.openxmlformats.org/drawingml/2006/table">
            <a:tbl>
              <a:tblPr firstRow="1" bandRow="1">
                <a:tableStyleId>{2D5ABB26-0587-4C30-8999-92F81FD0307C}</a:tableStyleId>
              </a:tblPr>
              <a:tblGrid>
                <a:gridCol w="436880">
                  <a:extLst>
                    <a:ext uri="{9D8B030D-6E8A-4147-A177-3AD203B41FA5}">
                      <a16:colId xmlns:a16="http://schemas.microsoft.com/office/drawing/2014/main" val="2123128269"/>
                    </a:ext>
                  </a:extLst>
                </a:gridCol>
                <a:gridCol w="1452880">
                  <a:extLst>
                    <a:ext uri="{9D8B030D-6E8A-4147-A177-3AD203B41FA5}">
                      <a16:colId xmlns:a16="http://schemas.microsoft.com/office/drawing/2014/main" val="1015341173"/>
                    </a:ext>
                  </a:extLst>
                </a:gridCol>
                <a:gridCol w="518160">
                  <a:extLst>
                    <a:ext uri="{9D8B030D-6E8A-4147-A177-3AD203B41FA5}">
                      <a16:colId xmlns:a16="http://schemas.microsoft.com/office/drawing/2014/main" val="641510280"/>
                    </a:ext>
                  </a:extLst>
                </a:gridCol>
                <a:gridCol w="1204524">
                  <a:extLst>
                    <a:ext uri="{9D8B030D-6E8A-4147-A177-3AD203B41FA5}">
                      <a16:colId xmlns:a16="http://schemas.microsoft.com/office/drawing/2014/main" val="2306452038"/>
                    </a:ext>
                  </a:extLst>
                </a:gridCol>
                <a:gridCol w="400756">
                  <a:extLst>
                    <a:ext uri="{9D8B030D-6E8A-4147-A177-3AD203B41FA5}">
                      <a16:colId xmlns:a16="http://schemas.microsoft.com/office/drawing/2014/main" val="3096850595"/>
                    </a:ext>
                  </a:extLst>
                </a:gridCol>
                <a:gridCol w="1405466">
                  <a:extLst>
                    <a:ext uri="{9D8B030D-6E8A-4147-A177-3AD203B41FA5}">
                      <a16:colId xmlns:a16="http://schemas.microsoft.com/office/drawing/2014/main" val="1197442927"/>
                    </a:ext>
                  </a:extLst>
                </a:gridCol>
                <a:gridCol w="565574">
                  <a:extLst>
                    <a:ext uri="{9D8B030D-6E8A-4147-A177-3AD203B41FA5}">
                      <a16:colId xmlns:a16="http://schemas.microsoft.com/office/drawing/2014/main" val="4007364635"/>
                    </a:ext>
                  </a:extLst>
                </a:gridCol>
                <a:gridCol w="1656080">
                  <a:extLst>
                    <a:ext uri="{9D8B030D-6E8A-4147-A177-3AD203B41FA5}">
                      <a16:colId xmlns:a16="http://schemas.microsoft.com/office/drawing/2014/main" val="411010071"/>
                    </a:ext>
                  </a:extLst>
                </a:gridCol>
                <a:gridCol w="487679">
                  <a:extLst>
                    <a:ext uri="{9D8B030D-6E8A-4147-A177-3AD203B41FA5}">
                      <a16:colId xmlns:a16="http://schemas.microsoft.com/office/drawing/2014/main" val="2965927100"/>
                    </a:ext>
                  </a:extLst>
                </a:gridCol>
              </a:tblGrid>
              <a:tr h="370840">
                <a:tc>
                  <a:txBody>
                    <a:bodyPr/>
                    <a:lstStyle/>
                    <a:p>
                      <a:r>
                        <a:rPr lang="fr-FR" dirty="0" smtClean="0"/>
                        <a:t>1</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err="1" smtClean="0"/>
                        <a:t>inf</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smtClean="0"/>
                        <a:t>m</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smtClean="0"/>
                        <a:t>sup</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smtClean="0"/>
                        <a:t>n</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4889291"/>
                  </a:ext>
                </a:extLst>
              </a:tr>
            </a:tbl>
          </a:graphicData>
        </a:graphic>
      </p:graphicFrame>
    </p:spTree>
    <p:extLst>
      <p:ext uri="{BB962C8B-B14F-4D97-AF65-F5344CB8AC3E}">
        <p14:creationId xmlns:p14="http://schemas.microsoft.com/office/powerpoint/2010/main" val="12036075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080" y="414496"/>
            <a:ext cx="11846560" cy="5509200"/>
          </a:xfrm>
          <a:prstGeom prst="rect">
            <a:avLst/>
          </a:prstGeom>
        </p:spPr>
        <p:txBody>
          <a:bodyPr wrap="square">
            <a:spAutoFit/>
          </a:bodyPr>
          <a:lstStyle/>
          <a:p>
            <a:r>
              <a:rPr lang="fr-FR" sz="2400" b="1" dirty="0" smtClean="0">
                <a:latin typeface="Times New Roman" panose="02020603050405020304" pitchFamily="18" charset="0"/>
                <a:cs typeface="Times New Roman" panose="02020603050405020304" pitchFamily="18" charset="0"/>
              </a:rPr>
              <a:t>Calcul de la complexité de la recherche dichotomique</a:t>
            </a:r>
          </a:p>
          <a:p>
            <a:r>
              <a:rPr lang="fr-FR" sz="2400" dirty="0" smtClean="0">
                <a:latin typeface="Times New Roman" panose="02020603050405020304" pitchFamily="18" charset="0"/>
                <a:cs typeface="Times New Roman" panose="02020603050405020304" pitchFamily="18" charset="0"/>
              </a:rPr>
              <a:t>La fonction </a:t>
            </a:r>
            <a:r>
              <a:rPr lang="fr-FR" sz="2400" b="1" dirty="0" err="1" smtClean="0">
                <a:latin typeface="Times New Roman" panose="02020603050405020304" pitchFamily="18" charset="0"/>
                <a:cs typeface="Times New Roman" panose="02020603050405020304" pitchFamily="18" charset="0"/>
              </a:rPr>
              <a:t>dich</a:t>
            </a:r>
            <a:r>
              <a:rPr lang="fr-FR" sz="2400" dirty="0" smtClean="0">
                <a:latin typeface="Times New Roman" panose="02020603050405020304" pitchFamily="18" charset="0"/>
                <a:cs typeface="Times New Roman" panose="02020603050405020304" pitchFamily="18" charset="0"/>
              </a:rPr>
              <a:t> effectue une recherche dichotomique d’un élément dans un tableau trié. Le tableau est de taille </a:t>
            </a:r>
            <a:r>
              <a:rPr lang="fr-FR" sz="2400" b="1" u="sng" dirty="0" smtClean="0">
                <a:latin typeface="Times New Roman" panose="02020603050405020304" pitchFamily="18" charset="0"/>
                <a:cs typeface="Times New Roman" panose="02020603050405020304" pitchFamily="18" charset="0"/>
              </a:rPr>
              <a:t>n</a:t>
            </a:r>
            <a:r>
              <a:rPr lang="fr-FR" sz="2400" dirty="0" smtClean="0">
                <a:latin typeface="Times New Roman" panose="02020603050405020304" pitchFamily="18" charset="0"/>
                <a:cs typeface="Times New Roman" panose="02020603050405020304" pitchFamily="18" charset="0"/>
              </a:rPr>
              <a:t>. Supposons que </a:t>
            </a:r>
            <a:r>
              <a:rPr lang="fr-FR" sz="2400" b="1" dirty="0" smtClean="0">
                <a:latin typeface="Times New Roman" panose="02020603050405020304" pitchFamily="18" charset="0"/>
                <a:cs typeface="Times New Roman" panose="02020603050405020304" pitchFamily="18" charset="0"/>
              </a:rPr>
              <a:t>q</a:t>
            </a:r>
            <a:r>
              <a:rPr lang="fr-FR" sz="2400" dirty="0" smtClean="0">
                <a:latin typeface="Times New Roman" panose="02020603050405020304" pitchFamily="18" charset="0"/>
                <a:cs typeface="Times New Roman" panose="02020603050405020304" pitchFamily="18" charset="0"/>
              </a:rPr>
              <a:t> est le nombre d’itérations nécessaires pour aboutir à un tableau de taille 1.</a:t>
            </a:r>
          </a:p>
          <a:p>
            <a:pPr algn="just"/>
            <a:r>
              <a:rPr lang="fr-FR" sz="2400" dirty="0" smtClean="0">
                <a:latin typeface="Times New Roman" panose="02020603050405020304" pitchFamily="18" charset="0"/>
                <a:cs typeface="Times New Roman" panose="02020603050405020304" pitchFamily="18" charset="0"/>
              </a:rPr>
              <a:t>1</a:t>
            </a:r>
            <a:r>
              <a:rPr lang="fr-FR" sz="2400" baseline="30000" dirty="0" smtClean="0">
                <a:latin typeface="Times New Roman" panose="02020603050405020304" pitchFamily="18" charset="0"/>
                <a:cs typeface="Times New Roman" panose="02020603050405020304" pitchFamily="18" charset="0"/>
              </a:rPr>
              <a:t>ère</a:t>
            </a:r>
            <a:r>
              <a:rPr lang="fr-FR" sz="2400" dirty="0" smtClean="0">
                <a:latin typeface="Times New Roman" panose="02020603050405020304" pitchFamily="18" charset="0"/>
                <a:cs typeface="Times New Roman" panose="02020603050405020304" pitchFamily="18" charset="0"/>
              </a:rPr>
              <a:t> itération   : n/2 = n/2</a:t>
            </a:r>
            <a:r>
              <a:rPr lang="fr-FR" sz="2400" baseline="30000" dirty="0" smtClean="0">
                <a:latin typeface="Times New Roman" panose="02020603050405020304" pitchFamily="18" charset="0"/>
                <a:cs typeface="Times New Roman" panose="02020603050405020304" pitchFamily="18" charset="0"/>
              </a:rPr>
              <a:t>1</a:t>
            </a:r>
            <a:r>
              <a:rPr lang="fr-FR" sz="2400" dirty="0" smtClean="0">
                <a:latin typeface="Times New Roman" panose="02020603050405020304" pitchFamily="18" charset="0"/>
                <a:cs typeface="Times New Roman" panose="02020603050405020304" pitchFamily="18" charset="0"/>
              </a:rPr>
              <a:t> </a:t>
            </a:r>
          </a:p>
          <a:p>
            <a:pPr algn="just"/>
            <a:r>
              <a:rPr lang="fr-FR" sz="2400" dirty="0" smtClean="0">
                <a:latin typeface="Times New Roman" panose="02020603050405020304" pitchFamily="18" charset="0"/>
                <a:cs typeface="Times New Roman" panose="02020603050405020304" pitchFamily="18" charset="0"/>
              </a:rPr>
              <a:t>2</a:t>
            </a:r>
            <a:r>
              <a:rPr lang="fr-FR" sz="2400" baseline="30000" dirty="0" smtClean="0">
                <a:latin typeface="Times New Roman" panose="02020603050405020304" pitchFamily="18" charset="0"/>
                <a:cs typeface="Times New Roman" panose="02020603050405020304" pitchFamily="18" charset="0"/>
              </a:rPr>
              <a:t>ième</a:t>
            </a:r>
            <a:r>
              <a:rPr lang="fr-FR" sz="2400" dirty="0" smtClean="0">
                <a:latin typeface="Times New Roman" panose="02020603050405020304" pitchFamily="18" charset="0"/>
                <a:cs typeface="Times New Roman" panose="02020603050405020304" pitchFamily="18" charset="0"/>
              </a:rPr>
              <a:t> itération : n/4 = n/2</a:t>
            </a:r>
            <a:r>
              <a:rPr lang="fr-FR" sz="2400" baseline="30000" dirty="0" smtClean="0">
                <a:latin typeface="Times New Roman" panose="02020603050405020304" pitchFamily="18" charset="0"/>
                <a:cs typeface="Times New Roman" panose="02020603050405020304" pitchFamily="18" charset="0"/>
              </a:rPr>
              <a:t>2 </a:t>
            </a:r>
            <a:r>
              <a:rPr lang="fr-FR" sz="2400" dirty="0" smtClean="0">
                <a:latin typeface="Times New Roman" panose="02020603050405020304" pitchFamily="18" charset="0"/>
                <a:cs typeface="Times New Roman" panose="02020603050405020304" pitchFamily="18" charset="0"/>
              </a:rPr>
              <a:t> </a:t>
            </a:r>
          </a:p>
          <a:p>
            <a:pPr algn="just"/>
            <a:r>
              <a:rPr lang="fr-FR" sz="2400" dirty="0">
                <a:latin typeface="Times New Roman" panose="02020603050405020304" pitchFamily="18" charset="0"/>
                <a:cs typeface="Times New Roman" panose="02020603050405020304" pitchFamily="18" charset="0"/>
              </a:rPr>
              <a:t>3</a:t>
            </a:r>
            <a:r>
              <a:rPr lang="fr-FR" sz="2400" baseline="30000" dirty="0" smtClean="0">
                <a:latin typeface="Times New Roman" panose="02020603050405020304" pitchFamily="18" charset="0"/>
                <a:cs typeface="Times New Roman" panose="02020603050405020304" pitchFamily="18" charset="0"/>
              </a:rPr>
              <a:t>ième</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itération : </a:t>
            </a:r>
            <a:r>
              <a:rPr lang="fr-FR" sz="2400" dirty="0" smtClean="0">
                <a:latin typeface="Times New Roman" panose="02020603050405020304" pitchFamily="18" charset="0"/>
                <a:cs typeface="Times New Roman" panose="02020603050405020304" pitchFamily="18" charset="0"/>
              </a:rPr>
              <a:t>n/8 </a:t>
            </a:r>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n/2</a:t>
            </a:r>
            <a:r>
              <a:rPr lang="fr-FR" sz="2400" baseline="30000" dirty="0">
                <a:latin typeface="Times New Roman" panose="02020603050405020304" pitchFamily="18" charset="0"/>
                <a:cs typeface="Times New Roman" panose="02020603050405020304" pitchFamily="18" charset="0"/>
              </a:rPr>
              <a:t>3</a:t>
            </a:r>
            <a:endParaRPr lang="fr-FR" sz="2400" baseline="30000" dirty="0" smtClean="0">
              <a:latin typeface="Times New Roman" panose="02020603050405020304" pitchFamily="18" charset="0"/>
              <a:cs typeface="Times New Roman" panose="02020603050405020304" pitchFamily="18" charset="0"/>
            </a:endParaRPr>
          </a:p>
          <a:p>
            <a:pPr algn="just"/>
            <a:r>
              <a:rPr lang="fr-FR" sz="2400" baseline="30000" dirty="0" smtClean="0">
                <a:latin typeface="Times New Roman" panose="02020603050405020304" pitchFamily="18" charset="0"/>
                <a:cs typeface="Times New Roman" panose="02020603050405020304" pitchFamily="18" charset="0"/>
              </a:rPr>
              <a:t>…..</a:t>
            </a:r>
          </a:p>
          <a:p>
            <a:pPr algn="just"/>
            <a:r>
              <a:rPr lang="fr-FR" sz="2400" dirty="0" err="1">
                <a:latin typeface="Times New Roman" panose="02020603050405020304" pitchFamily="18" charset="0"/>
                <a:cs typeface="Times New Roman" panose="02020603050405020304" pitchFamily="18" charset="0"/>
              </a:rPr>
              <a:t>q</a:t>
            </a:r>
            <a:r>
              <a:rPr lang="fr-FR" sz="2400" baseline="30000" dirty="0" err="1" smtClean="0">
                <a:latin typeface="Times New Roman" panose="02020603050405020304" pitchFamily="18" charset="0"/>
                <a:cs typeface="Times New Roman" panose="02020603050405020304" pitchFamily="18" charset="0"/>
              </a:rPr>
              <a:t>ième</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itération </a:t>
            </a:r>
            <a:r>
              <a:rPr lang="fr-FR" sz="2400" dirty="0" smtClean="0">
                <a:latin typeface="Times New Roman" panose="02020603050405020304" pitchFamily="18" charset="0"/>
                <a:cs typeface="Times New Roman" panose="02020603050405020304" pitchFamily="18" charset="0"/>
              </a:rPr>
              <a:t>: n/2</a:t>
            </a:r>
            <a:r>
              <a:rPr lang="fr-FR" sz="2400" baseline="30000" dirty="0" smtClean="0">
                <a:latin typeface="Times New Roman" panose="02020603050405020304" pitchFamily="18" charset="0"/>
                <a:cs typeface="Times New Roman" panose="02020603050405020304" pitchFamily="18" charset="0"/>
              </a:rPr>
              <a:t>q</a:t>
            </a:r>
            <a:endParaRPr lang="fr-FR" sz="2400" baseline="30000" dirty="0">
              <a:latin typeface="Times New Roman" panose="02020603050405020304" pitchFamily="18" charset="0"/>
              <a:cs typeface="Times New Roman" panose="02020603050405020304" pitchFamily="18" charset="0"/>
            </a:endParaRPr>
          </a:p>
          <a:p>
            <a:pPr algn="just"/>
            <a:r>
              <a:rPr lang="fr-FR" sz="2400" dirty="0" smtClean="0">
                <a:latin typeface="Times New Roman" panose="02020603050405020304" pitchFamily="18" charset="0"/>
                <a:cs typeface="Times New Roman" panose="02020603050405020304" pitchFamily="18" charset="0"/>
              </a:rPr>
              <a:t>Dernière itération </a:t>
            </a:r>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 taille du tableau = 1</a:t>
            </a:r>
          </a:p>
          <a:p>
            <a:pPr algn="just"/>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n/2</a:t>
            </a:r>
            <a:r>
              <a:rPr lang="fr-FR" sz="2400" baseline="30000" dirty="0" smtClean="0">
                <a:latin typeface="Times New Roman" panose="02020603050405020304" pitchFamily="18" charset="0"/>
                <a:cs typeface="Times New Roman" panose="02020603050405020304" pitchFamily="18" charset="0"/>
                <a:sym typeface="Wingdings" panose="05000000000000000000" pitchFamily="2" charset="2"/>
              </a:rPr>
              <a:t>q</a:t>
            </a:r>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 = 1</a:t>
            </a:r>
          </a:p>
          <a:p>
            <a:pPr algn="just"/>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2</a:t>
            </a:r>
            <a:r>
              <a:rPr lang="fr-FR" sz="2400" baseline="30000" dirty="0" smtClean="0">
                <a:latin typeface="Times New Roman" panose="02020603050405020304" pitchFamily="18" charset="0"/>
                <a:cs typeface="Times New Roman" panose="02020603050405020304" pitchFamily="18" charset="0"/>
                <a:sym typeface="Wingdings" panose="05000000000000000000" pitchFamily="2" charset="2"/>
              </a:rPr>
              <a:t>q</a:t>
            </a:r>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 = n</a:t>
            </a:r>
          </a:p>
          <a:p>
            <a:pPr algn="just"/>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q = log</a:t>
            </a:r>
            <a:r>
              <a:rPr lang="fr-FR" sz="2400" baseline="-25000" dirty="0" smtClean="0">
                <a:latin typeface="Times New Roman" panose="02020603050405020304" pitchFamily="18" charset="0"/>
                <a:cs typeface="Times New Roman" panose="02020603050405020304" pitchFamily="18" charset="0"/>
                <a:sym typeface="Wingdings" panose="05000000000000000000" pitchFamily="2" charset="2"/>
              </a:rPr>
              <a:t>2</a:t>
            </a:r>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(n)</a:t>
            </a:r>
          </a:p>
          <a:p>
            <a:pPr algn="just"/>
            <a:endParaRPr lang="fr-FR" sz="2400" dirty="0">
              <a:latin typeface="Times New Roman" panose="02020603050405020304" pitchFamily="18" charset="0"/>
              <a:cs typeface="Times New Roman" panose="02020603050405020304" pitchFamily="18" charset="0"/>
              <a:sym typeface="Wingdings" panose="05000000000000000000" pitchFamily="2" charset="2"/>
            </a:endParaRPr>
          </a:p>
          <a:p>
            <a:pPr algn="just"/>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La complexité est log</a:t>
            </a:r>
            <a:r>
              <a:rPr lang="fr-FR" sz="2400" baseline="-25000" dirty="0" smtClean="0">
                <a:latin typeface="Times New Roman" panose="02020603050405020304" pitchFamily="18" charset="0"/>
                <a:cs typeface="Times New Roman" panose="02020603050405020304" pitchFamily="18" charset="0"/>
                <a:sym typeface="Wingdings" panose="05000000000000000000" pitchFamily="2" charset="2"/>
              </a:rPr>
              <a:t>2</a:t>
            </a:r>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(n), T(n) = </a:t>
            </a:r>
            <a:r>
              <a:rPr lang="fr-FR" sz="2400" i="1" dirty="0" smtClean="0">
                <a:latin typeface="Times New Roman" panose="02020603050405020304" pitchFamily="18" charset="0"/>
                <a:cs typeface="Times New Roman" panose="02020603050405020304" pitchFamily="18" charset="0"/>
                <a:sym typeface="Wingdings" panose="05000000000000000000" pitchFamily="2" charset="2"/>
              </a:rPr>
              <a:t>O</a:t>
            </a:r>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a:t>
            </a:r>
            <a:r>
              <a:rPr lang="fr-FR" sz="2400" i="1" dirty="0" smtClean="0">
                <a:latin typeface="Times New Roman" panose="02020603050405020304" pitchFamily="18" charset="0"/>
                <a:cs typeface="Times New Roman" panose="02020603050405020304" pitchFamily="18" charset="0"/>
                <a:sym typeface="Wingdings" panose="05000000000000000000" pitchFamily="2" charset="2"/>
              </a:rPr>
              <a:t>log</a:t>
            </a:r>
            <a:r>
              <a:rPr lang="fr-FR" sz="2400" i="1" baseline="-25000" dirty="0" smtClean="0">
                <a:latin typeface="Times New Roman" panose="02020603050405020304" pitchFamily="18" charset="0"/>
                <a:cs typeface="Times New Roman" panose="02020603050405020304" pitchFamily="18" charset="0"/>
                <a:sym typeface="Wingdings" panose="05000000000000000000" pitchFamily="2" charset="2"/>
              </a:rPr>
              <a:t>2</a:t>
            </a:r>
            <a:r>
              <a:rPr lang="fr-FR" sz="2400" i="1" dirty="0" smtClean="0">
                <a:latin typeface="Times New Roman" panose="02020603050405020304" pitchFamily="18" charset="0"/>
                <a:cs typeface="Times New Roman" panose="02020603050405020304" pitchFamily="18" charset="0"/>
                <a:sym typeface="Wingdings" panose="05000000000000000000" pitchFamily="2" charset="2"/>
              </a:rPr>
              <a:t>(n)</a:t>
            </a:r>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a:t>
            </a:r>
            <a:endParaRPr lang="fr-FR"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92136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000" y="314464"/>
            <a:ext cx="11633200" cy="6001643"/>
          </a:xfrm>
          <a:prstGeom prst="rect">
            <a:avLst/>
          </a:prstGeom>
        </p:spPr>
        <p:txBody>
          <a:bodyPr wrap="square">
            <a:spAutoFit/>
          </a:bodyPr>
          <a:lstStyle/>
          <a:p>
            <a:pPr lvl="0" fontAlgn="base">
              <a:spcBef>
                <a:spcPct val="0"/>
              </a:spcBef>
              <a:spcAft>
                <a:spcPct val="0"/>
              </a:spcAft>
            </a:pPr>
            <a:r>
              <a:rPr lang="fr-FR" sz="2400" u="sng" dirty="0">
                <a:latin typeface="Times New Roman" pitchFamily="18" charset="0"/>
                <a:ea typeface="Times New Roman" pitchFamily="18" charset="0"/>
                <a:cs typeface="Times New Roman" pitchFamily="18" charset="0"/>
              </a:rPr>
              <a:t>Algorithme récursif</a:t>
            </a:r>
            <a:endParaRPr lang="fr-FR" sz="2400" dirty="0">
              <a:latin typeface="Times New Roman" pitchFamily="18" charset="0"/>
              <a:cs typeface="Times New Roman" pitchFamily="18" charset="0"/>
            </a:endParaRPr>
          </a:p>
          <a:p>
            <a:pPr lvl="0" eaLnBrk="0" fontAlgn="base" hangingPunct="0">
              <a:spcBef>
                <a:spcPct val="0"/>
              </a:spcBef>
              <a:spcAft>
                <a:spcPct val="0"/>
              </a:spcAft>
            </a:pPr>
            <a:r>
              <a:rPr lang="fr-FR" sz="2400" b="1" dirty="0" smtClean="0">
                <a:latin typeface="Times New Roman" pitchFamily="18" charset="0"/>
                <a:ea typeface="Times New Roman" pitchFamily="18" charset="0"/>
                <a:cs typeface="Times New Roman" pitchFamily="18" charset="0"/>
              </a:rPr>
              <a:t>booléen </a:t>
            </a:r>
            <a:r>
              <a:rPr lang="fr-FR" sz="2400" dirty="0" err="1">
                <a:latin typeface="Times New Roman" pitchFamily="18" charset="0"/>
                <a:ea typeface="Times New Roman" pitchFamily="18" charset="0"/>
                <a:cs typeface="Times New Roman" pitchFamily="18" charset="0"/>
              </a:rPr>
              <a:t>dich</a:t>
            </a:r>
            <a:r>
              <a:rPr lang="fr-FR" sz="2400" b="1" dirty="0">
                <a:latin typeface="Times New Roman" pitchFamily="18" charset="0"/>
                <a:ea typeface="Times New Roman" pitchFamily="18" charset="0"/>
                <a:cs typeface="Times New Roman" pitchFamily="18" charset="0"/>
              </a:rPr>
              <a:t>(d entier </a:t>
            </a:r>
            <a:r>
              <a:rPr lang="fr-FR" sz="2400" dirty="0">
                <a:latin typeface="Times New Roman" pitchFamily="18" charset="0"/>
                <a:ea typeface="Times New Roman" pitchFamily="18" charset="0"/>
                <a:cs typeface="Times New Roman" pitchFamily="18" charset="0"/>
              </a:rPr>
              <a:t>t</a:t>
            </a:r>
            <a:r>
              <a:rPr lang="fr-FR" sz="2400" b="1" dirty="0">
                <a:latin typeface="Times New Roman" pitchFamily="18" charset="0"/>
                <a:ea typeface="Times New Roman" pitchFamily="18" charset="0"/>
                <a:cs typeface="Times New Roman" pitchFamily="18" charset="0"/>
              </a:rPr>
              <a:t>[], d entier </a:t>
            </a:r>
            <a:r>
              <a:rPr lang="fr-FR" sz="2400" dirty="0" err="1">
                <a:latin typeface="Times New Roman" pitchFamily="18" charset="0"/>
                <a:ea typeface="Times New Roman" pitchFamily="18" charset="0"/>
                <a:cs typeface="Times New Roman" pitchFamily="18" charset="0"/>
              </a:rPr>
              <a:t>inf</a:t>
            </a:r>
            <a:r>
              <a:rPr lang="fr-FR" sz="2400" b="1" dirty="0">
                <a:latin typeface="Times New Roman" pitchFamily="18" charset="0"/>
                <a:ea typeface="Times New Roman" pitchFamily="18" charset="0"/>
                <a:cs typeface="Times New Roman" pitchFamily="18" charset="0"/>
              </a:rPr>
              <a:t>, d entier </a:t>
            </a:r>
            <a:r>
              <a:rPr lang="fr-FR" sz="2400" dirty="0">
                <a:latin typeface="Times New Roman" pitchFamily="18" charset="0"/>
                <a:ea typeface="Times New Roman" pitchFamily="18" charset="0"/>
                <a:cs typeface="Times New Roman" pitchFamily="18" charset="0"/>
              </a:rPr>
              <a:t>sup</a:t>
            </a:r>
            <a:r>
              <a:rPr lang="fr-FR" sz="2400" b="1" dirty="0">
                <a:latin typeface="Times New Roman" pitchFamily="18" charset="0"/>
                <a:ea typeface="Times New Roman" pitchFamily="18" charset="0"/>
                <a:cs typeface="Times New Roman" pitchFamily="18" charset="0"/>
              </a:rPr>
              <a:t>, d entier </a:t>
            </a:r>
            <a:r>
              <a:rPr lang="fr-FR" sz="2400" dirty="0" err="1">
                <a:latin typeface="Times New Roman" pitchFamily="18" charset="0"/>
                <a:ea typeface="Times New Roman" pitchFamily="18" charset="0"/>
                <a:cs typeface="Times New Roman" pitchFamily="18" charset="0"/>
              </a:rPr>
              <a:t>elem</a:t>
            </a:r>
            <a:r>
              <a:rPr lang="fr-FR" sz="2400" b="1" dirty="0">
                <a:latin typeface="Times New Roman" pitchFamily="18" charset="0"/>
                <a:ea typeface="Times New Roman" pitchFamily="18" charset="0"/>
                <a:cs typeface="Times New Roman" pitchFamily="18" charset="0"/>
              </a:rPr>
              <a:t>)</a:t>
            </a:r>
            <a:endParaRPr lang="fr-FR" sz="2400" dirty="0">
              <a:latin typeface="Times New Roman" pitchFamily="18" charset="0"/>
              <a:cs typeface="Times New Roman" pitchFamily="18" charset="0"/>
            </a:endParaRPr>
          </a:p>
          <a:p>
            <a:pPr lvl="0" eaLnBrk="0" fontAlgn="base" hangingPunct="0">
              <a:spcBef>
                <a:spcPct val="0"/>
              </a:spcBef>
              <a:spcAft>
                <a:spcPct val="0"/>
              </a:spcAft>
            </a:pPr>
            <a:r>
              <a:rPr lang="fr-FR" sz="2400" b="1" dirty="0" err="1">
                <a:latin typeface="Times New Roman" pitchFamily="18" charset="0"/>
                <a:ea typeface="Times New Roman" pitchFamily="18" charset="0"/>
                <a:cs typeface="Times New Roman" pitchFamily="18" charset="0"/>
              </a:rPr>
              <a:t>debfonc</a:t>
            </a:r>
            <a:r>
              <a:rPr lang="fr-FR" sz="2400" b="1" dirty="0">
                <a:latin typeface="Times New Roman" pitchFamily="18" charset="0"/>
                <a:ea typeface="Times New Roman" pitchFamily="18" charset="0"/>
                <a:cs typeface="Times New Roman" pitchFamily="18" charset="0"/>
              </a:rPr>
              <a:t>  si </a:t>
            </a:r>
            <a:r>
              <a:rPr lang="fr-FR" sz="2400" b="1" dirty="0" err="1">
                <a:latin typeface="Times New Roman" pitchFamily="18" charset="0"/>
                <a:ea typeface="Times New Roman" pitchFamily="18" charset="0"/>
                <a:cs typeface="Times New Roman" pitchFamily="18" charset="0"/>
              </a:rPr>
              <a:t>inf</a:t>
            </a:r>
            <a:r>
              <a:rPr lang="fr-FR" sz="2400" b="1" dirty="0">
                <a:latin typeface="Times New Roman" pitchFamily="18" charset="0"/>
                <a:ea typeface="Times New Roman" pitchFamily="18" charset="0"/>
                <a:cs typeface="Times New Roman" pitchFamily="18" charset="0"/>
              </a:rPr>
              <a:t>&gt;sup alors retourner faux;</a:t>
            </a:r>
            <a:endParaRPr lang="fr-FR" sz="2400" dirty="0">
              <a:latin typeface="Times New Roman" pitchFamily="18" charset="0"/>
              <a:cs typeface="Times New Roman" pitchFamily="18" charset="0"/>
            </a:endParaRPr>
          </a:p>
          <a:p>
            <a:pPr lvl="0"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sinon  </a:t>
            </a:r>
            <a:r>
              <a:rPr lang="fr-FR" sz="2400" dirty="0" smtClean="0">
                <a:latin typeface="Times New Roman" pitchFamily="18" charset="0"/>
                <a:ea typeface="Times New Roman" pitchFamily="18" charset="0"/>
                <a:cs typeface="Times New Roman" pitchFamily="18" charset="0"/>
              </a:rPr>
              <a:t>m</a:t>
            </a:r>
            <a:r>
              <a:rPr lang="fr-FR" sz="2400" dirty="0" smtClean="0">
                <a:latin typeface="Times New Roman" pitchFamily="18" charset="0"/>
                <a:ea typeface="Times New Roman" pitchFamily="18" charset="0"/>
                <a:cs typeface="Times New Roman" pitchFamily="18" charset="0"/>
              </a:rPr>
              <a:t>:=</a:t>
            </a:r>
            <a:r>
              <a:rPr lang="fr-FR" sz="2400" dirty="0" smtClean="0">
                <a:latin typeface="Times New Roman" pitchFamily="18" charset="0"/>
                <a:ea typeface="Times New Roman" pitchFamily="18" charset="0"/>
                <a:cs typeface="Times New Roman" pitchFamily="18" charset="0"/>
              </a:rPr>
              <a:t>(inf+sup</a:t>
            </a:r>
            <a:r>
              <a:rPr lang="fr-FR" sz="2400" dirty="0">
                <a:latin typeface="Times New Roman" pitchFamily="18" charset="0"/>
                <a:ea typeface="Times New Roman" pitchFamily="18" charset="0"/>
                <a:cs typeface="Times New Roman" pitchFamily="18" charset="0"/>
              </a:rPr>
              <a:t>) div 2</a:t>
            </a:r>
            <a:r>
              <a:rPr lang="fr-FR" sz="2400" b="1" dirty="0">
                <a:latin typeface="Times New Roman" pitchFamily="18" charset="0"/>
                <a:ea typeface="Times New Roman" pitchFamily="18" charset="0"/>
                <a:cs typeface="Times New Roman" pitchFamily="18" charset="0"/>
              </a:rPr>
              <a:t>;</a:t>
            </a:r>
            <a:endParaRPr lang="fr-FR" sz="2400" dirty="0">
              <a:latin typeface="Times New Roman" pitchFamily="18" charset="0"/>
              <a:cs typeface="Times New Roman" pitchFamily="18" charset="0"/>
            </a:endParaRPr>
          </a:p>
          <a:p>
            <a:pPr lvl="0"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si </a:t>
            </a:r>
            <a:r>
              <a:rPr lang="fr-FR" sz="2400" dirty="0" err="1">
                <a:latin typeface="Times New Roman" pitchFamily="18" charset="0"/>
                <a:ea typeface="Times New Roman" pitchFamily="18" charset="0"/>
                <a:cs typeface="Times New Roman" pitchFamily="18" charset="0"/>
              </a:rPr>
              <a:t>elem</a:t>
            </a:r>
            <a:r>
              <a:rPr lang="fr-FR" sz="2400" dirty="0">
                <a:latin typeface="Times New Roman" pitchFamily="18" charset="0"/>
                <a:ea typeface="Times New Roman" pitchFamily="18" charset="0"/>
                <a:cs typeface="Times New Roman" pitchFamily="18" charset="0"/>
              </a:rPr>
              <a:t>&lt;t[m]</a:t>
            </a:r>
            <a:r>
              <a:rPr lang="fr-FR" sz="2400" b="1" dirty="0">
                <a:latin typeface="Times New Roman" pitchFamily="18" charset="0"/>
                <a:ea typeface="Times New Roman" pitchFamily="18" charset="0"/>
                <a:cs typeface="Times New Roman" pitchFamily="18" charset="0"/>
              </a:rPr>
              <a:t> alors retourner </a:t>
            </a:r>
            <a:r>
              <a:rPr lang="fr-FR" sz="2400" dirty="0" err="1">
                <a:latin typeface="Times New Roman" pitchFamily="18" charset="0"/>
                <a:ea typeface="Times New Roman" pitchFamily="18" charset="0"/>
                <a:cs typeface="Times New Roman" pitchFamily="18" charset="0"/>
              </a:rPr>
              <a:t>dich</a:t>
            </a:r>
            <a:r>
              <a:rPr lang="fr-FR" sz="2400" dirty="0">
                <a:latin typeface="Times New Roman" pitchFamily="18" charset="0"/>
                <a:ea typeface="Times New Roman" pitchFamily="18" charset="0"/>
                <a:cs typeface="Times New Roman" pitchFamily="18" charset="0"/>
              </a:rPr>
              <a:t>(t, </a:t>
            </a:r>
            <a:r>
              <a:rPr lang="fr-FR" sz="2400" dirty="0" err="1">
                <a:latin typeface="Times New Roman" pitchFamily="18" charset="0"/>
                <a:ea typeface="Times New Roman" pitchFamily="18" charset="0"/>
                <a:cs typeface="Times New Roman" pitchFamily="18" charset="0"/>
              </a:rPr>
              <a:t>inf</a:t>
            </a:r>
            <a:r>
              <a:rPr lang="fr-FR" sz="2400" dirty="0">
                <a:latin typeface="Times New Roman" pitchFamily="18" charset="0"/>
                <a:ea typeface="Times New Roman" pitchFamily="18" charset="0"/>
                <a:cs typeface="Times New Roman" pitchFamily="18" charset="0"/>
              </a:rPr>
              <a:t>, m-1, </a:t>
            </a:r>
            <a:r>
              <a:rPr lang="fr-FR" sz="2400" dirty="0" err="1">
                <a:latin typeface="Times New Roman" pitchFamily="18" charset="0"/>
                <a:ea typeface="Times New Roman" pitchFamily="18" charset="0"/>
                <a:cs typeface="Times New Roman" pitchFamily="18" charset="0"/>
              </a:rPr>
              <a:t>elem</a:t>
            </a:r>
            <a:r>
              <a:rPr lang="fr-FR" sz="2400" dirty="0">
                <a:latin typeface="Times New Roman" pitchFamily="18" charset="0"/>
                <a:ea typeface="Times New Roman" pitchFamily="18" charset="0"/>
                <a:cs typeface="Times New Roman" pitchFamily="18" charset="0"/>
              </a:rPr>
              <a:t>)</a:t>
            </a:r>
            <a:r>
              <a:rPr lang="fr-FR" sz="2400" b="1" dirty="0">
                <a:latin typeface="Times New Roman" pitchFamily="18" charset="0"/>
                <a:ea typeface="Times New Roman" pitchFamily="18" charset="0"/>
                <a:cs typeface="Times New Roman" pitchFamily="18" charset="0"/>
              </a:rPr>
              <a:t>;</a:t>
            </a:r>
            <a:endParaRPr lang="fr-FR" sz="2400" dirty="0">
              <a:latin typeface="Times New Roman" pitchFamily="18" charset="0"/>
              <a:cs typeface="Times New Roman" pitchFamily="18" charset="0"/>
            </a:endParaRPr>
          </a:p>
          <a:p>
            <a:pPr lvl="0"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a:t>
            </a:r>
            <a:r>
              <a:rPr lang="fr-FR" sz="2400" b="1" dirty="0" err="1">
                <a:latin typeface="Times New Roman" pitchFamily="18" charset="0"/>
                <a:ea typeface="Times New Roman" pitchFamily="18" charset="0"/>
                <a:cs typeface="Times New Roman" pitchFamily="18" charset="0"/>
              </a:rPr>
              <a:t>sinonsi</a:t>
            </a:r>
            <a:r>
              <a:rPr lang="fr-FR" sz="2400" b="1" dirty="0">
                <a:latin typeface="Times New Roman" pitchFamily="18" charset="0"/>
                <a:ea typeface="Times New Roman" pitchFamily="18" charset="0"/>
                <a:cs typeface="Times New Roman" pitchFamily="18" charset="0"/>
              </a:rPr>
              <a:t> </a:t>
            </a:r>
            <a:r>
              <a:rPr lang="fr-FR" sz="2400" dirty="0" err="1">
                <a:latin typeface="Times New Roman" pitchFamily="18" charset="0"/>
                <a:ea typeface="Times New Roman" pitchFamily="18" charset="0"/>
                <a:cs typeface="Times New Roman" pitchFamily="18" charset="0"/>
              </a:rPr>
              <a:t>elem</a:t>
            </a:r>
            <a:r>
              <a:rPr lang="fr-FR" sz="2400" dirty="0">
                <a:latin typeface="Times New Roman" pitchFamily="18" charset="0"/>
                <a:ea typeface="Times New Roman" pitchFamily="18" charset="0"/>
                <a:cs typeface="Times New Roman" pitchFamily="18" charset="0"/>
              </a:rPr>
              <a:t>&gt;t[m]</a:t>
            </a:r>
            <a:r>
              <a:rPr lang="fr-FR" sz="2400" b="1" dirty="0">
                <a:latin typeface="Times New Roman" pitchFamily="18" charset="0"/>
                <a:ea typeface="Times New Roman" pitchFamily="18" charset="0"/>
                <a:cs typeface="Times New Roman" pitchFamily="18" charset="0"/>
              </a:rPr>
              <a:t> alors retourner </a:t>
            </a:r>
            <a:r>
              <a:rPr lang="fr-FR" sz="2400" dirty="0" err="1">
                <a:latin typeface="Times New Roman" pitchFamily="18" charset="0"/>
                <a:ea typeface="Times New Roman" pitchFamily="18" charset="0"/>
                <a:cs typeface="Times New Roman" pitchFamily="18" charset="0"/>
              </a:rPr>
              <a:t>dich</a:t>
            </a:r>
            <a:r>
              <a:rPr lang="fr-FR" sz="2400" dirty="0">
                <a:latin typeface="Times New Roman" pitchFamily="18" charset="0"/>
                <a:ea typeface="Times New Roman" pitchFamily="18" charset="0"/>
                <a:cs typeface="Times New Roman" pitchFamily="18" charset="0"/>
              </a:rPr>
              <a:t>(t, m+1, sup, </a:t>
            </a:r>
            <a:r>
              <a:rPr lang="fr-FR" sz="2400" dirty="0" err="1">
                <a:latin typeface="Times New Roman" pitchFamily="18" charset="0"/>
                <a:ea typeface="Times New Roman" pitchFamily="18" charset="0"/>
                <a:cs typeface="Times New Roman" pitchFamily="18" charset="0"/>
              </a:rPr>
              <a:t>elem</a:t>
            </a:r>
            <a:r>
              <a:rPr lang="fr-FR" sz="2400" dirty="0">
                <a:latin typeface="Times New Roman" pitchFamily="18" charset="0"/>
                <a:ea typeface="Times New Roman" pitchFamily="18" charset="0"/>
                <a:cs typeface="Times New Roman" pitchFamily="18" charset="0"/>
              </a:rPr>
              <a:t>)</a:t>
            </a:r>
            <a:r>
              <a:rPr lang="fr-FR" sz="2400" b="1" dirty="0">
                <a:latin typeface="Times New Roman" pitchFamily="18" charset="0"/>
                <a:ea typeface="Times New Roman" pitchFamily="18" charset="0"/>
                <a:cs typeface="Times New Roman" pitchFamily="18" charset="0"/>
              </a:rPr>
              <a:t>;</a:t>
            </a:r>
            <a:endParaRPr lang="fr-FR" sz="2400" dirty="0">
              <a:latin typeface="Times New Roman" pitchFamily="18" charset="0"/>
              <a:cs typeface="Times New Roman" pitchFamily="18" charset="0"/>
            </a:endParaRPr>
          </a:p>
          <a:p>
            <a:pPr lvl="0"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a:t>
            </a:r>
            <a:r>
              <a:rPr lang="en-GB" sz="2400" b="1" dirty="0">
                <a:latin typeface="Times New Roman" pitchFamily="18" charset="0"/>
                <a:ea typeface="Times New Roman" pitchFamily="18" charset="0"/>
                <a:cs typeface="Times New Roman" pitchFamily="18" charset="0"/>
              </a:rPr>
              <a:t>   </a:t>
            </a:r>
            <a:r>
              <a:rPr lang="en-GB" sz="2400" b="1" dirty="0" err="1">
                <a:latin typeface="Times New Roman" pitchFamily="18" charset="0"/>
                <a:ea typeface="Times New Roman" pitchFamily="18" charset="0"/>
                <a:cs typeface="Times New Roman" pitchFamily="18" charset="0"/>
              </a:rPr>
              <a:t>sinon</a:t>
            </a:r>
            <a:r>
              <a:rPr lang="en-GB" sz="2400" b="1" dirty="0">
                <a:latin typeface="Times New Roman" pitchFamily="18" charset="0"/>
                <a:ea typeface="Times New Roman" pitchFamily="18" charset="0"/>
                <a:cs typeface="Times New Roman" pitchFamily="18" charset="0"/>
              </a:rPr>
              <a:t> </a:t>
            </a:r>
            <a:r>
              <a:rPr lang="en-GB" sz="2400" b="1" dirty="0" err="1">
                <a:latin typeface="Times New Roman" pitchFamily="18" charset="0"/>
                <a:ea typeface="Times New Roman" pitchFamily="18" charset="0"/>
                <a:cs typeface="Times New Roman" pitchFamily="18" charset="0"/>
              </a:rPr>
              <a:t>retourner</a:t>
            </a:r>
            <a:r>
              <a:rPr lang="en-GB" sz="2400" b="1" dirty="0">
                <a:latin typeface="Times New Roman" pitchFamily="18" charset="0"/>
                <a:ea typeface="Times New Roman" pitchFamily="18" charset="0"/>
                <a:cs typeface="Times New Roman" pitchFamily="18" charset="0"/>
              </a:rPr>
              <a:t> </a:t>
            </a:r>
            <a:r>
              <a:rPr lang="en-GB" sz="2400" b="1" dirty="0" err="1">
                <a:latin typeface="Times New Roman" pitchFamily="18" charset="0"/>
                <a:ea typeface="Times New Roman" pitchFamily="18" charset="0"/>
                <a:cs typeface="Times New Roman" pitchFamily="18" charset="0"/>
              </a:rPr>
              <a:t>vrai</a:t>
            </a:r>
            <a:r>
              <a:rPr lang="en-GB" sz="2400" b="1" dirty="0">
                <a:latin typeface="Times New Roman" pitchFamily="18" charset="0"/>
                <a:ea typeface="Times New Roman" pitchFamily="18" charset="0"/>
                <a:cs typeface="Times New Roman" pitchFamily="18" charset="0"/>
              </a:rPr>
              <a:t>; </a:t>
            </a:r>
            <a:endParaRPr lang="fr-FR" sz="2400" dirty="0">
              <a:latin typeface="Times New Roman" pitchFamily="18" charset="0"/>
              <a:cs typeface="Times New Roman" pitchFamily="18" charset="0"/>
            </a:endParaRPr>
          </a:p>
          <a:p>
            <a:pPr lvl="0" eaLnBrk="0" fontAlgn="base" hangingPunct="0">
              <a:spcBef>
                <a:spcPct val="0"/>
              </a:spcBef>
              <a:spcAft>
                <a:spcPct val="0"/>
              </a:spcAft>
            </a:pPr>
            <a:r>
              <a:rPr lang="en-GB" sz="2400" b="1" dirty="0">
                <a:latin typeface="Times New Roman" pitchFamily="18" charset="0"/>
                <a:ea typeface="Times New Roman" pitchFamily="18" charset="0"/>
                <a:cs typeface="Times New Roman" pitchFamily="18" charset="0"/>
              </a:rPr>
              <a:t>               </a:t>
            </a:r>
            <a:r>
              <a:rPr lang="en-GB" sz="2400" b="1" dirty="0" err="1">
                <a:latin typeface="Times New Roman" pitchFamily="18" charset="0"/>
                <a:ea typeface="Times New Roman" pitchFamily="18" charset="0"/>
                <a:cs typeface="Times New Roman" pitchFamily="18" charset="0"/>
              </a:rPr>
              <a:t>finsi</a:t>
            </a:r>
            <a:r>
              <a:rPr lang="en-GB" sz="2400" b="1" dirty="0">
                <a:latin typeface="Times New Roman" pitchFamily="18" charset="0"/>
                <a:ea typeface="Times New Roman" pitchFamily="18" charset="0"/>
                <a:cs typeface="Times New Roman" pitchFamily="18" charset="0"/>
              </a:rPr>
              <a:t>; </a:t>
            </a:r>
          </a:p>
          <a:p>
            <a:pPr lvl="0" eaLnBrk="0" fontAlgn="base" hangingPunct="0">
              <a:spcBef>
                <a:spcPct val="0"/>
              </a:spcBef>
              <a:spcAft>
                <a:spcPct val="0"/>
              </a:spcAft>
            </a:pPr>
            <a:r>
              <a:rPr lang="en-GB" sz="2400" b="1" dirty="0">
                <a:latin typeface="Times New Roman" pitchFamily="18" charset="0"/>
                <a:ea typeface="Times New Roman" pitchFamily="18" charset="0"/>
                <a:cs typeface="Times New Roman" pitchFamily="18" charset="0"/>
              </a:rPr>
              <a:t>     </a:t>
            </a:r>
            <a:r>
              <a:rPr lang="en-GB" sz="2400" b="1" dirty="0" err="1">
                <a:latin typeface="Times New Roman" pitchFamily="18" charset="0"/>
                <a:ea typeface="Times New Roman" pitchFamily="18" charset="0"/>
                <a:cs typeface="Times New Roman" pitchFamily="18" charset="0"/>
              </a:rPr>
              <a:t>finsi</a:t>
            </a:r>
            <a:r>
              <a:rPr lang="en-GB" sz="2400" b="1" dirty="0">
                <a:latin typeface="Times New Roman" pitchFamily="18" charset="0"/>
                <a:ea typeface="Times New Roman" pitchFamily="18" charset="0"/>
                <a:cs typeface="Times New Roman" pitchFamily="18" charset="0"/>
              </a:rPr>
              <a:t>;       </a:t>
            </a:r>
            <a:endParaRPr lang="fr-FR" sz="2400" dirty="0">
              <a:latin typeface="Times New Roman" pitchFamily="18" charset="0"/>
              <a:cs typeface="Times New Roman" pitchFamily="18" charset="0"/>
            </a:endParaRPr>
          </a:p>
          <a:p>
            <a:pPr lvl="0" eaLnBrk="0" fontAlgn="base" hangingPunct="0">
              <a:spcBef>
                <a:spcPct val="0"/>
              </a:spcBef>
              <a:spcAft>
                <a:spcPct val="0"/>
              </a:spcAft>
            </a:pPr>
            <a:r>
              <a:rPr lang="de-DE" sz="2400" b="1" dirty="0" err="1">
                <a:latin typeface="Times New Roman" pitchFamily="18" charset="0"/>
                <a:ea typeface="Times New Roman" pitchFamily="18" charset="0"/>
                <a:cs typeface="Times New Roman" pitchFamily="18" charset="0"/>
              </a:rPr>
              <a:t>finfonc</a:t>
            </a:r>
            <a:r>
              <a:rPr lang="de-DE" sz="2400" b="1" dirty="0">
                <a:latin typeface="Times New Roman" pitchFamily="18" charset="0"/>
                <a:ea typeface="Times New Roman" pitchFamily="18" charset="0"/>
                <a:cs typeface="Times New Roman" pitchFamily="18" charset="0"/>
              </a:rPr>
              <a:t>;</a:t>
            </a:r>
          </a:p>
          <a:p>
            <a:pPr lvl="0" eaLnBrk="0" fontAlgn="base" hangingPunct="0">
              <a:spcBef>
                <a:spcPct val="0"/>
              </a:spcBef>
              <a:spcAft>
                <a:spcPct val="0"/>
              </a:spcAft>
            </a:pPr>
            <a:endParaRPr lang="de-DE" sz="2400" b="1" dirty="0">
              <a:latin typeface="Times New Roman" pitchFamily="18" charset="0"/>
              <a:ea typeface="Times New Roman" pitchFamily="18" charset="0"/>
              <a:cs typeface="Times New Roman" pitchFamily="18" charset="0"/>
            </a:endParaRPr>
          </a:p>
          <a:p>
            <a:pPr algn="just"/>
            <a:r>
              <a:rPr lang="en-GB" sz="2400" u="sng" dirty="0" err="1" smtClean="0">
                <a:latin typeface="Times New Roman" pitchFamily="18" charset="0"/>
                <a:cs typeface="Times New Roman" pitchFamily="18" charset="0"/>
              </a:rPr>
              <a:t>Exercice</a:t>
            </a:r>
            <a:r>
              <a:rPr lang="en-GB" sz="2400" u="sng" dirty="0" smtClean="0">
                <a:latin typeface="Times New Roman" pitchFamily="18" charset="0"/>
                <a:cs typeface="Times New Roman" pitchFamily="18" charset="0"/>
              </a:rPr>
              <a:t> 9.</a:t>
            </a:r>
            <a:r>
              <a:rPr lang="en-GB" sz="2400" dirty="0" smtClean="0">
                <a:latin typeface="Times New Roman" pitchFamily="18" charset="0"/>
                <a:cs typeface="Times New Roman" pitchFamily="18" charset="0"/>
              </a:rPr>
              <a:t> </a:t>
            </a:r>
            <a:r>
              <a:rPr lang="en-GB" sz="2400" dirty="0" err="1">
                <a:latin typeface="Times New Roman" pitchFamily="18" charset="0"/>
                <a:cs typeface="Times New Roman" pitchFamily="18" charset="0"/>
              </a:rPr>
              <a:t>Ecrivez</a:t>
            </a:r>
            <a:r>
              <a:rPr lang="en-GB" sz="2400" dirty="0">
                <a:latin typeface="Times New Roman" pitchFamily="18" charset="0"/>
                <a:cs typeface="Times New Roman" pitchFamily="18" charset="0"/>
              </a:rPr>
              <a:t> des </a:t>
            </a:r>
            <a:r>
              <a:rPr lang="en-GB" sz="2400" dirty="0" err="1">
                <a:latin typeface="Times New Roman" pitchFamily="18" charset="0"/>
                <a:cs typeface="Times New Roman" pitchFamily="18" charset="0"/>
              </a:rPr>
              <a:t>fonctions</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récursives</a:t>
            </a:r>
            <a:r>
              <a:rPr lang="en-GB" sz="2400" dirty="0">
                <a:latin typeface="Times New Roman" pitchFamily="18" charset="0"/>
                <a:cs typeface="Times New Roman" pitchFamily="18" charset="0"/>
              </a:rPr>
              <a:t> qui : </a:t>
            </a:r>
          </a:p>
          <a:p>
            <a:pPr algn="just"/>
            <a:r>
              <a:rPr lang="en-GB" sz="2400" b="1" dirty="0">
                <a:latin typeface="Times New Roman" pitchFamily="18" charset="0"/>
                <a:cs typeface="Times New Roman" pitchFamily="18" charset="0"/>
              </a:rPr>
              <a:t>- </a:t>
            </a:r>
            <a:r>
              <a:rPr lang="en-GB" sz="2400" b="1" dirty="0" err="1">
                <a:latin typeface="Times New Roman" pitchFamily="18" charset="0"/>
                <a:cs typeface="Times New Roman" pitchFamily="18" charset="0"/>
              </a:rPr>
              <a:t>creervec</a:t>
            </a:r>
            <a:r>
              <a:rPr lang="en-GB" sz="2400" dirty="0">
                <a:latin typeface="Times New Roman" pitchFamily="18" charset="0"/>
                <a:cs typeface="Times New Roman" pitchFamily="18" charset="0"/>
              </a:rPr>
              <a:t> qui </a:t>
            </a:r>
            <a:r>
              <a:rPr lang="en-GB" sz="2400" dirty="0" err="1">
                <a:latin typeface="Times New Roman" pitchFamily="18" charset="0"/>
                <a:cs typeface="Times New Roman" pitchFamily="18" charset="0"/>
              </a:rPr>
              <a:t>crée</a:t>
            </a:r>
            <a:r>
              <a:rPr lang="en-GB" sz="2400" dirty="0">
                <a:latin typeface="Times New Roman" pitchFamily="18" charset="0"/>
                <a:cs typeface="Times New Roman" pitchFamily="18" charset="0"/>
              </a:rPr>
              <a:t> un </a:t>
            </a:r>
            <a:r>
              <a:rPr lang="en-GB" sz="2400" dirty="0" err="1">
                <a:latin typeface="Times New Roman" pitchFamily="18" charset="0"/>
                <a:cs typeface="Times New Roman" pitchFamily="18" charset="0"/>
              </a:rPr>
              <a:t>vecteur</a:t>
            </a:r>
            <a:r>
              <a:rPr lang="en-GB" sz="2400" dirty="0">
                <a:latin typeface="Times New Roman" pitchFamily="18" charset="0"/>
                <a:cs typeface="Times New Roman" pitchFamily="18" charset="0"/>
              </a:rPr>
              <a:t> de </a:t>
            </a:r>
            <a:r>
              <a:rPr lang="en-GB" sz="2400" dirty="0" err="1">
                <a:latin typeface="Times New Roman" pitchFamily="18" charset="0"/>
                <a:cs typeface="Times New Roman" pitchFamily="18" charset="0"/>
              </a:rPr>
              <a:t>nombres</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entiers</a:t>
            </a:r>
            <a:r>
              <a:rPr lang="en-GB" sz="2400" dirty="0">
                <a:latin typeface="Times New Roman" pitchFamily="18" charset="0"/>
                <a:cs typeface="Times New Roman" pitchFamily="18" charset="0"/>
              </a:rPr>
              <a:t>.</a:t>
            </a:r>
          </a:p>
          <a:p>
            <a:pPr algn="just"/>
            <a:r>
              <a:rPr lang="en-GB" sz="2400" dirty="0">
                <a:latin typeface="Times New Roman" pitchFamily="18" charset="0"/>
                <a:cs typeface="Times New Roman" pitchFamily="18" charset="0"/>
              </a:rPr>
              <a:t>- </a:t>
            </a:r>
            <a:r>
              <a:rPr lang="en-GB" sz="2400" b="1" dirty="0" err="1">
                <a:latin typeface="Times New Roman" pitchFamily="18" charset="0"/>
                <a:cs typeface="Times New Roman" pitchFamily="18" charset="0"/>
              </a:rPr>
              <a:t>printvec</a:t>
            </a:r>
            <a:r>
              <a:rPr lang="en-GB" sz="2400" b="1" dirty="0">
                <a:latin typeface="Times New Roman" pitchFamily="18" charset="0"/>
                <a:cs typeface="Times New Roman" pitchFamily="18" charset="0"/>
              </a:rPr>
              <a:t> </a:t>
            </a:r>
            <a:r>
              <a:rPr lang="en-GB" sz="2400" dirty="0">
                <a:latin typeface="Times New Roman" pitchFamily="18" charset="0"/>
                <a:cs typeface="Times New Roman" pitchFamily="18" charset="0"/>
              </a:rPr>
              <a:t>qui </a:t>
            </a:r>
            <a:r>
              <a:rPr lang="en-GB" sz="2400" dirty="0" err="1">
                <a:latin typeface="Times New Roman" pitchFamily="18" charset="0"/>
                <a:cs typeface="Times New Roman" pitchFamily="18" charset="0"/>
              </a:rPr>
              <a:t>affiche</a:t>
            </a:r>
            <a:r>
              <a:rPr lang="en-GB" sz="2400" dirty="0">
                <a:latin typeface="Times New Roman" pitchFamily="18" charset="0"/>
                <a:cs typeface="Times New Roman" pitchFamily="18" charset="0"/>
              </a:rPr>
              <a:t> </a:t>
            </a:r>
            <a:r>
              <a:rPr lang="en-GB" sz="2400" dirty="0" err="1" smtClean="0">
                <a:latin typeface="Times New Roman" pitchFamily="18" charset="0"/>
                <a:cs typeface="Times New Roman" pitchFamily="18" charset="0"/>
              </a:rPr>
              <a:t>ce</a:t>
            </a:r>
            <a:r>
              <a:rPr lang="en-GB" sz="2400" dirty="0" smtClean="0">
                <a:latin typeface="Times New Roman" pitchFamily="18" charset="0"/>
                <a:cs typeface="Times New Roman" pitchFamily="18" charset="0"/>
              </a:rPr>
              <a:t> </a:t>
            </a:r>
            <a:r>
              <a:rPr lang="en-GB" sz="2400" dirty="0" err="1" smtClean="0">
                <a:latin typeface="Times New Roman" pitchFamily="18" charset="0"/>
                <a:cs typeface="Times New Roman" pitchFamily="18" charset="0"/>
              </a:rPr>
              <a:t>vecteur</a:t>
            </a:r>
            <a:r>
              <a:rPr lang="en-GB" sz="2400" dirty="0">
                <a:latin typeface="Times New Roman" pitchFamily="18" charset="0"/>
                <a:cs typeface="Times New Roman" pitchFamily="18" charset="0"/>
              </a:rPr>
              <a:t>.</a:t>
            </a:r>
          </a:p>
          <a:p>
            <a:pPr algn="just"/>
            <a:r>
              <a:rPr lang="en-GB" sz="2400" dirty="0">
                <a:latin typeface="Times New Roman" pitchFamily="18" charset="0"/>
                <a:cs typeface="Times New Roman" pitchFamily="18" charset="0"/>
              </a:rPr>
              <a:t>- </a:t>
            </a:r>
            <a:r>
              <a:rPr lang="en-GB" sz="2400" b="1" dirty="0" err="1">
                <a:latin typeface="Times New Roman" pitchFamily="18" charset="0"/>
                <a:cs typeface="Times New Roman" pitchFamily="18" charset="0"/>
              </a:rPr>
              <a:t>chercherent</a:t>
            </a:r>
            <a:r>
              <a:rPr lang="en-GB" sz="2400" dirty="0">
                <a:latin typeface="Times New Roman" pitchFamily="18" charset="0"/>
                <a:cs typeface="Times New Roman" pitchFamily="18" charset="0"/>
              </a:rPr>
              <a:t> qui </a:t>
            </a:r>
            <a:r>
              <a:rPr lang="en-GB" sz="2400" dirty="0" err="1">
                <a:latin typeface="Times New Roman" pitchFamily="18" charset="0"/>
                <a:cs typeface="Times New Roman" pitchFamily="18" charset="0"/>
              </a:rPr>
              <a:t>recherche</a:t>
            </a:r>
            <a:r>
              <a:rPr lang="en-GB" sz="2400" dirty="0">
                <a:latin typeface="Times New Roman" pitchFamily="18" charset="0"/>
                <a:cs typeface="Times New Roman" pitchFamily="18" charset="0"/>
              </a:rPr>
              <a:t> un </a:t>
            </a:r>
            <a:r>
              <a:rPr lang="en-GB" sz="2400" dirty="0" err="1">
                <a:latin typeface="Times New Roman" pitchFamily="18" charset="0"/>
                <a:cs typeface="Times New Roman" pitchFamily="18" charset="0"/>
              </a:rPr>
              <a:t>nombre</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donné</a:t>
            </a:r>
            <a:r>
              <a:rPr lang="en-GB" sz="2400" dirty="0">
                <a:latin typeface="Times New Roman" pitchFamily="18" charset="0"/>
                <a:cs typeface="Times New Roman" pitchFamily="18" charset="0"/>
              </a:rPr>
              <a:t>. </a:t>
            </a:r>
          </a:p>
          <a:p>
            <a:pPr algn="just"/>
            <a:r>
              <a:rPr lang="en-GB" sz="2400" dirty="0">
                <a:latin typeface="Times New Roman" pitchFamily="18" charset="0"/>
                <a:cs typeface="Times New Roman" pitchFamily="18" charset="0"/>
              </a:rPr>
              <a:t>- </a:t>
            </a:r>
            <a:r>
              <a:rPr lang="en-GB" sz="2400" b="1" dirty="0" err="1">
                <a:latin typeface="Times New Roman" pitchFamily="18" charset="0"/>
                <a:cs typeface="Times New Roman" pitchFamily="18" charset="0"/>
              </a:rPr>
              <a:t>nbOccur</a:t>
            </a:r>
            <a:r>
              <a:rPr lang="en-GB" sz="2400" dirty="0">
                <a:latin typeface="Times New Roman" pitchFamily="18" charset="0"/>
                <a:cs typeface="Times New Roman" pitchFamily="18" charset="0"/>
              </a:rPr>
              <a:t> qui </a:t>
            </a:r>
            <a:r>
              <a:rPr lang="en-GB" sz="2400" dirty="0" err="1">
                <a:latin typeface="Times New Roman" pitchFamily="18" charset="0"/>
                <a:cs typeface="Times New Roman" pitchFamily="18" charset="0"/>
              </a:rPr>
              <a:t>retourne</a:t>
            </a:r>
            <a:r>
              <a:rPr lang="en-GB" sz="2400" dirty="0">
                <a:latin typeface="Times New Roman" pitchFamily="18" charset="0"/>
                <a:cs typeface="Times New Roman" pitchFamily="18" charset="0"/>
              </a:rPr>
              <a:t> le </a:t>
            </a:r>
            <a:r>
              <a:rPr lang="en-GB" sz="2400" dirty="0" err="1">
                <a:latin typeface="Times New Roman" pitchFamily="18" charset="0"/>
                <a:cs typeface="Times New Roman" pitchFamily="18" charset="0"/>
              </a:rPr>
              <a:t>nombre</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d’occurrences</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d’une</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valeur</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donnée</a:t>
            </a:r>
            <a:r>
              <a:rPr lang="en-GB" sz="2400" dirty="0">
                <a:latin typeface="Times New Roman" pitchFamily="18" charset="0"/>
                <a:cs typeface="Times New Roman" pitchFamily="18" charset="0"/>
              </a:rPr>
              <a:t>.</a:t>
            </a:r>
          </a:p>
        </p:txBody>
      </p:sp>
    </p:spTree>
    <p:extLst>
      <p:ext uri="{BB962C8B-B14F-4D97-AF65-F5344CB8AC3E}">
        <p14:creationId xmlns:p14="http://schemas.microsoft.com/office/powerpoint/2010/main" val="12566729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880" y="355104"/>
            <a:ext cx="11480800" cy="6001643"/>
          </a:xfrm>
          <a:prstGeom prst="rect">
            <a:avLst/>
          </a:prstGeom>
        </p:spPr>
        <p:txBody>
          <a:bodyPr wrap="square">
            <a:spAutoFit/>
          </a:bodyPr>
          <a:lstStyle/>
          <a:p>
            <a:pPr algn="just"/>
            <a:r>
              <a:rPr lang="en-GB" sz="2400" u="sng" dirty="0" err="1" smtClean="0">
                <a:latin typeface="Times New Roman" pitchFamily="18" charset="0"/>
                <a:cs typeface="Times New Roman" pitchFamily="18" charset="0"/>
              </a:rPr>
              <a:t>Exercice</a:t>
            </a:r>
            <a:r>
              <a:rPr lang="en-GB" sz="2400" u="sng" dirty="0" smtClean="0">
                <a:latin typeface="Times New Roman" pitchFamily="18" charset="0"/>
                <a:cs typeface="Times New Roman" pitchFamily="18" charset="0"/>
              </a:rPr>
              <a:t> 10.</a:t>
            </a:r>
            <a:r>
              <a:rPr lang="en-GB" sz="2400" dirty="0" smtClean="0">
                <a:latin typeface="Times New Roman" pitchFamily="18" charset="0"/>
                <a:cs typeface="Times New Roman" pitchFamily="18" charset="0"/>
              </a:rPr>
              <a:t> </a:t>
            </a:r>
            <a:r>
              <a:rPr lang="en-GB" sz="2400" dirty="0" err="1">
                <a:latin typeface="Times New Roman" pitchFamily="18" charset="0"/>
                <a:cs typeface="Times New Roman" pitchFamily="18" charset="0"/>
              </a:rPr>
              <a:t>Ecrivez</a:t>
            </a:r>
            <a:r>
              <a:rPr lang="en-GB" sz="2400" dirty="0">
                <a:latin typeface="Times New Roman" pitchFamily="18" charset="0"/>
                <a:cs typeface="Times New Roman" pitchFamily="18" charset="0"/>
              </a:rPr>
              <a:t> des </a:t>
            </a:r>
            <a:r>
              <a:rPr lang="en-GB" sz="2400" dirty="0" err="1">
                <a:latin typeface="Times New Roman" pitchFamily="18" charset="0"/>
                <a:cs typeface="Times New Roman" pitchFamily="18" charset="0"/>
              </a:rPr>
              <a:t>fonctions</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itératives</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manipulant</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une</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liste</a:t>
            </a:r>
            <a:r>
              <a:rPr lang="en-GB" sz="2400" dirty="0">
                <a:latin typeface="Times New Roman" pitchFamily="18" charset="0"/>
                <a:cs typeface="Times New Roman" pitchFamily="18" charset="0"/>
              </a:rPr>
              <a:t> de </a:t>
            </a:r>
            <a:r>
              <a:rPr lang="en-GB" sz="2400" dirty="0" err="1">
                <a:latin typeface="Times New Roman" pitchFamily="18" charset="0"/>
                <a:cs typeface="Times New Roman" pitchFamily="18" charset="0"/>
              </a:rPr>
              <a:t>nombres</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entiers</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présentée</a:t>
            </a:r>
            <a:r>
              <a:rPr lang="en-GB" sz="2400" dirty="0">
                <a:latin typeface="Times New Roman" pitchFamily="18" charset="0"/>
                <a:cs typeface="Times New Roman" pitchFamily="18" charset="0"/>
              </a:rPr>
              <a:t> sous </a:t>
            </a:r>
            <a:r>
              <a:rPr lang="en-GB" sz="2400" dirty="0" err="1">
                <a:latin typeface="Times New Roman" pitchFamily="18" charset="0"/>
                <a:cs typeface="Times New Roman" pitchFamily="18" charset="0"/>
              </a:rPr>
              <a:t>forme</a:t>
            </a:r>
            <a:r>
              <a:rPr lang="en-GB" sz="2400" dirty="0">
                <a:latin typeface="Times New Roman" pitchFamily="18" charset="0"/>
                <a:cs typeface="Times New Roman" pitchFamily="18" charset="0"/>
              </a:rPr>
              <a:t> de </a:t>
            </a:r>
            <a:r>
              <a:rPr lang="en-GB" sz="2400" dirty="0" err="1">
                <a:latin typeface="Times New Roman" pitchFamily="18" charset="0"/>
                <a:cs typeface="Times New Roman" pitchFamily="18" charset="0"/>
              </a:rPr>
              <a:t>matrice</a:t>
            </a:r>
            <a:r>
              <a:rPr lang="en-GB" sz="2400" dirty="0">
                <a:latin typeface="Times New Roman" pitchFamily="18" charset="0"/>
                <a:cs typeface="Times New Roman" pitchFamily="18" charset="0"/>
              </a:rPr>
              <a:t> de </a:t>
            </a:r>
            <a:r>
              <a:rPr lang="en-GB" sz="2400" b="1" dirty="0" err="1">
                <a:latin typeface="Times New Roman" pitchFamily="18" charset="0"/>
                <a:cs typeface="Times New Roman" pitchFamily="18" charset="0"/>
              </a:rPr>
              <a:t>nligne</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nombre</a:t>
            </a:r>
            <a:r>
              <a:rPr lang="en-GB" sz="2400" dirty="0">
                <a:latin typeface="Times New Roman" pitchFamily="18" charset="0"/>
                <a:cs typeface="Times New Roman" pitchFamily="18" charset="0"/>
              </a:rPr>
              <a:t> de </a:t>
            </a:r>
            <a:r>
              <a:rPr lang="en-GB" sz="2400" dirty="0" err="1">
                <a:latin typeface="Times New Roman" pitchFamily="18" charset="0"/>
                <a:cs typeface="Times New Roman" pitchFamily="18" charset="0"/>
              </a:rPr>
              <a:t>lignes</a:t>
            </a:r>
            <a:r>
              <a:rPr lang="en-GB" sz="2400" dirty="0">
                <a:latin typeface="Times New Roman" pitchFamily="18" charset="0"/>
                <a:cs typeface="Times New Roman" pitchFamily="18" charset="0"/>
              </a:rPr>
              <a:t>) et de </a:t>
            </a:r>
            <a:r>
              <a:rPr lang="en-GB" sz="2400" b="1" dirty="0" err="1">
                <a:latin typeface="Times New Roman" pitchFamily="18" charset="0"/>
                <a:cs typeface="Times New Roman" pitchFamily="18" charset="0"/>
              </a:rPr>
              <a:t>ncolonne</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nombre</a:t>
            </a:r>
            <a:r>
              <a:rPr lang="en-GB" sz="2400" dirty="0">
                <a:latin typeface="Times New Roman" pitchFamily="18" charset="0"/>
                <a:cs typeface="Times New Roman" pitchFamily="18" charset="0"/>
              </a:rPr>
              <a:t> de </a:t>
            </a:r>
            <a:r>
              <a:rPr lang="en-GB" sz="2400" dirty="0" err="1">
                <a:latin typeface="Times New Roman" pitchFamily="18" charset="0"/>
                <a:cs typeface="Times New Roman" pitchFamily="18" charset="0"/>
              </a:rPr>
              <a:t>colonnes</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saisis</a:t>
            </a:r>
            <a:r>
              <a:rPr lang="en-GB" sz="2400" dirty="0">
                <a:latin typeface="Times New Roman" pitchFamily="18" charset="0"/>
                <a:cs typeface="Times New Roman" pitchFamily="18" charset="0"/>
              </a:rPr>
              <a:t> à </a:t>
            </a:r>
            <a:r>
              <a:rPr lang="en-GB" sz="2400" dirty="0" err="1">
                <a:latin typeface="Times New Roman" pitchFamily="18" charset="0"/>
                <a:cs typeface="Times New Roman" pitchFamily="18" charset="0"/>
              </a:rPr>
              <a:t>partir</a:t>
            </a:r>
            <a:r>
              <a:rPr lang="en-GB" sz="2400" dirty="0">
                <a:latin typeface="Times New Roman" pitchFamily="18" charset="0"/>
                <a:cs typeface="Times New Roman" pitchFamily="18" charset="0"/>
              </a:rPr>
              <a:t> du clavier : </a:t>
            </a:r>
          </a:p>
          <a:p>
            <a:pPr>
              <a:buFontTx/>
              <a:buChar char="-"/>
            </a:pP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fonction</a:t>
            </a:r>
            <a:r>
              <a:rPr lang="en-GB" sz="2400" dirty="0">
                <a:latin typeface="Times New Roman" pitchFamily="18" charset="0"/>
                <a:cs typeface="Times New Roman" pitchFamily="18" charset="0"/>
              </a:rPr>
              <a:t> de </a:t>
            </a:r>
            <a:r>
              <a:rPr lang="en-GB" sz="2400" dirty="0" err="1">
                <a:latin typeface="Times New Roman" pitchFamily="18" charset="0"/>
                <a:cs typeface="Times New Roman" pitchFamily="18" charset="0"/>
              </a:rPr>
              <a:t>création</a:t>
            </a:r>
            <a:r>
              <a:rPr lang="en-GB" sz="2400" dirty="0">
                <a:latin typeface="Times New Roman" pitchFamily="18" charset="0"/>
                <a:cs typeface="Times New Roman" pitchFamily="18" charset="0"/>
              </a:rPr>
              <a:t> du tableau </a:t>
            </a:r>
            <a:r>
              <a:rPr lang="en-GB" sz="2400" b="1" dirty="0" err="1">
                <a:latin typeface="Times New Roman" pitchFamily="18" charset="0"/>
                <a:cs typeface="Times New Roman" pitchFamily="18" charset="0"/>
              </a:rPr>
              <a:t>creertab</a:t>
            </a:r>
            <a:r>
              <a:rPr lang="en-GB" sz="2400" b="1" dirty="0">
                <a:latin typeface="Times New Roman" pitchFamily="18" charset="0"/>
                <a:cs typeface="Times New Roman" pitchFamily="18" charset="0"/>
              </a:rPr>
              <a:t>,</a:t>
            </a:r>
          </a:p>
          <a:p>
            <a:pPr>
              <a:buFontTx/>
              <a:buChar char="-"/>
            </a:pP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fonction</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d’affichage</a:t>
            </a:r>
            <a:r>
              <a:rPr lang="en-GB" sz="2400" dirty="0">
                <a:latin typeface="Times New Roman" pitchFamily="18" charset="0"/>
                <a:cs typeface="Times New Roman" pitchFamily="18" charset="0"/>
              </a:rPr>
              <a:t> du tableau </a:t>
            </a:r>
            <a:r>
              <a:rPr lang="en-GB" sz="2400" b="1" dirty="0" err="1">
                <a:latin typeface="Times New Roman" pitchFamily="18" charset="0"/>
                <a:cs typeface="Times New Roman" pitchFamily="18" charset="0"/>
              </a:rPr>
              <a:t>printtab</a:t>
            </a:r>
            <a:r>
              <a:rPr lang="en-GB" sz="2400" b="1" dirty="0">
                <a:latin typeface="Times New Roman" pitchFamily="18" charset="0"/>
                <a:cs typeface="Times New Roman" pitchFamily="18" charset="0"/>
              </a:rPr>
              <a:t>,</a:t>
            </a:r>
            <a:endParaRPr lang="en-GB" sz="2400" dirty="0">
              <a:latin typeface="Times New Roman" pitchFamily="18" charset="0"/>
              <a:cs typeface="Times New Roman" pitchFamily="18" charset="0"/>
            </a:endParaRPr>
          </a:p>
          <a:p>
            <a:pPr>
              <a:buFontTx/>
              <a:buChar char="-"/>
            </a:pP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fonction</a:t>
            </a:r>
            <a:r>
              <a:rPr lang="en-GB" sz="2400" dirty="0">
                <a:latin typeface="Times New Roman" pitchFamily="18" charset="0"/>
                <a:cs typeface="Times New Roman" pitchFamily="18" charset="0"/>
              </a:rPr>
              <a:t> </a:t>
            </a:r>
            <a:r>
              <a:rPr lang="en-GB" sz="2400" b="1" dirty="0" err="1">
                <a:latin typeface="Times New Roman" pitchFamily="18" charset="0"/>
                <a:cs typeface="Times New Roman" pitchFamily="18" charset="0"/>
              </a:rPr>
              <a:t>calcule_som</a:t>
            </a:r>
            <a:r>
              <a:rPr lang="en-GB" sz="2400" dirty="0">
                <a:latin typeface="Times New Roman" pitchFamily="18" charset="0"/>
                <a:cs typeface="Times New Roman" pitchFamily="18" charset="0"/>
              </a:rPr>
              <a:t> qui </a:t>
            </a:r>
            <a:r>
              <a:rPr lang="en-GB" sz="2400" dirty="0" err="1">
                <a:latin typeface="Times New Roman" pitchFamily="18" charset="0"/>
                <a:cs typeface="Times New Roman" pitchFamily="18" charset="0"/>
              </a:rPr>
              <a:t>calcule</a:t>
            </a:r>
            <a:r>
              <a:rPr lang="en-GB" sz="2400" dirty="0">
                <a:latin typeface="Times New Roman" pitchFamily="18" charset="0"/>
                <a:cs typeface="Times New Roman" pitchFamily="18" charset="0"/>
              </a:rPr>
              <a:t> la </a:t>
            </a:r>
            <a:r>
              <a:rPr lang="en-GB" sz="2400" dirty="0" err="1">
                <a:latin typeface="Times New Roman" pitchFamily="18" charset="0"/>
                <a:cs typeface="Times New Roman" pitchFamily="18" charset="0"/>
              </a:rPr>
              <a:t>somme</a:t>
            </a:r>
            <a:r>
              <a:rPr lang="en-GB" sz="2400" dirty="0">
                <a:latin typeface="Times New Roman" pitchFamily="18" charset="0"/>
                <a:cs typeface="Times New Roman" pitchFamily="18" charset="0"/>
              </a:rPr>
              <a:t> de </a:t>
            </a:r>
            <a:r>
              <a:rPr lang="en-GB" sz="2400" dirty="0" err="1">
                <a:latin typeface="Times New Roman" pitchFamily="18" charset="0"/>
                <a:cs typeface="Times New Roman" pitchFamily="18" charset="0"/>
              </a:rPr>
              <a:t>tous</a:t>
            </a:r>
            <a:r>
              <a:rPr lang="en-GB" sz="2400" dirty="0">
                <a:latin typeface="Times New Roman" pitchFamily="18" charset="0"/>
                <a:cs typeface="Times New Roman" pitchFamily="18" charset="0"/>
              </a:rPr>
              <a:t> les </a:t>
            </a:r>
            <a:r>
              <a:rPr lang="en-GB" sz="2400" dirty="0" err="1">
                <a:latin typeface="Times New Roman" pitchFamily="18" charset="0"/>
                <a:cs typeface="Times New Roman" pitchFamily="18" charset="0"/>
              </a:rPr>
              <a:t>éléments</a:t>
            </a:r>
            <a:r>
              <a:rPr lang="en-GB" sz="2400" dirty="0">
                <a:latin typeface="Times New Roman" pitchFamily="18" charset="0"/>
                <a:cs typeface="Times New Roman" pitchFamily="18" charset="0"/>
              </a:rPr>
              <a:t> du tableau.</a:t>
            </a:r>
            <a:endParaRPr lang="fr-FR" sz="2400" dirty="0">
              <a:latin typeface="Times New Roman" pitchFamily="18" charset="0"/>
              <a:cs typeface="Times New Roman" pitchFamily="18" charset="0"/>
            </a:endParaRPr>
          </a:p>
          <a:p>
            <a:pPr>
              <a:buFontTx/>
              <a:buChar char="-"/>
            </a:pP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fonction</a:t>
            </a:r>
            <a:r>
              <a:rPr lang="en-GB" sz="2400" dirty="0">
                <a:latin typeface="Times New Roman" pitchFamily="18" charset="0"/>
                <a:cs typeface="Times New Roman" pitchFamily="18" charset="0"/>
              </a:rPr>
              <a:t> </a:t>
            </a:r>
            <a:r>
              <a:rPr lang="en-GB" sz="2400" b="1" dirty="0" err="1">
                <a:latin typeface="Times New Roman" pitchFamily="18" charset="0"/>
                <a:cs typeface="Times New Roman" pitchFamily="18" charset="0"/>
              </a:rPr>
              <a:t>recherche_elem</a:t>
            </a:r>
            <a:r>
              <a:rPr lang="en-GB" sz="2400" dirty="0">
                <a:latin typeface="Times New Roman" pitchFamily="18" charset="0"/>
                <a:cs typeface="Times New Roman" pitchFamily="18" charset="0"/>
              </a:rPr>
              <a:t> qui </a:t>
            </a:r>
            <a:r>
              <a:rPr lang="en-GB" sz="2400" dirty="0" err="1">
                <a:latin typeface="Times New Roman" pitchFamily="18" charset="0"/>
                <a:cs typeface="Times New Roman" pitchFamily="18" charset="0"/>
              </a:rPr>
              <a:t>recherche</a:t>
            </a:r>
            <a:r>
              <a:rPr lang="en-GB" sz="2400" dirty="0">
                <a:latin typeface="Times New Roman" pitchFamily="18" charset="0"/>
                <a:cs typeface="Times New Roman" pitchFamily="18" charset="0"/>
              </a:rPr>
              <a:t> un </a:t>
            </a:r>
            <a:r>
              <a:rPr lang="en-GB" sz="2400" dirty="0" err="1">
                <a:latin typeface="Times New Roman" pitchFamily="18" charset="0"/>
                <a:cs typeface="Times New Roman" pitchFamily="18" charset="0"/>
              </a:rPr>
              <a:t>nombre</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saisi</a:t>
            </a:r>
            <a:r>
              <a:rPr lang="en-GB" sz="2400" dirty="0">
                <a:latin typeface="Times New Roman" pitchFamily="18" charset="0"/>
                <a:cs typeface="Times New Roman" pitchFamily="18" charset="0"/>
              </a:rPr>
              <a:t> au clavier </a:t>
            </a:r>
            <a:r>
              <a:rPr lang="en-GB" sz="2400" dirty="0" err="1">
                <a:latin typeface="Times New Roman" pitchFamily="18" charset="0"/>
                <a:cs typeface="Times New Roman" pitchFamily="18" charset="0"/>
              </a:rPr>
              <a:t>dans</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ce</a:t>
            </a:r>
            <a:r>
              <a:rPr lang="en-GB" sz="2400" dirty="0">
                <a:latin typeface="Times New Roman" pitchFamily="18" charset="0"/>
                <a:cs typeface="Times New Roman" pitchFamily="18" charset="0"/>
              </a:rPr>
              <a:t> tableau.</a:t>
            </a:r>
          </a:p>
          <a:p>
            <a:pPr algn="just"/>
            <a:endParaRPr lang="en-GB" sz="2400" b="1" u="sng" dirty="0">
              <a:latin typeface="Times New Roman" pitchFamily="18" charset="0"/>
              <a:cs typeface="Times New Roman" pitchFamily="18" charset="0"/>
            </a:endParaRPr>
          </a:p>
          <a:p>
            <a:pPr algn="just"/>
            <a:r>
              <a:rPr lang="en-GB" sz="2400" b="1" u="sng" dirty="0">
                <a:latin typeface="Times New Roman" pitchFamily="18" charset="0"/>
                <a:cs typeface="Times New Roman" pitchFamily="18" charset="0"/>
              </a:rPr>
              <a:t>Structures</a:t>
            </a:r>
            <a:r>
              <a:rPr lang="en-GB" sz="2400" b="1" dirty="0">
                <a:latin typeface="Times New Roman" pitchFamily="18" charset="0"/>
                <a:cs typeface="Times New Roman" pitchFamily="18" charset="0"/>
              </a:rPr>
              <a:t> </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une</a:t>
            </a:r>
            <a:r>
              <a:rPr lang="en-GB" sz="2400" dirty="0">
                <a:latin typeface="Times New Roman" pitchFamily="18" charset="0"/>
                <a:cs typeface="Times New Roman" pitchFamily="18" charset="0"/>
              </a:rPr>
              <a:t> structure </a:t>
            </a:r>
            <a:r>
              <a:rPr lang="en-GB" sz="2400" dirty="0" err="1">
                <a:latin typeface="Times New Roman" pitchFamily="18" charset="0"/>
                <a:cs typeface="Times New Roman" pitchFamily="18" charset="0"/>
              </a:rPr>
              <a:t>est</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constituée</a:t>
            </a:r>
            <a:r>
              <a:rPr lang="en-GB" sz="2400" dirty="0">
                <a:latin typeface="Times New Roman" pitchFamily="18" charset="0"/>
                <a:cs typeface="Times New Roman" pitchFamily="18" charset="0"/>
              </a:rPr>
              <a:t> de </a:t>
            </a:r>
            <a:r>
              <a:rPr lang="en-GB" sz="2400" dirty="0" err="1">
                <a:latin typeface="Times New Roman" pitchFamily="18" charset="0"/>
                <a:cs typeface="Times New Roman" pitchFamily="18" charset="0"/>
              </a:rPr>
              <a:t>plusieurs</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éléments</a:t>
            </a:r>
            <a:r>
              <a:rPr lang="en-GB" sz="2400" dirty="0">
                <a:latin typeface="Times New Roman" pitchFamily="18" charset="0"/>
                <a:cs typeface="Times New Roman" pitchFamily="18" charset="0"/>
              </a:rPr>
              <a:t> de </a:t>
            </a:r>
            <a:r>
              <a:rPr lang="en-GB" sz="2400" dirty="0" err="1">
                <a:latin typeface="Times New Roman" pitchFamily="18" charset="0"/>
                <a:cs typeface="Times New Roman" pitchFamily="18" charset="0"/>
              </a:rPr>
              <a:t>même</a:t>
            </a:r>
            <a:r>
              <a:rPr lang="en-GB" sz="2400" dirty="0">
                <a:latin typeface="Times New Roman" pitchFamily="18" charset="0"/>
                <a:cs typeface="Times New Roman" pitchFamily="18" charset="0"/>
              </a:rPr>
              <a:t> type. Par </a:t>
            </a:r>
            <a:r>
              <a:rPr lang="en-GB" sz="2400" dirty="0" err="1">
                <a:latin typeface="Times New Roman" pitchFamily="18" charset="0"/>
                <a:cs typeface="Times New Roman" pitchFamily="18" charset="0"/>
              </a:rPr>
              <a:t>exemple</a:t>
            </a:r>
            <a:r>
              <a:rPr lang="en-GB" sz="2400" dirty="0">
                <a:latin typeface="Times New Roman" pitchFamily="18" charset="0"/>
                <a:cs typeface="Times New Roman" pitchFamily="18" charset="0"/>
              </a:rPr>
              <a:t> : la structure </a:t>
            </a:r>
            <a:r>
              <a:rPr lang="en-GB" sz="2400" b="1" dirty="0" err="1">
                <a:latin typeface="Times New Roman" pitchFamily="18" charset="0"/>
                <a:cs typeface="Times New Roman" pitchFamily="18" charset="0"/>
              </a:rPr>
              <a:t>étudiant</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est</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composée</a:t>
            </a:r>
            <a:r>
              <a:rPr lang="en-GB" sz="2400" dirty="0">
                <a:latin typeface="Times New Roman" pitchFamily="18" charset="0"/>
                <a:cs typeface="Times New Roman" pitchFamily="18" charset="0"/>
              </a:rPr>
              <a:t> de </a:t>
            </a:r>
            <a:r>
              <a:rPr lang="en-GB" sz="2400" b="1" dirty="0">
                <a:latin typeface="Times New Roman" pitchFamily="18" charset="0"/>
                <a:cs typeface="Times New Roman" pitchFamily="18" charset="0"/>
              </a:rPr>
              <a:t>nom</a:t>
            </a:r>
            <a:r>
              <a:rPr lang="en-GB" sz="2400" dirty="0">
                <a:latin typeface="Times New Roman" pitchFamily="18" charset="0"/>
                <a:cs typeface="Times New Roman" pitchFamily="18" charset="0"/>
              </a:rPr>
              <a:t>, de </a:t>
            </a:r>
            <a:r>
              <a:rPr lang="en-GB" sz="2400" b="1" dirty="0">
                <a:latin typeface="Times New Roman" pitchFamily="18" charset="0"/>
                <a:cs typeface="Times New Roman" pitchFamily="18" charset="0"/>
              </a:rPr>
              <a:t>age</a:t>
            </a:r>
            <a:r>
              <a:rPr lang="en-GB" sz="2400" dirty="0">
                <a:latin typeface="Times New Roman" pitchFamily="18" charset="0"/>
                <a:cs typeface="Times New Roman" pitchFamily="18" charset="0"/>
              </a:rPr>
              <a:t> et de </a:t>
            </a:r>
            <a:r>
              <a:rPr lang="en-GB" sz="2400" b="1" dirty="0">
                <a:latin typeface="Times New Roman" pitchFamily="18" charset="0"/>
                <a:cs typeface="Times New Roman" pitchFamily="18" charset="0"/>
              </a:rPr>
              <a:t>note</a:t>
            </a:r>
            <a:r>
              <a:rPr lang="en-GB" sz="2400" dirty="0">
                <a:latin typeface="Times New Roman" pitchFamily="18" charset="0"/>
                <a:cs typeface="Times New Roman" pitchFamily="18" charset="0"/>
              </a:rPr>
              <a:t>.</a:t>
            </a:r>
          </a:p>
          <a:p>
            <a:r>
              <a:rPr lang="en-GB" sz="2400" b="1" dirty="0" smtClean="0">
                <a:latin typeface="Times New Roman" panose="02020603050405020304" pitchFamily="18" charset="0"/>
                <a:cs typeface="Times New Roman" panose="02020603050405020304" pitchFamily="18" charset="0"/>
              </a:rPr>
              <a:t>structure </a:t>
            </a:r>
            <a:r>
              <a:rPr lang="en-GB" sz="2400" dirty="0" err="1" smtClean="0">
                <a:latin typeface="Times New Roman" panose="02020603050405020304" pitchFamily="18" charset="0"/>
                <a:cs typeface="Times New Roman" panose="02020603050405020304" pitchFamily="18" charset="0"/>
              </a:rPr>
              <a:t>étudiant</a:t>
            </a:r>
            <a:endParaRPr lang="en-GB" sz="2400" dirty="0">
              <a:latin typeface="Times New Roman" panose="02020603050405020304" pitchFamily="18" charset="0"/>
              <a:cs typeface="Times New Roman" panose="02020603050405020304" pitchFamily="18" charset="0"/>
            </a:endParaRPr>
          </a:p>
          <a:p>
            <a:r>
              <a:rPr lang="en-GB" sz="2400" b="1" dirty="0">
                <a:latin typeface="Times New Roman" panose="02020603050405020304" pitchFamily="18" charset="0"/>
                <a:cs typeface="Times New Roman" panose="02020603050405020304" pitchFamily="18" charset="0"/>
              </a:rPr>
              <a:t> </a:t>
            </a:r>
            <a:r>
              <a:rPr lang="en-GB" sz="2400" b="1" dirty="0" smtClean="0">
                <a:latin typeface="Times New Roman" panose="02020603050405020304" pitchFamily="18" charset="0"/>
                <a:cs typeface="Times New Roman" panose="02020603050405020304" pitchFamily="18" charset="0"/>
              </a:rPr>
              <a:t> </a:t>
            </a:r>
            <a:r>
              <a:rPr lang="en-GB" sz="2400" b="1" dirty="0" err="1" smtClean="0">
                <a:latin typeface="Times New Roman" panose="02020603050405020304" pitchFamily="18" charset="0"/>
                <a:cs typeface="Times New Roman" panose="02020603050405020304" pitchFamily="18" charset="0"/>
              </a:rPr>
              <a:t>caractère</a:t>
            </a:r>
            <a:r>
              <a:rPr lang="en-GB" sz="2400" b="1"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nom</a:t>
            </a:r>
            <a:r>
              <a:rPr lang="en-GB" sz="2400" b="1" dirty="0">
                <a:latin typeface="Times New Roman" panose="02020603050405020304" pitchFamily="18" charset="0"/>
                <a:cs typeface="Times New Roman" panose="02020603050405020304" pitchFamily="18" charset="0"/>
              </a:rPr>
              <a:t>[25]; </a:t>
            </a:r>
            <a:r>
              <a:rPr lang="en-GB" sz="2400" b="1" dirty="0" err="1" smtClean="0">
                <a:latin typeface="Times New Roman" panose="02020603050405020304" pitchFamily="18" charset="0"/>
                <a:cs typeface="Times New Roman" panose="02020603050405020304" pitchFamily="18" charset="0"/>
              </a:rPr>
              <a:t>entier</a:t>
            </a:r>
            <a:r>
              <a:rPr lang="en-GB" sz="2400" b="1"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age</a:t>
            </a:r>
            <a:r>
              <a:rPr lang="en-GB" sz="2400" b="1" dirty="0">
                <a:latin typeface="Times New Roman" panose="02020603050405020304" pitchFamily="18" charset="0"/>
                <a:cs typeface="Times New Roman" panose="02020603050405020304" pitchFamily="18" charset="0"/>
              </a:rPr>
              <a:t>; </a:t>
            </a:r>
            <a:r>
              <a:rPr lang="en-GB" sz="2400" b="1" dirty="0" err="1" smtClean="0">
                <a:latin typeface="Times New Roman" panose="02020603050405020304" pitchFamily="18" charset="0"/>
                <a:cs typeface="Times New Roman" panose="02020603050405020304" pitchFamily="18" charset="0"/>
              </a:rPr>
              <a:t>réel</a:t>
            </a:r>
            <a:r>
              <a:rPr lang="en-GB" sz="2400" b="1"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note</a:t>
            </a:r>
            <a:r>
              <a:rPr lang="en-GB" sz="2400" b="1" dirty="0">
                <a:latin typeface="Times New Roman" panose="02020603050405020304" pitchFamily="18" charset="0"/>
                <a:cs typeface="Times New Roman" panose="02020603050405020304" pitchFamily="18" charset="0"/>
              </a:rPr>
              <a:t>;</a:t>
            </a:r>
          </a:p>
          <a:p>
            <a:r>
              <a:rPr lang="en-GB" sz="2400" b="1" dirty="0" smtClean="0">
                <a:latin typeface="Times New Roman" panose="02020603050405020304" pitchFamily="18" charset="0"/>
                <a:cs typeface="Times New Roman" panose="02020603050405020304" pitchFamily="18" charset="0"/>
              </a:rPr>
              <a:t>fin;</a:t>
            </a:r>
          </a:p>
          <a:p>
            <a:r>
              <a:rPr lang="en-GB" sz="2400" b="1" dirty="0">
                <a:latin typeface="Times New Roman" panose="02020603050405020304" pitchFamily="18" charset="0"/>
                <a:cs typeface="Times New Roman" panose="02020603050405020304" pitchFamily="18" charset="0"/>
              </a:rPr>
              <a:t>t</a:t>
            </a:r>
            <a:r>
              <a:rPr lang="en-GB" sz="2400" b="1" dirty="0" smtClean="0">
                <a:latin typeface="Times New Roman" panose="02020603050405020304" pitchFamily="18" charset="0"/>
                <a:cs typeface="Times New Roman" panose="02020603050405020304" pitchFamily="18" charset="0"/>
              </a:rPr>
              <a:t>ype structure </a:t>
            </a:r>
            <a:r>
              <a:rPr lang="en-GB" sz="2400" dirty="0" err="1" smtClean="0">
                <a:latin typeface="Times New Roman" panose="02020603050405020304" pitchFamily="18" charset="0"/>
                <a:cs typeface="Times New Roman" panose="02020603050405020304" pitchFamily="18" charset="0"/>
              </a:rPr>
              <a:t>étudiant</a:t>
            </a:r>
            <a:r>
              <a:rPr lang="en-GB" sz="2400" dirty="0" smtClean="0">
                <a:latin typeface="Times New Roman" panose="02020603050405020304" pitchFamily="18" charset="0"/>
                <a:cs typeface="Times New Roman" panose="02020603050405020304" pitchFamily="18" charset="0"/>
              </a:rPr>
              <a:t> fiche</a:t>
            </a:r>
            <a:r>
              <a:rPr lang="en-GB" sz="2400" b="1" dirty="0" smtClean="0">
                <a:latin typeface="Times New Roman" panose="02020603050405020304" pitchFamily="18" charset="0"/>
                <a:cs typeface="Times New Roman" panose="02020603050405020304" pitchFamily="18" charset="0"/>
              </a:rPr>
              <a:t>;</a:t>
            </a:r>
            <a:endParaRPr lang="en-GB" sz="2400" b="1"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On </a:t>
            </a:r>
            <a:r>
              <a:rPr lang="en-GB" sz="2400" dirty="0" err="1">
                <a:latin typeface="Times New Roman" panose="02020603050405020304" pitchFamily="18" charset="0"/>
                <a:cs typeface="Times New Roman" panose="02020603050405020304" pitchFamily="18" charset="0"/>
              </a:rPr>
              <a:t>définit</a:t>
            </a:r>
            <a:r>
              <a:rPr lang="en-GB" sz="2400" dirty="0">
                <a:latin typeface="Times New Roman" panose="02020603050405020304" pitchFamily="18" charset="0"/>
                <a:cs typeface="Times New Roman" panose="02020603050405020304" pitchFamily="18" charset="0"/>
              </a:rPr>
              <a:t> un type </a:t>
            </a:r>
            <a:r>
              <a:rPr lang="en-GB" sz="2400" b="1" dirty="0">
                <a:latin typeface="Times New Roman" panose="02020603050405020304" pitchFamily="18" charset="0"/>
                <a:cs typeface="Times New Roman" panose="02020603050405020304" pitchFamily="18" charset="0"/>
              </a:rPr>
              <a:t>fiche</a:t>
            </a:r>
            <a:r>
              <a:rPr lang="en-GB" sz="2400" dirty="0">
                <a:latin typeface="Times New Roman" panose="02020603050405020304" pitchFamily="18" charset="0"/>
                <a:cs typeface="Times New Roman" panose="02020603050405020304" pitchFamily="18" charset="0"/>
              </a:rPr>
              <a:t> </a:t>
            </a:r>
            <a:r>
              <a:rPr lang="en-GB" sz="2400" dirty="0" err="1">
                <a:latin typeface="Times New Roman" panose="02020603050405020304" pitchFamily="18" charset="0"/>
                <a:cs typeface="Times New Roman" panose="02020603050405020304" pitchFamily="18" charset="0"/>
              </a:rPr>
              <a:t>synonyme</a:t>
            </a:r>
            <a:r>
              <a:rPr lang="en-GB" sz="2400" dirty="0">
                <a:latin typeface="Times New Roman" panose="02020603050405020304" pitchFamily="18" charset="0"/>
                <a:cs typeface="Times New Roman" panose="02020603050405020304" pitchFamily="18" charset="0"/>
              </a:rPr>
              <a:t> de </a:t>
            </a:r>
            <a:r>
              <a:rPr lang="en-GB" sz="2400" b="1" dirty="0" smtClean="0">
                <a:latin typeface="Times New Roman" panose="02020603050405020304" pitchFamily="18" charset="0"/>
                <a:cs typeface="Times New Roman" panose="02020603050405020304" pitchFamily="18" charset="0"/>
              </a:rPr>
              <a:t>structure </a:t>
            </a:r>
            <a:r>
              <a:rPr lang="en-GB" sz="2400" b="1" dirty="0" err="1" smtClean="0">
                <a:latin typeface="Times New Roman" panose="02020603050405020304" pitchFamily="18" charset="0"/>
                <a:cs typeface="Times New Roman" panose="02020603050405020304" pitchFamily="18" charset="0"/>
              </a:rPr>
              <a:t>étudiant</a:t>
            </a:r>
            <a:r>
              <a:rPr lang="en-GB" sz="2400" dirty="0" smtClean="0">
                <a:latin typeface="Times New Roman" panose="02020603050405020304" pitchFamily="18" charset="0"/>
                <a:cs typeface="Times New Roman" panose="02020603050405020304" pitchFamily="18" charset="0"/>
              </a:rPr>
              <a:t>. </a:t>
            </a:r>
            <a:endParaRPr lang="en-GB" sz="2400" dirty="0">
              <a:latin typeface="Times New Roman" panose="02020603050405020304" pitchFamily="18" charset="0"/>
              <a:cs typeface="Times New Roman" panose="02020603050405020304" pitchFamily="18" charset="0"/>
            </a:endParaRPr>
          </a:p>
          <a:p>
            <a:r>
              <a:rPr lang="en-GB" sz="2400" b="1" dirty="0">
                <a:latin typeface="Times New Roman" panose="02020603050405020304" pitchFamily="18" charset="0"/>
                <a:cs typeface="Times New Roman" panose="02020603050405020304" pitchFamily="18" charset="0"/>
              </a:rPr>
              <a:t>fiche </a:t>
            </a:r>
            <a:r>
              <a:rPr lang="en-GB" sz="2400" dirty="0">
                <a:latin typeface="Times New Roman" panose="02020603050405020304" pitchFamily="18" charset="0"/>
                <a:cs typeface="Times New Roman" panose="02020603050405020304" pitchFamily="18" charset="0"/>
              </a:rPr>
              <a:t>f1, </a:t>
            </a:r>
            <a:r>
              <a:rPr lang="en-GB" sz="2400" dirty="0" smtClean="0">
                <a:latin typeface="Times New Roman" panose="02020603050405020304" pitchFamily="18" charset="0"/>
                <a:cs typeface="Times New Roman" panose="02020603050405020304" pitchFamily="18" charset="0"/>
              </a:rPr>
              <a:t>f2;</a:t>
            </a:r>
            <a:r>
              <a:rPr lang="en-GB" sz="2400" b="1" dirty="0" smtClean="0">
                <a:latin typeface="Times New Roman" panose="02020603050405020304" pitchFamily="18" charset="0"/>
                <a:cs typeface="Times New Roman" panose="02020603050405020304" pitchFamily="18" charset="0"/>
              </a:rPr>
              <a:t> </a:t>
            </a:r>
            <a:r>
              <a:rPr lang="en-GB" sz="2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4339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612845"/>
            <a:ext cx="11653520" cy="5632311"/>
          </a:xfrm>
          <a:prstGeom prst="rect">
            <a:avLst/>
          </a:prstGeom>
        </p:spPr>
        <p:txBody>
          <a:bodyPr wrap="square">
            <a:spAutoFit/>
          </a:bodyPr>
          <a:lstStyle/>
          <a:p>
            <a:r>
              <a:rPr lang="en-GB" sz="2000" dirty="0">
                <a:latin typeface="Times New Roman" panose="02020603050405020304" pitchFamily="18" charset="0"/>
                <a:cs typeface="Times New Roman" panose="02020603050405020304" pitchFamily="18" charset="0"/>
              </a:rPr>
              <a:t>Initialisation de </a:t>
            </a:r>
            <a:r>
              <a:rPr lang="en-GB" sz="2000" dirty="0" err="1">
                <a:latin typeface="Times New Roman" panose="02020603050405020304" pitchFamily="18" charset="0"/>
                <a:cs typeface="Times New Roman" panose="02020603050405020304" pitchFamily="18" charset="0"/>
              </a:rPr>
              <a:t>chaque</a:t>
            </a:r>
            <a:r>
              <a:rPr lang="en-GB" sz="2000" dirty="0">
                <a:latin typeface="Times New Roman" panose="02020603050405020304" pitchFamily="18" charset="0"/>
                <a:cs typeface="Times New Roman" panose="02020603050405020304" pitchFamily="18" charset="0"/>
              </a:rPr>
              <a:t> champ (</a:t>
            </a:r>
            <a:r>
              <a:rPr lang="en-GB" sz="2000" dirty="0" err="1">
                <a:latin typeface="Times New Roman" panose="02020603050405020304" pitchFamily="18" charset="0"/>
                <a:cs typeface="Times New Roman" panose="02020603050405020304" pitchFamily="18" charset="0"/>
              </a:rPr>
              <a:t>élément</a:t>
            </a:r>
            <a:r>
              <a:rPr lang="en-GB" sz="2000" dirty="0">
                <a:latin typeface="Times New Roman" panose="02020603050405020304" pitchFamily="18" charset="0"/>
                <a:cs typeface="Times New Roman" panose="02020603050405020304" pitchFamily="18" charset="0"/>
              </a:rPr>
              <a:t>) :</a:t>
            </a:r>
          </a:p>
          <a:p>
            <a:r>
              <a:rPr lang="en-GB" sz="2000" b="1" dirty="0" smtClean="0">
                <a:latin typeface="Times New Roman" panose="02020603050405020304" pitchFamily="18" charset="0"/>
                <a:cs typeface="Times New Roman" panose="02020603050405020304" pitchFamily="18" charset="0"/>
              </a:rPr>
              <a:t>f1.nom</a:t>
            </a:r>
            <a:r>
              <a:rPr lang="en-GB" sz="2000" b="1" dirty="0">
                <a:latin typeface="Times New Roman" panose="02020603050405020304" pitchFamily="18" charset="0"/>
                <a:cs typeface="Times New Roman" panose="02020603050405020304" pitchFamily="18" charset="0"/>
              </a:rPr>
              <a:t> </a:t>
            </a:r>
            <a:r>
              <a:rPr lang="en-GB" sz="2000" b="1" dirty="0" smtClean="0">
                <a:latin typeface="Times New Roman" panose="02020603050405020304" pitchFamily="18" charset="0"/>
                <a:cs typeface="Times New Roman" panose="02020603050405020304" pitchFamily="18" charset="0"/>
              </a:rPr>
              <a:t>:=</a:t>
            </a:r>
            <a:r>
              <a:rPr lang="en-GB" sz="2000" b="1" dirty="0" smtClean="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t>
            </a:r>
            <a:r>
              <a:rPr lang="en-GB" sz="2000" b="1" dirty="0" err="1">
                <a:latin typeface="Times New Roman" panose="02020603050405020304" pitchFamily="18" charset="0"/>
                <a:cs typeface="Times New Roman" panose="02020603050405020304" pitchFamily="18" charset="0"/>
              </a:rPr>
              <a:t>Rakoto</a:t>
            </a:r>
            <a:r>
              <a:rPr lang="en-GB" sz="2000" b="1" dirty="0" smtClean="0">
                <a:latin typeface="Times New Roman" panose="02020603050405020304" pitchFamily="18" charset="0"/>
                <a:cs typeface="Times New Roman" panose="02020603050405020304" pitchFamily="18" charset="0"/>
              </a:rPr>
              <a:t>”; </a:t>
            </a:r>
            <a:r>
              <a:rPr lang="en-GB" sz="2000" b="1" dirty="0" smtClean="0">
                <a:latin typeface="Times New Roman" panose="02020603050405020304" pitchFamily="18" charset="0"/>
                <a:cs typeface="Times New Roman" panose="02020603050405020304" pitchFamily="18" charset="0"/>
              </a:rPr>
              <a:t>f1.age:=21</a:t>
            </a:r>
            <a:r>
              <a:rPr lang="en-GB" sz="2000" b="1" dirty="0">
                <a:latin typeface="Times New Roman" panose="02020603050405020304" pitchFamily="18" charset="0"/>
                <a:cs typeface="Times New Roman" panose="02020603050405020304" pitchFamily="18" charset="0"/>
              </a:rPr>
              <a:t>; </a:t>
            </a:r>
            <a:r>
              <a:rPr lang="en-GB" sz="2000" b="1" dirty="0" smtClean="0">
                <a:latin typeface="Times New Roman" panose="02020603050405020304" pitchFamily="18" charset="0"/>
                <a:cs typeface="Times New Roman" panose="02020603050405020304" pitchFamily="18" charset="0"/>
              </a:rPr>
              <a:t>f1.note:=12.5</a:t>
            </a:r>
            <a:r>
              <a:rPr lang="en-GB" sz="2000" b="1" dirty="0">
                <a:latin typeface="Times New Roman" panose="02020603050405020304" pitchFamily="18" charset="0"/>
                <a:cs typeface="Times New Roman" panose="02020603050405020304" pitchFamily="18" charset="0"/>
              </a:rPr>
              <a:t>;</a:t>
            </a:r>
          </a:p>
          <a:p>
            <a:r>
              <a:rPr lang="en-GB" sz="2000" b="1" dirty="0">
                <a:latin typeface="Times New Roman" panose="02020603050405020304" pitchFamily="18" charset="0"/>
                <a:cs typeface="Times New Roman" panose="02020603050405020304" pitchFamily="18" charset="0"/>
              </a:rPr>
              <a:t>f2 </a:t>
            </a:r>
            <a:r>
              <a:rPr lang="en-GB" sz="2000" b="1" dirty="0" smtClean="0">
                <a:latin typeface="Times New Roman" panose="02020603050405020304" pitchFamily="18" charset="0"/>
                <a:cs typeface="Times New Roman" panose="02020603050405020304" pitchFamily="18" charset="0"/>
              </a:rPr>
              <a:t>:=</a:t>
            </a:r>
            <a:r>
              <a:rPr lang="en-GB" sz="2000" b="1" dirty="0" smtClean="0">
                <a:latin typeface="Times New Roman" panose="02020603050405020304" pitchFamily="18" charset="0"/>
                <a:cs typeface="Times New Roman" panose="02020603050405020304" pitchFamily="18" charset="0"/>
              </a:rPr>
              <a:t> f1; </a:t>
            </a:r>
            <a:r>
              <a:rPr lang="en-GB" sz="2000" dirty="0">
                <a:latin typeface="Times New Roman" panose="02020603050405020304" pitchFamily="18" charset="0"/>
                <a:cs typeface="Times New Roman" panose="02020603050405020304" pitchFamily="18" charset="0"/>
              </a:rPr>
              <a:t>//Affectation </a:t>
            </a:r>
            <a:r>
              <a:rPr lang="en-GB" sz="2000" dirty="0" err="1">
                <a:latin typeface="Times New Roman" panose="02020603050405020304" pitchFamily="18" charset="0"/>
                <a:cs typeface="Times New Roman" panose="02020603050405020304" pitchFamily="18" charset="0"/>
              </a:rPr>
              <a:t>globale</a:t>
            </a:r>
            <a:r>
              <a:rPr lang="en-GB" sz="2000" dirty="0">
                <a:latin typeface="Times New Roman" panose="02020603050405020304" pitchFamily="18" charset="0"/>
                <a:cs typeface="Times New Roman" panose="02020603050405020304" pitchFamily="18" charset="0"/>
              </a:rPr>
              <a:t>.</a:t>
            </a:r>
          </a:p>
          <a:p>
            <a:r>
              <a:rPr lang="en-GB" sz="2000" b="1" dirty="0">
                <a:latin typeface="Times New Roman" panose="02020603050405020304" pitchFamily="18" charset="0"/>
                <a:cs typeface="Times New Roman" panose="02020603050405020304" pitchFamily="18" charset="0"/>
              </a:rPr>
              <a:t>…</a:t>
            </a:r>
          </a:p>
          <a:p>
            <a:r>
              <a:rPr lang="en-GB" sz="2000" b="1" dirty="0">
                <a:latin typeface="Times New Roman" panose="02020603050405020304" pitchFamily="18" charset="0"/>
                <a:cs typeface="Times New Roman" panose="02020603050405020304" pitchFamily="18" charset="0"/>
              </a:rPr>
              <a:t>TD3.</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Déclarez</a:t>
            </a:r>
            <a:r>
              <a:rPr lang="en-GB" sz="2000" dirty="0">
                <a:latin typeface="Times New Roman" panose="02020603050405020304" pitchFamily="18" charset="0"/>
                <a:cs typeface="Times New Roman" panose="02020603050405020304" pitchFamily="18" charset="0"/>
              </a:rPr>
              <a:t> la structure fiche </a:t>
            </a:r>
            <a:r>
              <a:rPr lang="en-GB" sz="2000" dirty="0" err="1">
                <a:latin typeface="Times New Roman" panose="02020603050405020304" pitchFamily="18" charset="0"/>
                <a:cs typeface="Times New Roman" panose="02020603050405020304" pitchFamily="18" charset="0"/>
              </a:rPr>
              <a:t>définie</a:t>
            </a:r>
            <a:r>
              <a:rPr lang="en-GB" sz="2000" dirty="0">
                <a:latin typeface="Times New Roman" panose="02020603050405020304" pitchFamily="18" charset="0"/>
                <a:cs typeface="Times New Roman" panose="02020603050405020304" pitchFamily="18" charset="0"/>
              </a:rPr>
              <a:t> ci-</a:t>
            </a:r>
            <a:r>
              <a:rPr lang="en-GB" sz="2000" dirty="0" err="1">
                <a:latin typeface="Times New Roman" panose="02020603050405020304" pitchFamily="18" charset="0"/>
                <a:cs typeface="Times New Roman" panose="02020603050405020304" pitchFamily="18" charset="0"/>
              </a:rPr>
              <a:t>dessus</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puis</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écrivez</a:t>
            </a:r>
            <a:r>
              <a:rPr lang="en-GB" sz="2000" dirty="0">
                <a:latin typeface="Times New Roman" panose="02020603050405020304" pitchFamily="18" charset="0"/>
                <a:cs typeface="Times New Roman" panose="02020603050405020304" pitchFamily="18" charset="0"/>
              </a:rPr>
              <a:t> des </a:t>
            </a:r>
            <a:r>
              <a:rPr lang="en-GB" sz="2000" dirty="0" err="1">
                <a:latin typeface="Times New Roman" panose="02020603050405020304" pitchFamily="18" charset="0"/>
                <a:cs typeface="Times New Roman" panose="02020603050405020304" pitchFamily="18" charset="0"/>
              </a:rPr>
              <a:t>fonctions</a:t>
            </a:r>
            <a:r>
              <a:rPr lang="en-GB" sz="2000" dirty="0">
                <a:latin typeface="Times New Roman" panose="02020603050405020304" pitchFamily="18" charset="0"/>
                <a:cs typeface="Times New Roman" panose="02020603050405020304" pitchFamily="18" charset="0"/>
              </a:rPr>
              <a:t> qui : </a:t>
            </a:r>
          </a:p>
          <a:p>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saisit</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une</a:t>
            </a:r>
            <a:r>
              <a:rPr lang="en-GB" sz="2000" dirty="0">
                <a:latin typeface="Times New Roman" panose="02020603050405020304" pitchFamily="18" charset="0"/>
                <a:cs typeface="Times New Roman" panose="02020603050405020304" pitchFamily="18" charset="0"/>
              </a:rPr>
              <a:t> fiche,</a:t>
            </a:r>
          </a:p>
          <a:p>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affiche</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une</a:t>
            </a:r>
            <a:r>
              <a:rPr lang="en-GB" sz="2000" dirty="0">
                <a:latin typeface="Times New Roman" panose="02020603050405020304" pitchFamily="18" charset="0"/>
                <a:cs typeface="Times New Roman" panose="02020603050405020304" pitchFamily="18" charset="0"/>
              </a:rPr>
              <a:t> fiche.</a:t>
            </a:r>
          </a:p>
          <a:p>
            <a:endParaRPr lang="en-GB" sz="2000" b="1" dirty="0">
              <a:latin typeface="Times New Roman" panose="02020603050405020304" pitchFamily="18" charset="0"/>
              <a:cs typeface="Times New Roman" panose="02020603050405020304" pitchFamily="18" charset="0"/>
            </a:endParaRPr>
          </a:p>
          <a:p>
            <a:r>
              <a:rPr lang="en-GB" sz="2000" b="1" dirty="0">
                <a:latin typeface="Times New Roman" panose="02020603050405020304" pitchFamily="18" charset="0"/>
                <a:cs typeface="Times New Roman" panose="02020603050405020304" pitchFamily="18" charset="0"/>
              </a:rPr>
              <a:t>Structures et tableaux</a:t>
            </a:r>
          </a:p>
          <a:p>
            <a:r>
              <a:rPr lang="en-GB" sz="2000" dirty="0">
                <a:latin typeface="Times New Roman" panose="02020603050405020304" pitchFamily="18" charset="0"/>
                <a:cs typeface="Times New Roman" panose="02020603050405020304" pitchFamily="18" charset="0"/>
              </a:rPr>
              <a:t>On </a:t>
            </a:r>
            <a:r>
              <a:rPr lang="en-GB" sz="2000" dirty="0" err="1">
                <a:latin typeface="Times New Roman" panose="02020603050405020304" pitchFamily="18" charset="0"/>
                <a:cs typeface="Times New Roman" panose="02020603050405020304" pitchFamily="18" charset="0"/>
              </a:rPr>
              <a:t>peut</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définir</a:t>
            </a:r>
            <a:r>
              <a:rPr lang="en-GB" sz="2000" dirty="0">
                <a:latin typeface="Times New Roman" panose="02020603050405020304" pitchFamily="18" charset="0"/>
                <a:cs typeface="Times New Roman" panose="02020603050405020304" pitchFamily="18" charset="0"/>
              </a:rPr>
              <a:t> un tableau de structures.</a:t>
            </a:r>
          </a:p>
          <a:p>
            <a:r>
              <a:rPr lang="en-GB" sz="2000" b="1" dirty="0">
                <a:latin typeface="Times New Roman" panose="02020603050405020304" pitchFamily="18" charset="0"/>
                <a:cs typeface="Times New Roman" panose="02020603050405020304" pitchFamily="18" charset="0"/>
              </a:rPr>
              <a:t>fiche f[10</a:t>
            </a:r>
            <a:r>
              <a:rPr lang="en-GB" sz="2000" b="1" dirty="0" smtClean="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//un tableau de 10 fiches.</a:t>
            </a:r>
          </a:p>
          <a:p>
            <a:r>
              <a:rPr lang="en-GB" sz="2000" dirty="0">
                <a:latin typeface="Times New Roman" panose="02020603050405020304" pitchFamily="18" charset="0"/>
                <a:cs typeface="Times New Roman" panose="02020603050405020304" pitchFamily="18" charset="0"/>
              </a:rPr>
              <a:t>Les initialisations des fiches </a:t>
            </a:r>
            <a:r>
              <a:rPr lang="en-GB" sz="2000" dirty="0" err="1">
                <a:latin typeface="Times New Roman" panose="02020603050405020304" pitchFamily="18" charset="0"/>
                <a:cs typeface="Times New Roman" panose="02020603050405020304" pitchFamily="18" charset="0"/>
              </a:rPr>
              <a:t>sont</a:t>
            </a:r>
            <a:r>
              <a:rPr lang="en-GB" sz="2000" dirty="0">
                <a:latin typeface="Times New Roman" panose="02020603050405020304" pitchFamily="18" charset="0"/>
                <a:cs typeface="Times New Roman" panose="02020603050405020304" pitchFamily="18" charset="0"/>
              </a:rPr>
              <a:t> :</a:t>
            </a:r>
          </a:p>
          <a:p>
            <a:r>
              <a:rPr lang="en-GB" sz="2000" b="1" dirty="0" smtClean="0">
                <a:latin typeface="Times New Roman" panose="02020603050405020304" pitchFamily="18" charset="0"/>
                <a:cs typeface="Times New Roman" panose="02020603050405020304" pitchFamily="18" charset="0"/>
              </a:rPr>
              <a:t>f[</a:t>
            </a:r>
            <a:r>
              <a:rPr lang="en-GB" sz="2000" b="1" dirty="0" err="1" smtClean="0">
                <a:latin typeface="Times New Roman" panose="02020603050405020304" pitchFamily="18" charset="0"/>
                <a:cs typeface="Times New Roman" panose="02020603050405020304" pitchFamily="18" charset="0"/>
              </a:rPr>
              <a:t>i</a:t>
            </a:r>
            <a:r>
              <a:rPr lang="en-GB" sz="2000" b="1" dirty="0">
                <a:latin typeface="Times New Roman" panose="02020603050405020304" pitchFamily="18" charset="0"/>
                <a:cs typeface="Times New Roman" panose="02020603050405020304" pitchFamily="18" charset="0"/>
              </a:rPr>
              <a:t>].</a:t>
            </a:r>
            <a:r>
              <a:rPr lang="en-GB" sz="2000" b="1" dirty="0" smtClean="0">
                <a:latin typeface="Times New Roman" panose="02020603050405020304" pitchFamily="18" charset="0"/>
                <a:cs typeface="Times New Roman" panose="02020603050405020304" pitchFamily="18" charset="0"/>
              </a:rPr>
              <a:t>nom</a:t>
            </a:r>
            <a:r>
              <a:rPr lang="en-GB" sz="2000" b="1" dirty="0">
                <a:latin typeface="Times New Roman" panose="02020603050405020304" pitchFamily="18" charset="0"/>
                <a:cs typeface="Times New Roman" panose="02020603050405020304" pitchFamily="18" charset="0"/>
              </a:rPr>
              <a:t> </a:t>
            </a:r>
            <a:r>
              <a:rPr lang="en-GB" sz="2000" b="1" dirty="0" smtClean="0">
                <a:latin typeface="Times New Roman" panose="02020603050405020304" pitchFamily="18" charset="0"/>
                <a:cs typeface="Times New Roman" panose="02020603050405020304" pitchFamily="18" charset="0"/>
              </a:rPr>
              <a:t>:=</a:t>
            </a:r>
            <a:r>
              <a:rPr lang="en-GB" sz="2000" b="1" dirty="0" smtClean="0">
                <a:latin typeface="Times New Roman" panose="02020603050405020304" pitchFamily="18" charset="0"/>
                <a:cs typeface="Times New Roman" panose="02020603050405020304" pitchFamily="18" charset="0"/>
              </a:rPr>
              <a:t> </a:t>
            </a:r>
            <a:r>
              <a:rPr lang="en-GB" sz="2000" b="1" dirty="0" smtClean="0">
                <a:latin typeface="Times New Roman" panose="02020603050405020304" pitchFamily="18" charset="0"/>
                <a:cs typeface="Times New Roman" panose="02020603050405020304" pitchFamily="18" charset="0"/>
              </a:rPr>
              <a:t>“</a:t>
            </a:r>
            <a:r>
              <a:rPr lang="en-GB" sz="2000" b="1" dirty="0" err="1" smtClean="0">
                <a:latin typeface="Times New Roman" panose="02020603050405020304" pitchFamily="18" charset="0"/>
                <a:cs typeface="Times New Roman" panose="02020603050405020304" pitchFamily="18" charset="0"/>
              </a:rPr>
              <a:t>Rakoto</a:t>
            </a:r>
            <a:r>
              <a:rPr lang="en-GB" sz="2000" b="1" dirty="0" smtClean="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f[</a:t>
            </a:r>
            <a:r>
              <a:rPr lang="en-GB" sz="2000" b="1" dirty="0" err="1">
                <a:latin typeface="Times New Roman" panose="02020603050405020304" pitchFamily="18" charset="0"/>
                <a:cs typeface="Times New Roman" panose="02020603050405020304" pitchFamily="18" charset="0"/>
              </a:rPr>
              <a:t>i</a:t>
            </a:r>
            <a:r>
              <a:rPr lang="en-GB" sz="2000" b="1" dirty="0">
                <a:latin typeface="Times New Roman" panose="02020603050405020304" pitchFamily="18" charset="0"/>
                <a:cs typeface="Times New Roman" panose="02020603050405020304" pitchFamily="18" charset="0"/>
              </a:rPr>
              <a:t>].</a:t>
            </a:r>
            <a:r>
              <a:rPr lang="en-GB" sz="2000" b="1" dirty="0" smtClean="0">
                <a:latin typeface="Times New Roman" panose="02020603050405020304" pitchFamily="18" charset="0"/>
                <a:cs typeface="Times New Roman" panose="02020603050405020304" pitchFamily="18" charset="0"/>
              </a:rPr>
              <a:t>age:=21</a:t>
            </a:r>
            <a:r>
              <a:rPr lang="en-GB" sz="2000" b="1" dirty="0">
                <a:latin typeface="Times New Roman" panose="02020603050405020304" pitchFamily="18" charset="0"/>
                <a:cs typeface="Times New Roman" panose="02020603050405020304" pitchFamily="18" charset="0"/>
              </a:rPr>
              <a:t>; f[</a:t>
            </a:r>
            <a:r>
              <a:rPr lang="en-GB" sz="2000" b="1" dirty="0" err="1">
                <a:latin typeface="Times New Roman" panose="02020603050405020304" pitchFamily="18" charset="0"/>
                <a:cs typeface="Times New Roman" panose="02020603050405020304" pitchFamily="18" charset="0"/>
              </a:rPr>
              <a:t>i</a:t>
            </a:r>
            <a:r>
              <a:rPr lang="en-GB" sz="2000" b="1" dirty="0">
                <a:latin typeface="Times New Roman" panose="02020603050405020304" pitchFamily="18" charset="0"/>
                <a:cs typeface="Times New Roman" panose="02020603050405020304" pitchFamily="18" charset="0"/>
              </a:rPr>
              <a:t>].</a:t>
            </a:r>
            <a:r>
              <a:rPr lang="en-GB" sz="2000" b="1" dirty="0" smtClean="0">
                <a:latin typeface="Times New Roman" panose="02020603050405020304" pitchFamily="18" charset="0"/>
                <a:cs typeface="Times New Roman" panose="02020603050405020304" pitchFamily="18" charset="0"/>
              </a:rPr>
              <a:t>note:=12.5</a:t>
            </a:r>
            <a:r>
              <a:rPr lang="en-GB" sz="2000" b="1" dirty="0">
                <a:latin typeface="Times New Roman" panose="02020603050405020304" pitchFamily="18" charset="0"/>
                <a:cs typeface="Times New Roman" panose="02020603050405020304" pitchFamily="18" charset="0"/>
              </a:rPr>
              <a:t>;</a:t>
            </a:r>
          </a:p>
          <a:p>
            <a:r>
              <a:rPr lang="en-GB" sz="2000" dirty="0">
                <a:latin typeface="Times New Roman" panose="02020603050405020304" pitchFamily="18" charset="0"/>
                <a:cs typeface="Times New Roman" panose="02020603050405020304" pitchFamily="18" charset="0"/>
              </a:rPr>
              <a:t>…</a:t>
            </a:r>
            <a:endParaRPr lang="en-GB" sz="2000" b="1" dirty="0">
              <a:latin typeface="Times New Roman" panose="02020603050405020304" pitchFamily="18" charset="0"/>
              <a:cs typeface="Times New Roman" panose="02020603050405020304" pitchFamily="18" charset="0"/>
            </a:endParaRPr>
          </a:p>
          <a:p>
            <a:r>
              <a:rPr lang="en-GB" sz="2000" b="1" dirty="0">
                <a:latin typeface="Times New Roman" panose="02020603050405020304" pitchFamily="18" charset="0"/>
                <a:cs typeface="Times New Roman" panose="02020603050405020304" pitchFamily="18" charset="0"/>
              </a:rPr>
              <a:t>TD4.</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Soit</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une</a:t>
            </a:r>
            <a:r>
              <a:rPr lang="en-GB" sz="2000" dirty="0">
                <a:latin typeface="Times New Roman" panose="02020603050405020304" pitchFamily="18" charset="0"/>
                <a:cs typeface="Times New Roman" panose="02020603050405020304" pitchFamily="18" charset="0"/>
              </a:rPr>
              <a:t> structure </a:t>
            </a:r>
            <a:r>
              <a:rPr lang="en-GB" sz="2000" b="1" dirty="0">
                <a:latin typeface="Times New Roman" panose="02020603050405020304" pitchFamily="18" charset="0"/>
                <a:cs typeface="Times New Roman" panose="02020603050405020304" pitchFamily="18" charset="0"/>
              </a:rPr>
              <a:t>point</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constitué</a:t>
            </a:r>
            <a:r>
              <a:rPr lang="en-GB" sz="2000" dirty="0">
                <a:latin typeface="Times New Roman" panose="02020603050405020304" pitchFamily="18" charset="0"/>
                <a:cs typeface="Times New Roman" panose="02020603050405020304" pitchFamily="18" charset="0"/>
              </a:rPr>
              <a:t> de 3 </a:t>
            </a:r>
            <a:r>
              <a:rPr lang="en-GB" sz="2000" dirty="0" err="1">
                <a:latin typeface="Times New Roman" panose="02020603050405020304" pitchFamily="18" charset="0"/>
                <a:cs typeface="Times New Roman" panose="02020603050405020304" pitchFamily="18" charset="0"/>
              </a:rPr>
              <a:t>éléments</a:t>
            </a:r>
            <a:r>
              <a:rPr lang="en-GB" sz="2000" dirty="0">
                <a:latin typeface="Times New Roman" panose="02020603050405020304" pitchFamily="18" charset="0"/>
                <a:cs typeface="Times New Roman" panose="02020603050405020304" pitchFamily="18" charset="0"/>
              </a:rPr>
              <a:t> : </a:t>
            </a:r>
          </a:p>
          <a:p>
            <a:r>
              <a:rPr lang="en-GB" sz="2000" b="1" dirty="0" err="1">
                <a:latin typeface="Times New Roman" panose="02020603050405020304" pitchFamily="18" charset="0"/>
                <a:cs typeface="Times New Roman" panose="02020603050405020304" pitchFamily="18" charset="0"/>
              </a:rPr>
              <a:t>int</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num</a:t>
            </a:r>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double</a:t>
            </a:r>
            <a:r>
              <a:rPr lang="en-GB" sz="2000" dirty="0">
                <a:latin typeface="Times New Roman" panose="02020603050405020304" pitchFamily="18" charset="0"/>
                <a:cs typeface="Times New Roman" panose="02020603050405020304" pitchFamily="18" charset="0"/>
              </a:rPr>
              <a:t> x; </a:t>
            </a:r>
            <a:r>
              <a:rPr lang="en-GB" sz="2000" b="1" dirty="0">
                <a:latin typeface="Times New Roman" panose="02020603050405020304" pitchFamily="18" charset="0"/>
                <a:cs typeface="Times New Roman" panose="02020603050405020304" pitchFamily="18" charset="0"/>
              </a:rPr>
              <a:t>double</a:t>
            </a:r>
            <a:r>
              <a:rPr lang="en-GB" sz="2000" dirty="0">
                <a:latin typeface="Times New Roman" panose="02020603050405020304" pitchFamily="18" charset="0"/>
                <a:cs typeface="Times New Roman" panose="02020603050405020304" pitchFamily="18" charset="0"/>
              </a:rPr>
              <a:t> y; </a:t>
            </a:r>
          </a:p>
          <a:p>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Écrivez</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une</a:t>
            </a:r>
            <a:r>
              <a:rPr lang="en-GB" sz="2000" dirty="0">
                <a:latin typeface="Times New Roman" panose="02020603050405020304" pitchFamily="18" charset="0"/>
                <a:cs typeface="Times New Roman" panose="02020603050405020304" pitchFamily="18" charset="0"/>
              </a:rPr>
              <a:t> function qui </a:t>
            </a:r>
            <a:r>
              <a:rPr lang="en-GB" sz="2000" dirty="0" err="1">
                <a:latin typeface="Times New Roman" panose="02020603050405020304" pitchFamily="18" charset="0"/>
                <a:cs typeface="Times New Roman" panose="02020603050405020304" pitchFamily="18" charset="0"/>
              </a:rPr>
              <a:t>saisit</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nb</a:t>
            </a:r>
            <a:r>
              <a:rPr lang="en-GB" sz="2000" dirty="0">
                <a:latin typeface="Times New Roman" panose="02020603050405020304" pitchFamily="18" charset="0"/>
                <a:cs typeface="Times New Roman" panose="02020603050405020304" pitchFamily="18" charset="0"/>
              </a:rPr>
              <a:t> points et les range </a:t>
            </a:r>
            <a:r>
              <a:rPr lang="en-GB" sz="2000" dirty="0" err="1">
                <a:latin typeface="Times New Roman" panose="02020603050405020304" pitchFamily="18" charset="0"/>
                <a:cs typeface="Times New Roman" panose="02020603050405020304" pitchFamily="18" charset="0"/>
              </a:rPr>
              <a:t>dans</a:t>
            </a:r>
            <a:r>
              <a:rPr lang="en-GB" sz="2000" dirty="0">
                <a:latin typeface="Times New Roman" panose="02020603050405020304" pitchFamily="18" charset="0"/>
                <a:cs typeface="Times New Roman" panose="02020603050405020304" pitchFamily="18" charset="0"/>
              </a:rPr>
              <a:t> un tableau</a:t>
            </a:r>
          </a:p>
          <a:p>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puis</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une</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autre</a:t>
            </a:r>
            <a:r>
              <a:rPr lang="en-GB" sz="2000" dirty="0">
                <a:latin typeface="Times New Roman" panose="02020603050405020304" pitchFamily="18" charset="0"/>
                <a:cs typeface="Times New Roman" panose="02020603050405020304" pitchFamily="18" charset="0"/>
              </a:rPr>
              <a:t> qui </a:t>
            </a:r>
            <a:r>
              <a:rPr lang="en-GB" sz="2000" dirty="0" err="1">
                <a:latin typeface="Times New Roman" panose="02020603050405020304" pitchFamily="18" charset="0"/>
                <a:cs typeface="Times New Roman" panose="02020603050405020304" pitchFamily="18" charset="0"/>
              </a:rPr>
              <a:t>affiche</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ces</a:t>
            </a:r>
            <a:r>
              <a:rPr lang="en-GB" sz="2000" dirty="0">
                <a:latin typeface="Times New Roman" panose="02020603050405020304" pitchFamily="18" charset="0"/>
                <a:cs typeface="Times New Roman" panose="02020603050405020304" pitchFamily="18" charset="0"/>
              </a:rPr>
              <a:t> points. </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10011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560" y="577900"/>
            <a:ext cx="11775440" cy="5262979"/>
          </a:xfrm>
          <a:prstGeom prst="rect">
            <a:avLst/>
          </a:prstGeom>
        </p:spPr>
        <p:txBody>
          <a:bodyPr wrap="square">
            <a:spAutoFit/>
          </a:bodyPr>
          <a:lstStyle/>
          <a:p>
            <a:pPr marL="0" lvl="2"/>
            <a:r>
              <a:rPr lang="fr-FR" sz="2400" b="1" dirty="0" smtClean="0">
                <a:latin typeface="Times New Roman" pitchFamily="18" charset="0"/>
                <a:cs typeface="Times New Roman" pitchFamily="18" charset="0"/>
              </a:rPr>
              <a:t>2.1.3. </a:t>
            </a:r>
            <a:r>
              <a:rPr lang="fr-FR" sz="2400" b="1" dirty="0">
                <a:latin typeface="Times New Roman" pitchFamily="18" charset="0"/>
                <a:cs typeface="Times New Roman" pitchFamily="18" charset="0"/>
              </a:rPr>
              <a:t>Tris d’un </a:t>
            </a:r>
            <a:r>
              <a:rPr lang="fr-FR" sz="2400" b="1" dirty="0" smtClean="0">
                <a:latin typeface="Times New Roman" pitchFamily="18" charset="0"/>
                <a:cs typeface="Times New Roman" pitchFamily="18" charset="0"/>
              </a:rPr>
              <a:t>tableau</a:t>
            </a:r>
            <a:endParaRPr lang="fr-FR" sz="2400" b="1" dirty="0">
              <a:latin typeface="Times New Roman" pitchFamily="18" charset="0"/>
              <a:cs typeface="Times New Roman" pitchFamily="18" charset="0"/>
            </a:endParaRPr>
          </a:p>
          <a:p>
            <a:pPr lvl="2"/>
            <a:endParaRPr lang="fr-FR" sz="2400" b="1" dirty="0">
              <a:latin typeface="Times New Roman" pitchFamily="18" charset="0"/>
              <a:cs typeface="Times New Roman" pitchFamily="18" charset="0"/>
            </a:endParaRPr>
          </a:p>
          <a:p>
            <a:pPr algn="just"/>
            <a:r>
              <a:rPr lang="fr-FR" sz="2400" dirty="0">
                <a:latin typeface="Times New Roman" pitchFamily="18" charset="0"/>
                <a:cs typeface="Times New Roman" pitchFamily="18" charset="0"/>
              </a:rPr>
              <a:t>Après avoir étudié le tri par </a:t>
            </a:r>
            <a:r>
              <a:rPr lang="fr-FR" sz="2400" b="1" dirty="0">
                <a:latin typeface="Times New Roman" pitchFamily="18" charset="0"/>
                <a:cs typeface="Times New Roman" pitchFamily="18" charset="0"/>
              </a:rPr>
              <a:t>insertion</a:t>
            </a:r>
            <a:r>
              <a:rPr lang="fr-FR" sz="2400" dirty="0">
                <a:latin typeface="Times New Roman" pitchFamily="18" charset="0"/>
                <a:cs typeface="Times New Roman" pitchFamily="18" charset="0"/>
              </a:rPr>
              <a:t>, nous présentons le paradigme «diviser pour régner» pour la conception d’algorithmes, cette technique servira à développer l’algorithme de tri par </a:t>
            </a:r>
            <a:r>
              <a:rPr lang="fr-FR" sz="2400" b="1" dirty="0">
                <a:latin typeface="Times New Roman" pitchFamily="18" charset="0"/>
                <a:cs typeface="Times New Roman" pitchFamily="18" charset="0"/>
              </a:rPr>
              <a:t>segmentation</a:t>
            </a:r>
            <a:r>
              <a:rPr lang="fr-FR" sz="2400" dirty="0">
                <a:latin typeface="Times New Roman" pitchFamily="18" charset="0"/>
                <a:cs typeface="Times New Roman" pitchFamily="18" charset="0"/>
              </a:rPr>
              <a:t>, tri par </a:t>
            </a:r>
            <a:r>
              <a:rPr lang="fr-FR" sz="2400" b="1" dirty="0">
                <a:latin typeface="Times New Roman" pitchFamily="18" charset="0"/>
                <a:cs typeface="Times New Roman" pitchFamily="18" charset="0"/>
              </a:rPr>
              <a:t>interclassement</a:t>
            </a:r>
            <a:r>
              <a:rPr lang="fr-FR" sz="2400" dirty="0">
                <a:latin typeface="Times New Roman" pitchFamily="18" charset="0"/>
                <a:cs typeface="Times New Roman" pitchFamily="18" charset="0"/>
              </a:rPr>
              <a:t>.</a:t>
            </a:r>
          </a:p>
          <a:p>
            <a:pPr algn="just"/>
            <a:endParaRPr lang="fr-FR" sz="2400" dirty="0">
              <a:latin typeface="Times New Roman" pitchFamily="18" charset="0"/>
              <a:cs typeface="Times New Roman" pitchFamily="18" charset="0"/>
            </a:endParaRPr>
          </a:p>
          <a:p>
            <a:r>
              <a:rPr lang="fr-FR" sz="2400" dirty="0" smtClean="0">
                <a:latin typeface="Times New Roman" pitchFamily="18" charset="0"/>
                <a:cs typeface="Times New Roman" pitchFamily="18" charset="0"/>
              </a:rPr>
              <a:t>2.1.3.1. </a:t>
            </a:r>
            <a:r>
              <a:rPr lang="fr-FR" sz="2400" u="sng" dirty="0">
                <a:latin typeface="Times New Roman" pitchFamily="18" charset="0"/>
                <a:cs typeface="Times New Roman" pitchFamily="18" charset="0"/>
              </a:rPr>
              <a:t>Tri par insertion</a:t>
            </a:r>
            <a:endParaRPr lang="fr-FR" sz="2400" dirty="0">
              <a:latin typeface="Times New Roman" pitchFamily="18" charset="0"/>
              <a:cs typeface="Times New Roman" pitchFamily="18" charset="0"/>
            </a:endParaRPr>
          </a:p>
          <a:p>
            <a:r>
              <a:rPr lang="fr-FR" sz="2400" dirty="0">
                <a:latin typeface="Times New Roman" pitchFamily="18" charset="0"/>
                <a:cs typeface="Times New Roman" pitchFamily="18" charset="0"/>
              </a:rPr>
              <a:t>Efficace quand il s’agit de </a:t>
            </a:r>
            <a:r>
              <a:rPr lang="fr-FR" sz="2400" b="1" dirty="0">
                <a:latin typeface="Times New Roman" pitchFamily="18" charset="0"/>
                <a:cs typeface="Times New Roman" pitchFamily="18" charset="0"/>
              </a:rPr>
              <a:t>trier</a:t>
            </a:r>
            <a:r>
              <a:rPr lang="fr-FR" sz="2400" dirty="0">
                <a:latin typeface="Times New Roman" pitchFamily="18" charset="0"/>
                <a:cs typeface="Times New Roman" pitchFamily="18" charset="0"/>
              </a:rPr>
              <a:t> un </a:t>
            </a:r>
            <a:r>
              <a:rPr lang="fr-FR" sz="2400" b="1" dirty="0">
                <a:latin typeface="Times New Roman" pitchFamily="18" charset="0"/>
                <a:cs typeface="Times New Roman" pitchFamily="18" charset="0"/>
              </a:rPr>
              <a:t>petit nombre d’éléments</a:t>
            </a:r>
            <a:r>
              <a:rPr lang="fr-FR" sz="2400" dirty="0">
                <a:latin typeface="Times New Roman" pitchFamily="18" charset="0"/>
                <a:cs typeface="Times New Roman" pitchFamily="18" charset="0"/>
              </a:rPr>
              <a:t>. Il s’inspire la manière dont la plupart des gens tiennent des cartes à jouer.</a:t>
            </a:r>
          </a:p>
          <a:p>
            <a:r>
              <a:rPr lang="fr-FR" sz="2400" dirty="0">
                <a:latin typeface="Times New Roman" pitchFamily="18" charset="0"/>
                <a:ea typeface="Times New Roman" pitchFamily="18" charset="0"/>
                <a:cs typeface="Times New Roman" pitchFamily="18" charset="0"/>
              </a:rPr>
              <a:t>Supposons triés les </a:t>
            </a:r>
            <a:r>
              <a:rPr lang="fr-FR" sz="2400" b="1" dirty="0">
                <a:latin typeface="Times New Roman" pitchFamily="18" charset="0"/>
                <a:ea typeface="Times New Roman" pitchFamily="18" charset="0"/>
                <a:cs typeface="Times New Roman" pitchFamily="18" charset="0"/>
              </a:rPr>
              <a:t>i</a:t>
            </a:r>
            <a:r>
              <a:rPr lang="fr-FR" sz="2400" dirty="0">
                <a:latin typeface="Times New Roman" pitchFamily="18" charset="0"/>
                <a:ea typeface="Times New Roman" pitchFamily="18" charset="0"/>
                <a:cs typeface="Times New Roman" pitchFamily="18" charset="0"/>
              </a:rPr>
              <a:t> (1</a:t>
            </a:r>
            <a:r>
              <a:rPr lang="fr-FR" sz="2400" dirty="0">
                <a:latin typeface="Times New Roman" pitchFamily="18" charset="0"/>
                <a:ea typeface="Times New Roman" pitchFamily="18" charset="0"/>
                <a:cs typeface="Times New Roman" pitchFamily="18" charset="0"/>
                <a:sym typeface="Symbol" pitchFamily="18" charset="2"/>
              </a:rPr>
              <a:t></a:t>
            </a:r>
            <a:r>
              <a:rPr lang="fr-FR" sz="2400" dirty="0">
                <a:latin typeface="Times New Roman" pitchFamily="18" charset="0"/>
                <a:ea typeface="Times New Roman" pitchFamily="18" charset="0"/>
                <a:cs typeface="Times New Roman" pitchFamily="18" charset="0"/>
              </a:rPr>
              <a:t>i</a:t>
            </a:r>
            <a:r>
              <a:rPr lang="fr-FR" sz="2400" dirty="0">
                <a:latin typeface="Times New Roman" pitchFamily="18" charset="0"/>
                <a:ea typeface="Times New Roman" pitchFamily="18" charset="0"/>
                <a:cs typeface="Times New Roman" pitchFamily="18" charset="0"/>
                <a:sym typeface="Symbol" pitchFamily="18" charset="2"/>
              </a:rPr>
              <a:t></a:t>
            </a:r>
            <a:r>
              <a:rPr lang="fr-FR" sz="2400" dirty="0">
                <a:latin typeface="Times New Roman" pitchFamily="18" charset="0"/>
                <a:ea typeface="Times New Roman" pitchFamily="18" charset="0"/>
                <a:cs typeface="Times New Roman" pitchFamily="18" charset="0"/>
              </a:rPr>
              <a:t>n) premiers éléments du tableau </a:t>
            </a:r>
            <a:r>
              <a:rPr lang="fr-FR" sz="2400" b="1" dirty="0">
                <a:latin typeface="Times New Roman" pitchFamily="18" charset="0"/>
                <a:ea typeface="Times New Roman" pitchFamily="18" charset="0"/>
                <a:cs typeface="Times New Roman" pitchFamily="18" charset="0"/>
              </a:rPr>
              <a:t>v</a:t>
            </a:r>
            <a:r>
              <a:rPr lang="fr-FR" sz="2400" dirty="0">
                <a:latin typeface="Times New Roman" pitchFamily="18" charset="0"/>
                <a:ea typeface="Times New Roman" pitchFamily="18" charset="0"/>
                <a:cs typeface="Times New Roman" pitchFamily="18" charset="0"/>
              </a:rPr>
              <a:t>.</a:t>
            </a:r>
          </a:p>
          <a:p>
            <a:pPr lvl="0" fontAlgn="base">
              <a:spcBef>
                <a:spcPct val="0"/>
              </a:spcBef>
              <a:spcAft>
                <a:spcPct val="0"/>
              </a:spcAft>
            </a:pPr>
            <a:r>
              <a:rPr lang="en-GB" sz="2400" dirty="0">
                <a:latin typeface="Times New Roman" pitchFamily="18" charset="0"/>
                <a:cs typeface="Times New Roman" pitchFamily="18" charset="0"/>
                <a:sym typeface="Symbol" pitchFamily="18" charset="2"/>
              </a:rPr>
              <a:t>	v[1..i] </a:t>
            </a:r>
            <a:r>
              <a:rPr lang="en-GB" sz="2400" dirty="0" err="1">
                <a:latin typeface="Times New Roman" pitchFamily="18" charset="0"/>
                <a:cs typeface="Times New Roman" pitchFamily="18" charset="0"/>
                <a:sym typeface="Symbol" pitchFamily="18" charset="2"/>
              </a:rPr>
              <a:t>trié</a:t>
            </a:r>
            <a:r>
              <a:rPr lang="en-GB" sz="2400" dirty="0">
                <a:latin typeface="Times New Roman" pitchFamily="18" charset="0"/>
                <a:cs typeface="Times New Roman" pitchFamily="18" charset="0"/>
                <a:sym typeface="Symbol" pitchFamily="18" charset="2"/>
              </a:rPr>
              <a:t>	                        v[i+1..n] non </a:t>
            </a:r>
            <a:r>
              <a:rPr lang="en-GB" sz="2400" dirty="0" err="1">
                <a:latin typeface="Times New Roman" pitchFamily="18" charset="0"/>
                <a:cs typeface="Times New Roman" pitchFamily="18" charset="0"/>
                <a:sym typeface="Symbol" pitchFamily="18" charset="2"/>
              </a:rPr>
              <a:t>traité</a:t>
            </a:r>
            <a:endParaRPr lang="en-GB" sz="2400" dirty="0">
              <a:latin typeface="Times New Roman" pitchFamily="18" charset="0"/>
              <a:cs typeface="Times New Roman" pitchFamily="18" charset="0"/>
              <a:sym typeface="Symbol" pitchFamily="18" charset="2"/>
            </a:endParaRPr>
          </a:p>
          <a:p>
            <a:pPr lvl="0" fontAlgn="base">
              <a:spcBef>
                <a:spcPct val="0"/>
              </a:spcBef>
              <a:spcAft>
                <a:spcPct val="0"/>
              </a:spcAft>
            </a:pPr>
            <a:endParaRPr lang="en-GB" sz="2400" dirty="0">
              <a:latin typeface="Times New Roman" pitchFamily="18" charset="0"/>
              <a:cs typeface="Times New Roman" pitchFamily="18" charset="0"/>
              <a:sym typeface="Symbol" pitchFamily="18" charset="2"/>
            </a:endParaRPr>
          </a:p>
          <a:p>
            <a:pPr lvl="0" fontAlgn="base">
              <a:spcBef>
                <a:spcPct val="0"/>
              </a:spcBef>
              <a:spcAft>
                <a:spcPct val="0"/>
              </a:spcAft>
            </a:pPr>
            <a:r>
              <a:rPr lang="en-GB" sz="2400" dirty="0">
                <a:latin typeface="Times New Roman" pitchFamily="18" charset="0"/>
                <a:cs typeface="Times New Roman" pitchFamily="18" charset="0"/>
                <a:sym typeface="Symbol" pitchFamily="18" charset="2"/>
              </a:rPr>
              <a:t>      </a:t>
            </a:r>
            <a:r>
              <a:rPr lang="en-GB" sz="2400" dirty="0" smtClean="0">
                <a:latin typeface="Times New Roman" pitchFamily="18" charset="0"/>
                <a:cs typeface="Times New Roman" pitchFamily="18" charset="0"/>
                <a:sym typeface="Symbol" pitchFamily="18" charset="2"/>
              </a:rPr>
              <a:t>v  </a:t>
            </a:r>
            <a:endParaRPr lang="en-GB" sz="2400" dirty="0">
              <a:latin typeface="Times New Roman" pitchFamily="18" charset="0"/>
              <a:cs typeface="Times New Roman" pitchFamily="18" charset="0"/>
              <a:sym typeface="Symbol" pitchFamily="18" charset="2"/>
            </a:endParaRPr>
          </a:p>
          <a:p>
            <a:pPr lvl="0" fontAlgn="base">
              <a:spcBef>
                <a:spcPct val="0"/>
              </a:spcBef>
              <a:spcAft>
                <a:spcPct val="0"/>
              </a:spcAft>
            </a:pPr>
            <a:r>
              <a:rPr lang="en-GB" sz="2400" dirty="0">
                <a:latin typeface="Times New Roman" pitchFamily="18" charset="0"/>
                <a:cs typeface="Times New Roman" pitchFamily="18" charset="0"/>
                <a:sym typeface="Symbol" pitchFamily="18" charset="2"/>
              </a:rPr>
              <a:t>	  1                                        </a:t>
            </a:r>
            <a:r>
              <a:rPr lang="en-GB" sz="2400" dirty="0" smtClean="0">
                <a:latin typeface="Times New Roman" pitchFamily="18" charset="0"/>
                <a:cs typeface="Times New Roman" pitchFamily="18" charset="0"/>
                <a:sym typeface="Symbol" pitchFamily="18" charset="2"/>
              </a:rPr>
              <a:t> </a:t>
            </a:r>
            <a:r>
              <a:rPr lang="en-GB" sz="2400" dirty="0" err="1" smtClean="0">
                <a:latin typeface="Times New Roman" pitchFamily="18" charset="0"/>
                <a:cs typeface="Times New Roman" pitchFamily="18" charset="0"/>
                <a:sym typeface="Symbol" pitchFamily="18" charset="2"/>
              </a:rPr>
              <a:t>i</a:t>
            </a:r>
            <a:r>
              <a:rPr lang="en-GB" sz="2400" dirty="0" smtClean="0">
                <a:latin typeface="Times New Roman" pitchFamily="18" charset="0"/>
                <a:cs typeface="Times New Roman" pitchFamily="18" charset="0"/>
                <a:sym typeface="Symbol" pitchFamily="18" charset="2"/>
              </a:rPr>
              <a:t>                                n</a:t>
            </a:r>
            <a:endParaRPr lang="en-GB" sz="2400" dirty="0">
              <a:latin typeface="Times New Roman" pitchFamily="18" charset="0"/>
              <a:cs typeface="Times New Roman" pitchFamily="18" charset="0"/>
              <a:sym typeface="Symbol" pitchFamily="18" charset="2"/>
            </a:endParaRPr>
          </a:p>
        </p:txBody>
      </p:sp>
      <p:graphicFrame>
        <p:nvGraphicFramePr>
          <p:cNvPr id="3" name="Tableau 2"/>
          <p:cNvGraphicFramePr>
            <a:graphicFrameLocks noGrp="1"/>
          </p:cNvGraphicFramePr>
          <p:nvPr>
            <p:extLst>
              <p:ext uri="{D42A27DB-BD31-4B8C-83A1-F6EECF244321}">
                <p14:modId xmlns:p14="http://schemas.microsoft.com/office/powerpoint/2010/main" val="3286533361"/>
              </p:ext>
            </p:extLst>
          </p:nvPr>
        </p:nvGraphicFramePr>
        <p:xfrm>
          <a:off x="1229360" y="4986866"/>
          <a:ext cx="6167120" cy="365760"/>
        </p:xfrm>
        <a:graphic>
          <a:graphicData uri="http://schemas.openxmlformats.org/drawingml/2006/table">
            <a:tbl>
              <a:tblPr firstRow="1" bandRow="1">
                <a:tableStyleId>{2D5ABB26-0587-4C30-8999-92F81FD0307C}</a:tableStyleId>
              </a:tblPr>
              <a:tblGrid>
                <a:gridCol w="348488">
                  <a:extLst>
                    <a:ext uri="{9D8B030D-6E8A-4147-A177-3AD203B41FA5}">
                      <a16:colId xmlns:a16="http://schemas.microsoft.com/office/drawing/2014/main" val="4156698987"/>
                    </a:ext>
                  </a:extLst>
                </a:gridCol>
                <a:gridCol w="2801112">
                  <a:extLst>
                    <a:ext uri="{9D8B030D-6E8A-4147-A177-3AD203B41FA5}">
                      <a16:colId xmlns:a16="http://schemas.microsoft.com/office/drawing/2014/main" val="1836553362"/>
                    </a:ext>
                  </a:extLst>
                </a:gridCol>
                <a:gridCol w="436880">
                  <a:extLst>
                    <a:ext uri="{9D8B030D-6E8A-4147-A177-3AD203B41FA5}">
                      <a16:colId xmlns:a16="http://schemas.microsoft.com/office/drawing/2014/main" val="2068847812"/>
                    </a:ext>
                  </a:extLst>
                </a:gridCol>
                <a:gridCol w="2164080">
                  <a:extLst>
                    <a:ext uri="{9D8B030D-6E8A-4147-A177-3AD203B41FA5}">
                      <a16:colId xmlns:a16="http://schemas.microsoft.com/office/drawing/2014/main" val="2565672011"/>
                    </a:ext>
                  </a:extLst>
                </a:gridCol>
                <a:gridCol w="416560">
                  <a:extLst>
                    <a:ext uri="{9D8B030D-6E8A-4147-A177-3AD203B41FA5}">
                      <a16:colId xmlns:a16="http://schemas.microsoft.com/office/drawing/2014/main" val="3195280486"/>
                    </a:ext>
                  </a:extLst>
                </a:gridCol>
              </a:tblGrid>
              <a:tr h="357294">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7057826"/>
                  </a:ext>
                </a:extLst>
              </a:tr>
            </a:tbl>
          </a:graphicData>
        </a:graphic>
      </p:graphicFrame>
      <p:cxnSp>
        <p:nvCxnSpPr>
          <p:cNvPr id="5" name="Connecteur droit avec flèche 4"/>
          <p:cNvCxnSpPr/>
          <p:nvPr/>
        </p:nvCxnSpPr>
        <p:spPr>
          <a:xfrm>
            <a:off x="1452880" y="3078480"/>
            <a:ext cx="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9" name="Connecteur droit avec flèche 8"/>
          <p:cNvCxnSpPr/>
          <p:nvPr/>
        </p:nvCxnSpPr>
        <p:spPr>
          <a:xfrm>
            <a:off x="1389380" y="4749800"/>
            <a:ext cx="32004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1" name="Connecteur droit avec flèche 10"/>
          <p:cNvCxnSpPr/>
          <p:nvPr/>
        </p:nvCxnSpPr>
        <p:spPr>
          <a:xfrm flipV="1">
            <a:off x="4782820" y="4742180"/>
            <a:ext cx="2286000" cy="1016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650214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418743"/>
            <a:ext cx="11671300" cy="6001643"/>
          </a:xfrm>
          <a:prstGeom prst="rect">
            <a:avLst/>
          </a:prstGeom>
        </p:spPr>
        <p:txBody>
          <a:bodyPr wrap="square">
            <a:spAutoFit/>
          </a:bodyPr>
          <a:lstStyle/>
          <a:p>
            <a:pPr lvl="0" fontAlgn="base">
              <a:spcBef>
                <a:spcPct val="0"/>
              </a:spcBef>
              <a:spcAft>
                <a:spcPct val="0"/>
              </a:spcAft>
            </a:pPr>
            <a:r>
              <a:rPr lang="en-GB" sz="2400" dirty="0">
                <a:latin typeface="Times New Roman" pitchFamily="18" charset="0"/>
                <a:ea typeface="Times New Roman" pitchFamily="18" charset="0"/>
                <a:cs typeface="Times New Roman" pitchFamily="18" charset="0"/>
                <a:sym typeface="Symbol" pitchFamily="18" charset="2"/>
              </a:rPr>
              <a:t>Il </a:t>
            </a:r>
            <a:r>
              <a:rPr lang="en-GB" sz="2400" dirty="0" err="1">
                <a:latin typeface="Times New Roman" pitchFamily="18" charset="0"/>
                <a:ea typeface="Times New Roman" pitchFamily="18" charset="0"/>
                <a:cs typeface="Times New Roman" pitchFamily="18" charset="0"/>
                <a:sym typeface="Symbol" pitchFamily="18" charset="2"/>
              </a:rPr>
              <a:t>suffit</a:t>
            </a:r>
            <a:r>
              <a:rPr lang="en-GB" sz="2400" dirty="0">
                <a:latin typeface="Times New Roman" pitchFamily="18" charset="0"/>
                <a:ea typeface="Times New Roman" pitchFamily="18" charset="0"/>
                <a:cs typeface="Times New Roman" pitchFamily="18" charset="0"/>
                <a:sym typeface="Symbol" pitchFamily="18" charset="2"/>
              </a:rPr>
              <a:t> </a:t>
            </a:r>
            <a:r>
              <a:rPr lang="en-GB" sz="2400" dirty="0" err="1">
                <a:latin typeface="Times New Roman" pitchFamily="18" charset="0"/>
                <a:ea typeface="Times New Roman" pitchFamily="18" charset="0"/>
                <a:cs typeface="Times New Roman" pitchFamily="18" charset="0"/>
                <a:sym typeface="Symbol" pitchFamily="18" charset="2"/>
              </a:rPr>
              <a:t>d’insérer</a:t>
            </a:r>
            <a:r>
              <a:rPr lang="en-GB" sz="2400" dirty="0">
                <a:latin typeface="Times New Roman" pitchFamily="18" charset="0"/>
                <a:ea typeface="Times New Roman" pitchFamily="18" charset="0"/>
                <a:cs typeface="Times New Roman" pitchFamily="18" charset="0"/>
                <a:sym typeface="Symbol" pitchFamily="18" charset="2"/>
              </a:rPr>
              <a:t> </a:t>
            </a:r>
            <a:r>
              <a:rPr lang="en-GB" sz="2400" b="1" dirty="0">
                <a:latin typeface="Times New Roman" pitchFamily="18" charset="0"/>
                <a:ea typeface="Times New Roman" pitchFamily="18" charset="0"/>
                <a:cs typeface="Times New Roman" pitchFamily="18" charset="0"/>
                <a:sym typeface="Symbol" pitchFamily="18" charset="2"/>
              </a:rPr>
              <a:t>t[i+1]</a:t>
            </a:r>
            <a:r>
              <a:rPr lang="en-GB" sz="2400" dirty="0">
                <a:latin typeface="Times New Roman" pitchFamily="18" charset="0"/>
                <a:ea typeface="Times New Roman" pitchFamily="18" charset="0"/>
                <a:cs typeface="Times New Roman" pitchFamily="18" charset="0"/>
                <a:sym typeface="Symbol" pitchFamily="18" charset="2"/>
              </a:rPr>
              <a:t> </a:t>
            </a:r>
            <a:r>
              <a:rPr lang="en-GB" sz="2400" dirty="0" err="1">
                <a:latin typeface="Times New Roman" pitchFamily="18" charset="0"/>
                <a:ea typeface="Times New Roman" pitchFamily="18" charset="0"/>
                <a:cs typeface="Times New Roman" pitchFamily="18" charset="0"/>
                <a:sym typeface="Symbol" pitchFamily="18" charset="2"/>
              </a:rPr>
              <a:t>dans</a:t>
            </a:r>
            <a:r>
              <a:rPr lang="en-GB" sz="2400" dirty="0">
                <a:latin typeface="Times New Roman" pitchFamily="18" charset="0"/>
                <a:ea typeface="Times New Roman" pitchFamily="18" charset="0"/>
                <a:cs typeface="Times New Roman" pitchFamily="18" charset="0"/>
                <a:sym typeface="Symbol" pitchFamily="18" charset="2"/>
              </a:rPr>
              <a:t> le sous-</a:t>
            </a:r>
            <a:r>
              <a:rPr lang="en-GB" sz="2400" dirty="0" err="1">
                <a:latin typeface="Times New Roman" pitchFamily="18" charset="0"/>
                <a:ea typeface="Times New Roman" pitchFamily="18" charset="0"/>
                <a:cs typeface="Times New Roman" pitchFamily="18" charset="0"/>
                <a:sym typeface="Symbol" pitchFamily="18" charset="2"/>
              </a:rPr>
              <a:t>vecteur</a:t>
            </a:r>
            <a:r>
              <a:rPr lang="en-GB" sz="2400" dirty="0">
                <a:latin typeface="Times New Roman" pitchFamily="18" charset="0"/>
                <a:ea typeface="Times New Roman" pitchFamily="18" charset="0"/>
                <a:cs typeface="Times New Roman" pitchFamily="18" charset="0"/>
                <a:sym typeface="Symbol" pitchFamily="18" charset="2"/>
              </a:rPr>
              <a:t> déjà </a:t>
            </a:r>
            <a:r>
              <a:rPr lang="en-GB" sz="2400" dirty="0" err="1">
                <a:latin typeface="Times New Roman" pitchFamily="18" charset="0"/>
                <a:ea typeface="Times New Roman" pitchFamily="18" charset="0"/>
                <a:cs typeface="Times New Roman" pitchFamily="18" charset="0"/>
                <a:sym typeface="Symbol" pitchFamily="18" charset="2"/>
              </a:rPr>
              <a:t>trié</a:t>
            </a:r>
            <a:r>
              <a:rPr lang="en-GB" sz="2400" dirty="0">
                <a:latin typeface="Times New Roman" pitchFamily="18" charset="0"/>
                <a:ea typeface="Times New Roman" pitchFamily="18" charset="0"/>
                <a:cs typeface="Times New Roman" pitchFamily="18" charset="0"/>
                <a:sym typeface="Symbol" pitchFamily="18" charset="2"/>
              </a:rPr>
              <a:t> pour </a:t>
            </a:r>
            <a:r>
              <a:rPr lang="en-GB" sz="2400" dirty="0" err="1">
                <a:latin typeface="Times New Roman" pitchFamily="18" charset="0"/>
                <a:ea typeface="Times New Roman" pitchFamily="18" charset="0"/>
                <a:cs typeface="Times New Roman" pitchFamily="18" charset="0"/>
                <a:sym typeface="Symbol" pitchFamily="18" charset="2"/>
              </a:rPr>
              <a:t>l’augmenter</a:t>
            </a:r>
            <a:r>
              <a:rPr lang="en-GB" sz="2400" dirty="0">
                <a:latin typeface="Times New Roman" pitchFamily="18" charset="0"/>
                <a:ea typeface="Times New Roman" pitchFamily="18" charset="0"/>
                <a:cs typeface="Times New Roman" pitchFamily="18" charset="0"/>
                <a:sym typeface="Symbol" pitchFamily="18" charset="2"/>
              </a:rPr>
              <a:t> d’un </a:t>
            </a:r>
            <a:r>
              <a:rPr lang="en-GB" sz="2400" dirty="0" err="1">
                <a:latin typeface="Times New Roman" pitchFamily="18" charset="0"/>
                <a:ea typeface="Times New Roman" pitchFamily="18" charset="0"/>
                <a:cs typeface="Times New Roman" pitchFamily="18" charset="0"/>
                <a:sym typeface="Symbol" pitchFamily="18" charset="2"/>
              </a:rPr>
              <a:t>élément</a:t>
            </a:r>
            <a:r>
              <a:rPr lang="en-GB" sz="2400" dirty="0">
                <a:latin typeface="Times New Roman" pitchFamily="18" charset="0"/>
                <a:ea typeface="Times New Roman" pitchFamily="18" charset="0"/>
                <a:cs typeface="Times New Roman" pitchFamily="18" charset="0"/>
                <a:sym typeface="Symbol" pitchFamily="18" charset="2"/>
              </a:rPr>
              <a:t>.</a:t>
            </a:r>
          </a:p>
          <a:p>
            <a:pPr lvl="0" fontAlgn="base">
              <a:spcBef>
                <a:spcPct val="0"/>
              </a:spcBef>
              <a:spcAft>
                <a:spcPct val="0"/>
              </a:spcAft>
            </a:pPr>
            <a:r>
              <a:rPr lang="fr-FR" sz="2400" b="1" dirty="0" smtClean="0">
                <a:latin typeface="Times New Roman" pitchFamily="18" charset="0"/>
                <a:ea typeface="Times New Roman" pitchFamily="18" charset="0"/>
                <a:cs typeface="Times New Roman" pitchFamily="18" charset="0"/>
                <a:sym typeface="Symbol" pitchFamily="18" charset="2"/>
              </a:rPr>
              <a:t>vide </a:t>
            </a:r>
            <a:r>
              <a:rPr lang="fr-FR" sz="2400" dirty="0" err="1">
                <a:latin typeface="Times New Roman" pitchFamily="18" charset="0"/>
                <a:ea typeface="Times New Roman" pitchFamily="18" charset="0"/>
                <a:cs typeface="Times New Roman" pitchFamily="18" charset="0"/>
                <a:sym typeface="Symbol" pitchFamily="18" charset="2"/>
              </a:rPr>
              <a:t>triinsertion</a:t>
            </a:r>
            <a:r>
              <a:rPr lang="fr-FR" sz="2400" b="1" dirty="0">
                <a:latin typeface="Times New Roman" pitchFamily="18" charset="0"/>
                <a:ea typeface="Times New Roman" pitchFamily="18" charset="0"/>
                <a:cs typeface="Times New Roman" pitchFamily="18" charset="0"/>
                <a:sym typeface="Symbol" pitchFamily="18" charset="2"/>
              </a:rPr>
              <a:t>(</a:t>
            </a:r>
            <a:r>
              <a:rPr lang="fr-FR" sz="2400" b="1" dirty="0" err="1">
                <a:latin typeface="Times New Roman" pitchFamily="18" charset="0"/>
                <a:ea typeface="Times New Roman" pitchFamily="18" charset="0"/>
                <a:cs typeface="Times New Roman" pitchFamily="18" charset="0"/>
                <a:sym typeface="Symbol" pitchFamily="18" charset="2"/>
              </a:rPr>
              <a:t>dr</a:t>
            </a:r>
            <a:r>
              <a:rPr lang="fr-FR" sz="2400" b="1" dirty="0">
                <a:latin typeface="Times New Roman" pitchFamily="18" charset="0"/>
                <a:ea typeface="Times New Roman" pitchFamily="18" charset="0"/>
                <a:cs typeface="Times New Roman" pitchFamily="18" charset="0"/>
                <a:sym typeface="Symbol" pitchFamily="18" charset="2"/>
              </a:rPr>
              <a:t> entier </a:t>
            </a:r>
            <a:r>
              <a:rPr lang="fr-FR" sz="2400" dirty="0">
                <a:latin typeface="Times New Roman" pitchFamily="18" charset="0"/>
                <a:ea typeface="Times New Roman" pitchFamily="18" charset="0"/>
                <a:cs typeface="Times New Roman" pitchFamily="18" charset="0"/>
                <a:sym typeface="Symbol" pitchFamily="18" charset="2"/>
              </a:rPr>
              <a:t>t</a:t>
            </a:r>
            <a:r>
              <a:rPr lang="fr-FR" sz="2400" b="1" dirty="0">
                <a:latin typeface="Times New Roman" pitchFamily="18" charset="0"/>
                <a:ea typeface="Times New Roman" pitchFamily="18" charset="0"/>
                <a:cs typeface="Times New Roman" pitchFamily="18" charset="0"/>
                <a:sym typeface="Symbol" pitchFamily="18" charset="2"/>
              </a:rPr>
              <a:t>[], d entier </a:t>
            </a:r>
            <a:r>
              <a:rPr lang="fr-FR" sz="2400" dirty="0">
                <a:latin typeface="Times New Roman" pitchFamily="18" charset="0"/>
                <a:ea typeface="Times New Roman" pitchFamily="18" charset="0"/>
                <a:cs typeface="Times New Roman" pitchFamily="18" charset="0"/>
                <a:sym typeface="Symbol" pitchFamily="18" charset="2"/>
              </a:rPr>
              <a:t>n</a:t>
            </a:r>
            <a:r>
              <a:rPr lang="fr-FR" sz="2400" b="1" dirty="0">
                <a:latin typeface="Times New Roman" pitchFamily="18" charset="0"/>
                <a:ea typeface="Times New Roman" pitchFamily="18" charset="0"/>
                <a:cs typeface="Times New Roman" pitchFamily="18" charset="0"/>
                <a:sym typeface="Symbol" pitchFamily="18" charset="2"/>
              </a:rPr>
              <a:t>)</a:t>
            </a:r>
            <a:endParaRPr lang="fr-FR" sz="2400" dirty="0">
              <a:latin typeface="Times New Roman" pitchFamily="18" charset="0"/>
              <a:cs typeface="Times New Roman" pitchFamily="18" charset="0"/>
              <a:sym typeface="Symbol" pitchFamily="18" charset="2"/>
            </a:endParaRPr>
          </a:p>
          <a:p>
            <a:pPr lvl="0" eaLnBrk="0" fontAlgn="base" hangingPunct="0">
              <a:spcBef>
                <a:spcPct val="0"/>
              </a:spcBef>
              <a:spcAft>
                <a:spcPct val="0"/>
              </a:spcAft>
            </a:pPr>
            <a:r>
              <a:rPr lang="fr-FR" sz="2400" b="1" dirty="0" err="1">
                <a:latin typeface="Times New Roman" pitchFamily="18" charset="0"/>
                <a:ea typeface="Times New Roman" pitchFamily="18" charset="0"/>
                <a:cs typeface="Times New Roman" pitchFamily="18" charset="0"/>
                <a:sym typeface="Symbol" pitchFamily="18" charset="2"/>
              </a:rPr>
              <a:t>debfonc</a:t>
            </a:r>
            <a:r>
              <a:rPr lang="fr-FR" sz="2400" b="1" dirty="0">
                <a:latin typeface="Times New Roman" pitchFamily="18" charset="0"/>
                <a:ea typeface="Times New Roman" pitchFamily="18" charset="0"/>
                <a:cs typeface="Times New Roman" pitchFamily="18" charset="0"/>
                <a:sym typeface="Symbol" pitchFamily="18" charset="2"/>
              </a:rPr>
              <a:t> </a:t>
            </a:r>
          </a:p>
          <a:p>
            <a:pPr lvl="0"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entier </a:t>
            </a:r>
            <a:r>
              <a:rPr lang="fr-FR" sz="2400" dirty="0">
                <a:latin typeface="Times New Roman" pitchFamily="18" charset="0"/>
                <a:ea typeface="Times New Roman" pitchFamily="18" charset="0"/>
                <a:cs typeface="Times New Roman" pitchFamily="18" charset="0"/>
                <a:sym typeface="Symbol" pitchFamily="18" charset="2"/>
              </a:rPr>
              <a:t>i</a:t>
            </a:r>
            <a:r>
              <a:rPr lang="fr-FR" sz="2400" b="1" dirty="0">
                <a:latin typeface="Times New Roman" pitchFamily="18" charset="0"/>
                <a:ea typeface="Times New Roman" pitchFamily="18" charset="0"/>
                <a:cs typeface="Times New Roman" pitchFamily="18" charset="0"/>
                <a:sym typeface="Symbol" pitchFamily="18" charset="2"/>
              </a:rPr>
              <a:t>;</a:t>
            </a:r>
            <a:endParaRPr lang="fr-FR" sz="2400" dirty="0">
              <a:latin typeface="Times New Roman" pitchFamily="18" charset="0"/>
              <a:cs typeface="Times New Roman" pitchFamily="18" charset="0"/>
              <a:sym typeface="Symbol" pitchFamily="18" charset="2"/>
            </a:endParaRPr>
          </a:p>
          <a:p>
            <a:pPr lvl="0"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a:t>
            </a:r>
            <a:r>
              <a:rPr lang="nb-NO" sz="2400" dirty="0" smtClean="0">
                <a:latin typeface="Times New Roman" pitchFamily="18" charset="0"/>
                <a:ea typeface="Times New Roman" pitchFamily="18" charset="0"/>
                <a:cs typeface="Times New Roman" pitchFamily="18" charset="0"/>
                <a:sym typeface="Symbol" pitchFamily="18" charset="2"/>
              </a:rPr>
              <a:t>i:=1</a:t>
            </a:r>
            <a:r>
              <a:rPr lang="nb-NO" sz="2400" b="1" dirty="0">
                <a:latin typeface="Times New Roman" pitchFamily="18" charset="0"/>
                <a:ea typeface="Times New Roman" pitchFamily="18" charset="0"/>
                <a:cs typeface="Times New Roman" pitchFamily="18" charset="0"/>
                <a:sym typeface="Symbol" pitchFamily="18" charset="2"/>
              </a:rPr>
              <a:t>;</a:t>
            </a:r>
            <a:endParaRPr lang="fr-FR" sz="2400" dirty="0">
              <a:latin typeface="Times New Roman" pitchFamily="18" charset="0"/>
              <a:cs typeface="Times New Roman" pitchFamily="18" charset="0"/>
              <a:sym typeface="Symbol" pitchFamily="18" charset="2"/>
            </a:endParaRPr>
          </a:p>
          <a:p>
            <a:pPr lvl="0" eaLnBrk="0" fontAlgn="base" hangingPunct="0">
              <a:spcBef>
                <a:spcPct val="0"/>
              </a:spcBef>
              <a:spcAft>
                <a:spcPct val="0"/>
              </a:spcAft>
            </a:pPr>
            <a:r>
              <a:rPr lang="nb-NO" sz="2400" b="1" dirty="0">
                <a:latin typeface="Times New Roman" pitchFamily="18" charset="0"/>
                <a:ea typeface="Times New Roman" pitchFamily="18" charset="0"/>
                <a:cs typeface="Times New Roman" pitchFamily="18" charset="0"/>
                <a:sym typeface="Symbol" pitchFamily="18" charset="2"/>
              </a:rPr>
              <a:t>  tantque </a:t>
            </a:r>
            <a:r>
              <a:rPr lang="nb-NO" sz="2400" dirty="0">
                <a:latin typeface="Times New Roman" pitchFamily="18" charset="0"/>
                <a:ea typeface="Times New Roman" pitchFamily="18" charset="0"/>
                <a:cs typeface="Times New Roman" pitchFamily="18" charset="0"/>
                <a:sym typeface="Symbol" pitchFamily="18" charset="2"/>
              </a:rPr>
              <a:t>i≤n</a:t>
            </a:r>
            <a:r>
              <a:rPr lang="nb-NO" sz="2400" b="1" dirty="0">
                <a:latin typeface="Times New Roman" pitchFamily="18" charset="0"/>
                <a:ea typeface="Times New Roman" pitchFamily="18" charset="0"/>
                <a:cs typeface="Times New Roman" pitchFamily="18" charset="0"/>
                <a:sym typeface="Symbol" pitchFamily="18" charset="2"/>
              </a:rPr>
              <a:t> faire </a:t>
            </a:r>
          </a:p>
          <a:p>
            <a:pPr lvl="0" eaLnBrk="0" fontAlgn="base" hangingPunct="0">
              <a:spcBef>
                <a:spcPct val="0"/>
              </a:spcBef>
              <a:spcAft>
                <a:spcPct val="0"/>
              </a:spcAft>
            </a:pPr>
            <a:r>
              <a:rPr lang="nb-NO" sz="2400" b="1" dirty="0">
                <a:latin typeface="Times New Roman" pitchFamily="18" charset="0"/>
                <a:ea typeface="Times New Roman" pitchFamily="18" charset="0"/>
                <a:cs typeface="Times New Roman" pitchFamily="18" charset="0"/>
                <a:sym typeface="Symbol" pitchFamily="18" charset="2"/>
              </a:rPr>
              <a:t>    </a:t>
            </a:r>
            <a:r>
              <a:rPr lang="nb-NO" sz="2400" dirty="0">
                <a:latin typeface="Times New Roman" pitchFamily="18" charset="0"/>
                <a:ea typeface="Times New Roman" pitchFamily="18" charset="0"/>
                <a:cs typeface="Times New Roman" pitchFamily="18" charset="0"/>
                <a:sym typeface="Symbol" pitchFamily="18" charset="2"/>
              </a:rPr>
              <a:t>insertion</a:t>
            </a:r>
            <a:r>
              <a:rPr lang="nb-NO" sz="2400" b="1" dirty="0">
                <a:latin typeface="Times New Roman" pitchFamily="18" charset="0"/>
                <a:ea typeface="Times New Roman" pitchFamily="18" charset="0"/>
                <a:cs typeface="Times New Roman" pitchFamily="18" charset="0"/>
                <a:sym typeface="Symbol" pitchFamily="18" charset="2"/>
              </a:rPr>
              <a:t>(</a:t>
            </a:r>
            <a:r>
              <a:rPr lang="nb-NO" sz="2400" dirty="0">
                <a:latin typeface="Times New Roman" pitchFamily="18" charset="0"/>
                <a:ea typeface="Times New Roman" pitchFamily="18" charset="0"/>
                <a:cs typeface="Times New Roman" pitchFamily="18" charset="0"/>
                <a:sym typeface="Symbol" pitchFamily="18" charset="2"/>
              </a:rPr>
              <a:t>t</a:t>
            </a:r>
            <a:r>
              <a:rPr lang="nb-NO" sz="2400" b="1" dirty="0">
                <a:latin typeface="Times New Roman" pitchFamily="18" charset="0"/>
                <a:ea typeface="Times New Roman" pitchFamily="18" charset="0"/>
                <a:cs typeface="Times New Roman" pitchFamily="18" charset="0"/>
                <a:sym typeface="Symbol" pitchFamily="18" charset="2"/>
              </a:rPr>
              <a:t>, </a:t>
            </a:r>
            <a:r>
              <a:rPr lang="nb-NO" sz="2400" dirty="0">
                <a:latin typeface="Times New Roman" pitchFamily="18" charset="0"/>
                <a:ea typeface="Times New Roman" pitchFamily="18" charset="0"/>
                <a:cs typeface="Times New Roman" pitchFamily="18" charset="0"/>
                <a:sym typeface="Symbol" pitchFamily="18" charset="2"/>
              </a:rPr>
              <a:t>i</a:t>
            </a:r>
            <a:r>
              <a:rPr lang="nb-NO" sz="2400" b="1" dirty="0">
                <a:latin typeface="Times New Roman" pitchFamily="18" charset="0"/>
                <a:ea typeface="Times New Roman" pitchFamily="18" charset="0"/>
                <a:cs typeface="Times New Roman" pitchFamily="18" charset="0"/>
                <a:sym typeface="Symbol" pitchFamily="18" charset="2"/>
              </a:rPr>
              <a:t>, </a:t>
            </a:r>
            <a:r>
              <a:rPr lang="nb-NO" sz="2400" dirty="0">
                <a:latin typeface="Times New Roman" pitchFamily="18" charset="0"/>
                <a:ea typeface="Times New Roman" pitchFamily="18" charset="0"/>
                <a:cs typeface="Times New Roman" pitchFamily="18" charset="0"/>
                <a:sym typeface="Symbol" pitchFamily="18" charset="2"/>
              </a:rPr>
              <a:t>t[i+1]</a:t>
            </a:r>
            <a:r>
              <a:rPr lang="nb-NO" sz="2400" b="1" dirty="0">
                <a:latin typeface="Times New Roman" pitchFamily="18" charset="0"/>
                <a:ea typeface="Times New Roman" pitchFamily="18" charset="0"/>
                <a:cs typeface="Times New Roman" pitchFamily="18" charset="0"/>
                <a:sym typeface="Symbol" pitchFamily="18" charset="2"/>
              </a:rPr>
              <a:t>); </a:t>
            </a:r>
          </a:p>
          <a:p>
            <a:pPr lvl="0" eaLnBrk="0" fontAlgn="base" hangingPunct="0">
              <a:spcBef>
                <a:spcPct val="0"/>
              </a:spcBef>
              <a:spcAft>
                <a:spcPct val="0"/>
              </a:spcAft>
            </a:pPr>
            <a:r>
              <a:rPr lang="nb-NO" sz="2400" b="1" dirty="0">
                <a:latin typeface="Times New Roman" pitchFamily="18" charset="0"/>
                <a:ea typeface="Times New Roman" pitchFamily="18" charset="0"/>
                <a:cs typeface="Times New Roman" pitchFamily="18" charset="0"/>
                <a:sym typeface="Symbol" pitchFamily="18" charset="2"/>
              </a:rPr>
              <a:t>    </a:t>
            </a:r>
            <a:r>
              <a:rPr lang="nb-NO" sz="2400" dirty="0" smtClean="0">
                <a:latin typeface="Times New Roman" pitchFamily="18" charset="0"/>
                <a:ea typeface="Times New Roman" pitchFamily="18" charset="0"/>
                <a:cs typeface="Times New Roman" pitchFamily="18" charset="0"/>
                <a:sym typeface="Symbol" pitchFamily="18" charset="2"/>
              </a:rPr>
              <a:t>i:=i+1</a:t>
            </a:r>
            <a:r>
              <a:rPr lang="nb-NO" sz="2400" b="1" dirty="0">
                <a:latin typeface="Times New Roman" pitchFamily="18" charset="0"/>
                <a:ea typeface="Times New Roman" pitchFamily="18" charset="0"/>
                <a:cs typeface="Times New Roman" pitchFamily="18" charset="0"/>
                <a:sym typeface="Symbol" pitchFamily="18" charset="2"/>
              </a:rPr>
              <a:t>;</a:t>
            </a:r>
          </a:p>
          <a:p>
            <a:pPr lvl="0" eaLnBrk="0" fontAlgn="base" hangingPunct="0">
              <a:spcBef>
                <a:spcPct val="0"/>
              </a:spcBef>
              <a:spcAft>
                <a:spcPct val="0"/>
              </a:spcAft>
            </a:pPr>
            <a:r>
              <a:rPr lang="nb-NO" sz="2400" b="1" dirty="0">
                <a:latin typeface="Times New Roman" pitchFamily="18" charset="0"/>
                <a:cs typeface="Times New Roman" pitchFamily="18" charset="0"/>
                <a:sym typeface="Symbol" pitchFamily="18" charset="2"/>
              </a:rPr>
              <a:t>  finfaire;</a:t>
            </a:r>
            <a:endParaRPr lang="fr-FR" sz="2400" dirty="0">
              <a:latin typeface="Times New Roman" pitchFamily="18" charset="0"/>
              <a:cs typeface="Times New Roman" pitchFamily="18" charset="0"/>
              <a:sym typeface="Symbol" pitchFamily="18" charset="2"/>
            </a:endParaRPr>
          </a:p>
          <a:p>
            <a:pPr lvl="0" eaLnBrk="0" fontAlgn="base" hangingPunct="0">
              <a:spcBef>
                <a:spcPct val="0"/>
              </a:spcBef>
              <a:spcAft>
                <a:spcPct val="0"/>
              </a:spcAft>
            </a:pPr>
            <a:r>
              <a:rPr lang="fr-FR" sz="2400" b="1" dirty="0" err="1">
                <a:latin typeface="Times New Roman" pitchFamily="18" charset="0"/>
                <a:ea typeface="Times New Roman" pitchFamily="18" charset="0"/>
                <a:cs typeface="Times New Roman" pitchFamily="18" charset="0"/>
                <a:sym typeface="Symbol" pitchFamily="18" charset="2"/>
              </a:rPr>
              <a:t>finfonc</a:t>
            </a:r>
            <a:r>
              <a:rPr lang="fr-FR" sz="2400" b="1" dirty="0">
                <a:latin typeface="Times New Roman" pitchFamily="18" charset="0"/>
                <a:ea typeface="Times New Roman" pitchFamily="18" charset="0"/>
                <a:cs typeface="Times New Roman" pitchFamily="18" charset="0"/>
                <a:sym typeface="Symbol" pitchFamily="18" charset="2"/>
              </a:rPr>
              <a:t>;</a:t>
            </a:r>
          </a:p>
          <a:p>
            <a:pPr lvl="0" eaLnBrk="0" fontAlgn="base" hangingPunct="0">
              <a:spcBef>
                <a:spcPct val="0"/>
              </a:spcBef>
              <a:spcAft>
                <a:spcPct val="0"/>
              </a:spcAft>
            </a:pPr>
            <a:endParaRPr lang="fr-FR" sz="2400" dirty="0">
              <a:latin typeface="Times New Roman" pitchFamily="18" charset="0"/>
              <a:cs typeface="Times New Roman" pitchFamily="18" charset="0"/>
              <a:sym typeface="Symbol" pitchFamily="18" charset="2"/>
            </a:endParaRPr>
          </a:p>
          <a:p>
            <a:pPr lvl="0" eaLnBrk="0" fontAlgn="base" hangingPunct="0">
              <a:spcBef>
                <a:spcPct val="0"/>
              </a:spcBef>
              <a:spcAft>
                <a:spcPct val="0"/>
              </a:spcAft>
            </a:pPr>
            <a:r>
              <a:rPr lang="fr-FR" sz="2400" dirty="0">
                <a:latin typeface="Times New Roman" pitchFamily="18" charset="0"/>
                <a:ea typeface="Times New Roman" pitchFamily="18" charset="0"/>
                <a:cs typeface="Times New Roman" pitchFamily="18" charset="0"/>
                <a:sym typeface="Symbol" pitchFamily="18" charset="2"/>
              </a:rPr>
              <a:t>a) </a:t>
            </a:r>
            <a:r>
              <a:rPr lang="fr-FR" sz="2400" u="sng" dirty="0">
                <a:latin typeface="Times New Roman" pitchFamily="18" charset="0"/>
                <a:ea typeface="Times New Roman" pitchFamily="18" charset="0"/>
                <a:cs typeface="Times New Roman" pitchFamily="18" charset="0"/>
                <a:sym typeface="Symbol" pitchFamily="18" charset="2"/>
              </a:rPr>
              <a:t>Insertion d’un élément dans un vecteur trié</a:t>
            </a:r>
            <a:endParaRPr lang="fr-FR" sz="2400" dirty="0">
              <a:latin typeface="Times New Roman" pitchFamily="18" charset="0"/>
              <a:cs typeface="Times New Roman" pitchFamily="18" charset="0"/>
              <a:sym typeface="Symbol" pitchFamily="18" charset="2"/>
            </a:endParaRPr>
          </a:p>
          <a:p>
            <a:pPr lvl="0" eaLnBrk="0" fontAlgn="base" hangingPunct="0">
              <a:spcBef>
                <a:spcPct val="0"/>
              </a:spcBef>
              <a:spcAft>
                <a:spcPct val="0"/>
              </a:spcAft>
            </a:pPr>
            <a:r>
              <a:rPr lang="fr-FR" sz="2400" dirty="0">
                <a:latin typeface="Times New Roman" pitchFamily="18" charset="0"/>
                <a:ea typeface="Times New Roman" pitchFamily="18" charset="0"/>
                <a:cs typeface="Times New Roman" pitchFamily="18" charset="0"/>
                <a:sym typeface="Symbol" pitchFamily="18" charset="2"/>
              </a:rPr>
              <a:t>Ajouter au tableau trié </a:t>
            </a:r>
            <a:r>
              <a:rPr lang="fr-FR" sz="2400" b="1" dirty="0">
                <a:latin typeface="Times New Roman" pitchFamily="18" charset="0"/>
                <a:ea typeface="Times New Roman" pitchFamily="18" charset="0"/>
                <a:cs typeface="Times New Roman" pitchFamily="18" charset="0"/>
                <a:sym typeface="Symbol" pitchFamily="18" charset="2"/>
              </a:rPr>
              <a:t>t[1..n]</a:t>
            </a:r>
            <a:r>
              <a:rPr lang="fr-FR" sz="2400" dirty="0">
                <a:latin typeface="Times New Roman" pitchFamily="18" charset="0"/>
                <a:ea typeface="Times New Roman" pitchFamily="18" charset="0"/>
                <a:cs typeface="Times New Roman" pitchFamily="18" charset="0"/>
                <a:sym typeface="Symbol" pitchFamily="18" charset="2"/>
              </a:rPr>
              <a:t>, l’élément </a:t>
            </a:r>
            <a:r>
              <a:rPr lang="fr-FR" sz="2400" b="1" dirty="0" err="1">
                <a:latin typeface="Times New Roman" pitchFamily="18" charset="0"/>
                <a:ea typeface="Times New Roman" pitchFamily="18" charset="0"/>
                <a:cs typeface="Times New Roman" pitchFamily="18" charset="0"/>
                <a:sym typeface="Symbol" pitchFamily="18" charset="2"/>
              </a:rPr>
              <a:t>elem</a:t>
            </a:r>
            <a:r>
              <a:rPr lang="fr-FR" sz="2400" dirty="0">
                <a:latin typeface="Times New Roman" pitchFamily="18" charset="0"/>
                <a:ea typeface="Times New Roman" pitchFamily="18" charset="0"/>
                <a:cs typeface="Times New Roman" pitchFamily="18" charset="0"/>
                <a:sym typeface="Symbol" pitchFamily="18" charset="2"/>
              </a:rPr>
              <a:t> pour obtenir un nouveau tableau trié </a:t>
            </a:r>
            <a:r>
              <a:rPr lang="fr-FR" sz="2400" b="1" dirty="0">
                <a:latin typeface="Times New Roman" pitchFamily="18" charset="0"/>
                <a:ea typeface="Times New Roman" pitchFamily="18" charset="0"/>
                <a:cs typeface="Times New Roman" pitchFamily="18" charset="0"/>
                <a:sym typeface="Symbol" pitchFamily="18" charset="2"/>
              </a:rPr>
              <a:t>t[1..n]</a:t>
            </a:r>
            <a:r>
              <a:rPr lang="fr-FR" sz="2400" dirty="0">
                <a:latin typeface="Times New Roman" pitchFamily="18" charset="0"/>
                <a:ea typeface="Times New Roman" pitchFamily="18" charset="0"/>
                <a:cs typeface="Times New Roman" pitchFamily="18" charset="0"/>
                <a:sym typeface="Symbol" pitchFamily="18" charset="2"/>
              </a:rPr>
              <a:t>. L’algorithme consiste à :</a:t>
            </a:r>
            <a:endParaRPr lang="fr-FR" sz="2400" dirty="0">
              <a:latin typeface="Times New Roman" pitchFamily="18" charset="0"/>
              <a:cs typeface="Times New Roman" pitchFamily="18" charset="0"/>
              <a:sym typeface="Symbol" pitchFamily="18" charset="2"/>
            </a:endParaRPr>
          </a:p>
          <a:p>
            <a:pPr lvl="0" eaLnBrk="0" fontAlgn="base" hangingPunct="0">
              <a:spcBef>
                <a:spcPct val="0"/>
              </a:spcBef>
              <a:spcAft>
                <a:spcPct val="0"/>
              </a:spcAft>
              <a:buFontTx/>
              <a:buChar char="•"/>
            </a:pPr>
            <a:r>
              <a:rPr lang="fr-FR" sz="2400" dirty="0">
                <a:latin typeface="Times New Roman" pitchFamily="18" charset="0"/>
                <a:ea typeface="Times New Roman" pitchFamily="18" charset="0"/>
                <a:cs typeface="Times New Roman" pitchFamily="18" charset="0"/>
                <a:sym typeface="Symbol" pitchFamily="18" charset="2"/>
              </a:rPr>
              <a:t> </a:t>
            </a:r>
            <a:r>
              <a:rPr lang="fr-FR" sz="2400" dirty="0" smtClean="0">
                <a:latin typeface="Times New Roman" pitchFamily="18" charset="0"/>
                <a:ea typeface="Times New Roman" pitchFamily="18" charset="0"/>
                <a:cs typeface="Times New Roman" pitchFamily="18" charset="0"/>
                <a:sym typeface="Symbol" pitchFamily="18" charset="2"/>
              </a:rPr>
              <a:t>chercher </a:t>
            </a:r>
            <a:r>
              <a:rPr lang="fr-FR" sz="2400" dirty="0">
                <a:latin typeface="Times New Roman" pitchFamily="18" charset="0"/>
                <a:ea typeface="Times New Roman" pitchFamily="18" charset="0"/>
                <a:cs typeface="Times New Roman" pitchFamily="18" charset="0"/>
                <a:sym typeface="Symbol" pitchFamily="18" charset="2"/>
              </a:rPr>
              <a:t>la place de l’élément à insérer,</a:t>
            </a:r>
          </a:p>
          <a:p>
            <a:pPr lvl="0" eaLnBrk="0" fontAlgn="base" hangingPunct="0">
              <a:spcBef>
                <a:spcPct val="0"/>
              </a:spcBef>
              <a:spcAft>
                <a:spcPct val="0"/>
              </a:spcAft>
              <a:buFontTx/>
              <a:buChar char="•"/>
            </a:pPr>
            <a:r>
              <a:rPr lang="fr-FR" sz="2400" dirty="0">
                <a:latin typeface="Times New Roman" pitchFamily="18" charset="0"/>
                <a:ea typeface="Times New Roman" pitchFamily="18" charset="0"/>
                <a:cs typeface="Times New Roman" pitchFamily="18" charset="0"/>
                <a:sym typeface="Symbol" pitchFamily="18" charset="2"/>
              </a:rPr>
              <a:t> </a:t>
            </a:r>
            <a:r>
              <a:rPr lang="fr-FR" sz="2400" dirty="0" smtClean="0">
                <a:latin typeface="Times New Roman" pitchFamily="18" charset="0"/>
                <a:ea typeface="Times New Roman" pitchFamily="18" charset="0"/>
                <a:cs typeface="Times New Roman" pitchFamily="18" charset="0"/>
                <a:sym typeface="Symbol" pitchFamily="18" charset="2"/>
              </a:rPr>
              <a:t>effectuer </a:t>
            </a:r>
            <a:r>
              <a:rPr lang="fr-FR" sz="2400" dirty="0">
                <a:latin typeface="Times New Roman" pitchFamily="18" charset="0"/>
                <a:ea typeface="Times New Roman" pitchFamily="18" charset="0"/>
                <a:cs typeface="Times New Roman" pitchFamily="18" charset="0"/>
                <a:sym typeface="Symbol" pitchFamily="18" charset="2"/>
              </a:rPr>
              <a:t>l’insertion de cet élément.</a:t>
            </a:r>
            <a:endParaRPr lang="fr-FR" sz="2400" dirty="0">
              <a:latin typeface="Times New Roman" pitchFamily="18" charset="0"/>
              <a:cs typeface="Times New Roman" pitchFamily="18" charset="0"/>
              <a:sym typeface="Symbol" pitchFamily="18" charset="2"/>
            </a:endParaRPr>
          </a:p>
        </p:txBody>
      </p:sp>
    </p:spTree>
    <p:extLst>
      <p:ext uri="{BB962C8B-B14F-4D97-AF65-F5344CB8AC3E}">
        <p14:creationId xmlns:p14="http://schemas.microsoft.com/office/powerpoint/2010/main" val="40781986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100" y="335846"/>
            <a:ext cx="11696700" cy="6247864"/>
          </a:xfrm>
          <a:prstGeom prst="rect">
            <a:avLst/>
          </a:prstGeom>
        </p:spPr>
        <p:txBody>
          <a:bodyPr wrap="square">
            <a:spAutoFit/>
          </a:bodyPr>
          <a:lstStyle/>
          <a:p>
            <a:pPr lvl="0" indent="180975" fontAlgn="base">
              <a:spcBef>
                <a:spcPct val="0"/>
              </a:spcBef>
              <a:spcAft>
                <a:spcPct val="0"/>
              </a:spcAft>
            </a:pPr>
            <a:r>
              <a:rPr lang="fr-FR" sz="2000" b="1" dirty="0" smtClean="0">
                <a:latin typeface="Times New Roman" pitchFamily="18" charset="0"/>
                <a:ea typeface="Times New Roman" pitchFamily="18" charset="0"/>
                <a:cs typeface="Times New Roman" pitchFamily="18" charset="0"/>
              </a:rPr>
              <a:t>vide </a:t>
            </a:r>
            <a:r>
              <a:rPr lang="fr-FR" sz="2000" dirty="0">
                <a:latin typeface="Times New Roman" pitchFamily="18" charset="0"/>
                <a:ea typeface="Times New Roman" pitchFamily="18" charset="0"/>
                <a:cs typeface="Times New Roman" pitchFamily="18" charset="0"/>
              </a:rPr>
              <a:t>insertion</a:t>
            </a:r>
            <a:r>
              <a:rPr lang="fr-FR" sz="2000" b="1" dirty="0">
                <a:latin typeface="Times New Roman" pitchFamily="18" charset="0"/>
                <a:ea typeface="Times New Roman" pitchFamily="18" charset="0"/>
                <a:cs typeface="Times New Roman" pitchFamily="18" charset="0"/>
              </a:rPr>
              <a:t>(</a:t>
            </a:r>
            <a:r>
              <a:rPr lang="fr-FR" sz="2000" b="1" dirty="0" err="1">
                <a:latin typeface="Times New Roman" pitchFamily="18" charset="0"/>
                <a:ea typeface="Times New Roman" pitchFamily="18" charset="0"/>
                <a:cs typeface="Times New Roman" pitchFamily="18" charset="0"/>
              </a:rPr>
              <a:t>dr</a:t>
            </a:r>
            <a:r>
              <a:rPr lang="fr-FR" sz="2000" b="1" dirty="0">
                <a:latin typeface="Times New Roman" pitchFamily="18" charset="0"/>
                <a:ea typeface="Times New Roman" pitchFamily="18" charset="0"/>
                <a:cs typeface="Times New Roman" pitchFamily="18" charset="0"/>
              </a:rPr>
              <a:t> entier </a:t>
            </a:r>
            <a:r>
              <a:rPr lang="fr-FR" sz="2000" dirty="0">
                <a:latin typeface="Times New Roman" pitchFamily="18" charset="0"/>
                <a:ea typeface="Times New Roman" pitchFamily="18" charset="0"/>
                <a:cs typeface="Times New Roman" pitchFamily="18" charset="0"/>
              </a:rPr>
              <a:t>t</a:t>
            </a:r>
            <a:r>
              <a:rPr lang="fr-FR" sz="2000" b="1" dirty="0">
                <a:latin typeface="Times New Roman" pitchFamily="18" charset="0"/>
                <a:ea typeface="Times New Roman" pitchFamily="18" charset="0"/>
                <a:cs typeface="Times New Roman" pitchFamily="18" charset="0"/>
              </a:rPr>
              <a:t>[], </a:t>
            </a:r>
            <a:r>
              <a:rPr lang="fr-FR" sz="2000" b="1" dirty="0" err="1">
                <a:latin typeface="Times New Roman" pitchFamily="18" charset="0"/>
                <a:ea typeface="Times New Roman" pitchFamily="18" charset="0"/>
                <a:cs typeface="Times New Roman" pitchFamily="18" charset="0"/>
              </a:rPr>
              <a:t>dr</a:t>
            </a:r>
            <a:r>
              <a:rPr lang="fr-FR" sz="2000" b="1" dirty="0">
                <a:latin typeface="Times New Roman" pitchFamily="18" charset="0"/>
                <a:ea typeface="Times New Roman" pitchFamily="18" charset="0"/>
                <a:cs typeface="Times New Roman" pitchFamily="18" charset="0"/>
              </a:rPr>
              <a:t> entier </a:t>
            </a:r>
            <a:r>
              <a:rPr lang="fr-FR" sz="2000" dirty="0">
                <a:latin typeface="Times New Roman" pitchFamily="18" charset="0"/>
                <a:ea typeface="Times New Roman" pitchFamily="18" charset="0"/>
                <a:cs typeface="Times New Roman" pitchFamily="18" charset="0"/>
              </a:rPr>
              <a:t>n</a:t>
            </a:r>
            <a:r>
              <a:rPr lang="fr-FR" sz="2000" b="1" dirty="0">
                <a:latin typeface="Times New Roman" pitchFamily="18" charset="0"/>
                <a:ea typeface="Times New Roman" pitchFamily="18" charset="0"/>
                <a:cs typeface="Times New Roman" pitchFamily="18" charset="0"/>
              </a:rPr>
              <a:t>, d entier </a:t>
            </a:r>
            <a:r>
              <a:rPr lang="fr-FR" sz="2000" dirty="0" err="1">
                <a:latin typeface="Times New Roman" pitchFamily="18" charset="0"/>
                <a:ea typeface="Times New Roman" pitchFamily="18" charset="0"/>
                <a:cs typeface="Times New Roman" pitchFamily="18" charset="0"/>
              </a:rPr>
              <a:t>elem</a:t>
            </a:r>
            <a:r>
              <a:rPr lang="fr-FR" sz="2000" b="1" dirty="0">
                <a:latin typeface="Times New Roman" pitchFamily="18" charset="0"/>
                <a:ea typeface="Times New Roman" pitchFamily="18" charset="0"/>
                <a:cs typeface="Times New Roman" pitchFamily="18" charset="0"/>
              </a:rPr>
              <a:t>) </a:t>
            </a:r>
          </a:p>
          <a:p>
            <a:pPr lvl="0" indent="180975" fontAlgn="base">
              <a:spcBef>
                <a:spcPct val="0"/>
              </a:spcBef>
              <a:spcAft>
                <a:spcPct val="0"/>
              </a:spcAft>
            </a:pPr>
            <a:r>
              <a:rPr lang="fr-FR" sz="2000" b="1" dirty="0" err="1">
                <a:latin typeface="Times New Roman" pitchFamily="18" charset="0"/>
                <a:ea typeface="Times New Roman" pitchFamily="18" charset="0"/>
                <a:cs typeface="Times New Roman" pitchFamily="18" charset="0"/>
              </a:rPr>
              <a:t>debfonc</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entier </a:t>
            </a:r>
            <a:r>
              <a:rPr lang="fr-FR" sz="2000" dirty="0">
                <a:latin typeface="Times New Roman" pitchFamily="18" charset="0"/>
                <a:ea typeface="Times New Roman" pitchFamily="18" charset="0"/>
                <a:cs typeface="Times New Roman" pitchFamily="18" charset="0"/>
              </a:rPr>
              <a:t>p</a:t>
            </a:r>
            <a:r>
              <a:rPr lang="fr-FR" sz="2000" b="1"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si </a:t>
            </a:r>
            <a:r>
              <a:rPr lang="fr-FR" sz="2000" dirty="0">
                <a:latin typeface="Times New Roman" pitchFamily="18" charset="0"/>
                <a:ea typeface="Times New Roman" pitchFamily="18" charset="0"/>
                <a:cs typeface="Times New Roman" pitchFamily="18" charset="0"/>
              </a:rPr>
              <a:t>n&lt;1</a:t>
            </a:r>
            <a:r>
              <a:rPr lang="fr-FR" sz="2000" b="1" dirty="0">
                <a:latin typeface="Times New Roman" pitchFamily="18" charset="0"/>
                <a:ea typeface="Times New Roman" pitchFamily="18" charset="0"/>
                <a:cs typeface="Times New Roman" pitchFamily="18" charset="0"/>
              </a:rPr>
              <a:t> alors </a:t>
            </a:r>
            <a:r>
              <a:rPr lang="fr-FR" sz="2000" dirty="0" smtClean="0">
                <a:latin typeface="Times New Roman" pitchFamily="18" charset="0"/>
                <a:ea typeface="Times New Roman" pitchFamily="18" charset="0"/>
                <a:cs typeface="Times New Roman" pitchFamily="18" charset="0"/>
              </a:rPr>
              <a:t>t[1]:=</a:t>
            </a:r>
            <a:r>
              <a:rPr lang="fr-FR" sz="2000" dirty="0" err="1" smtClean="0">
                <a:latin typeface="Times New Roman" pitchFamily="18" charset="0"/>
                <a:ea typeface="Times New Roman" pitchFamily="18" charset="0"/>
                <a:cs typeface="Times New Roman" pitchFamily="18" charset="0"/>
              </a:rPr>
              <a:t>elem</a:t>
            </a:r>
            <a:r>
              <a:rPr lang="fr-FR" sz="2000" b="1" dirty="0">
                <a:latin typeface="Times New Roman" pitchFamily="18" charset="0"/>
                <a:ea typeface="Times New Roman" pitchFamily="18" charset="0"/>
                <a:cs typeface="Times New Roman" pitchFamily="18" charset="0"/>
              </a:rPr>
              <a:t>; </a:t>
            </a:r>
            <a:r>
              <a:rPr lang="fr-FR" sz="2000" dirty="0" smtClean="0">
                <a:latin typeface="Times New Roman" pitchFamily="18" charset="0"/>
                <a:ea typeface="Times New Roman" pitchFamily="18" charset="0"/>
                <a:cs typeface="Times New Roman" pitchFamily="18" charset="0"/>
              </a:rPr>
              <a:t>n:=1</a:t>
            </a:r>
            <a:r>
              <a:rPr lang="fr-FR" sz="2000" b="1" dirty="0">
                <a:latin typeface="Times New Roman" pitchFamily="18" charset="0"/>
                <a:ea typeface="Times New Roman" pitchFamily="18" charset="0"/>
                <a:cs typeface="Times New Roman" pitchFamily="18" charset="0"/>
              </a:rPr>
              <a:t>; </a:t>
            </a:r>
            <a:r>
              <a:rPr lang="fr-FR" sz="2000" dirty="0">
                <a:latin typeface="Times New Roman" pitchFamily="18" charset="0"/>
                <a:ea typeface="Times New Roman" pitchFamily="18" charset="0"/>
                <a:cs typeface="Times New Roman" pitchFamily="18" charset="0"/>
              </a:rPr>
              <a:t>//vecteur vide</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sinon  </a:t>
            </a:r>
            <a:r>
              <a:rPr lang="fr-FR" sz="2000" dirty="0" smtClean="0">
                <a:latin typeface="Times New Roman" pitchFamily="18" charset="0"/>
                <a:ea typeface="Times New Roman" pitchFamily="18" charset="0"/>
                <a:cs typeface="Times New Roman" pitchFamily="18" charset="0"/>
              </a:rPr>
              <a:t>p</a:t>
            </a:r>
            <a:r>
              <a:rPr lang="fr-FR" sz="2000" b="1" dirty="0" smtClean="0">
                <a:latin typeface="Times New Roman" pitchFamily="18" charset="0"/>
                <a:ea typeface="Times New Roman" pitchFamily="18" charset="0"/>
                <a:cs typeface="Times New Roman" pitchFamily="18" charset="0"/>
              </a:rPr>
              <a:t>&lt;-</a:t>
            </a:r>
            <a:r>
              <a:rPr lang="fr-FR" sz="2000" dirty="0" err="1" smtClean="0">
                <a:latin typeface="Times New Roman" pitchFamily="18" charset="0"/>
                <a:ea typeface="Times New Roman" pitchFamily="18" charset="0"/>
                <a:cs typeface="Times New Roman" pitchFamily="18" charset="0"/>
              </a:rPr>
              <a:t>posit</a:t>
            </a:r>
            <a:r>
              <a:rPr lang="fr-FR" sz="2000" b="1" dirty="0" smtClean="0">
                <a:latin typeface="Times New Roman" pitchFamily="18" charset="0"/>
                <a:ea typeface="Times New Roman" pitchFamily="18" charset="0"/>
                <a:cs typeface="Times New Roman" pitchFamily="18" charset="0"/>
              </a:rPr>
              <a:t>(</a:t>
            </a:r>
            <a:r>
              <a:rPr lang="fr-FR" sz="2000" dirty="0" smtClean="0">
                <a:latin typeface="Times New Roman" pitchFamily="18" charset="0"/>
                <a:ea typeface="Times New Roman" pitchFamily="18" charset="0"/>
                <a:cs typeface="Times New Roman" pitchFamily="18" charset="0"/>
              </a:rPr>
              <a:t>t</a:t>
            </a:r>
            <a:r>
              <a:rPr lang="fr-FR" sz="2000" b="1" dirty="0">
                <a:latin typeface="Times New Roman" pitchFamily="18" charset="0"/>
                <a:ea typeface="Times New Roman" pitchFamily="18" charset="0"/>
                <a:cs typeface="Times New Roman" pitchFamily="18" charset="0"/>
              </a:rPr>
              <a:t>, </a:t>
            </a:r>
            <a:r>
              <a:rPr lang="fr-FR" sz="2000" dirty="0">
                <a:latin typeface="Times New Roman" pitchFamily="18" charset="0"/>
                <a:ea typeface="Times New Roman" pitchFamily="18" charset="0"/>
                <a:cs typeface="Times New Roman" pitchFamily="18" charset="0"/>
              </a:rPr>
              <a:t>n</a:t>
            </a:r>
            <a:r>
              <a:rPr lang="fr-FR" sz="2000" b="1" dirty="0">
                <a:latin typeface="Times New Roman" pitchFamily="18" charset="0"/>
                <a:ea typeface="Times New Roman" pitchFamily="18" charset="0"/>
                <a:cs typeface="Times New Roman" pitchFamily="18" charset="0"/>
              </a:rPr>
              <a:t>, </a:t>
            </a:r>
            <a:r>
              <a:rPr lang="fr-FR" sz="2000" dirty="0" err="1">
                <a:latin typeface="Times New Roman" pitchFamily="18" charset="0"/>
                <a:ea typeface="Times New Roman" pitchFamily="18" charset="0"/>
                <a:cs typeface="Times New Roman" pitchFamily="18" charset="0"/>
              </a:rPr>
              <a:t>elem</a:t>
            </a:r>
            <a:r>
              <a:rPr lang="fr-FR" sz="2000" b="1"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a:t>
            </a:r>
            <a:r>
              <a:rPr lang="fr-FR" sz="2000" dirty="0" err="1">
                <a:latin typeface="Times New Roman" pitchFamily="18" charset="0"/>
                <a:ea typeface="Times New Roman" pitchFamily="18" charset="0"/>
                <a:cs typeface="Times New Roman" pitchFamily="18" charset="0"/>
              </a:rPr>
              <a:t>insertplace</a:t>
            </a:r>
            <a:r>
              <a:rPr lang="fr-FR" sz="2000" b="1" dirty="0">
                <a:latin typeface="Times New Roman" pitchFamily="18" charset="0"/>
                <a:ea typeface="Times New Roman" pitchFamily="18" charset="0"/>
                <a:cs typeface="Times New Roman" pitchFamily="18" charset="0"/>
              </a:rPr>
              <a:t>(</a:t>
            </a:r>
            <a:r>
              <a:rPr lang="fr-FR" sz="2000" dirty="0">
                <a:latin typeface="Times New Roman" pitchFamily="18" charset="0"/>
                <a:ea typeface="Times New Roman" pitchFamily="18" charset="0"/>
                <a:cs typeface="Times New Roman" pitchFamily="18" charset="0"/>
              </a:rPr>
              <a:t>t</a:t>
            </a:r>
            <a:r>
              <a:rPr lang="fr-FR" sz="2000" b="1" dirty="0">
                <a:latin typeface="Times New Roman" pitchFamily="18" charset="0"/>
                <a:ea typeface="Times New Roman" pitchFamily="18" charset="0"/>
                <a:cs typeface="Times New Roman" pitchFamily="18" charset="0"/>
              </a:rPr>
              <a:t>, </a:t>
            </a:r>
            <a:r>
              <a:rPr lang="fr-FR" sz="2000" dirty="0">
                <a:latin typeface="Times New Roman" pitchFamily="18" charset="0"/>
                <a:ea typeface="Times New Roman" pitchFamily="18" charset="0"/>
                <a:cs typeface="Times New Roman" pitchFamily="18" charset="0"/>
              </a:rPr>
              <a:t>n</a:t>
            </a:r>
            <a:r>
              <a:rPr lang="fr-FR" sz="2000" b="1" dirty="0">
                <a:latin typeface="Times New Roman" pitchFamily="18" charset="0"/>
                <a:ea typeface="Times New Roman" pitchFamily="18" charset="0"/>
                <a:cs typeface="Times New Roman" pitchFamily="18" charset="0"/>
              </a:rPr>
              <a:t>, </a:t>
            </a:r>
            <a:r>
              <a:rPr lang="fr-FR" sz="2000" dirty="0" err="1">
                <a:latin typeface="Times New Roman" pitchFamily="18" charset="0"/>
                <a:ea typeface="Times New Roman" pitchFamily="18" charset="0"/>
                <a:cs typeface="Times New Roman" pitchFamily="18" charset="0"/>
              </a:rPr>
              <a:t>elem</a:t>
            </a:r>
            <a:r>
              <a:rPr lang="fr-FR" sz="2000" b="1" dirty="0">
                <a:latin typeface="Times New Roman" pitchFamily="18" charset="0"/>
                <a:ea typeface="Times New Roman" pitchFamily="18" charset="0"/>
                <a:cs typeface="Times New Roman" pitchFamily="18" charset="0"/>
              </a:rPr>
              <a:t>, </a:t>
            </a:r>
            <a:r>
              <a:rPr lang="fr-FR" sz="2000" dirty="0">
                <a:latin typeface="Times New Roman" pitchFamily="18" charset="0"/>
                <a:ea typeface="Times New Roman" pitchFamily="18" charset="0"/>
                <a:cs typeface="Times New Roman" pitchFamily="18" charset="0"/>
              </a:rPr>
              <a:t>p</a:t>
            </a:r>
            <a:r>
              <a:rPr lang="fr-FR" sz="2000" b="1"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a:t>
            </a:r>
            <a:r>
              <a:rPr lang="fr-FR" sz="2000" b="1" dirty="0" err="1">
                <a:latin typeface="Times New Roman" pitchFamily="18" charset="0"/>
                <a:ea typeface="Times New Roman" pitchFamily="18" charset="0"/>
                <a:cs typeface="Times New Roman" pitchFamily="18" charset="0"/>
              </a:rPr>
              <a:t>finsi</a:t>
            </a:r>
            <a:r>
              <a:rPr lang="fr-FR" sz="2000" b="1"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err="1">
                <a:latin typeface="Times New Roman" pitchFamily="18" charset="0"/>
                <a:cs typeface="Times New Roman" pitchFamily="18" charset="0"/>
              </a:rPr>
              <a:t>finfonc</a:t>
            </a:r>
            <a:r>
              <a:rPr lang="fr-FR" sz="2000" b="1" dirty="0">
                <a:latin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Où </a:t>
            </a:r>
            <a:r>
              <a:rPr lang="fr-FR" sz="2000" b="1" dirty="0" err="1">
                <a:latin typeface="Times New Roman" pitchFamily="18" charset="0"/>
                <a:ea typeface="Times New Roman" pitchFamily="18" charset="0"/>
                <a:cs typeface="Times New Roman" pitchFamily="18" charset="0"/>
              </a:rPr>
              <a:t>posit</a:t>
            </a:r>
            <a:r>
              <a:rPr lang="fr-FR" sz="2000" dirty="0">
                <a:latin typeface="Times New Roman" pitchFamily="18" charset="0"/>
                <a:ea typeface="Times New Roman" pitchFamily="18" charset="0"/>
                <a:cs typeface="Times New Roman" pitchFamily="18" charset="0"/>
              </a:rPr>
              <a:t> est une fonction délivrant la place de l’élément </a:t>
            </a:r>
            <a:r>
              <a:rPr lang="fr-FR" sz="2000" b="1" dirty="0" err="1">
                <a:latin typeface="Times New Roman" pitchFamily="18" charset="0"/>
                <a:ea typeface="Times New Roman" pitchFamily="18" charset="0"/>
                <a:cs typeface="Times New Roman" pitchFamily="18" charset="0"/>
              </a:rPr>
              <a:t>elem</a:t>
            </a:r>
            <a:r>
              <a:rPr lang="fr-FR" sz="2000" dirty="0">
                <a:latin typeface="Times New Roman" pitchFamily="18" charset="0"/>
                <a:ea typeface="Times New Roman" pitchFamily="18" charset="0"/>
                <a:cs typeface="Times New Roman" pitchFamily="18" charset="0"/>
              </a:rPr>
              <a:t> et </a:t>
            </a:r>
            <a:r>
              <a:rPr lang="fr-FR" sz="2000" b="1" dirty="0" err="1">
                <a:latin typeface="Times New Roman" pitchFamily="18" charset="0"/>
                <a:ea typeface="Times New Roman" pitchFamily="18" charset="0"/>
                <a:cs typeface="Times New Roman" pitchFamily="18" charset="0"/>
              </a:rPr>
              <a:t>insertplace</a:t>
            </a:r>
            <a:r>
              <a:rPr lang="fr-FR" sz="2000" b="1" dirty="0">
                <a:latin typeface="Times New Roman" pitchFamily="18" charset="0"/>
                <a:ea typeface="Times New Roman" pitchFamily="18" charset="0"/>
                <a:cs typeface="Times New Roman" pitchFamily="18" charset="0"/>
              </a:rPr>
              <a:t> </a:t>
            </a:r>
            <a:r>
              <a:rPr lang="fr-FR" sz="2000" dirty="0">
                <a:latin typeface="Times New Roman" pitchFamily="18" charset="0"/>
                <a:ea typeface="Times New Roman" pitchFamily="18" charset="0"/>
                <a:cs typeface="Times New Roman" pitchFamily="18" charset="0"/>
              </a:rPr>
              <a:t>l’insère à la place </a:t>
            </a:r>
            <a:r>
              <a:rPr lang="fr-FR" sz="2000" b="1" dirty="0">
                <a:latin typeface="Times New Roman" pitchFamily="18" charset="0"/>
                <a:ea typeface="Times New Roman" pitchFamily="18" charset="0"/>
                <a:cs typeface="Times New Roman" pitchFamily="18" charset="0"/>
              </a:rPr>
              <a:t>p</a:t>
            </a:r>
            <a:r>
              <a:rPr lang="fr-FR" sz="2000" dirty="0">
                <a:latin typeface="Times New Roman" pitchFamily="18" charset="0"/>
                <a:ea typeface="Times New Roman" pitchFamily="18" charset="0"/>
                <a:cs typeface="Times New Roman" pitchFamily="18" charset="0"/>
              </a:rPr>
              <a:t>. </a:t>
            </a:r>
          </a:p>
          <a:p>
            <a:pPr lvl="0" indent="180975"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La recherche de la place peut se faire par une méthode séquentielle ou par une méthode dichotomique.</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entier </a:t>
            </a:r>
            <a:r>
              <a:rPr lang="fr-FR" sz="2000" dirty="0" err="1" smtClean="0">
                <a:latin typeface="Times New Roman" pitchFamily="18" charset="0"/>
                <a:ea typeface="Times New Roman" pitchFamily="18" charset="0"/>
                <a:cs typeface="Times New Roman" pitchFamily="18" charset="0"/>
              </a:rPr>
              <a:t>posit</a:t>
            </a:r>
            <a:r>
              <a:rPr lang="fr-FR" sz="2000" b="1" dirty="0" smtClean="0">
                <a:latin typeface="Times New Roman" pitchFamily="18" charset="0"/>
                <a:ea typeface="Times New Roman" pitchFamily="18" charset="0"/>
                <a:cs typeface="Times New Roman" pitchFamily="18" charset="0"/>
              </a:rPr>
              <a:t>(d </a:t>
            </a:r>
            <a:r>
              <a:rPr lang="fr-FR" sz="2000" b="1" dirty="0">
                <a:latin typeface="Times New Roman" pitchFamily="18" charset="0"/>
                <a:ea typeface="Times New Roman" pitchFamily="18" charset="0"/>
                <a:cs typeface="Times New Roman" pitchFamily="18" charset="0"/>
              </a:rPr>
              <a:t>entier </a:t>
            </a:r>
            <a:r>
              <a:rPr lang="fr-FR" sz="2000" dirty="0">
                <a:latin typeface="Times New Roman" pitchFamily="18" charset="0"/>
                <a:ea typeface="Times New Roman" pitchFamily="18" charset="0"/>
                <a:cs typeface="Times New Roman" pitchFamily="18" charset="0"/>
              </a:rPr>
              <a:t>t</a:t>
            </a:r>
            <a:r>
              <a:rPr lang="fr-FR" sz="2000" b="1" dirty="0">
                <a:latin typeface="Times New Roman" pitchFamily="18" charset="0"/>
                <a:ea typeface="Times New Roman" pitchFamily="18" charset="0"/>
                <a:cs typeface="Times New Roman" pitchFamily="18" charset="0"/>
              </a:rPr>
              <a:t>[], d entier </a:t>
            </a:r>
            <a:r>
              <a:rPr lang="fr-FR" sz="2000" dirty="0">
                <a:latin typeface="Times New Roman" pitchFamily="18" charset="0"/>
                <a:ea typeface="Times New Roman" pitchFamily="18" charset="0"/>
                <a:cs typeface="Times New Roman" pitchFamily="18" charset="0"/>
              </a:rPr>
              <a:t>n</a:t>
            </a:r>
            <a:r>
              <a:rPr lang="fr-FR" sz="2000" b="1" dirty="0">
                <a:latin typeface="Times New Roman" pitchFamily="18" charset="0"/>
                <a:ea typeface="Times New Roman" pitchFamily="18" charset="0"/>
                <a:cs typeface="Times New Roman" pitchFamily="18" charset="0"/>
              </a:rPr>
              <a:t>, d entier </a:t>
            </a:r>
            <a:r>
              <a:rPr lang="fr-FR" sz="2000" dirty="0" err="1">
                <a:latin typeface="Times New Roman" pitchFamily="18" charset="0"/>
                <a:ea typeface="Times New Roman" pitchFamily="18" charset="0"/>
                <a:cs typeface="Times New Roman" pitchFamily="18" charset="0"/>
              </a:rPr>
              <a:t>elem</a:t>
            </a:r>
            <a:r>
              <a:rPr lang="fr-FR" sz="2000" b="1" dirty="0">
                <a:latin typeface="Times New Roman" pitchFamily="18" charset="0"/>
                <a:ea typeface="Times New Roman" pitchFamily="18" charset="0"/>
                <a:cs typeface="Times New Roman" pitchFamily="18" charset="0"/>
              </a:rPr>
              <a:t>)</a:t>
            </a:r>
          </a:p>
          <a:p>
            <a:pPr lvl="0" indent="180975" eaLnBrk="0" fontAlgn="base" hangingPunct="0">
              <a:spcBef>
                <a:spcPct val="0"/>
              </a:spcBef>
              <a:spcAft>
                <a:spcPct val="0"/>
              </a:spcAft>
            </a:pPr>
            <a:r>
              <a:rPr lang="fr-FR" sz="2000" b="1" dirty="0" err="1">
                <a:latin typeface="Times New Roman" pitchFamily="18" charset="0"/>
                <a:ea typeface="Times New Roman" pitchFamily="18" charset="0"/>
                <a:cs typeface="Times New Roman" pitchFamily="18" charset="0"/>
              </a:rPr>
              <a:t>debfonc</a:t>
            </a:r>
            <a:r>
              <a:rPr lang="fr-FR" sz="2000" b="1" dirty="0">
                <a:latin typeface="Times New Roman" pitchFamily="18" charset="0"/>
                <a:ea typeface="Times New Roman" pitchFamily="18" charset="0"/>
                <a:cs typeface="Times New Roman" pitchFamily="18" charset="0"/>
              </a:rPr>
              <a:t>  entier </a:t>
            </a:r>
            <a:r>
              <a:rPr lang="fr-FR" sz="2000" dirty="0">
                <a:latin typeface="Times New Roman" pitchFamily="18" charset="0"/>
                <a:ea typeface="Times New Roman" pitchFamily="18" charset="0"/>
                <a:cs typeface="Times New Roman" pitchFamily="18" charset="0"/>
              </a:rPr>
              <a:t>i</a:t>
            </a:r>
            <a:r>
              <a:rPr lang="fr-FR" sz="2000" b="1" dirty="0">
                <a:latin typeface="Times New Roman" pitchFamily="18" charset="0"/>
                <a:ea typeface="Times New Roman" pitchFamily="18" charset="0"/>
                <a:cs typeface="Times New Roman" pitchFamily="18" charset="0"/>
              </a:rPr>
              <a:t>, </a:t>
            </a:r>
            <a:r>
              <a:rPr lang="fr-FR" sz="2000" dirty="0">
                <a:latin typeface="Times New Roman" pitchFamily="18" charset="0"/>
                <a:ea typeface="Times New Roman" pitchFamily="18" charset="0"/>
                <a:cs typeface="Times New Roman" pitchFamily="18" charset="0"/>
              </a:rPr>
              <a:t>p</a:t>
            </a:r>
            <a:r>
              <a:rPr lang="fr-FR" sz="2000" b="1"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si </a:t>
            </a:r>
            <a:r>
              <a:rPr lang="fr-FR" sz="2000" dirty="0">
                <a:latin typeface="Times New Roman" pitchFamily="18" charset="0"/>
                <a:ea typeface="Times New Roman" pitchFamily="18" charset="0"/>
                <a:cs typeface="Times New Roman" pitchFamily="18" charset="0"/>
              </a:rPr>
              <a:t>t[1]&gt;</a:t>
            </a:r>
            <a:r>
              <a:rPr lang="fr-FR" sz="2000" dirty="0" err="1">
                <a:latin typeface="Times New Roman" pitchFamily="18" charset="0"/>
                <a:ea typeface="Times New Roman" pitchFamily="18" charset="0"/>
                <a:cs typeface="Times New Roman" pitchFamily="18" charset="0"/>
              </a:rPr>
              <a:t>elem</a:t>
            </a:r>
            <a:r>
              <a:rPr lang="fr-FR" sz="2000" b="1" dirty="0">
                <a:latin typeface="Times New Roman" pitchFamily="18" charset="0"/>
                <a:ea typeface="Times New Roman" pitchFamily="18" charset="0"/>
                <a:cs typeface="Times New Roman" pitchFamily="18" charset="0"/>
              </a:rPr>
              <a:t> alors </a:t>
            </a:r>
            <a:r>
              <a:rPr lang="fr-FR" sz="2000" dirty="0" smtClean="0">
                <a:latin typeface="Times New Roman" pitchFamily="18" charset="0"/>
                <a:ea typeface="Times New Roman" pitchFamily="18" charset="0"/>
                <a:cs typeface="Times New Roman" pitchFamily="18" charset="0"/>
              </a:rPr>
              <a:t>p:=1</a:t>
            </a:r>
            <a:r>
              <a:rPr lang="fr-FR" sz="2000" b="1"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sinon</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a:t>
            </a:r>
            <a:r>
              <a:rPr lang="fr-FR" sz="2000" dirty="0" smtClean="0">
                <a:latin typeface="Times New Roman" pitchFamily="18" charset="0"/>
                <a:ea typeface="Times New Roman" pitchFamily="18" charset="0"/>
                <a:cs typeface="Times New Roman" pitchFamily="18" charset="0"/>
              </a:rPr>
              <a:t>i:=n</a:t>
            </a:r>
            <a:r>
              <a:rPr lang="fr-FR" sz="2000" b="1"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a:t>
            </a:r>
            <a:r>
              <a:rPr lang="fr-FR" sz="2000" b="1" dirty="0" err="1">
                <a:latin typeface="Times New Roman" pitchFamily="18" charset="0"/>
                <a:ea typeface="Times New Roman" pitchFamily="18" charset="0"/>
                <a:cs typeface="Times New Roman" pitchFamily="18" charset="0"/>
              </a:rPr>
              <a:t>tantque</a:t>
            </a:r>
            <a:r>
              <a:rPr lang="fr-FR" sz="2000" b="1" dirty="0">
                <a:latin typeface="Times New Roman" pitchFamily="18" charset="0"/>
                <a:ea typeface="Times New Roman" pitchFamily="18" charset="0"/>
                <a:cs typeface="Times New Roman" pitchFamily="18" charset="0"/>
              </a:rPr>
              <a:t> </a:t>
            </a:r>
            <a:r>
              <a:rPr lang="fr-FR" sz="2000" dirty="0">
                <a:latin typeface="Times New Roman" pitchFamily="18" charset="0"/>
                <a:ea typeface="Times New Roman" pitchFamily="18" charset="0"/>
                <a:cs typeface="Times New Roman" pitchFamily="18" charset="0"/>
              </a:rPr>
              <a:t>t[i]&gt;</a:t>
            </a:r>
            <a:r>
              <a:rPr lang="fr-FR" sz="2000" dirty="0" err="1">
                <a:latin typeface="Times New Roman" pitchFamily="18" charset="0"/>
                <a:ea typeface="Times New Roman" pitchFamily="18" charset="0"/>
                <a:cs typeface="Times New Roman" pitchFamily="18" charset="0"/>
              </a:rPr>
              <a:t>elem</a:t>
            </a:r>
            <a:r>
              <a:rPr lang="fr-FR" sz="2000" b="1" dirty="0">
                <a:latin typeface="Times New Roman" pitchFamily="18" charset="0"/>
                <a:ea typeface="Times New Roman" pitchFamily="18" charset="0"/>
                <a:cs typeface="Times New Roman" pitchFamily="18" charset="0"/>
              </a:rPr>
              <a:t> faire </a:t>
            </a:r>
            <a:r>
              <a:rPr lang="fr-FR" sz="2000" dirty="0" smtClean="0">
                <a:latin typeface="Times New Roman" pitchFamily="18" charset="0"/>
                <a:ea typeface="Times New Roman" pitchFamily="18" charset="0"/>
                <a:cs typeface="Times New Roman" pitchFamily="18" charset="0"/>
              </a:rPr>
              <a:t>i:=i-1</a:t>
            </a:r>
            <a:r>
              <a:rPr lang="fr-FR" sz="2000" b="1"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a:t>
            </a:r>
            <a:r>
              <a:rPr lang="fr-FR" sz="2000" dirty="0" smtClean="0">
                <a:latin typeface="Times New Roman" pitchFamily="18" charset="0"/>
                <a:ea typeface="Times New Roman" pitchFamily="18" charset="0"/>
                <a:cs typeface="Times New Roman" pitchFamily="18" charset="0"/>
              </a:rPr>
              <a:t>p:=i+1</a:t>
            </a:r>
            <a:r>
              <a:rPr lang="fr-FR" sz="2000" b="1"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a:t>
            </a:r>
            <a:r>
              <a:rPr lang="fr-FR" sz="2000" b="1" dirty="0" err="1">
                <a:latin typeface="Times New Roman" pitchFamily="18" charset="0"/>
                <a:ea typeface="Times New Roman" pitchFamily="18" charset="0"/>
                <a:cs typeface="Times New Roman" pitchFamily="18" charset="0"/>
              </a:rPr>
              <a:t>finsi</a:t>
            </a:r>
            <a:r>
              <a:rPr lang="fr-FR" sz="2000" b="1"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retourner </a:t>
            </a:r>
            <a:r>
              <a:rPr lang="fr-FR" sz="2000" dirty="0">
                <a:latin typeface="Times New Roman" pitchFamily="18" charset="0"/>
                <a:ea typeface="Times New Roman" pitchFamily="18" charset="0"/>
                <a:cs typeface="Times New Roman" pitchFamily="18" charset="0"/>
              </a:rPr>
              <a:t>p</a:t>
            </a:r>
            <a:r>
              <a:rPr lang="fr-FR" sz="2000" b="1"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b="1" dirty="0" err="1">
                <a:latin typeface="Times New Roman" pitchFamily="18" charset="0"/>
                <a:cs typeface="Times New Roman" pitchFamily="18" charset="0"/>
              </a:rPr>
              <a:t>finfonc</a:t>
            </a:r>
            <a:r>
              <a:rPr lang="fr-FR" sz="2000" b="1" dirty="0">
                <a:latin typeface="Times New Roman" pitchFamily="18" charset="0"/>
                <a:cs typeface="Times New Roman" pitchFamily="18" charset="0"/>
              </a:rPr>
              <a:t>;</a:t>
            </a:r>
            <a:endParaRPr lang="fr-FR" sz="2000" dirty="0">
              <a:latin typeface="Times New Roman" pitchFamily="18" charset="0"/>
              <a:cs typeface="Times New Roman" pitchFamily="18" charset="0"/>
            </a:endParaRPr>
          </a:p>
        </p:txBody>
      </p:sp>
    </p:spTree>
    <p:extLst>
      <p:ext uri="{BB962C8B-B14F-4D97-AF65-F5344CB8AC3E}">
        <p14:creationId xmlns:p14="http://schemas.microsoft.com/office/powerpoint/2010/main" val="221598911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 y="419805"/>
            <a:ext cx="11795760" cy="5262979"/>
          </a:xfrm>
          <a:prstGeom prst="rect">
            <a:avLst/>
          </a:prstGeom>
        </p:spPr>
        <p:txBody>
          <a:bodyPr wrap="square">
            <a:spAutoFit/>
          </a:bodyPr>
          <a:lstStyle/>
          <a:p>
            <a:pPr lvl="0" indent="180975" fontAlgn="base">
              <a:spcBef>
                <a:spcPct val="0"/>
              </a:spcBef>
              <a:spcAft>
                <a:spcPct val="0"/>
              </a:spcAft>
            </a:pPr>
            <a:r>
              <a:rPr lang="fr-FR" sz="2400" dirty="0" smtClean="0">
                <a:latin typeface="Times New Roman" pitchFamily="18" charset="0"/>
                <a:ea typeface="Times New Roman" pitchFamily="18" charset="0"/>
                <a:cs typeface="Times New Roman" pitchFamily="18" charset="0"/>
              </a:rPr>
              <a:t>On connaît maintenant la place </a:t>
            </a:r>
            <a:r>
              <a:rPr lang="fr-FR" sz="2400" b="1" dirty="0">
                <a:latin typeface="Times New Roman" pitchFamily="18" charset="0"/>
                <a:ea typeface="Times New Roman" pitchFamily="18" charset="0"/>
                <a:cs typeface="Times New Roman" pitchFamily="18" charset="0"/>
              </a:rPr>
              <a:t>p</a:t>
            </a:r>
            <a:r>
              <a:rPr lang="fr-FR" sz="2400" dirty="0">
                <a:latin typeface="Times New Roman" pitchFamily="18" charset="0"/>
                <a:ea typeface="Times New Roman" pitchFamily="18" charset="0"/>
                <a:cs typeface="Times New Roman" pitchFamily="18" charset="0"/>
              </a:rPr>
              <a:t> de l’élément à insérer.</a:t>
            </a:r>
          </a:p>
          <a:p>
            <a:pPr lvl="0" indent="180975" fontAlgn="base">
              <a:spcBef>
                <a:spcPct val="0"/>
              </a:spcBef>
              <a:spcAft>
                <a:spcPct val="0"/>
              </a:spcAft>
            </a:pPr>
            <a:r>
              <a:rPr lang="fr-FR" sz="2400" dirty="0" smtClean="0">
                <a:latin typeface="Times New Roman" pitchFamily="18" charset="0"/>
                <a:ea typeface="Times New Roman" pitchFamily="18" charset="0"/>
                <a:cs typeface="Times New Roman" pitchFamily="18" charset="0"/>
              </a:rPr>
              <a:t>Le </a:t>
            </a:r>
            <a:r>
              <a:rPr lang="fr-FR" sz="2400" dirty="0">
                <a:latin typeface="Times New Roman" pitchFamily="18" charset="0"/>
                <a:ea typeface="Times New Roman" pitchFamily="18" charset="0"/>
                <a:cs typeface="Times New Roman" pitchFamily="18" charset="0"/>
              </a:rPr>
              <a:t>nouveau tableau </a:t>
            </a:r>
            <a:r>
              <a:rPr lang="fr-FR" sz="2400" b="1" dirty="0">
                <a:latin typeface="Times New Roman" pitchFamily="18" charset="0"/>
                <a:ea typeface="Times New Roman" pitchFamily="18" charset="0"/>
                <a:cs typeface="Times New Roman" pitchFamily="18" charset="0"/>
              </a:rPr>
              <a:t>t[0..n-1]</a:t>
            </a:r>
            <a:r>
              <a:rPr lang="fr-FR" sz="2400" dirty="0">
                <a:latin typeface="Times New Roman" pitchFamily="18" charset="0"/>
                <a:ea typeface="Times New Roman" pitchFamily="18" charset="0"/>
                <a:cs typeface="Times New Roman" pitchFamily="18" charset="0"/>
              </a:rPr>
              <a:t> est égal à la concaténation de 3 tableaux : </a:t>
            </a:r>
          </a:p>
          <a:p>
            <a:pPr lvl="0" indent="180975" fontAlgn="base">
              <a:spcBef>
                <a:spcPct val="0"/>
              </a:spcBef>
              <a:spcAft>
                <a:spcPct val="0"/>
              </a:spcAft>
            </a:pPr>
            <a:r>
              <a:rPr lang="fr-FR" sz="2400" b="1" dirty="0">
                <a:latin typeface="Times New Roman" pitchFamily="18" charset="0"/>
                <a:ea typeface="Times New Roman" pitchFamily="18" charset="0"/>
                <a:cs typeface="Times New Roman" pitchFamily="18" charset="0"/>
              </a:rPr>
              <a:t>t[0..p-1] || </a:t>
            </a:r>
            <a:r>
              <a:rPr lang="fr-FR" sz="2400" b="1" dirty="0" err="1">
                <a:latin typeface="Times New Roman" pitchFamily="18" charset="0"/>
                <a:ea typeface="Times New Roman" pitchFamily="18" charset="0"/>
                <a:cs typeface="Times New Roman" pitchFamily="18" charset="0"/>
              </a:rPr>
              <a:t>elem</a:t>
            </a:r>
            <a:r>
              <a:rPr lang="fr-FR" sz="2400" b="1" dirty="0">
                <a:latin typeface="Times New Roman" pitchFamily="18" charset="0"/>
                <a:ea typeface="Times New Roman" pitchFamily="18" charset="0"/>
                <a:cs typeface="Times New Roman" pitchFamily="18" charset="0"/>
              </a:rPr>
              <a:t> || t[p+1..n]</a:t>
            </a:r>
            <a:r>
              <a:rPr lang="fr-FR" sz="2400" dirty="0">
                <a:latin typeface="Times New Roman" pitchFamily="18" charset="0"/>
                <a:ea typeface="Times New Roman" pitchFamily="18" charset="0"/>
                <a:cs typeface="Times New Roman" pitchFamily="18" charset="0"/>
              </a:rPr>
              <a:t> </a:t>
            </a:r>
          </a:p>
          <a:p>
            <a:pPr lvl="0" indent="180975" fontAlgn="base">
              <a:spcBef>
                <a:spcPct val="0"/>
              </a:spcBef>
              <a:spcAft>
                <a:spcPct val="0"/>
              </a:spcAft>
            </a:pPr>
            <a:r>
              <a:rPr lang="fr-FR" sz="2400" dirty="0">
                <a:latin typeface="Times New Roman" pitchFamily="18" charset="0"/>
                <a:ea typeface="Times New Roman" pitchFamily="18" charset="0"/>
                <a:cs typeface="Times New Roman" pitchFamily="18" charset="0"/>
              </a:rPr>
              <a:t>où </a:t>
            </a:r>
            <a:r>
              <a:rPr lang="fr-FR" sz="2400" b="1" dirty="0">
                <a:latin typeface="Times New Roman" pitchFamily="18" charset="0"/>
                <a:ea typeface="Times New Roman" pitchFamily="18" charset="0"/>
                <a:cs typeface="Times New Roman" pitchFamily="18" charset="0"/>
              </a:rPr>
              <a:t>t[p+1..n]</a:t>
            </a:r>
            <a:r>
              <a:rPr lang="fr-FR" sz="2400" dirty="0">
                <a:latin typeface="Times New Roman" pitchFamily="18" charset="0"/>
                <a:ea typeface="Times New Roman" pitchFamily="18" charset="0"/>
                <a:cs typeface="Times New Roman" pitchFamily="18" charset="0"/>
              </a:rPr>
              <a:t> est identique à </a:t>
            </a:r>
            <a:r>
              <a:rPr lang="fr-FR" sz="2400" b="1" dirty="0">
                <a:latin typeface="Times New Roman" pitchFamily="18" charset="0"/>
                <a:ea typeface="Times New Roman" pitchFamily="18" charset="0"/>
                <a:cs typeface="Times New Roman" pitchFamily="18" charset="0"/>
              </a:rPr>
              <a:t>t[p..n-1]</a:t>
            </a:r>
            <a:r>
              <a:rPr lang="fr-FR" sz="2400" dirty="0">
                <a:latin typeface="Times New Roman" pitchFamily="18" charset="0"/>
                <a:ea typeface="Times New Roman" pitchFamily="18" charset="0"/>
                <a:cs typeface="Times New Roman" pitchFamily="18" charset="0"/>
              </a:rPr>
              <a:t>.</a:t>
            </a:r>
            <a:endParaRPr lang="fr-FR" sz="2400" dirty="0">
              <a:latin typeface="Times New Roman" pitchFamily="18" charset="0"/>
              <a:cs typeface="Times New Roman" pitchFamily="18" charset="0"/>
            </a:endParaRPr>
          </a:p>
          <a:p>
            <a:pPr lvl="0" indent="180975" eaLnBrk="0" fontAlgn="base" hangingPunct="0">
              <a:spcBef>
                <a:spcPct val="0"/>
              </a:spcBef>
              <a:spcAft>
                <a:spcPct val="0"/>
              </a:spcAft>
            </a:pPr>
            <a:r>
              <a:rPr lang="fr-FR" sz="2400" dirty="0" smtClean="0">
                <a:latin typeface="Times New Roman" pitchFamily="18" charset="0"/>
                <a:ea typeface="Times New Roman" pitchFamily="18" charset="0"/>
                <a:cs typeface="Times New Roman" pitchFamily="18" charset="0"/>
              </a:rPr>
              <a:t>Il </a:t>
            </a:r>
            <a:r>
              <a:rPr lang="fr-FR" sz="2400" dirty="0">
                <a:latin typeface="Times New Roman" pitchFamily="18" charset="0"/>
                <a:ea typeface="Times New Roman" pitchFamily="18" charset="0"/>
                <a:cs typeface="Times New Roman" pitchFamily="18" charset="0"/>
              </a:rPr>
              <a:t>suffit donc d’effectuer une translation à droite d’une position des éléments de </a:t>
            </a:r>
            <a:r>
              <a:rPr lang="fr-FR" sz="2400" b="1" dirty="0">
                <a:latin typeface="Times New Roman" pitchFamily="18" charset="0"/>
                <a:ea typeface="Times New Roman" pitchFamily="18" charset="0"/>
                <a:cs typeface="Times New Roman" pitchFamily="18" charset="0"/>
              </a:rPr>
              <a:t>t[p..n-1] </a:t>
            </a:r>
            <a:r>
              <a:rPr lang="fr-FR" sz="2400" dirty="0">
                <a:latin typeface="Times New Roman" pitchFamily="18" charset="0"/>
                <a:ea typeface="Times New Roman" pitchFamily="18" charset="0"/>
                <a:cs typeface="Times New Roman" pitchFamily="18" charset="0"/>
              </a:rPr>
              <a:t>et ensuite d’affecter </a:t>
            </a:r>
            <a:r>
              <a:rPr lang="fr-FR" sz="2400" b="1" dirty="0" err="1">
                <a:latin typeface="Times New Roman" pitchFamily="18" charset="0"/>
                <a:ea typeface="Times New Roman" pitchFamily="18" charset="0"/>
                <a:cs typeface="Times New Roman" pitchFamily="18" charset="0"/>
              </a:rPr>
              <a:t>elem</a:t>
            </a:r>
            <a:r>
              <a:rPr lang="fr-FR" sz="2400" dirty="0">
                <a:latin typeface="Times New Roman" pitchFamily="18" charset="0"/>
                <a:ea typeface="Times New Roman" pitchFamily="18" charset="0"/>
                <a:cs typeface="Times New Roman" pitchFamily="18" charset="0"/>
              </a:rPr>
              <a:t> à </a:t>
            </a:r>
            <a:r>
              <a:rPr lang="fr-FR" sz="2400" b="1" dirty="0">
                <a:latin typeface="Times New Roman" pitchFamily="18" charset="0"/>
                <a:ea typeface="Times New Roman" pitchFamily="18" charset="0"/>
                <a:cs typeface="Times New Roman" pitchFamily="18" charset="0"/>
              </a:rPr>
              <a:t>t[p]</a:t>
            </a:r>
            <a:r>
              <a:rPr lang="fr-FR" sz="2400" dirty="0">
                <a:latin typeface="Times New Roman" pitchFamily="18" charset="0"/>
                <a:ea typeface="Times New Roman" pitchFamily="18" charset="0"/>
                <a:cs typeface="Times New Roman" pitchFamily="18" charset="0"/>
              </a:rPr>
              <a:t>.</a:t>
            </a:r>
            <a:endParaRPr lang="fr-FR" sz="2400" dirty="0">
              <a:latin typeface="Times New Roman" pitchFamily="18" charset="0"/>
              <a:cs typeface="Times New Roman" pitchFamily="18" charset="0"/>
            </a:endParaRPr>
          </a:p>
          <a:p>
            <a:pPr lvl="0" indent="180975" eaLnBrk="0" fontAlgn="base" hangingPunct="0">
              <a:spcBef>
                <a:spcPct val="0"/>
              </a:spcBef>
              <a:spcAft>
                <a:spcPct val="0"/>
              </a:spcAft>
            </a:pPr>
            <a:r>
              <a:rPr lang="fr-FR" sz="2400" b="1" dirty="0" smtClean="0">
                <a:latin typeface="Times New Roman" pitchFamily="18" charset="0"/>
                <a:ea typeface="Times New Roman" pitchFamily="18" charset="0"/>
                <a:cs typeface="Times New Roman" pitchFamily="18" charset="0"/>
              </a:rPr>
              <a:t>entier </a:t>
            </a:r>
            <a:r>
              <a:rPr lang="fr-FR" sz="2400" dirty="0" err="1">
                <a:latin typeface="Times New Roman" pitchFamily="18" charset="0"/>
                <a:ea typeface="Times New Roman" pitchFamily="18" charset="0"/>
                <a:cs typeface="Times New Roman" pitchFamily="18" charset="0"/>
              </a:rPr>
              <a:t>insertplace</a:t>
            </a:r>
            <a:r>
              <a:rPr lang="fr-FR" sz="2400" b="1" dirty="0">
                <a:latin typeface="Times New Roman" pitchFamily="18" charset="0"/>
                <a:ea typeface="Times New Roman" pitchFamily="18" charset="0"/>
                <a:cs typeface="Times New Roman" pitchFamily="18" charset="0"/>
              </a:rPr>
              <a:t>(</a:t>
            </a:r>
            <a:r>
              <a:rPr lang="fr-FR" sz="2400" b="1" dirty="0" err="1">
                <a:latin typeface="Times New Roman" pitchFamily="18" charset="0"/>
                <a:ea typeface="Times New Roman" pitchFamily="18" charset="0"/>
                <a:cs typeface="Times New Roman" pitchFamily="18" charset="0"/>
              </a:rPr>
              <a:t>dr</a:t>
            </a:r>
            <a:r>
              <a:rPr lang="fr-FR" sz="2400" b="1" dirty="0">
                <a:latin typeface="Times New Roman" pitchFamily="18" charset="0"/>
                <a:ea typeface="Times New Roman" pitchFamily="18" charset="0"/>
                <a:cs typeface="Times New Roman" pitchFamily="18" charset="0"/>
              </a:rPr>
              <a:t> entier </a:t>
            </a:r>
            <a:r>
              <a:rPr lang="fr-FR" sz="2400" dirty="0">
                <a:latin typeface="Times New Roman" pitchFamily="18" charset="0"/>
                <a:ea typeface="Times New Roman" pitchFamily="18" charset="0"/>
                <a:cs typeface="Times New Roman" pitchFamily="18" charset="0"/>
              </a:rPr>
              <a:t>t</a:t>
            </a:r>
            <a:r>
              <a:rPr lang="fr-FR" sz="2400" b="1" dirty="0">
                <a:latin typeface="Times New Roman" pitchFamily="18" charset="0"/>
                <a:ea typeface="Times New Roman" pitchFamily="18" charset="0"/>
                <a:cs typeface="Times New Roman" pitchFamily="18" charset="0"/>
              </a:rPr>
              <a:t>[], d entier </a:t>
            </a:r>
            <a:r>
              <a:rPr lang="fr-FR" sz="2400" dirty="0">
                <a:latin typeface="Times New Roman" pitchFamily="18" charset="0"/>
                <a:ea typeface="Times New Roman" pitchFamily="18" charset="0"/>
                <a:cs typeface="Times New Roman" pitchFamily="18" charset="0"/>
              </a:rPr>
              <a:t>n</a:t>
            </a:r>
            <a:r>
              <a:rPr lang="fr-FR" sz="2400" b="1" dirty="0">
                <a:latin typeface="Times New Roman" pitchFamily="18" charset="0"/>
                <a:ea typeface="Times New Roman" pitchFamily="18" charset="0"/>
                <a:cs typeface="Times New Roman" pitchFamily="18" charset="0"/>
              </a:rPr>
              <a:t>, d entier </a:t>
            </a:r>
            <a:r>
              <a:rPr lang="fr-FR" sz="2400" dirty="0" err="1">
                <a:latin typeface="Times New Roman" pitchFamily="18" charset="0"/>
                <a:ea typeface="Times New Roman" pitchFamily="18" charset="0"/>
                <a:cs typeface="Times New Roman" pitchFamily="18" charset="0"/>
              </a:rPr>
              <a:t>elem</a:t>
            </a:r>
            <a:r>
              <a:rPr lang="fr-FR" sz="2400" b="1" dirty="0">
                <a:latin typeface="Times New Roman" pitchFamily="18" charset="0"/>
                <a:ea typeface="Times New Roman" pitchFamily="18" charset="0"/>
                <a:cs typeface="Times New Roman" pitchFamily="18" charset="0"/>
              </a:rPr>
              <a:t>, d entier </a:t>
            </a:r>
            <a:r>
              <a:rPr lang="fr-FR" sz="2400" dirty="0">
                <a:latin typeface="Times New Roman" pitchFamily="18" charset="0"/>
                <a:ea typeface="Times New Roman" pitchFamily="18" charset="0"/>
                <a:cs typeface="Times New Roman" pitchFamily="18" charset="0"/>
              </a:rPr>
              <a:t>p</a:t>
            </a:r>
            <a:r>
              <a:rPr lang="fr-FR" sz="2400" b="1" dirty="0">
                <a:latin typeface="Times New Roman" pitchFamily="18" charset="0"/>
                <a:ea typeface="Times New Roman" pitchFamily="18" charset="0"/>
                <a:cs typeface="Times New Roman" pitchFamily="18" charset="0"/>
              </a:rPr>
              <a:t>)</a:t>
            </a:r>
          </a:p>
          <a:p>
            <a:pPr lvl="0" indent="180975" eaLnBrk="0" fontAlgn="base" hangingPunct="0">
              <a:spcBef>
                <a:spcPct val="0"/>
              </a:spcBef>
              <a:spcAft>
                <a:spcPct val="0"/>
              </a:spcAft>
            </a:pPr>
            <a:r>
              <a:rPr lang="fr-FR" sz="2400" b="1" dirty="0" err="1">
                <a:latin typeface="Times New Roman" pitchFamily="18" charset="0"/>
                <a:ea typeface="Times New Roman" pitchFamily="18" charset="0"/>
                <a:cs typeface="Times New Roman" pitchFamily="18" charset="0"/>
              </a:rPr>
              <a:t>debfonc</a:t>
            </a:r>
            <a:endParaRPr lang="fr-FR" sz="2400" b="1" dirty="0">
              <a:latin typeface="Times New Roman" pitchFamily="18" charset="0"/>
              <a:ea typeface="Times New Roman" pitchFamily="18" charset="0"/>
              <a:cs typeface="Times New Roman" pitchFamily="18" charset="0"/>
            </a:endParaRPr>
          </a:p>
          <a:p>
            <a:pPr lvl="0" indent="180975"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pour </a:t>
            </a:r>
            <a:r>
              <a:rPr lang="fr-FR" sz="2400" dirty="0" smtClean="0">
                <a:latin typeface="Times New Roman" pitchFamily="18" charset="0"/>
                <a:ea typeface="Times New Roman" pitchFamily="18" charset="0"/>
                <a:cs typeface="Times New Roman" pitchFamily="18" charset="0"/>
              </a:rPr>
              <a:t>i:=n</a:t>
            </a:r>
            <a:r>
              <a:rPr lang="fr-FR" sz="2400" b="1" dirty="0" smtClean="0">
                <a:latin typeface="Times New Roman" pitchFamily="18" charset="0"/>
                <a:ea typeface="Times New Roman" pitchFamily="18" charset="0"/>
                <a:cs typeface="Times New Roman" pitchFamily="18" charset="0"/>
              </a:rPr>
              <a:t> </a:t>
            </a:r>
            <a:r>
              <a:rPr lang="fr-FR" sz="2400" b="1" dirty="0">
                <a:latin typeface="Times New Roman" pitchFamily="18" charset="0"/>
                <a:ea typeface="Times New Roman" pitchFamily="18" charset="0"/>
                <a:cs typeface="Times New Roman" pitchFamily="18" charset="0"/>
              </a:rPr>
              <a:t>bas </a:t>
            </a:r>
            <a:r>
              <a:rPr lang="fr-FR" sz="2400" dirty="0">
                <a:latin typeface="Times New Roman" pitchFamily="18" charset="0"/>
                <a:ea typeface="Times New Roman" pitchFamily="18" charset="0"/>
                <a:cs typeface="Times New Roman" pitchFamily="18" charset="0"/>
              </a:rPr>
              <a:t>p</a:t>
            </a:r>
            <a:r>
              <a:rPr lang="fr-FR" sz="2400" b="1" dirty="0">
                <a:latin typeface="Times New Roman" pitchFamily="18" charset="0"/>
                <a:ea typeface="Times New Roman" pitchFamily="18" charset="0"/>
                <a:cs typeface="Times New Roman" pitchFamily="18" charset="0"/>
              </a:rPr>
              <a:t> faire </a:t>
            </a:r>
            <a:r>
              <a:rPr lang="fr-FR" sz="2400" dirty="0" smtClean="0">
                <a:latin typeface="Times New Roman" pitchFamily="18" charset="0"/>
                <a:ea typeface="Times New Roman" pitchFamily="18" charset="0"/>
                <a:cs typeface="Times New Roman" pitchFamily="18" charset="0"/>
              </a:rPr>
              <a:t>t[i+1]:=t[i</a:t>
            </a:r>
            <a:r>
              <a:rPr lang="fr-FR" sz="2400" dirty="0">
                <a:latin typeface="Times New Roman" pitchFamily="18" charset="0"/>
                <a:ea typeface="Times New Roman" pitchFamily="18" charset="0"/>
                <a:cs typeface="Times New Roman" pitchFamily="18" charset="0"/>
              </a:rPr>
              <a:t>]</a:t>
            </a:r>
            <a:r>
              <a:rPr lang="fr-FR" sz="2400" b="1" dirty="0">
                <a:latin typeface="Times New Roman" pitchFamily="18" charset="0"/>
                <a:ea typeface="Times New Roman" pitchFamily="18" charset="0"/>
                <a:cs typeface="Times New Roman" pitchFamily="18" charset="0"/>
              </a:rPr>
              <a:t>;</a:t>
            </a:r>
            <a:endParaRPr lang="fr-FR" sz="2400" dirty="0">
              <a:latin typeface="Times New Roman" pitchFamily="18" charset="0"/>
              <a:cs typeface="Times New Roman" pitchFamily="18" charset="0"/>
              <a:sym typeface="Symbol" pitchFamily="18" charset="2"/>
            </a:endParaRPr>
          </a:p>
          <a:p>
            <a:pPr lvl="0" indent="180975"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a:t>
            </a:r>
            <a:r>
              <a:rPr lang="fr-FR" sz="2400" b="1" dirty="0" err="1">
                <a:latin typeface="Times New Roman" pitchFamily="18" charset="0"/>
                <a:ea typeface="Times New Roman" pitchFamily="18" charset="0"/>
                <a:cs typeface="Times New Roman" pitchFamily="18" charset="0"/>
                <a:sym typeface="Symbol" pitchFamily="18" charset="2"/>
              </a:rPr>
              <a:t>finfaire</a:t>
            </a:r>
            <a:r>
              <a:rPr lang="fr-FR" sz="2400" b="1" dirty="0">
                <a:latin typeface="Times New Roman" pitchFamily="18" charset="0"/>
                <a:ea typeface="Times New Roman" pitchFamily="18" charset="0"/>
                <a:cs typeface="Times New Roman" pitchFamily="18" charset="0"/>
                <a:sym typeface="Symbol" pitchFamily="18" charset="2"/>
              </a:rPr>
              <a:t>;</a:t>
            </a:r>
          </a:p>
          <a:p>
            <a:pPr lvl="0" indent="180975"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a:t>
            </a:r>
            <a:r>
              <a:rPr lang="fr-FR" sz="2400" dirty="0" smtClean="0">
                <a:latin typeface="Times New Roman" pitchFamily="18" charset="0"/>
                <a:ea typeface="Times New Roman" pitchFamily="18" charset="0"/>
                <a:cs typeface="Times New Roman" pitchFamily="18" charset="0"/>
                <a:sym typeface="Symbol" pitchFamily="18" charset="2"/>
              </a:rPr>
              <a:t>n:=n+1</a:t>
            </a:r>
            <a:r>
              <a:rPr lang="fr-FR" sz="2400" dirty="0">
                <a:latin typeface="Times New Roman" pitchFamily="18" charset="0"/>
                <a:ea typeface="Times New Roman" pitchFamily="18" charset="0"/>
                <a:cs typeface="Times New Roman" pitchFamily="18" charset="0"/>
                <a:sym typeface="Symbol" pitchFamily="18" charset="2"/>
              </a:rPr>
              <a:t>;</a:t>
            </a:r>
            <a:r>
              <a:rPr lang="fr-FR" sz="2400" b="1" dirty="0">
                <a:latin typeface="Times New Roman" pitchFamily="18" charset="0"/>
                <a:ea typeface="Times New Roman" pitchFamily="18" charset="0"/>
                <a:cs typeface="Times New Roman" pitchFamily="18" charset="0"/>
                <a:sym typeface="Symbol" pitchFamily="18" charset="2"/>
              </a:rPr>
              <a:t> </a:t>
            </a:r>
            <a:endParaRPr lang="fr-FR" sz="2400" dirty="0">
              <a:latin typeface="Times New Roman" pitchFamily="18" charset="0"/>
              <a:cs typeface="Times New Roman" pitchFamily="18" charset="0"/>
              <a:sym typeface="Symbol" pitchFamily="18" charset="2"/>
            </a:endParaRPr>
          </a:p>
          <a:p>
            <a:pPr lvl="0" indent="180975"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a:t>
            </a:r>
            <a:r>
              <a:rPr lang="fr-FR" sz="2400" dirty="0" smtClean="0">
                <a:latin typeface="Times New Roman" pitchFamily="18" charset="0"/>
                <a:ea typeface="Times New Roman" pitchFamily="18" charset="0"/>
                <a:cs typeface="Times New Roman" pitchFamily="18" charset="0"/>
                <a:sym typeface="Symbol" pitchFamily="18" charset="2"/>
              </a:rPr>
              <a:t>t[p]:=</a:t>
            </a:r>
            <a:r>
              <a:rPr lang="fr-FR" sz="2400" dirty="0" err="1" smtClean="0">
                <a:latin typeface="Times New Roman" pitchFamily="18" charset="0"/>
                <a:ea typeface="Times New Roman" pitchFamily="18" charset="0"/>
                <a:cs typeface="Times New Roman" pitchFamily="18" charset="0"/>
                <a:sym typeface="Symbol" pitchFamily="18" charset="2"/>
              </a:rPr>
              <a:t>elem</a:t>
            </a:r>
            <a:r>
              <a:rPr lang="fr-FR" sz="2400" b="1" dirty="0">
                <a:latin typeface="Times New Roman" pitchFamily="18" charset="0"/>
                <a:ea typeface="Times New Roman" pitchFamily="18" charset="0"/>
                <a:cs typeface="Times New Roman" pitchFamily="18" charset="0"/>
                <a:sym typeface="Symbol" pitchFamily="18" charset="2"/>
              </a:rPr>
              <a:t>;</a:t>
            </a:r>
          </a:p>
          <a:p>
            <a:pPr lvl="0" indent="180975" eaLnBrk="0" fontAlgn="base" hangingPunct="0">
              <a:spcBef>
                <a:spcPct val="0"/>
              </a:spcBef>
              <a:spcAft>
                <a:spcPct val="0"/>
              </a:spcAft>
            </a:pPr>
            <a:r>
              <a:rPr lang="en-GB" sz="2400" b="1" dirty="0">
                <a:latin typeface="Times New Roman" pitchFamily="18" charset="0"/>
                <a:cs typeface="Times New Roman" pitchFamily="18" charset="0"/>
                <a:sym typeface="Symbol" pitchFamily="18" charset="2"/>
              </a:rPr>
              <a:t>  </a:t>
            </a:r>
            <a:r>
              <a:rPr lang="fr-FR" sz="2400" b="1" dirty="0">
                <a:latin typeface="Times New Roman" pitchFamily="18" charset="0"/>
                <a:ea typeface="Times New Roman" pitchFamily="18" charset="0"/>
                <a:cs typeface="Times New Roman" pitchFamily="18" charset="0"/>
                <a:sym typeface="Symbol" pitchFamily="18" charset="2"/>
              </a:rPr>
              <a:t>retourner </a:t>
            </a:r>
            <a:r>
              <a:rPr lang="fr-FR" sz="2400" dirty="0">
                <a:latin typeface="Times New Roman" pitchFamily="18" charset="0"/>
                <a:ea typeface="Times New Roman" pitchFamily="18" charset="0"/>
                <a:cs typeface="Times New Roman" pitchFamily="18" charset="0"/>
                <a:sym typeface="Symbol" pitchFamily="18" charset="2"/>
              </a:rPr>
              <a:t>n</a:t>
            </a:r>
            <a:r>
              <a:rPr lang="fr-FR" sz="2400" b="1" dirty="0">
                <a:latin typeface="Times New Roman" pitchFamily="18" charset="0"/>
                <a:ea typeface="Times New Roman" pitchFamily="18" charset="0"/>
                <a:cs typeface="Times New Roman" pitchFamily="18" charset="0"/>
                <a:sym typeface="Symbol" pitchFamily="18" charset="2"/>
              </a:rPr>
              <a:t>;</a:t>
            </a:r>
            <a:endParaRPr lang="fr-FR" sz="2400" dirty="0">
              <a:latin typeface="Times New Roman" pitchFamily="18" charset="0"/>
              <a:cs typeface="Times New Roman" pitchFamily="18" charset="0"/>
              <a:sym typeface="Symbol" pitchFamily="18" charset="2"/>
            </a:endParaRPr>
          </a:p>
          <a:p>
            <a:pPr lvl="0" indent="180975" eaLnBrk="0" fontAlgn="base" hangingPunct="0">
              <a:spcBef>
                <a:spcPct val="0"/>
              </a:spcBef>
              <a:spcAft>
                <a:spcPct val="0"/>
              </a:spcAft>
            </a:pPr>
            <a:r>
              <a:rPr lang="fr-FR" sz="2400" b="1" dirty="0" err="1">
                <a:latin typeface="Times New Roman" pitchFamily="18" charset="0"/>
                <a:ea typeface="Times New Roman" pitchFamily="18" charset="0"/>
                <a:cs typeface="Times New Roman" pitchFamily="18" charset="0"/>
                <a:sym typeface="Symbol" pitchFamily="18" charset="2"/>
              </a:rPr>
              <a:t>finfonc</a:t>
            </a:r>
            <a:r>
              <a:rPr lang="fr-FR" sz="2400" b="1" dirty="0" smtClean="0">
                <a:latin typeface="Times New Roman" pitchFamily="18" charset="0"/>
                <a:ea typeface="Times New Roman" pitchFamily="18" charset="0"/>
                <a:cs typeface="Times New Roman" pitchFamily="18" charset="0"/>
                <a:sym typeface="Symbol" pitchFamily="18" charset="2"/>
              </a:rPr>
              <a:t>;</a:t>
            </a:r>
          </a:p>
        </p:txBody>
      </p:sp>
    </p:spTree>
    <p:extLst>
      <p:ext uri="{BB962C8B-B14F-4D97-AF65-F5344CB8AC3E}">
        <p14:creationId xmlns:p14="http://schemas.microsoft.com/office/powerpoint/2010/main" val="42477638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223520" y="410243"/>
                <a:ext cx="11785600" cy="3785652"/>
              </a:xfrm>
              <a:prstGeom prst="rect">
                <a:avLst/>
              </a:prstGeom>
            </p:spPr>
            <p:txBody>
              <a:bodyPr wrap="square">
                <a:spAutoFit/>
              </a:bodyPr>
              <a:lstStyle/>
              <a:p>
                <a:pPr lvl="0" indent="180975" eaLnBrk="0" fontAlgn="base" hangingPunct="0">
                  <a:spcBef>
                    <a:spcPct val="0"/>
                  </a:spcBef>
                  <a:spcAft>
                    <a:spcPct val="0"/>
                  </a:spcAft>
                </a:pPr>
                <a:r>
                  <a:rPr lang="fr-FR" sz="2400" b="1" dirty="0"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b) Calcul </a:t>
                </a:r>
                <a:r>
                  <a:rPr lang="fr-FR" sz="2400" b="1" dirty="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de la </a:t>
                </a:r>
                <a:r>
                  <a:rPr lang="fr-FR" sz="2400" b="1" dirty="0"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complexité</a:t>
                </a:r>
              </a:p>
              <a:p>
                <a:pPr lvl="0" indent="180975" eaLnBrk="0" fontAlgn="base" hangingPunct="0">
                  <a:spcBef>
                    <a:spcPct val="0"/>
                  </a:spcBef>
                  <a:spcAft>
                    <a:spcPct val="0"/>
                  </a:spcAft>
                </a:pPr>
                <a:endParaRPr lang="fr-FR" sz="2400" b="1" dirty="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endParaRPr>
              </a:p>
              <a:p>
                <a:pPr lvl="0" indent="180975" eaLnBrk="0" fontAlgn="base" hangingPunct="0">
                  <a:spcBef>
                    <a:spcPct val="0"/>
                  </a:spcBef>
                  <a:spcAft>
                    <a:spcPct val="0"/>
                  </a:spcAft>
                </a:pPr>
                <a:r>
                  <a:rPr lang="fr-FR" sz="2400" dirty="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Recherche de la position </a:t>
                </a:r>
                <a:r>
                  <a:rPr lang="fr-FR" sz="2400" dirty="0"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 </a:t>
                </a:r>
                <a:r>
                  <a:rPr lang="fr-FR" sz="2400" dirty="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3</a:t>
                </a:r>
                <a:r>
                  <a:rPr lang="fr-FR" sz="2400" dirty="0"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 </a:t>
                </a:r>
                <a:r>
                  <a:rPr lang="fr-FR" sz="2400" dirty="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 </a:t>
                </a:r>
                <a:r>
                  <a:rPr lang="fr-FR" sz="2400" dirty="0"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2i </a:t>
                </a:r>
                <a:r>
                  <a:rPr lang="fr-FR" sz="2400" dirty="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 </a:t>
                </a:r>
                <a:r>
                  <a:rPr lang="fr-FR" sz="2400" dirty="0"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i  </a:t>
                </a:r>
                <a:endParaRPr lang="fr-FR" sz="2400" dirty="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endParaRPr>
              </a:p>
              <a:p>
                <a:pPr lvl="0" indent="180975" eaLnBrk="0" fontAlgn="base" hangingPunct="0">
                  <a:spcBef>
                    <a:spcPct val="0"/>
                  </a:spcBef>
                  <a:spcAft>
                    <a:spcPct val="0"/>
                  </a:spcAft>
                </a:pPr>
                <a:r>
                  <a:rPr lang="fr-FR" sz="2400" dirty="0" err="1">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Insertplace</a:t>
                </a:r>
                <a:r>
                  <a:rPr lang="fr-FR" sz="2400" dirty="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 </a:t>
                </a:r>
                <a:r>
                  <a:rPr lang="fr-FR" sz="2400" dirty="0"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 2i + 2 = i</a:t>
                </a:r>
              </a:p>
              <a:p>
                <a:pPr lvl="0" indent="180975" eaLnBrk="0" fontAlgn="base" hangingPunct="0">
                  <a:spcBef>
                    <a:spcPct val="0"/>
                  </a:spcBef>
                  <a:spcAft>
                    <a:spcPct val="0"/>
                  </a:spcAft>
                </a:pPr>
                <a:endParaRPr lang="fr-FR" sz="2400" dirty="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endParaRPr>
              </a:p>
              <a:p>
                <a:pPr lvl="0" indent="180975" eaLnBrk="0" fontAlgn="base" hangingPunct="0">
                  <a:spcBef>
                    <a:spcPct val="0"/>
                  </a:spcBef>
                  <a:spcAft>
                    <a:spcPct val="0"/>
                  </a:spcAft>
                </a:pPr>
                <a:r>
                  <a:rPr lang="fr-FR" sz="2400" dirty="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La complexité </a:t>
                </a:r>
                <a:r>
                  <a:rPr lang="fr-FR" sz="2400" dirty="0"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de Insertion est : T(n) = </a:t>
                </a:r>
                <a14:m>
                  <m:oMath xmlns:m="http://schemas.openxmlformats.org/officeDocument/2006/math">
                    <m:nary>
                      <m:naryPr>
                        <m:chr m:val="∑"/>
                        <m:ctrlPr>
                          <a:rPr lang="fr-FR" sz="2400" i="1" smtClean="0">
                            <a:latin typeface="Cambria Math" panose="02040503050406030204" pitchFamily="18" charset="0"/>
                            <a:cs typeface="Times New Roman" panose="02020603050405020304" pitchFamily="18" charset="0"/>
                            <a:sym typeface="Symbol" pitchFamily="18" charset="2"/>
                          </a:rPr>
                        </m:ctrlPr>
                      </m:naryPr>
                      <m:sub>
                        <m:r>
                          <m:rPr>
                            <m:brk m:alnAt="23"/>
                          </m:rPr>
                          <a:rPr lang="fr-FR" sz="2400" b="0" i="1" smtClean="0">
                            <a:latin typeface="Cambria Math" panose="02040503050406030204" pitchFamily="18" charset="0"/>
                            <a:cs typeface="Times New Roman" panose="02020603050405020304" pitchFamily="18" charset="0"/>
                            <a:sym typeface="Symbol" pitchFamily="18" charset="2"/>
                          </a:rPr>
                          <m:t>1</m:t>
                        </m:r>
                      </m:sub>
                      <m:sup>
                        <m:r>
                          <a:rPr lang="fr-FR" sz="2400" b="0" i="1" smtClean="0">
                            <a:latin typeface="Cambria Math" panose="02040503050406030204" pitchFamily="18" charset="0"/>
                            <a:cs typeface="Times New Roman" panose="02020603050405020304" pitchFamily="18" charset="0"/>
                            <a:sym typeface="Symbol" pitchFamily="18" charset="2"/>
                          </a:rPr>
                          <m:t>𝑛</m:t>
                        </m:r>
                      </m:sup>
                      <m:e>
                        <m:r>
                          <a:rPr lang="fr-FR" sz="2400" b="0" i="1" smtClean="0">
                            <a:latin typeface="Cambria Math" panose="02040503050406030204" pitchFamily="18" charset="0"/>
                            <a:cs typeface="Times New Roman" panose="02020603050405020304" pitchFamily="18" charset="0"/>
                            <a:sym typeface="Symbol" pitchFamily="18" charset="2"/>
                          </a:rPr>
                          <m:t>(</m:t>
                        </m:r>
                        <m:r>
                          <a:rPr lang="fr-FR" sz="2400" b="0" i="1" smtClean="0">
                            <a:latin typeface="Cambria Math" panose="02040503050406030204" pitchFamily="18" charset="0"/>
                            <a:cs typeface="Times New Roman" panose="02020603050405020304" pitchFamily="18" charset="0"/>
                            <a:sym typeface="Symbol" pitchFamily="18" charset="2"/>
                          </a:rPr>
                          <m:t>𝑖</m:t>
                        </m:r>
                        <m:r>
                          <a:rPr lang="fr-FR" sz="2400" b="0" i="1" smtClean="0">
                            <a:latin typeface="Cambria Math" panose="02040503050406030204" pitchFamily="18" charset="0"/>
                            <a:cs typeface="Times New Roman" panose="02020603050405020304" pitchFamily="18" charset="0"/>
                            <a:sym typeface="Symbol" pitchFamily="18" charset="2"/>
                          </a:rPr>
                          <m:t>+</m:t>
                        </m:r>
                        <m:r>
                          <a:rPr lang="fr-FR" sz="2400" b="0" i="1" smtClean="0">
                            <a:latin typeface="Cambria Math" panose="02040503050406030204" pitchFamily="18" charset="0"/>
                            <a:cs typeface="Times New Roman" panose="02020603050405020304" pitchFamily="18" charset="0"/>
                            <a:sym typeface="Symbol" pitchFamily="18" charset="2"/>
                          </a:rPr>
                          <m:t>𝑖</m:t>
                        </m:r>
                      </m:e>
                    </m:nary>
                    <m:r>
                      <a:rPr lang="fr-FR" sz="2400" b="0" i="1" smtClean="0">
                        <a:latin typeface="Cambria Math" panose="02040503050406030204" pitchFamily="18" charset="0"/>
                        <a:cs typeface="Times New Roman" panose="02020603050405020304" pitchFamily="18" charset="0"/>
                        <a:sym typeface="Symbol" pitchFamily="18" charset="2"/>
                      </a:rPr>
                      <m:t>) </m:t>
                    </m:r>
                  </m:oMath>
                </a14:m>
                <a:r>
                  <a:rPr lang="fr-FR" sz="2400" dirty="0"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 2n = n, T(n)= O(n)</a:t>
                </a:r>
              </a:p>
              <a:p>
                <a:pPr lvl="0" indent="180975" eaLnBrk="0" fontAlgn="base" hangingPunct="0">
                  <a:spcBef>
                    <a:spcPct val="0"/>
                  </a:spcBef>
                  <a:spcAft>
                    <a:spcPct val="0"/>
                  </a:spcAft>
                </a:pPr>
                <a:endParaRPr lang="fr-FR" sz="2400" dirty="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endParaRPr>
              </a:p>
              <a:p>
                <a:pPr lvl="0" indent="180975" eaLnBrk="0" fontAlgn="base" hangingPunct="0">
                  <a:spcBef>
                    <a:spcPct val="0"/>
                  </a:spcBef>
                  <a:spcAft>
                    <a:spcPct val="0"/>
                  </a:spcAft>
                </a:pPr>
                <a:r>
                  <a:rPr lang="fr-FR" sz="2400" dirty="0"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La fonction Insertion est appelée dans la procédure </a:t>
                </a:r>
                <a:r>
                  <a:rPr lang="fr-FR" sz="2400" dirty="0" err="1"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triinsertion</a:t>
                </a:r>
                <a:r>
                  <a:rPr lang="fr-FR" sz="2400" dirty="0"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a:t>
                </a:r>
              </a:p>
              <a:p>
                <a:pPr lvl="0" indent="180975" eaLnBrk="0" fontAlgn="base" hangingPunct="0">
                  <a:spcBef>
                    <a:spcPct val="0"/>
                  </a:spcBef>
                  <a:spcAft>
                    <a:spcPct val="0"/>
                  </a:spcAft>
                </a:pPr>
                <a:endParaRPr lang="fr-FR" sz="2400" dirty="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endParaRPr>
              </a:p>
              <a:p>
                <a:pPr lvl="0" indent="180975" eaLnBrk="0" fontAlgn="base" hangingPunct="0">
                  <a:spcBef>
                    <a:spcPct val="0"/>
                  </a:spcBef>
                  <a:spcAft>
                    <a:spcPct val="0"/>
                  </a:spcAft>
                </a:pPr>
                <a:r>
                  <a:rPr lang="fr-FR" sz="2400" dirty="0"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La complexité de </a:t>
                </a:r>
                <a:r>
                  <a:rPr lang="fr-FR" sz="2400" dirty="0" err="1"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triinsertion</a:t>
                </a:r>
                <a:r>
                  <a:rPr lang="fr-FR" sz="2400" dirty="0"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 est : 1 + 2n x n = n x n, T(n) = O(n</a:t>
                </a:r>
                <a:r>
                  <a:rPr lang="fr-FR" sz="2400" baseline="30000" dirty="0" smtClean="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2</a:t>
                </a:r>
                <a:r>
                  <a:rPr lang="fr-FR" sz="2400" dirty="0">
                    <a:latin typeface="Times New Roman" panose="02020603050405020304" pitchFamily="18" charset="0"/>
                    <a:ea typeface="Times New Roman" panose="02020603050405020304" pitchFamily="18" charset="0"/>
                    <a:cs typeface="Times New Roman" panose="02020603050405020304" pitchFamily="18" charset="0"/>
                    <a:sym typeface="Symbol" pitchFamily="18" charset="2"/>
                  </a:rPr>
                  <a:t>)</a:t>
                </a:r>
              </a:p>
            </p:txBody>
          </p:sp>
        </mc:Choice>
        <mc:Fallback xmlns="">
          <p:sp>
            <p:nvSpPr>
              <p:cNvPr id="2" name="Rectangle 1"/>
              <p:cNvSpPr>
                <a:spLocks noRot="1" noChangeAspect="1" noMove="1" noResize="1" noEditPoints="1" noAdjustHandles="1" noChangeArrowheads="1" noChangeShapeType="1" noTextEdit="1"/>
              </p:cNvSpPr>
              <p:nvPr/>
            </p:nvSpPr>
            <p:spPr>
              <a:xfrm>
                <a:off x="223520" y="410243"/>
                <a:ext cx="11785600" cy="3785652"/>
              </a:xfrm>
              <a:prstGeom prst="rect">
                <a:avLst/>
              </a:prstGeom>
              <a:blipFill>
                <a:blip r:embed="rId2"/>
                <a:stretch>
                  <a:fillRect t="-1288" b="-2738"/>
                </a:stretch>
              </a:blipFill>
            </p:spPr>
            <p:txBody>
              <a:bodyPr/>
              <a:lstStyle/>
              <a:p>
                <a:r>
                  <a:rPr lang="fr-FR">
                    <a:noFill/>
                  </a:rPr>
                  <a:t> </a:t>
                </a:r>
              </a:p>
            </p:txBody>
          </p:sp>
        </mc:Fallback>
      </mc:AlternateContent>
    </p:spTree>
    <p:extLst>
      <p:ext uri="{BB962C8B-B14F-4D97-AF65-F5344CB8AC3E}">
        <p14:creationId xmlns:p14="http://schemas.microsoft.com/office/powerpoint/2010/main" val="39748610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97346"/>
            <a:ext cx="11562080" cy="6247864"/>
          </a:xfrm>
          <a:prstGeom prst="rect">
            <a:avLst/>
          </a:prstGeom>
        </p:spPr>
        <p:txBody>
          <a:bodyPr wrap="square">
            <a:spAutoFit/>
          </a:bodyPr>
          <a:lstStyle/>
          <a:p>
            <a:pPr lvl="0" indent="180975"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b)</a:t>
            </a:r>
            <a:r>
              <a:rPr lang="fr-FR" sz="2000" b="1" dirty="0">
                <a:latin typeface="Times New Roman" pitchFamily="18" charset="0"/>
                <a:ea typeface="Times New Roman" pitchFamily="18" charset="0"/>
                <a:cs typeface="Times New Roman" pitchFamily="18" charset="0"/>
              </a:rPr>
              <a:t> </a:t>
            </a:r>
            <a:r>
              <a:rPr lang="fr-FR" sz="2000" u="sng" dirty="0">
                <a:latin typeface="Times New Roman" pitchFamily="18" charset="0"/>
                <a:ea typeface="Times New Roman" pitchFamily="18" charset="0"/>
                <a:cs typeface="Times New Roman" pitchFamily="18" charset="0"/>
              </a:rPr>
              <a:t>Suppression d’un élément dans un vecteur trié</a:t>
            </a:r>
          </a:p>
          <a:p>
            <a:pPr lvl="0" indent="180975"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Toutefois la valeur n’appartient pas au vecteur trié, dans ce cas la suppression est impossible. On utilise alors une variable booléenne. L’algorithme est :</a:t>
            </a:r>
          </a:p>
          <a:p>
            <a:pPr lvl="0"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 Rechercher une occurrence de la valeur </a:t>
            </a:r>
            <a:r>
              <a:rPr lang="fr-FR" sz="2000" b="1" dirty="0" err="1">
                <a:latin typeface="Times New Roman" pitchFamily="18" charset="0"/>
                <a:ea typeface="Times New Roman" pitchFamily="18" charset="0"/>
                <a:cs typeface="Times New Roman" pitchFamily="18" charset="0"/>
              </a:rPr>
              <a:t>elem</a:t>
            </a:r>
            <a:r>
              <a:rPr lang="fr-FR" sz="2000" dirty="0">
                <a:latin typeface="Times New Roman" pitchFamily="18" charset="0"/>
                <a:ea typeface="Times New Roman" pitchFamily="18" charset="0"/>
                <a:cs typeface="Times New Roman" pitchFamily="18" charset="0"/>
              </a:rPr>
              <a:t> à supprimer</a:t>
            </a:r>
          </a:p>
          <a:p>
            <a:pPr lvl="0"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 Si on a trouvé cette occurrence, tasser les éléments du vecteur.</a:t>
            </a:r>
            <a:endParaRPr lang="fr-FR" sz="2000" b="1" dirty="0">
              <a:latin typeface="Times New Roman" pitchFamily="18" charset="0"/>
              <a:ea typeface="Times New Roman" pitchFamily="18" charset="0"/>
              <a:cs typeface="Times New Roman" pitchFamily="18" charset="0"/>
            </a:endParaRPr>
          </a:p>
          <a:p>
            <a:pPr lvl="0" indent="180975" eaLnBrk="0" fontAlgn="base" hangingPunct="0">
              <a:spcBef>
                <a:spcPct val="0"/>
              </a:spcBef>
              <a:spcAft>
                <a:spcPct val="0"/>
              </a:spcAft>
            </a:pPr>
            <a:r>
              <a:rPr lang="fr-FR" sz="2000" b="1" dirty="0" smtClean="0">
                <a:latin typeface="Times New Roman" pitchFamily="18" charset="0"/>
                <a:ea typeface="Times New Roman" pitchFamily="18" charset="0"/>
                <a:cs typeface="Times New Roman" pitchFamily="18" charset="0"/>
              </a:rPr>
              <a:t>vide </a:t>
            </a:r>
            <a:r>
              <a:rPr lang="fr-FR" sz="2000" dirty="0" err="1">
                <a:latin typeface="Times New Roman" pitchFamily="18" charset="0"/>
                <a:ea typeface="Times New Roman" pitchFamily="18" charset="0"/>
                <a:cs typeface="Times New Roman" pitchFamily="18" charset="0"/>
              </a:rPr>
              <a:t>supp</a:t>
            </a:r>
            <a:r>
              <a:rPr lang="fr-FR" sz="2000" b="1" dirty="0">
                <a:latin typeface="Times New Roman" pitchFamily="18" charset="0"/>
                <a:ea typeface="Times New Roman" pitchFamily="18" charset="0"/>
                <a:cs typeface="Times New Roman" pitchFamily="18" charset="0"/>
              </a:rPr>
              <a:t>(</a:t>
            </a:r>
            <a:r>
              <a:rPr lang="fr-FR" sz="2000" b="1" dirty="0" err="1">
                <a:latin typeface="Times New Roman" pitchFamily="18" charset="0"/>
                <a:ea typeface="Times New Roman" pitchFamily="18" charset="0"/>
                <a:cs typeface="Times New Roman" pitchFamily="18" charset="0"/>
              </a:rPr>
              <a:t>dr</a:t>
            </a:r>
            <a:r>
              <a:rPr lang="fr-FR" sz="2000" b="1" dirty="0">
                <a:latin typeface="Times New Roman" pitchFamily="18" charset="0"/>
                <a:ea typeface="Times New Roman" pitchFamily="18" charset="0"/>
                <a:cs typeface="Times New Roman" pitchFamily="18" charset="0"/>
              </a:rPr>
              <a:t> entier </a:t>
            </a:r>
            <a:r>
              <a:rPr lang="fr-FR" sz="2000" dirty="0">
                <a:latin typeface="Times New Roman" pitchFamily="18" charset="0"/>
                <a:ea typeface="Times New Roman" pitchFamily="18" charset="0"/>
                <a:cs typeface="Times New Roman" pitchFamily="18" charset="0"/>
              </a:rPr>
              <a:t>t</a:t>
            </a:r>
            <a:r>
              <a:rPr lang="fr-FR" sz="2000" b="1" dirty="0">
                <a:latin typeface="Times New Roman" pitchFamily="18" charset="0"/>
                <a:ea typeface="Times New Roman" pitchFamily="18" charset="0"/>
                <a:cs typeface="Times New Roman" pitchFamily="18" charset="0"/>
              </a:rPr>
              <a:t>[], d entier </a:t>
            </a:r>
            <a:r>
              <a:rPr lang="fr-FR" sz="2000" dirty="0">
                <a:latin typeface="Times New Roman" pitchFamily="18" charset="0"/>
                <a:ea typeface="Times New Roman" pitchFamily="18" charset="0"/>
                <a:cs typeface="Times New Roman" pitchFamily="18" charset="0"/>
              </a:rPr>
              <a:t>n</a:t>
            </a:r>
            <a:r>
              <a:rPr lang="fr-FR" sz="2000" b="1" dirty="0">
                <a:latin typeface="Times New Roman" pitchFamily="18" charset="0"/>
                <a:ea typeface="Times New Roman" pitchFamily="18" charset="0"/>
                <a:cs typeface="Times New Roman" pitchFamily="18" charset="0"/>
              </a:rPr>
              <a:t>, d entier </a:t>
            </a:r>
            <a:r>
              <a:rPr lang="fr-FR" sz="2000" dirty="0" err="1">
                <a:latin typeface="Times New Roman" pitchFamily="18" charset="0"/>
                <a:ea typeface="Times New Roman" pitchFamily="18" charset="0"/>
                <a:cs typeface="Times New Roman" pitchFamily="18" charset="0"/>
              </a:rPr>
              <a:t>elem</a:t>
            </a:r>
            <a:r>
              <a:rPr lang="fr-FR" sz="2000" b="1" dirty="0">
                <a:latin typeface="Times New Roman" pitchFamily="18" charset="0"/>
                <a:ea typeface="Times New Roman" pitchFamily="18" charset="0"/>
                <a:cs typeface="Times New Roman" pitchFamily="18" charset="0"/>
              </a:rPr>
              <a:t>, r booléen </a:t>
            </a:r>
            <a:r>
              <a:rPr lang="fr-FR" sz="2000" dirty="0">
                <a:latin typeface="Times New Roman" pitchFamily="18" charset="0"/>
                <a:ea typeface="Times New Roman" pitchFamily="18" charset="0"/>
                <a:cs typeface="Times New Roman" pitchFamily="18" charset="0"/>
              </a:rPr>
              <a:t>possible</a:t>
            </a:r>
            <a:r>
              <a:rPr lang="fr-FR" sz="2000" b="1" dirty="0">
                <a:latin typeface="Times New Roman" pitchFamily="18" charset="0"/>
                <a:ea typeface="Times New Roman" pitchFamily="18" charset="0"/>
                <a:cs typeface="Times New Roman" pitchFamily="18" charset="0"/>
              </a:rPr>
              <a:t>)</a:t>
            </a:r>
          </a:p>
          <a:p>
            <a:pPr lvl="0" indent="180975" eaLnBrk="0" fontAlgn="base" hangingPunct="0">
              <a:spcBef>
                <a:spcPct val="0"/>
              </a:spcBef>
              <a:spcAft>
                <a:spcPct val="0"/>
              </a:spcAft>
            </a:pPr>
            <a:r>
              <a:rPr lang="fr-FR" sz="2000" b="1" dirty="0" err="1">
                <a:latin typeface="Times New Roman" pitchFamily="18" charset="0"/>
                <a:ea typeface="Times New Roman" pitchFamily="18" charset="0"/>
                <a:cs typeface="Times New Roman" pitchFamily="18" charset="0"/>
              </a:rPr>
              <a:t>debfonc</a:t>
            </a:r>
            <a:endParaRPr lang="fr-FR" sz="2000" b="1" dirty="0">
              <a:latin typeface="Times New Roman" pitchFamily="18" charset="0"/>
              <a:ea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entier </a:t>
            </a:r>
            <a:r>
              <a:rPr lang="fr-FR" sz="2000" dirty="0">
                <a:latin typeface="Times New Roman" pitchFamily="18" charset="0"/>
                <a:ea typeface="Times New Roman" pitchFamily="18" charset="0"/>
                <a:cs typeface="Times New Roman" pitchFamily="18" charset="0"/>
              </a:rPr>
              <a:t>p</a:t>
            </a:r>
            <a:r>
              <a:rPr lang="fr-FR" sz="2000" b="1" dirty="0">
                <a:latin typeface="Times New Roman" pitchFamily="18" charset="0"/>
                <a:ea typeface="Times New Roman" pitchFamily="18" charset="0"/>
                <a:cs typeface="Times New Roman" pitchFamily="18" charset="0"/>
              </a:rPr>
              <a:t>;</a:t>
            </a: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a:t>
            </a:r>
            <a:r>
              <a:rPr lang="fr-FR" sz="2000" dirty="0" smtClean="0">
                <a:latin typeface="Times New Roman" pitchFamily="18" charset="0"/>
                <a:ea typeface="Times New Roman" pitchFamily="18" charset="0"/>
                <a:cs typeface="Times New Roman" pitchFamily="18" charset="0"/>
              </a:rPr>
              <a:t>possible:=</a:t>
            </a:r>
            <a:r>
              <a:rPr lang="fr-FR" sz="2000" b="1" dirty="0" smtClean="0">
                <a:latin typeface="Times New Roman" pitchFamily="18" charset="0"/>
                <a:ea typeface="Times New Roman" pitchFamily="18" charset="0"/>
                <a:cs typeface="Times New Roman" pitchFamily="18" charset="0"/>
              </a:rPr>
              <a:t>faux</a:t>
            </a:r>
            <a:r>
              <a:rPr lang="fr-FR" sz="2000" b="1" dirty="0">
                <a:latin typeface="Times New Roman" pitchFamily="18" charset="0"/>
                <a:ea typeface="Times New Roman" pitchFamily="18" charset="0"/>
                <a:cs typeface="Times New Roman" pitchFamily="18" charset="0"/>
              </a:rPr>
              <a:t>;  </a:t>
            </a: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a:t>
            </a:r>
            <a:r>
              <a:rPr lang="fr-FR" sz="2000" dirty="0" smtClean="0">
                <a:latin typeface="Times New Roman" pitchFamily="18" charset="0"/>
                <a:ea typeface="Times New Roman" pitchFamily="18" charset="0"/>
                <a:cs typeface="Times New Roman" pitchFamily="18" charset="0"/>
                <a:sym typeface="Symbol" pitchFamily="18" charset="2"/>
              </a:rPr>
              <a:t>p</a:t>
            </a:r>
            <a:r>
              <a:rPr lang="fr-FR" sz="2000" b="1" dirty="0" smtClean="0">
                <a:latin typeface="Times New Roman" pitchFamily="18" charset="0"/>
                <a:ea typeface="Times New Roman" pitchFamily="18" charset="0"/>
                <a:cs typeface="Times New Roman" pitchFamily="18" charset="0"/>
                <a:sym typeface="Symbol" pitchFamily="18" charset="2"/>
              </a:rPr>
              <a:t>:=</a:t>
            </a:r>
            <a:r>
              <a:rPr lang="fr-FR" sz="2000" dirty="0" smtClean="0">
                <a:latin typeface="Times New Roman" pitchFamily="18" charset="0"/>
                <a:ea typeface="Times New Roman" pitchFamily="18" charset="0"/>
                <a:cs typeface="Times New Roman" pitchFamily="18" charset="0"/>
                <a:sym typeface="Symbol" pitchFamily="18" charset="2"/>
              </a:rPr>
              <a:t>positsup(v</a:t>
            </a:r>
            <a:r>
              <a:rPr lang="fr-FR" sz="2000" dirty="0">
                <a:latin typeface="Times New Roman" pitchFamily="18" charset="0"/>
                <a:ea typeface="Times New Roman" pitchFamily="18" charset="0"/>
                <a:cs typeface="Times New Roman" pitchFamily="18" charset="0"/>
                <a:sym typeface="Symbol" pitchFamily="18" charset="2"/>
              </a:rPr>
              <a:t>, n, </a:t>
            </a:r>
            <a:r>
              <a:rPr lang="fr-FR" sz="2000" dirty="0" err="1">
                <a:latin typeface="Times New Roman" pitchFamily="18" charset="0"/>
                <a:ea typeface="Times New Roman" pitchFamily="18" charset="0"/>
                <a:cs typeface="Times New Roman" pitchFamily="18" charset="0"/>
                <a:sym typeface="Symbol" pitchFamily="18" charset="2"/>
              </a:rPr>
              <a:t>elem</a:t>
            </a:r>
            <a:r>
              <a:rPr lang="fr-FR" sz="2000" dirty="0">
                <a:latin typeface="Times New Roman" pitchFamily="18" charset="0"/>
                <a:ea typeface="Times New Roman" pitchFamily="18" charset="0"/>
                <a:cs typeface="Times New Roman" pitchFamily="18" charset="0"/>
                <a:sym typeface="Symbol" pitchFamily="18" charset="2"/>
              </a:rPr>
              <a:t>)</a:t>
            </a:r>
            <a:r>
              <a:rPr lang="fr-FR" sz="2000" b="1" dirty="0">
                <a:latin typeface="Times New Roman" pitchFamily="18" charset="0"/>
                <a:ea typeface="Times New Roman" pitchFamily="18" charset="0"/>
                <a:cs typeface="Times New Roman" pitchFamily="18" charset="0"/>
                <a:sym typeface="Symbol" pitchFamily="18" charset="2"/>
              </a:rPr>
              <a:t>;</a:t>
            </a: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si </a:t>
            </a:r>
            <a:r>
              <a:rPr lang="fr-FR" sz="2000" dirty="0">
                <a:latin typeface="Times New Roman" pitchFamily="18" charset="0"/>
                <a:ea typeface="Times New Roman" pitchFamily="18" charset="0"/>
                <a:cs typeface="Times New Roman" pitchFamily="18" charset="0"/>
                <a:sym typeface="Symbol" pitchFamily="18" charset="2"/>
              </a:rPr>
              <a:t>p&gt;0</a:t>
            </a:r>
            <a:r>
              <a:rPr lang="fr-FR" sz="2000" b="1" dirty="0">
                <a:latin typeface="Times New Roman" pitchFamily="18" charset="0"/>
                <a:ea typeface="Times New Roman" pitchFamily="18" charset="0"/>
                <a:cs typeface="Times New Roman" pitchFamily="18" charset="0"/>
                <a:sym typeface="Symbol" pitchFamily="18" charset="2"/>
              </a:rPr>
              <a:t> alors</a:t>
            </a:r>
          </a:p>
          <a:p>
            <a:pPr lvl="0" indent="180975" eaLnBrk="0" fontAlgn="base" hangingPunct="0">
              <a:spcBef>
                <a:spcPct val="0"/>
              </a:spcBef>
              <a:spcAft>
                <a:spcPct val="0"/>
              </a:spcAft>
            </a:pPr>
            <a:r>
              <a:rPr lang="fr-FR" sz="2000" b="1" dirty="0">
                <a:latin typeface="Times New Roman" pitchFamily="18" charset="0"/>
                <a:cs typeface="Times New Roman" pitchFamily="18" charset="0"/>
                <a:sym typeface="Symbol" pitchFamily="18" charset="2"/>
              </a:rPr>
              <a:t>    </a:t>
            </a:r>
            <a:r>
              <a:rPr lang="fr-FR" sz="2000" dirty="0">
                <a:latin typeface="Times New Roman" pitchFamily="18" charset="0"/>
                <a:cs typeface="Times New Roman" pitchFamily="18" charset="0"/>
                <a:sym typeface="Symbol" pitchFamily="18" charset="2"/>
              </a:rPr>
              <a:t>tasser(v, n, p)</a:t>
            </a:r>
            <a:r>
              <a:rPr lang="fr-FR" sz="2000" b="1" dirty="0">
                <a:latin typeface="Times New Roman" pitchFamily="18" charset="0"/>
                <a:cs typeface="Times New Roman" pitchFamily="18" charset="0"/>
                <a:sym typeface="Symbol" pitchFamily="18" charset="2"/>
              </a:rPr>
              <a:t>;</a:t>
            </a:r>
            <a:endParaRPr lang="fr-FR" sz="2000" dirty="0">
              <a:latin typeface="Times New Roman" pitchFamily="18" charset="0"/>
              <a:cs typeface="Times New Roman" pitchFamily="18" charset="0"/>
              <a:sym typeface="Symbol" pitchFamily="18" charset="2"/>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a:t>
            </a:r>
            <a:r>
              <a:rPr lang="fr-FR" sz="2000" dirty="0" smtClean="0">
                <a:latin typeface="Times New Roman" pitchFamily="18" charset="0"/>
                <a:ea typeface="Times New Roman" pitchFamily="18" charset="0"/>
                <a:cs typeface="Times New Roman" pitchFamily="18" charset="0"/>
                <a:sym typeface="Symbol" pitchFamily="18" charset="2"/>
              </a:rPr>
              <a:t>possible:=</a:t>
            </a:r>
            <a:r>
              <a:rPr lang="fr-FR" sz="2000" b="1" dirty="0" smtClean="0">
                <a:latin typeface="Times New Roman" pitchFamily="18" charset="0"/>
                <a:ea typeface="Times New Roman" pitchFamily="18" charset="0"/>
                <a:cs typeface="Times New Roman" pitchFamily="18" charset="0"/>
                <a:sym typeface="Symbol" pitchFamily="18" charset="2"/>
              </a:rPr>
              <a:t>vrai</a:t>
            </a:r>
            <a:r>
              <a:rPr lang="fr-FR" sz="2000" b="1" dirty="0">
                <a:latin typeface="Times New Roman" pitchFamily="18" charset="0"/>
                <a:ea typeface="Times New Roman" pitchFamily="18" charset="0"/>
                <a:cs typeface="Times New Roman" pitchFamily="18" charset="0"/>
                <a:sym typeface="Symbol" pitchFamily="18" charset="2"/>
              </a:rPr>
              <a:t>;</a:t>
            </a:r>
          </a:p>
          <a:p>
            <a:pPr lvl="0" indent="180975" eaLnBrk="0" fontAlgn="base" hangingPunct="0">
              <a:spcBef>
                <a:spcPct val="0"/>
              </a:spcBef>
              <a:spcAft>
                <a:spcPct val="0"/>
              </a:spcAft>
            </a:pPr>
            <a:r>
              <a:rPr lang="en-GB" sz="2000" b="1" dirty="0">
                <a:latin typeface="Times New Roman" pitchFamily="18" charset="0"/>
                <a:cs typeface="Times New Roman" pitchFamily="18" charset="0"/>
                <a:sym typeface="Symbol" pitchFamily="18" charset="2"/>
              </a:rPr>
              <a:t>  </a:t>
            </a:r>
            <a:r>
              <a:rPr lang="fr-FR" sz="2000" b="1" dirty="0" err="1">
                <a:latin typeface="Times New Roman" pitchFamily="18" charset="0"/>
                <a:cs typeface="Times New Roman" pitchFamily="18" charset="0"/>
                <a:sym typeface="Symbol" pitchFamily="18" charset="2"/>
              </a:rPr>
              <a:t>finsi</a:t>
            </a:r>
            <a:r>
              <a:rPr lang="fr-FR" sz="2000" b="1" dirty="0">
                <a:latin typeface="Times New Roman" pitchFamily="18" charset="0"/>
                <a:ea typeface="Times New Roman" pitchFamily="18" charset="0"/>
                <a:cs typeface="Times New Roman" pitchFamily="18" charset="0"/>
                <a:sym typeface="Symbol" pitchFamily="18" charset="2"/>
              </a:rPr>
              <a:t>;</a:t>
            </a:r>
            <a:endParaRPr lang="fr-FR" sz="2000" dirty="0">
              <a:latin typeface="Times New Roman" pitchFamily="18" charset="0"/>
              <a:cs typeface="Times New Roman" pitchFamily="18" charset="0"/>
              <a:sym typeface="Symbol" pitchFamily="18" charset="2"/>
            </a:endParaRPr>
          </a:p>
          <a:p>
            <a:pPr lvl="0" indent="180975" eaLnBrk="0" fontAlgn="base" hangingPunct="0">
              <a:spcBef>
                <a:spcPct val="0"/>
              </a:spcBef>
              <a:spcAft>
                <a:spcPct val="0"/>
              </a:spcAft>
            </a:pPr>
            <a:r>
              <a:rPr lang="fr-FR" sz="2000" b="1" dirty="0" err="1">
                <a:latin typeface="Times New Roman" pitchFamily="18" charset="0"/>
                <a:ea typeface="Times New Roman" pitchFamily="18" charset="0"/>
                <a:cs typeface="Times New Roman" pitchFamily="18" charset="0"/>
                <a:sym typeface="Symbol" pitchFamily="18" charset="2"/>
              </a:rPr>
              <a:t>finfonc</a:t>
            </a:r>
            <a:r>
              <a:rPr lang="fr-FR" sz="2000" b="1" dirty="0">
                <a:latin typeface="Times New Roman" pitchFamily="18" charset="0"/>
                <a:ea typeface="Times New Roman" pitchFamily="18" charset="0"/>
                <a:cs typeface="Times New Roman" pitchFamily="18" charset="0"/>
                <a:sym typeface="Symbol" pitchFamily="18" charset="2"/>
              </a:rPr>
              <a:t>;</a:t>
            </a:r>
          </a:p>
          <a:p>
            <a:pPr lvl="0" indent="180975" eaLnBrk="0" fontAlgn="base" hangingPunct="0">
              <a:spcBef>
                <a:spcPct val="0"/>
              </a:spcBef>
              <a:spcAft>
                <a:spcPct val="0"/>
              </a:spcAft>
            </a:pPr>
            <a:endParaRPr lang="fr-FR" sz="2000" b="1" dirty="0">
              <a:latin typeface="Times New Roman" pitchFamily="18" charset="0"/>
              <a:cs typeface="Times New Roman" pitchFamily="18" charset="0"/>
              <a:sym typeface="Symbol" pitchFamily="18" charset="2"/>
            </a:endParaRPr>
          </a:p>
          <a:p>
            <a:pPr lvl="0" indent="180975" eaLnBrk="0" fontAlgn="base" hangingPunct="0">
              <a:spcBef>
                <a:spcPct val="0"/>
              </a:spcBef>
              <a:spcAft>
                <a:spcPct val="0"/>
              </a:spcAft>
            </a:pPr>
            <a:r>
              <a:rPr lang="fr-FR" sz="2000" dirty="0">
                <a:latin typeface="Times New Roman" panose="02020603050405020304" pitchFamily="18" charset="0"/>
                <a:cs typeface="Times New Roman" panose="02020603050405020304" pitchFamily="18" charset="0"/>
              </a:rPr>
              <a:t>Recherche de la place de l’élément à supprimer</a:t>
            </a:r>
          </a:p>
          <a:p>
            <a:pPr lvl="0" indent="180975" eaLnBrk="0" fontAlgn="base" hangingPunct="0">
              <a:spcBef>
                <a:spcPct val="0"/>
              </a:spcBef>
              <a:spcAft>
                <a:spcPct val="0"/>
              </a:spcAft>
            </a:pPr>
            <a:r>
              <a:rPr lang="fr-FR" sz="2000" dirty="0">
                <a:latin typeface="Times New Roman" panose="02020603050405020304" pitchFamily="18" charset="0"/>
                <a:cs typeface="Times New Roman" panose="02020603050405020304" pitchFamily="18" charset="0"/>
              </a:rPr>
              <a:t>On cherche p tel que : </a:t>
            </a:r>
            <a:r>
              <a:rPr lang="fr-FR" sz="2000" b="1" dirty="0">
                <a:latin typeface="Times New Roman" panose="02020603050405020304" pitchFamily="18" charset="0"/>
                <a:cs typeface="Times New Roman" panose="02020603050405020304" pitchFamily="18" charset="0"/>
              </a:rPr>
              <a:t>v[1..p] ≤ </a:t>
            </a:r>
            <a:r>
              <a:rPr lang="fr-FR" sz="2000" b="1" dirty="0" err="1">
                <a:latin typeface="Times New Roman" panose="02020603050405020304" pitchFamily="18" charset="0"/>
                <a:cs typeface="Times New Roman" panose="02020603050405020304" pitchFamily="18" charset="0"/>
              </a:rPr>
              <a:t>elem</a:t>
            </a:r>
            <a:r>
              <a:rPr lang="fr-FR" sz="2000" b="1" dirty="0">
                <a:latin typeface="Times New Roman" panose="02020603050405020304" pitchFamily="18" charset="0"/>
                <a:cs typeface="Times New Roman" panose="02020603050405020304" pitchFamily="18" charset="0"/>
              </a:rPr>
              <a:t> &lt; v|p+1..n]</a:t>
            </a:r>
          </a:p>
          <a:p>
            <a:pPr lvl="0" indent="180975" eaLnBrk="0" fontAlgn="base" hangingPunct="0">
              <a:spcBef>
                <a:spcPct val="0"/>
              </a:spcBef>
              <a:spcAft>
                <a:spcPct val="0"/>
              </a:spcAft>
            </a:pPr>
            <a:r>
              <a:rPr lang="fr-FR" sz="2000" dirty="0">
                <a:latin typeface="Times New Roman" panose="02020603050405020304" pitchFamily="18" charset="0"/>
                <a:cs typeface="Times New Roman" panose="02020603050405020304" pitchFamily="18" charset="0"/>
              </a:rPr>
              <a:t>Ensuite, il suffit de vérifier si </a:t>
            </a:r>
            <a:r>
              <a:rPr lang="fr-FR" sz="2000" b="1" dirty="0">
                <a:latin typeface="Times New Roman" panose="02020603050405020304" pitchFamily="18" charset="0"/>
                <a:cs typeface="Times New Roman" panose="02020603050405020304" pitchFamily="18" charset="0"/>
              </a:rPr>
              <a:t>v[p]=</a:t>
            </a:r>
            <a:r>
              <a:rPr lang="fr-FR" sz="2000" b="1" dirty="0" err="1">
                <a:latin typeface="Times New Roman" panose="02020603050405020304" pitchFamily="18" charset="0"/>
                <a:cs typeface="Times New Roman" panose="02020603050405020304" pitchFamily="18" charset="0"/>
              </a:rPr>
              <a:t>elem</a:t>
            </a:r>
            <a:r>
              <a:rPr lang="fr-FR" sz="2000" dirty="0">
                <a:latin typeface="Times New Roman" panose="02020603050405020304" pitchFamily="18" charset="0"/>
                <a:cs typeface="Times New Roman" panose="02020603050405020304" pitchFamily="18" charset="0"/>
              </a:rPr>
              <a:t> pour conclure que l’élément est présent ou non dans le vecteur. On peut écrire avec une méthode séquentielle ou </a:t>
            </a:r>
            <a:r>
              <a:rPr lang="fr-FR" sz="2000" dirty="0" err="1">
                <a:latin typeface="Times New Roman" panose="02020603050405020304" pitchFamily="18" charset="0"/>
                <a:cs typeface="Times New Roman" panose="02020603050405020304" pitchFamily="18" charset="0"/>
              </a:rPr>
              <a:t>dicho</a:t>
            </a:r>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352583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200" y="262047"/>
            <a:ext cx="11765280" cy="6555641"/>
          </a:xfrm>
          <a:prstGeom prst="rect">
            <a:avLst/>
          </a:prstGeom>
        </p:spPr>
        <p:txBody>
          <a:bodyPr wrap="square">
            <a:spAutoFit/>
          </a:bodyPr>
          <a:lstStyle/>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Méthode séquentielle</a:t>
            </a:r>
          </a:p>
          <a:p>
            <a:pPr lvl="0" indent="180975"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On effectue un parcours de droite à gauche. L’algorithme est alors :</a:t>
            </a:r>
            <a:r>
              <a:rPr lang="fr-FR" sz="2000" b="1" dirty="0">
                <a:latin typeface="Times New Roman" pitchFamily="18" charset="0"/>
                <a:ea typeface="Times New Roman" pitchFamily="18" charset="0"/>
                <a:cs typeface="Times New Roman" pitchFamily="18" charset="0"/>
              </a:rPr>
              <a:t> </a:t>
            </a:r>
          </a:p>
          <a:p>
            <a:pPr lvl="0" indent="180975" eaLnBrk="0" fontAlgn="base" hangingPunct="0">
              <a:spcBef>
                <a:spcPct val="0"/>
              </a:spcBef>
              <a:spcAft>
                <a:spcPct val="0"/>
              </a:spcAft>
            </a:pPr>
            <a:r>
              <a:rPr lang="fr-FR" sz="2000" b="1" dirty="0" smtClean="0">
                <a:latin typeface="Times New Roman" pitchFamily="18" charset="0"/>
                <a:ea typeface="Times New Roman" pitchFamily="18" charset="0"/>
                <a:cs typeface="Times New Roman" pitchFamily="18" charset="0"/>
              </a:rPr>
              <a:t>entier </a:t>
            </a:r>
            <a:r>
              <a:rPr lang="fr-FR" sz="2000" dirty="0" err="1">
                <a:latin typeface="Times New Roman" pitchFamily="18" charset="0"/>
                <a:ea typeface="Times New Roman" pitchFamily="18" charset="0"/>
                <a:cs typeface="Times New Roman" pitchFamily="18" charset="0"/>
              </a:rPr>
              <a:t>positsupp</a:t>
            </a:r>
            <a:r>
              <a:rPr lang="fr-FR" sz="2000" b="1" dirty="0">
                <a:latin typeface="Times New Roman" pitchFamily="18" charset="0"/>
                <a:ea typeface="Times New Roman" pitchFamily="18" charset="0"/>
                <a:cs typeface="Times New Roman" pitchFamily="18" charset="0"/>
              </a:rPr>
              <a:t>(d entier v[], d entier </a:t>
            </a:r>
            <a:r>
              <a:rPr lang="fr-FR" sz="2000" dirty="0">
                <a:latin typeface="Times New Roman" pitchFamily="18" charset="0"/>
                <a:ea typeface="Times New Roman" pitchFamily="18" charset="0"/>
                <a:cs typeface="Times New Roman" pitchFamily="18" charset="0"/>
              </a:rPr>
              <a:t>n</a:t>
            </a:r>
            <a:r>
              <a:rPr lang="fr-FR" sz="2000" b="1" dirty="0">
                <a:latin typeface="Times New Roman" pitchFamily="18" charset="0"/>
                <a:ea typeface="Times New Roman" pitchFamily="18" charset="0"/>
                <a:cs typeface="Times New Roman" pitchFamily="18" charset="0"/>
              </a:rPr>
              <a:t>, d entier </a:t>
            </a:r>
            <a:r>
              <a:rPr lang="fr-FR" sz="2000" dirty="0" err="1">
                <a:latin typeface="Times New Roman" pitchFamily="18" charset="0"/>
                <a:ea typeface="Times New Roman" pitchFamily="18" charset="0"/>
                <a:cs typeface="Times New Roman" pitchFamily="18" charset="0"/>
              </a:rPr>
              <a:t>elem</a:t>
            </a:r>
            <a:r>
              <a:rPr lang="fr-FR" sz="2000" b="1" dirty="0">
                <a:latin typeface="Times New Roman" pitchFamily="18" charset="0"/>
                <a:ea typeface="Times New Roman" pitchFamily="18" charset="0"/>
                <a:cs typeface="Times New Roman" pitchFamily="18" charset="0"/>
              </a:rPr>
              <a:t>)</a:t>
            </a:r>
          </a:p>
          <a:p>
            <a:pPr lvl="0" indent="180975" eaLnBrk="0" fontAlgn="base" hangingPunct="0">
              <a:spcBef>
                <a:spcPct val="0"/>
              </a:spcBef>
              <a:spcAft>
                <a:spcPct val="0"/>
              </a:spcAft>
            </a:pPr>
            <a:r>
              <a:rPr lang="fr-FR" sz="2000" b="1" dirty="0" err="1">
                <a:latin typeface="Times New Roman" pitchFamily="18" charset="0"/>
                <a:ea typeface="Times New Roman" pitchFamily="18" charset="0"/>
                <a:cs typeface="Times New Roman" pitchFamily="18" charset="0"/>
              </a:rPr>
              <a:t>debfonc</a:t>
            </a:r>
            <a:endParaRPr lang="fr-FR" sz="2000" b="1" dirty="0">
              <a:latin typeface="Times New Roman" pitchFamily="18" charset="0"/>
              <a:ea typeface="Times New Roman" pitchFamily="18" charset="0"/>
              <a:cs typeface="Times New Roman" pitchFamily="18" charset="0"/>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entier </a:t>
            </a:r>
            <a:r>
              <a:rPr lang="fr-FR" sz="2000" dirty="0">
                <a:latin typeface="Times New Roman" pitchFamily="18" charset="0"/>
                <a:ea typeface="Times New Roman" pitchFamily="18" charset="0"/>
                <a:cs typeface="Times New Roman" pitchFamily="18" charset="0"/>
              </a:rPr>
              <a:t>p, i</a:t>
            </a:r>
            <a:r>
              <a:rPr lang="fr-FR" sz="2000" b="1" dirty="0">
                <a:latin typeface="Times New Roman" pitchFamily="18" charset="0"/>
                <a:ea typeface="Times New Roman" pitchFamily="18" charset="0"/>
                <a:cs typeface="Times New Roman" pitchFamily="18" charset="0"/>
              </a:rPr>
              <a:t>;</a:t>
            </a: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a:t>
            </a:r>
            <a:r>
              <a:rPr lang="fr-FR" sz="2000" dirty="0" smtClean="0">
                <a:latin typeface="Times New Roman" pitchFamily="18" charset="0"/>
                <a:ea typeface="Times New Roman" pitchFamily="18" charset="0"/>
                <a:cs typeface="Times New Roman" pitchFamily="18" charset="0"/>
              </a:rPr>
              <a:t>p&lt;-0</a:t>
            </a:r>
            <a:r>
              <a:rPr lang="fr-FR" sz="2000" b="1" dirty="0">
                <a:latin typeface="Times New Roman" pitchFamily="18" charset="0"/>
                <a:ea typeface="Times New Roman" pitchFamily="18" charset="0"/>
                <a:cs typeface="Times New Roman" pitchFamily="18" charset="0"/>
              </a:rPr>
              <a:t>;</a:t>
            </a: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si </a:t>
            </a:r>
            <a:r>
              <a:rPr lang="fr-FR" sz="2000" dirty="0">
                <a:latin typeface="Times New Roman" pitchFamily="18" charset="0"/>
                <a:ea typeface="Times New Roman" pitchFamily="18" charset="0"/>
                <a:cs typeface="Times New Roman" pitchFamily="18" charset="0"/>
                <a:sym typeface="Symbol" pitchFamily="18" charset="2"/>
              </a:rPr>
              <a:t>v|1]≤</a:t>
            </a:r>
            <a:r>
              <a:rPr lang="fr-FR" sz="2000" dirty="0" err="1">
                <a:latin typeface="Times New Roman" pitchFamily="18" charset="0"/>
                <a:ea typeface="Times New Roman" pitchFamily="18" charset="0"/>
                <a:cs typeface="Times New Roman" pitchFamily="18" charset="0"/>
                <a:sym typeface="Symbol" pitchFamily="18" charset="2"/>
              </a:rPr>
              <a:t>elem</a:t>
            </a:r>
            <a:r>
              <a:rPr lang="fr-FR" sz="2000" b="1" dirty="0">
                <a:latin typeface="Times New Roman" pitchFamily="18" charset="0"/>
                <a:ea typeface="Times New Roman" pitchFamily="18" charset="0"/>
                <a:cs typeface="Times New Roman" pitchFamily="18" charset="0"/>
                <a:sym typeface="Symbol" pitchFamily="18" charset="2"/>
              </a:rPr>
              <a:t> alors</a:t>
            </a:r>
          </a:p>
          <a:p>
            <a:pPr lvl="0" indent="180975" eaLnBrk="0" fontAlgn="base" hangingPunct="0">
              <a:spcBef>
                <a:spcPct val="0"/>
              </a:spcBef>
              <a:spcAft>
                <a:spcPct val="0"/>
              </a:spcAft>
            </a:pPr>
            <a:r>
              <a:rPr lang="fr-FR" sz="2000" b="1" dirty="0">
                <a:latin typeface="Times New Roman" pitchFamily="18" charset="0"/>
                <a:cs typeface="Times New Roman" pitchFamily="18" charset="0"/>
                <a:sym typeface="Symbol" pitchFamily="18" charset="2"/>
              </a:rPr>
              <a:t>    </a:t>
            </a:r>
            <a:r>
              <a:rPr lang="fr-FR" sz="2000" dirty="0" smtClean="0">
                <a:latin typeface="Times New Roman" pitchFamily="18" charset="0"/>
                <a:cs typeface="Times New Roman" pitchFamily="18" charset="0"/>
                <a:sym typeface="Symbol" pitchFamily="18" charset="2"/>
              </a:rPr>
              <a:t>i:=n</a:t>
            </a:r>
            <a:r>
              <a:rPr lang="fr-FR" sz="2000" b="1" dirty="0">
                <a:latin typeface="Times New Roman" pitchFamily="18" charset="0"/>
                <a:cs typeface="Times New Roman" pitchFamily="18" charset="0"/>
                <a:sym typeface="Symbol" pitchFamily="18" charset="2"/>
              </a:rPr>
              <a:t>;</a:t>
            </a:r>
            <a:endParaRPr lang="fr-FR" sz="2000" dirty="0">
              <a:latin typeface="Times New Roman" pitchFamily="18" charset="0"/>
              <a:cs typeface="Times New Roman" pitchFamily="18" charset="0"/>
              <a:sym typeface="Symbol" pitchFamily="18" charset="2"/>
            </a:endParaRP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a:t>
            </a:r>
            <a:r>
              <a:rPr lang="fr-FR" sz="2000" b="1" dirty="0" err="1">
                <a:latin typeface="Times New Roman" pitchFamily="18" charset="0"/>
                <a:ea typeface="Times New Roman" pitchFamily="18" charset="0"/>
                <a:cs typeface="Times New Roman" pitchFamily="18" charset="0"/>
                <a:sym typeface="Symbol" pitchFamily="18" charset="2"/>
              </a:rPr>
              <a:t>tantque</a:t>
            </a:r>
            <a:r>
              <a:rPr lang="fr-FR" sz="2000" b="1" dirty="0">
                <a:latin typeface="Times New Roman" pitchFamily="18" charset="0"/>
                <a:ea typeface="Times New Roman" pitchFamily="18" charset="0"/>
                <a:cs typeface="Times New Roman" pitchFamily="18" charset="0"/>
                <a:sym typeface="Symbol" pitchFamily="18" charset="2"/>
              </a:rPr>
              <a:t> </a:t>
            </a:r>
            <a:r>
              <a:rPr lang="fr-FR" sz="2000" dirty="0">
                <a:latin typeface="Times New Roman" pitchFamily="18" charset="0"/>
                <a:ea typeface="Times New Roman" pitchFamily="18" charset="0"/>
                <a:cs typeface="Times New Roman" pitchFamily="18" charset="0"/>
                <a:sym typeface="Symbol" pitchFamily="18" charset="2"/>
              </a:rPr>
              <a:t>v[i]&gt;</a:t>
            </a:r>
            <a:r>
              <a:rPr lang="fr-FR" sz="2000" dirty="0" err="1">
                <a:latin typeface="Times New Roman" pitchFamily="18" charset="0"/>
                <a:ea typeface="Times New Roman" pitchFamily="18" charset="0"/>
                <a:cs typeface="Times New Roman" pitchFamily="18" charset="0"/>
                <a:sym typeface="Symbol" pitchFamily="18" charset="2"/>
              </a:rPr>
              <a:t>elem</a:t>
            </a:r>
            <a:r>
              <a:rPr lang="fr-FR" sz="2000" b="1" dirty="0">
                <a:latin typeface="Times New Roman" pitchFamily="18" charset="0"/>
                <a:ea typeface="Times New Roman" pitchFamily="18" charset="0"/>
                <a:cs typeface="Times New Roman" pitchFamily="18" charset="0"/>
                <a:sym typeface="Symbol" pitchFamily="18" charset="2"/>
              </a:rPr>
              <a:t> faire</a:t>
            </a:r>
          </a:p>
          <a:p>
            <a:pPr lvl="0" indent="180975"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a:t>
            </a:r>
            <a:r>
              <a:rPr lang="fr-FR" sz="2000" dirty="0" smtClean="0">
                <a:latin typeface="Times New Roman" pitchFamily="18" charset="0"/>
                <a:ea typeface="Times New Roman" pitchFamily="18" charset="0"/>
                <a:cs typeface="Times New Roman" pitchFamily="18" charset="0"/>
                <a:sym typeface="Symbol" pitchFamily="18" charset="2"/>
              </a:rPr>
              <a:t>i:=i-1</a:t>
            </a:r>
            <a:r>
              <a:rPr lang="fr-FR" sz="2000" b="1" dirty="0">
                <a:latin typeface="Times New Roman" pitchFamily="18" charset="0"/>
                <a:ea typeface="Times New Roman" pitchFamily="18" charset="0"/>
                <a:cs typeface="Times New Roman" pitchFamily="18" charset="0"/>
                <a:sym typeface="Symbol" pitchFamily="18" charset="2"/>
              </a:rPr>
              <a:t>;</a:t>
            </a:r>
          </a:p>
          <a:p>
            <a:pPr lvl="0" indent="180975" eaLnBrk="0" fontAlgn="base" hangingPunct="0">
              <a:spcBef>
                <a:spcPct val="0"/>
              </a:spcBef>
              <a:spcAft>
                <a:spcPct val="0"/>
              </a:spcAft>
            </a:pPr>
            <a:r>
              <a:rPr lang="en-GB" sz="2000" b="1" dirty="0">
                <a:latin typeface="Times New Roman" pitchFamily="18" charset="0"/>
                <a:cs typeface="Times New Roman" pitchFamily="18" charset="0"/>
                <a:sym typeface="Symbol" pitchFamily="18" charset="2"/>
              </a:rPr>
              <a:t>  </a:t>
            </a:r>
            <a:r>
              <a:rPr lang="fr-FR" sz="2000" b="1" dirty="0">
                <a:latin typeface="Times New Roman" pitchFamily="18" charset="0"/>
                <a:cs typeface="Times New Roman" pitchFamily="18" charset="0"/>
                <a:sym typeface="Symbol" pitchFamily="18" charset="2"/>
              </a:rPr>
              <a:t>  </a:t>
            </a:r>
            <a:r>
              <a:rPr lang="fr-FR" sz="2000" b="1" dirty="0" err="1">
                <a:latin typeface="Times New Roman" pitchFamily="18" charset="0"/>
                <a:cs typeface="Times New Roman" pitchFamily="18" charset="0"/>
                <a:sym typeface="Symbol" pitchFamily="18" charset="2"/>
              </a:rPr>
              <a:t>finfaire</a:t>
            </a:r>
            <a:r>
              <a:rPr lang="fr-FR" sz="2000" b="1" dirty="0">
                <a:latin typeface="Times New Roman" pitchFamily="18" charset="0"/>
                <a:ea typeface="Times New Roman" pitchFamily="18" charset="0"/>
                <a:cs typeface="Times New Roman" pitchFamily="18" charset="0"/>
                <a:sym typeface="Symbol" pitchFamily="18" charset="2"/>
              </a:rPr>
              <a:t>;</a:t>
            </a:r>
          </a:p>
          <a:p>
            <a:pPr lvl="0" indent="180975" eaLnBrk="0" fontAlgn="base" hangingPunct="0">
              <a:spcBef>
                <a:spcPct val="0"/>
              </a:spcBef>
              <a:spcAft>
                <a:spcPct val="0"/>
              </a:spcAft>
            </a:pPr>
            <a:r>
              <a:rPr lang="fr-FR" sz="2000" b="1" dirty="0">
                <a:latin typeface="Times New Roman" pitchFamily="18" charset="0"/>
                <a:cs typeface="Times New Roman" pitchFamily="18" charset="0"/>
                <a:sym typeface="Symbol" pitchFamily="18" charset="2"/>
              </a:rPr>
              <a:t>  si </a:t>
            </a:r>
            <a:r>
              <a:rPr lang="fr-FR" sz="2000" dirty="0">
                <a:latin typeface="Times New Roman" pitchFamily="18" charset="0"/>
                <a:cs typeface="Times New Roman" pitchFamily="18" charset="0"/>
                <a:sym typeface="Symbol" pitchFamily="18" charset="2"/>
              </a:rPr>
              <a:t>v[i]=</a:t>
            </a:r>
            <a:r>
              <a:rPr lang="fr-FR" sz="2000" dirty="0" err="1">
                <a:latin typeface="Times New Roman" pitchFamily="18" charset="0"/>
                <a:cs typeface="Times New Roman" pitchFamily="18" charset="0"/>
                <a:sym typeface="Symbol" pitchFamily="18" charset="2"/>
              </a:rPr>
              <a:t>elem</a:t>
            </a:r>
            <a:r>
              <a:rPr lang="fr-FR" sz="2000" b="1" dirty="0">
                <a:latin typeface="Times New Roman" pitchFamily="18" charset="0"/>
                <a:cs typeface="Times New Roman" pitchFamily="18" charset="0"/>
                <a:sym typeface="Symbol" pitchFamily="18" charset="2"/>
              </a:rPr>
              <a:t> alors </a:t>
            </a:r>
            <a:r>
              <a:rPr lang="fr-FR" sz="2000" dirty="0" smtClean="0">
                <a:latin typeface="Times New Roman" pitchFamily="18" charset="0"/>
                <a:cs typeface="Times New Roman" pitchFamily="18" charset="0"/>
                <a:sym typeface="Symbol" pitchFamily="18" charset="2"/>
              </a:rPr>
              <a:t>p:=i</a:t>
            </a:r>
            <a:r>
              <a:rPr lang="fr-FR" sz="2000" b="1" dirty="0">
                <a:latin typeface="Times New Roman" pitchFamily="18" charset="0"/>
                <a:cs typeface="Times New Roman" pitchFamily="18" charset="0"/>
                <a:sym typeface="Symbol" pitchFamily="18" charset="2"/>
              </a:rPr>
              <a:t>;</a:t>
            </a:r>
          </a:p>
          <a:p>
            <a:pPr lvl="0" indent="180975" eaLnBrk="0" fontAlgn="base" hangingPunct="0">
              <a:spcBef>
                <a:spcPct val="0"/>
              </a:spcBef>
              <a:spcAft>
                <a:spcPct val="0"/>
              </a:spcAft>
            </a:pPr>
            <a:r>
              <a:rPr lang="fr-FR" sz="2000" b="1" dirty="0">
                <a:latin typeface="Times New Roman" pitchFamily="18" charset="0"/>
                <a:cs typeface="Times New Roman" pitchFamily="18" charset="0"/>
                <a:sym typeface="Symbol" pitchFamily="18" charset="2"/>
              </a:rPr>
              <a:t>  </a:t>
            </a:r>
            <a:r>
              <a:rPr lang="fr-FR" sz="2000" b="1" dirty="0" err="1">
                <a:latin typeface="Times New Roman" pitchFamily="18" charset="0"/>
                <a:cs typeface="Times New Roman" pitchFamily="18" charset="0"/>
                <a:sym typeface="Symbol" pitchFamily="18" charset="2"/>
              </a:rPr>
              <a:t>finsi</a:t>
            </a:r>
            <a:r>
              <a:rPr lang="fr-FR" sz="2000" b="1" dirty="0">
                <a:latin typeface="Times New Roman" pitchFamily="18" charset="0"/>
                <a:cs typeface="Times New Roman" pitchFamily="18" charset="0"/>
                <a:sym typeface="Symbol" pitchFamily="18" charset="2"/>
              </a:rPr>
              <a:t>;</a:t>
            </a:r>
          </a:p>
          <a:p>
            <a:pPr lvl="0" indent="180975" eaLnBrk="0" fontAlgn="base" hangingPunct="0">
              <a:spcBef>
                <a:spcPct val="0"/>
              </a:spcBef>
              <a:spcAft>
                <a:spcPct val="0"/>
              </a:spcAft>
            </a:pPr>
            <a:r>
              <a:rPr lang="fr-FR" sz="2000" b="1" dirty="0">
                <a:latin typeface="Times New Roman" pitchFamily="18" charset="0"/>
                <a:cs typeface="Times New Roman" pitchFamily="18" charset="0"/>
                <a:sym typeface="Symbol" pitchFamily="18" charset="2"/>
              </a:rPr>
              <a:t>  retourner </a:t>
            </a:r>
            <a:r>
              <a:rPr lang="fr-FR" sz="2000" dirty="0">
                <a:latin typeface="Times New Roman" pitchFamily="18" charset="0"/>
                <a:cs typeface="Times New Roman" pitchFamily="18" charset="0"/>
                <a:sym typeface="Symbol" pitchFamily="18" charset="2"/>
              </a:rPr>
              <a:t>p</a:t>
            </a:r>
            <a:r>
              <a:rPr lang="fr-FR" sz="2000" b="1" dirty="0">
                <a:latin typeface="Times New Roman" pitchFamily="18" charset="0"/>
                <a:cs typeface="Times New Roman" pitchFamily="18" charset="0"/>
                <a:sym typeface="Symbol" pitchFamily="18" charset="2"/>
              </a:rPr>
              <a:t>;</a:t>
            </a:r>
            <a:endParaRPr lang="fr-FR" sz="2000" dirty="0">
              <a:latin typeface="Times New Roman" pitchFamily="18" charset="0"/>
              <a:cs typeface="Times New Roman" pitchFamily="18" charset="0"/>
              <a:sym typeface="Symbol" pitchFamily="18" charset="2"/>
            </a:endParaRPr>
          </a:p>
          <a:p>
            <a:pPr lvl="0" indent="180975" eaLnBrk="0" fontAlgn="base" hangingPunct="0">
              <a:spcBef>
                <a:spcPct val="0"/>
              </a:spcBef>
              <a:spcAft>
                <a:spcPct val="0"/>
              </a:spcAft>
            </a:pPr>
            <a:r>
              <a:rPr lang="fr-FR" sz="2000" b="1" dirty="0" err="1">
                <a:latin typeface="Times New Roman" pitchFamily="18" charset="0"/>
                <a:ea typeface="Times New Roman" pitchFamily="18" charset="0"/>
                <a:cs typeface="Times New Roman" pitchFamily="18" charset="0"/>
                <a:sym typeface="Symbol" pitchFamily="18" charset="2"/>
              </a:rPr>
              <a:t>finfonc</a:t>
            </a:r>
            <a:r>
              <a:rPr lang="fr-FR" sz="2000" b="1" dirty="0">
                <a:latin typeface="Times New Roman" pitchFamily="18" charset="0"/>
                <a:ea typeface="Times New Roman" pitchFamily="18" charset="0"/>
                <a:cs typeface="Times New Roman" pitchFamily="18" charset="0"/>
                <a:sym typeface="Symbol" pitchFamily="18" charset="2"/>
              </a:rPr>
              <a:t>;</a:t>
            </a:r>
            <a:r>
              <a:rPr lang="fr-FR" sz="2000" dirty="0">
                <a:latin typeface="Times New Roman" panose="02020603050405020304" pitchFamily="18" charset="0"/>
                <a:cs typeface="Times New Roman" panose="02020603050405020304" pitchFamily="18" charset="0"/>
              </a:rPr>
              <a:t> </a:t>
            </a:r>
          </a:p>
          <a:p>
            <a:pPr lvl="0" indent="180975" eaLnBrk="0" fontAlgn="base" hangingPunct="0">
              <a:spcBef>
                <a:spcPct val="0"/>
              </a:spcBef>
              <a:spcAft>
                <a:spcPct val="0"/>
              </a:spcAft>
            </a:pPr>
            <a:r>
              <a:rPr lang="fr-FR" sz="2000" dirty="0">
                <a:latin typeface="Times New Roman" panose="02020603050405020304" pitchFamily="18" charset="0"/>
                <a:cs typeface="Times New Roman" panose="02020603050405020304" pitchFamily="18" charset="0"/>
              </a:rPr>
              <a:t>Pour supprimer un élément d’indice p, il suffit de </a:t>
            </a:r>
            <a:r>
              <a:rPr lang="fr-FR" sz="2000" dirty="0" err="1">
                <a:latin typeface="Times New Roman" panose="02020603050405020304" pitchFamily="18" charset="0"/>
                <a:cs typeface="Times New Roman" panose="02020603050405020304" pitchFamily="18" charset="0"/>
              </a:rPr>
              <a:t>retasser</a:t>
            </a:r>
            <a:r>
              <a:rPr lang="fr-FR" sz="2000" dirty="0">
                <a:latin typeface="Times New Roman" panose="02020603050405020304" pitchFamily="18" charset="0"/>
                <a:cs typeface="Times New Roman" panose="02020603050405020304" pitchFamily="18" charset="0"/>
              </a:rPr>
              <a:t> tous les éléments ayant un indice supérieur à p.</a:t>
            </a:r>
          </a:p>
          <a:p>
            <a:pPr lvl="0" indent="180975" eaLnBrk="0" fontAlgn="base" hangingPunct="0">
              <a:spcBef>
                <a:spcPct val="0"/>
              </a:spcBef>
              <a:spcAft>
                <a:spcPct val="0"/>
              </a:spcAft>
            </a:pPr>
            <a:r>
              <a:rPr lang="fr-FR" sz="2000" b="1" dirty="0" smtClean="0">
                <a:latin typeface="Times New Roman" panose="02020603050405020304" pitchFamily="18" charset="0"/>
                <a:cs typeface="Times New Roman" panose="02020603050405020304" pitchFamily="18" charset="0"/>
              </a:rPr>
              <a:t>vide</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tasser(</a:t>
            </a:r>
            <a:r>
              <a:rPr lang="fr-FR" sz="2000" b="1" dirty="0" err="1">
                <a:latin typeface="Times New Roman" panose="02020603050405020304" pitchFamily="18" charset="0"/>
                <a:cs typeface="Times New Roman" panose="02020603050405020304" pitchFamily="18" charset="0"/>
              </a:rPr>
              <a:t>dr</a:t>
            </a:r>
            <a:r>
              <a:rPr lang="fr-FR" sz="2000" b="1" dirty="0">
                <a:latin typeface="Times New Roman" panose="02020603050405020304" pitchFamily="18" charset="0"/>
                <a:cs typeface="Times New Roman" panose="02020603050405020304" pitchFamily="18" charset="0"/>
              </a:rPr>
              <a:t> entier</a:t>
            </a:r>
            <a:r>
              <a:rPr lang="fr-FR" sz="2000" dirty="0">
                <a:latin typeface="Times New Roman" panose="02020603050405020304" pitchFamily="18" charset="0"/>
                <a:cs typeface="Times New Roman" panose="02020603050405020304" pitchFamily="18" charset="0"/>
              </a:rPr>
              <a:t> v[], </a:t>
            </a:r>
            <a:r>
              <a:rPr lang="fr-FR" sz="2000" b="1" dirty="0" err="1">
                <a:latin typeface="Times New Roman" panose="02020603050405020304" pitchFamily="18" charset="0"/>
                <a:cs typeface="Times New Roman" panose="02020603050405020304" pitchFamily="18" charset="0"/>
              </a:rPr>
              <a:t>dr</a:t>
            </a:r>
            <a:r>
              <a:rPr lang="fr-FR" sz="2000" b="1" dirty="0">
                <a:latin typeface="Times New Roman" panose="02020603050405020304" pitchFamily="18" charset="0"/>
                <a:cs typeface="Times New Roman" panose="02020603050405020304" pitchFamily="18" charset="0"/>
              </a:rPr>
              <a:t> entier</a:t>
            </a:r>
            <a:r>
              <a:rPr lang="fr-FR" sz="2000" dirty="0">
                <a:latin typeface="Times New Roman" panose="02020603050405020304" pitchFamily="18" charset="0"/>
                <a:cs typeface="Times New Roman" panose="02020603050405020304" pitchFamily="18" charset="0"/>
              </a:rPr>
              <a:t> n, </a:t>
            </a:r>
            <a:r>
              <a:rPr lang="fr-FR" sz="2000" b="1" dirty="0">
                <a:latin typeface="Times New Roman" panose="02020603050405020304" pitchFamily="18" charset="0"/>
                <a:cs typeface="Times New Roman" panose="02020603050405020304" pitchFamily="18" charset="0"/>
              </a:rPr>
              <a:t>d entier</a:t>
            </a:r>
            <a:r>
              <a:rPr lang="fr-FR" sz="2000" dirty="0">
                <a:latin typeface="Times New Roman" panose="02020603050405020304" pitchFamily="18" charset="0"/>
                <a:cs typeface="Times New Roman" panose="02020603050405020304" pitchFamily="18" charset="0"/>
              </a:rPr>
              <a:t> p)</a:t>
            </a:r>
          </a:p>
          <a:p>
            <a:pPr lvl="0" indent="180975" eaLnBrk="0" fontAlgn="base" hangingPunct="0">
              <a:spcBef>
                <a:spcPct val="0"/>
              </a:spcBef>
              <a:spcAft>
                <a:spcPct val="0"/>
              </a:spcAft>
            </a:pPr>
            <a:r>
              <a:rPr lang="fr-FR" sz="2000" b="1" dirty="0" err="1">
                <a:latin typeface="Times New Roman" panose="02020603050405020304" pitchFamily="18" charset="0"/>
                <a:cs typeface="Times New Roman" panose="02020603050405020304" pitchFamily="18" charset="0"/>
              </a:rPr>
              <a:t>debfonc</a:t>
            </a:r>
            <a:r>
              <a:rPr lang="fr-FR" sz="2000" b="1" dirty="0">
                <a:latin typeface="Times New Roman" panose="02020603050405020304" pitchFamily="18" charset="0"/>
                <a:cs typeface="Times New Roman" panose="02020603050405020304" pitchFamily="18" charset="0"/>
              </a:rPr>
              <a:t> entier</a:t>
            </a:r>
            <a:r>
              <a:rPr lang="fr-FR" sz="2000" dirty="0">
                <a:latin typeface="Times New Roman" panose="02020603050405020304" pitchFamily="18" charset="0"/>
                <a:cs typeface="Times New Roman" panose="02020603050405020304" pitchFamily="18" charset="0"/>
              </a:rPr>
              <a:t> i;</a:t>
            </a:r>
          </a:p>
          <a:p>
            <a:pPr lvl="0" indent="180975" eaLnBrk="0" fontAlgn="base" hangingPunct="0">
              <a:spcBef>
                <a:spcPct val="0"/>
              </a:spcBef>
              <a:spcAft>
                <a:spcPct val="0"/>
              </a:spcAft>
            </a:pPr>
            <a:r>
              <a:rPr lang="fr-FR" sz="2000" dirty="0">
                <a:latin typeface="Times New Roman" panose="02020603050405020304" pitchFamily="18" charset="0"/>
                <a:cs typeface="Times New Roman" panose="02020603050405020304" pitchFamily="18" charset="0"/>
              </a:rPr>
              <a:t>  </a:t>
            </a:r>
            <a:r>
              <a:rPr lang="fr-FR" sz="2000" b="1" dirty="0">
                <a:latin typeface="Times New Roman" panose="02020603050405020304" pitchFamily="18" charset="0"/>
                <a:cs typeface="Times New Roman" panose="02020603050405020304" pitchFamily="18" charset="0"/>
              </a:rPr>
              <a:t>pour</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i:=p+1 </a:t>
            </a:r>
            <a:r>
              <a:rPr lang="fr-FR" sz="2000" b="1" dirty="0">
                <a:latin typeface="Times New Roman" panose="02020603050405020304" pitchFamily="18" charset="0"/>
                <a:cs typeface="Times New Roman" panose="02020603050405020304" pitchFamily="18" charset="0"/>
              </a:rPr>
              <a:t>haut</a:t>
            </a:r>
            <a:r>
              <a:rPr lang="fr-FR" sz="2000" dirty="0">
                <a:latin typeface="Times New Roman" panose="02020603050405020304" pitchFamily="18" charset="0"/>
                <a:cs typeface="Times New Roman" panose="02020603050405020304" pitchFamily="18" charset="0"/>
              </a:rPr>
              <a:t> n </a:t>
            </a:r>
            <a:r>
              <a:rPr lang="fr-FR" sz="2000" b="1" dirty="0">
                <a:latin typeface="Times New Roman" panose="02020603050405020304" pitchFamily="18" charset="0"/>
                <a:cs typeface="Times New Roman" panose="02020603050405020304" pitchFamily="18" charset="0"/>
              </a:rPr>
              <a:t>faire</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v[i-1]:=v[i</a:t>
            </a:r>
            <a:r>
              <a:rPr lang="fr-FR" sz="2000" dirty="0">
                <a:latin typeface="Times New Roman" panose="02020603050405020304" pitchFamily="18" charset="0"/>
                <a:cs typeface="Times New Roman" panose="02020603050405020304" pitchFamily="18" charset="0"/>
              </a:rPr>
              <a:t>]; </a:t>
            </a:r>
            <a:r>
              <a:rPr lang="fr-FR" sz="2000" b="1" dirty="0" err="1">
                <a:latin typeface="Times New Roman" panose="02020603050405020304" pitchFamily="18" charset="0"/>
                <a:cs typeface="Times New Roman" panose="02020603050405020304" pitchFamily="18" charset="0"/>
              </a:rPr>
              <a:t>finfaire</a:t>
            </a:r>
            <a:r>
              <a:rPr lang="fr-FR" sz="2000" dirty="0">
                <a:latin typeface="Times New Roman" panose="02020603050405020304" pitchFamily="18" charset="0"/>
                <a:cs typeface="Times New Roman" panose="02020603050405020304" pitchFamily="18" charset="0"/>
              </a:rPr>
              <a:t>;</a:t>
            </a:r>
          </a:p>
          <a:p>
            <a:pPr lvl="0" indent="180975" eaLnBrk="0" fontAlgn="base" hangingPunct="0">
              <a:spcBef>
                <a:spcPct val="0"/>
              </a:spcBef>
              <a:spcAft>
                <a:spcPct val="0"/>
              </a:spcAft>
            </a:pP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n:=n-1</a:t>
            </a:r>
            <a:r>
              <a:rPr lang="fr-FR" sz="2000" dirty="0">
                <a:latin typeface="Times New Roman" panose="02020603050405020304" pitchFamily="18" charset="0"/>
                <a:cs typeface="Times New Roman" panose="02020603050405020304" pitchFamily="18" charset="0"/>
              </a:rPr>
              <a:t>;</a:t>
            </a:r>
          </a:p>
          <a:p>
            <a:pPr lvl="0" indent="180975" eaLnBrk="0" fontAlgn="base" hangingPunct="0">
              <a:spcBef>
                <a:spcPct val="0"/>
              </a:spcBef>
              <a:spcAft>
                <a:spcPct val="0"/>
              </a:spcAft>
            </a:pPr>
            <a:r>
              <a:rPr lang="fr-FR" sz="2000" b="1" dirty="0" err="1">
                <a:latin typeface="Times New Roman" panose="02020603050405020304" pitchFamily="18" charset="0"/>
                <a:cs typeface="Times New Roman" panose="02020603050405020304" pitchFamily="18" charset="0"/>
              </a:rPr>
              <a:t>finfonc</a:t>
            </a:r>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330839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458956"/>
            <a:ext cx="11694160" cy="5632311"/>
          </a:xfrm>
          <a:prstGeom prst="rect">
            <a:avLst/>
          </a:prstGeom>
        </p:spPr>
        <p:txBody>
          <a:bodyPr wrap="square">
            <a:spAutoFit/>
          </a:bodyPr>
          <a:lstStyle/>
          <a:p>
            <a:pPr lvl="0" indent="180975" fontAlgn="base">
              <a:spcBef>
                <a:spcPct val="0"/>
              </a:spcBef>
              <a:spcAft>
                <a:spcPct val="0"/>
              </a:spcAft>
            </a:pPr>
            <a:r>
              <a:rPr lang="fr-FR" sz="2000" dirty="0" smtClean="0">
                <a:latin typeface="Times New Roman" pitchFamily="18" charset="0"/>
                <a:ea typeface="Times New Roman" pitchFamily="18" charset="0"/>
                <a:cs typeface="Times New Roman" pitchFamily="18" charset="0"/>
              </a:rPr>
              <a:t>2.1.3.2</a:t>
            </a:r>
            <a:r>
              <a:rPr lang="fr-FR" sz="2000" dirty="0">
                <a:latin typeface="Times New Roman" pitchFamily="18" charset="0"/>
                <a:ea typeface="Times New Roman" pitchFamily="18" charset="0"/>
                <a:cs typeface="Times New Roman" pitchFamily="18" charset="0"/>
              </a:rPr>
              <a:t>. </a:t>
            </a:r>
            <a:r>
              <a:rPr lang="fr-FR" sz="2000" u="sng" dirty="0">
                <a:latin typeface="Times New Roman" pitchFamily="18" charset="0"/>
                <a:ea typeface="Times New Roman" pitchFamily="18" charset="0"/>
                <a:cs typeface="Times New Roman" pitchFamily="18" charset="0"/>
              </a:rPr>
              <a:t>Tri par segmentation (</a:t>
            </a:r>
            <a:r>
              <a:rPr lang="fr-FR" sz="2000" u="sng" dirty="0" err="1">
                <a:latin typeface="Times New Roman" pitchFamily="18" charset="0"/>
                <a:ea typeface="Times New Roman" pitchFamily="18" charset="0"/>
                <a:cs typeface="Times New Roman" pitchFamily="18" charset="0"/>
              </a:rPr>
              <a:t>Quicksort</a:t>
            </a:r>
            <a:r>
              <a:rPr lang="fr-FR" sz="2000" u="sng"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Il est basé sur le principe « </a:t>
            </a:r>
            <a:r>
              <a:rPr lang="fr-FR" sz="2000" b="1" dirty="0">
                <a:latin typeface="Times New Roman" pitchFamily="18" charset="0"/>
                <a:ea typeface="Times New Roman" pitchFamily="18" charset="0"/>
                <a:cs typeface="Times New Roman" pitchFamily="18" charset="0"/>
              </a:rPr>
              <a:t>diviser pour régner</a:t>
            </a:r>
            <a:r>
              <a:rPr lang="fr-FR" sz="2000" dirty="0">
                <a:latin typeface="Times New Roman" pitchFamily="18" charset="0"/>
                <a:ea typeface="Times New Roman" pitchFamily="18" charset="0"/>
                <a:cs typeface="Times New Roman" pitchFamily="18" charset="0"/>
              </a:rPr>
              <a:t> ».</a:t>
            </a:r>
            <a:endParaRPr lang="fr-FR" sz="2000" dirty="0">
              <a:latin typeface="Times New Roman" pitchFamily="18" charset="0"/>
              <a:cs typeface="Times New Roman" pitchFamily="18" charset="0"/>
            </a:endParaRPr>
          </a:p>
          <a:p>
            <a:pPr lvl="0" indent="180975"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Soit à trier un tableau </a:t>
            </a:r>
            <a:r>
              <a:rPr lang="fr-FR" sz="2000" b="1" dirty="0">
                <a:latin typeface="Times New Roman" pitchFamily="18" charset="0"/>
                <a:ea typeface="Times New Roman" pitchFamily="18" charset="0"/>
                <a:cs typeface="Times New Roman" pitchFamily="18" charset="0"/>
              </a:rPr>
              <a:t>t[</a:t>
            </a:r>
            <a:r>
              <a:rPr lang="fr-FR" sz="2000" b="1" dirty="0" err="1">
                <a:latin typeface="Times New Roman" pitchFamily="18" charset="0"/>
                <a:ea typeface="Times New Roman" pitchFamily="18" charset="0"/>
                <a:cs typeface="Times New Roman" pitchFamily="18" charset="0"/>
              </a:rPr>
              <a:t>inf..sup</a:t>
            </a:r>
            <a:r>
              <a:rPr lang="fr-FR" sz="2000" b="1" dirty="0">
                <a:latin typeface="Times New Roman" pitchFamily="18" charset="0"/>
                <a:ea typeface="Times New Roman" pitchFamily="18" charset="0"/>
                <a:cs typeface="Times New Roman" pitchFamily="18" charset="0"/>
              </a:rPr>
              <a:t>]</a:t>
            </a:r>
            <a:r>
              <a:rPr lang="fr-FR" sz="2000" dirty="0">
                <a:latin typeface="Times New Roman" pitchFamily="18" charset="0"/>
                <a:ea typeface="Times New Roman" pitchFamily="18" charset="0"/>
                <a:cs typeface="Times New Roman" pitchFamily="18" charset="0"/>
              </a:rPr>
              <a:t>, nous allons le segmenter en 3 sous-tableaux tel que :</a:t>
            </a:r>
          </a:p>
          <a:p>
            <a:pPr lvl="0" indent="180975" eaLnBrk="0" fontAlgn="base" hangingPunct="0">
              <a:spcBef>
                <a:spcPct val="0"/>
              </a:spcBef>
              <a:spcAft>
                <a:spcPct val="0"/>
              </a:spcAft>
            </a:pPr>
            <a:r>
              <a:rPr lang="en-GB" sz="2000" dirty="0">
                <a:latin typeface="Times New Roman" pitchFamily="18" charset="0"/>
                <a:cs typeface="Times New Roman" pitchFamily="18" charset="0"/>
              </a:rPr>
              <a:t>		</a:t>
            </a:r>
            <a:r>
              <a:rPr lang="en-GB" sz="2000" dirty="0" smtClean="0">
                <a:latin typeface="Times New Roman" pitchFamily="18" charset="0"/>
                <a:cs typeface="Times New Roman" pitchFamily="18" charset="0"/>
              </a:rPr>
              <a:t>              ≤</a:t>
            </a:r>
            <a:r>
              <a:rPr lang="en-GB" sz="2000" dirty="0">
                <a:latin typeface="Times New Roman" pitchFamily="18" charset="0"/>
                <a:cs typeface="Times New Roman" pitchFamily="18" charset="0"/>
              </a:rPr>
              <a:t>	</a:t>
            </a:r>
            <a:r>
              <a:rPr lang="en-GB" sz="2000" dirty="0" smtClean="0">
                <a:latin typeface="Times New Roman" pitchFamily="18" charset="0"/>
                <a:cs typeface="Times New Roman" pitchFamily="18" charset="0"/>
              </a:rPr>
              <a:t>           &gt;</a:t>
            </a:r>
            <a:r>
              <a:rPr lang="en-GB" sz="2000" dirty="0">
                <a:latin typeface="Times New Roman" pitchFamily="18" charset="0"/>
                <a:cs typeface="Times New Roman" pitchFamily="18" charset="0"/>
              </a:rPr>
              <a:t>	</a:t>
            </a:r>
          </a:p>
          <a:p>
            <a:pPr lvl="0" indent="180975" eaLnBrk="0" fontAlgn="base" hangingPunct="0">
              <a:spcBef>
                <a:spcPct val="0"/>
              </a:spcBef>
              <a:spcAft>
                <a:spcPct val="0"/>
              </a:spcAft>
            </a:pPr>
            <a:endParaRPr lang="en-GB" sz="2000" dirty="0" smtClean="0">
              <a:latin typeface="Times New Roman" pitchFamily="18" charset="0"/>
              <a:cs typeface="Times New Roman" pitchFamily="18" charset="0"/>
            </a:endParaRPr>
          </a:p>
          <a:p>
            <a:pPr lvl="0" indent="180975" eaLnBrk="0" fontAlgn="base" hangingPunct="0">
              <a:spcBef>
                <a:spcPct val="0"/>
              </a:spcBef>
              <a:spcAft>
                <a:spcPct val="0"/>
              </a:spcAft>
            </a:pPr>
            <a:endParaRPr lang="en-GB" sz="2000" dirty="0">
              <a:latin typeface="Times New Roman" pitchFamily="18" charset="0"/>
              <a:cs typeface="Times New Roman" pitchFamily="18" charset="0"/>
            </a:endParaRPr>
          </a:p>
          <a:p>
            <a:pPr lvl="0" indent="180975" eaLnBrk="0" fontAlgn="base" hangingPunct="0">
              <a:spcBef>
                <a:spcPct val="0"/>
              </a:spcBef>
              <a:spcAft>
                <a:spcPct val="0"/>
              </a:spcAft>
            </a:pPr>
            <a:endParaRPr lang="en-GB" sz="2000" dirty="0">
              <a:latin typeface="Times New Roman" pitchFamily="18" charset="0"/>
              <a:cs typeface="Times New Roman" pitchFamily="18" charset="0"/>
            </a:endParaRPr>
          </a:p>
          <a:p>
            <a:r>
              <a:rPr lang="fr-FR" sz="2000" dirty="0" smtClean="0">
                <a:latin typeface="Times New Roman" pitchFamily="18" charset="0"/>
                <a:cs typeface="Times New Roman" pitchFamily="18" charset="0"/>
              </a:rPr>
              <a:t>Tous </a:t>
            </a:r>
            <a:r>
              <a:rPr lang="fr-FR" sz="2000" dirty="0">
                <a:latin typeface="Times New Roman" pitchFamily="18" charset="0"/>
                <a:cs typeface="Times New Roman" pitchFamily="18" charset="0"/>
              </a:rPr>
              <a:t>les éléments à gauche de </a:t>
            </a:r>
            <a:r>
              <a:rPr lang="fr-FR" sz="2000" b="1" dirty="0">
                <a:latin typeface="Times New Roman" pitchFamily="18" charset="0"/>
                <a:cs typeface="Times New Roman" pitchFamily="18" charset="0"/>
              </a:rPr>
              <a:t>place</a:t>
            </a:r>
            <a:r>
              <a:rPr lang="fr-FR" sz="2000" dirty="0">
                <a:latin typeface="Times New Roman" pitchFamily="18" charset="0"/>
                <a:cs typeface="Times New Roman" pitchFamily="18" charset="0"/>
              </a:rPr>
              <a:t> (place </a:t>
            </a:r>
            <a:r>
              <a:rPr lang="fr-FR" sz="2000" dirty="0">
                <a:latin typeface="Times New Roman" pitchFamily="18" charset="0"/>
                <a:cs typeface="Times New Roman" pitchFamily="18" charset="0"/>
                <a:sym typeface="Symbol"/>
              </a:rPr>
              <a:t></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inf..sup</a:t>
            </a:r>
            <a:r>
              <a:rPr lang="fr-FR" sz="2000" dirty="0">
                <a:latin typeface="Times New Roman" pitchFamily="18" charset="0"/>
                <a:cs typeface="Times New Roman" pitchFamily="18" charset="0"/>
              </a:rPr>
              <a:t>]) soient </a:t>
            </a:r>
            <a:r>
              <a:rPr lang="en-GB" sz="2000" dirty="0">
                <a:latin typeface="Times New Roman" pitchFamily="18" charset="0"/>
                <a:cs typeface="Times New Roman" pitchFamily="18" charset="0"/>
              </a:rPr>
              <a:t>≤</a:t>
            </a:r>
            <a:r>
              <a:rPr lang="fr-FR" sz="2000" dirty="0">
                <a:latin typeface="Times New Roman" pitchFamily="18" charset="0"/>
                <a:cs typeface="Times New Roman" pitchFamily="18" charset="0"/>
              </a:rPr>
              <a:t> </a:t>
            </a:r>
            <a:r>
              <a:rPr lang="fr-FR" sz="2000" b="1" dirty="0">
                <a:latin typeface="Times New Roman" pitchFamily="18" charset="0"/>
                <a:cs typeface="Times New Roman" pitchFamily="18" charset="0"/>
              </a:rPr>
              <a:t>t[place]</a:t>
            </a:r>
          </a:p>
          <a:p>
            <a:r>
              <a:rPr lang="fr-FR" sz="2000" dirty="0">
                <a:latin typeface="Times New Roman" pitchFamily="18" charset="0"/>
                <a:cs typeface="Times New Roman" pitchFamily="18" charset="0"/>
              </a:rPr>
              <a:t>et ceux se trouvant à droite de </a:t>
            </a:r>
            <a:r>
              <a:rPr lang="fr-FR" sz="2000" b="1" dirty="0">
                <a:latin typeface="Times New Roman" pitchFamily="18" charset="0"/>
                <a:cs typeface="Times New Roman" pitchFamily="18" charset="0"/>
              </a:rPr>
              <a:t>place</a:t>
            </a:r>
            <a:r>
              <a:rPr lang="fr-FR" sz="2000" dirty="0">
                <a:latin typeface="Times New Roman" pitchFamily="18" charset="0"/>
                <a:cs typeface="Times New Roman" pitchFamily="18" charset="0"/>
              </a:rPr>
              <a:t> soient </a:t>
            </a:r>
            <a:r>
              <a:rPr lang="fr-FR" sz="2000" b="1" dirty="0">
                <a:latin typeface="Times New Roman" pitchFamily="18" charset="0"/>
                <a:cs typeface="Times New Roman" pitchFamily="18" charset="0"/>
              </a:rPr>
              <a:t>&gt; t[place]</a:t>
            </a:r>
            <a:r>
              <a:rPr lang="fr-FR" sz="2000" dirty="0">
                <a:latin typeface="Times New Roman" pitchFamily="18" charset="0"/>
                <a:cs typeface="Times New Roman" pitchFamily="18" charset="0"/>
              </a:rPr>
              <a:t>. On peut écrire : </a:t>
            </a:r>
          </a:p>
          <a:p>
            <a:endParaRPr lang="fr-FR" sz="2000" b="1" dirty="0">
              <a:latin typeface="Times New Roman" pitchFamily="18" charset="0"/>
              <a:cs typeface="Times New Roman" pitchFamily="18" charset="0"/>
            </a:endParaRPr>
          </a:p>
          <a:p>
            <a:r>
              <a:rPr lang="fr-FR" sz="2000" b="1" dirty="0">
                <a:latin typeface="Times New Roman" pitchFamily="18" charset="0"/>
                <a:cs typeface="Times New Roman" pitchFamily="18" charset="0"/>
              </a:rPr>
              <a:t>t[inf..place-1] </a:t>
            </a:r>
            <a:r>
              <a:rPr lang="fr-FR" sz="2000" b="1" dirty="0">
                <a:latin typeface="Times New Roman" pitchFamily="18" charset="0"/>
                <a:cs typeface="Times New Roman" pitchFamily="18" charset="0"/>
                <a:sym typeface="Symbol"/>
              </a:rPr>
              <a:t></a:t>
            </a:r>
            <a:r>
              <a:rPr lang="fr-FR" sz="2000" b="1" dirty="0">
                <a:latin typeface="Times New Roman" pitchFamily="18" charset="0"/>
                <a:cs typeface="Times New Roman" pitchFamily="18" charset="0"/>
              </a:rPr>
              <a:t> t[place] &lt; t[place+1..sup]</a:t>
            </a:r>
            <a:r>
              <a:rPr lang="fr-FR" sz="2000" dirty="0">
                <a:latin typeface="Times New Roman" pitchFamily="18" charset="0"/>
                <a:cs typeface="Times New Roman" pitchFamily="18" charset="0"/>
              </a:rPr>
              <a:t>.</a:t>
            </a:r>
          </a:p>
          <a:p>
            <a:endParaRPr lang="fr-FR" sz="2000" dirty="0">
              <a:latin typeface="Times New Roman" pitchFamily="18" charset="0"/>
              <a:cs typeface="Times New Roman" pitchFamily="18" charset="0"/>
            </a:endParaRPr>
          </a:p>
          <a:p>
            <a:r>
              <a:rPr lang="fr-FR" sz="2000" dirty="0">
                <a:latin typeface="Times New Roman" pitchFamily="18" charset="0"/>
                <a:cs typeface="Times New Roman" pitchFamily="18" charset="0"/>
              </a:rPr>
              <a:t>On constate que : </a:t>
            </a:r>
          </a:p>
          <a:p>
            <a:r>
              <a:rPr lang="fr-FR" sz="2000" dirty="0">
                <a:latin typeface="Times New Roman" pitchFamily="18" charset="0"/>
                <a:cs typeface="Times New Roman" pitchFamily="18" charset="0"/>
              </a:rPr>
              <a:t>- </a:t>
            </a:r>
            <a:r>
              <a:rPr lang="fr-FR" sz="2000" b="1" dirty="0">
                <a:latin typeface="Times New Roman" pitchFamily="18" charset="0"/>
                <a:cs typeface="Times New Roman" pitchFamily="18" charset="0"/>
              </a:rPr>
              <a:t>t[place]</a:t>
            </a:r>
            <a:r>
              <a:rPr lang="fr-FR" sz="2000" dirty="0">
                <a:latin typeface="Times New Roman" pitchFamily="18" charset="0"/>
                <a:cs typeface="Times New Roman" pitchFamily="18" charset="0"/>
              </a:rPr>
              <a:t> est correctement rangé,</a:t>
            </a:r>
          </a:p>
          <a:p>
            <a:r>
              <a:rPr lang="fr-FR" sz="2000" dirty="0">
                <a:latin typeface="Times New Roman" pitchFamily="18" charset="0"/>
                <a:cs typeface="Times New Roman" pitchFamily="18" charset="0"/>
              </a:rPr>
              <a:t>- il ne reste plus qu’à trier les 2 sous-tableaux </a:t>
            </a:r>
            <a:r>
              <a:rPr lang="fr-FR" sz="2000" b="1" dirty="0">
                <a:latin typeface="Times New Roman" pitchFamily="18" charset="0"/>
                <a:cs typeface="Times New Roman" pitchFamily="18" charset="0"/>
              </a:rPr>
              <a:t>t[inf..place-1]</a:t>
            </a:r>
            <a:r>
              <a:rPr lang="fr-FR" sz="2000" dirty="0">
                <a:latin typeface="Times New Roman" pitchFamily="18" charset="0"/>
                <a:cs typeface="Times New Roman" pitchFamily="18" charset="0"/>
              </a:rPr>
              <a:t> et </a:t>
            </a:r>
            <a:r>
              <a:rPr lang="fr-FR" sz="2000" b="1" dirty="0">
                <a:latin typeface="Times New Roman" pitchFamily="18" charset="0"/>
                <a:cs typeface="Times New Roman" pitchFamily="18" charset="0"/>
              </a:rPr>
              <a:t>t[place+1..sup]</a:t>
            </a:r>
            <a:r>
              <a:rPr lang="fr-FR" sz="2000" dirty="0">
                <a:latin typeface="Times New Roman" pitchFamily="18" charset="0"/>
                <a:cs typeface="Times New Roman" pitchFamily="18" charset="0"/>
              </a:rPr>
              <a:t>.</a:t>
            </a:r>
          </a:p>
          <a:p>
            <a:endParaRPr lang="fr-FR" sz="2000" dirty="0">
              <a:latin typeface="Times New Roman" pitchFamily="18" charset="0"/>
              <a:cs typeface="Times New Roman" pitchFamily="18" charset="0"/>
            </a:endParaRPr>
          </a:p>
          <a:p>
            <a:r>
              <a:rPr lang="fr-FR" sz="2000" dirty="0">
                <a:latin typeface="Times New Roman" pitchFamily="18" charset="0"/>
                <a:cs typeface="Times New Roman" pitchFamily="18" charset="0"/>
              </a:rPr>
              <a:t>On appelle la fonction </a:t>
            </a:r>
            <a:r>
              <a:rPr lang="fr-FR" sz="2000" b="1" dirty="0">
                <a:latin typeface="Times New Roman" pitchFamily="18" charset="0"/>
                <a:cs typeface="Times New Roman" pitchFamily="18" charset="0"/>
              </a:rPr>
              <a:t>segmentation()</a:t>
            </a:r>
            <a:r>
              <a:rPr lang="fr-FR" sz="2000" dirty="0">
                <a:latin typeface="Times New Roman" pitchFamily="18" charset="0"/>
                <a:cs typeface="Times New Roman" pitchFamily="18" charset="0"/>
              </a:rPr>
              <a:t> permettant d’effectuer cette segmentation, l’algorithme de tri s’écrit récursivement.</a:t>
            </a:r>
          </a:p>
        </p:txBody>
      </p:sp>
      <p:graphicFrame>
        <p:nvGraphicFramePr>
          <p:cNvPr id="4" name="Tableau 3"/>
          <p:cNvGraphicFramePr>
            <a:graphicFrameLocks noGrp="1"/>
          </p:cNvGraphicFramePr>
          <p:nvPr>
            <p:extLst>
              <p:ext uri="{D42A27DB-BD31-4B8C-83A1-F6EECF244321}">
                <p14:modId xmlns:p14="http://schemas.microsoft.com/office/powerpoint/2010/main" val="2962893913"/>
              </p:ext>
            </p:extLst>
          </p:nvPr>
        </p:nvGraphicFramePr>
        <p:xfrm>
          <a:off x="2032001" y="1959186"/>
          <a:ext cx="4561838" cy="370840"/>
        </p:xfrm>
        <a:graphic>
          <a:graphicData uri="http://schemas.openxmlformats.org/drawingml/2006/table">
            <a:tbl>
              <a:tblPr firstRow="1" bandRow="1">
                <a:tableStyleId>{2D5ABB26-0587-4C30-8999-92F81FD0307C}</a:tableStyleId>
              </a:tblPr>
              <a:tblGrid>
                <a:gridCol w="478667">
                  <a:extLst>
                    <a:ext uri="{9D8B030D-6E8A-4147-A177-3AD203B41FA5}">
                      <a16:colId xmlns:a16="http://schemas.microsoft.com/office/drawing/2014/main" val="3613060188"/>
                    </a:ext>
                  </a:extLst>
                </a:gridCol>
                <a:gridCol w="1055492">
                  <a:extLst>
                    <a:ext uri="{9D8B030D-6E8A-4147-A177-3AD203B41FA5}">
                      <a16:colId xmlns:a16="http://schemas.microsoft.com/office/drawing/2014/main" val="3882057385"/>
                    </a:ext>
                  </a:extLst>
                </a:gridCol>
                <a:gridCol w="711200">
                  <a:extLst>
                    <a:ext uri="{9D8B030D-6E8A-4147-A177-3AD203B41FA5}">
                      <a16:colId xmlns:a16="http://schemas.microsoft.com/office/drawing/2014/main" val="1649654354"/>
                    </a:ext>
                  </a:extLst>
                </a:gridCol>
                <a:gridCol w="1483360">
                  <a:extLst>
                    <a:ext uri="{9D8B030D-6E8A-4147-A177-3AD203B41FA5}">
                      <a16:colId xmlns:a16="http://schemas.microsoft.com/office/drawing/2014/main" val="2680503734"/>
                    </a:ext>
                  </a:extLst>
                </a:gridCol>
                <a:gridCol w="833119">
                  <a:extLst>
                    <a:ext uri="{9D8B030D-6E8A-4147-A177-3AD203B41FA5}">
                      <a16:colId xmlns:a16="http://schemas.microsoft.com/office/drawing/2014/main" val="4234241165"/>
                    </a:ext>
                  </a:extLst>
                </a:gridCol>
              </a:tblGrid>
              <a:tr h="370840">
                <a:tc>
                  <a:txBody>
                    <a:bodyPr/>
                    <a:lstStyle/>
                    <a:p>
                      <a:r>
                        <a:rPr lang="fr-FR" dirty="0" smtClean="0"/>
                        <a:t> </a:t>
                      </a:r>
                      <a:r>
                        <a:rPr lang="fr-FR" dirty="0" err="1" smtClean="0"/>
                        <a:t>inf</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smtClean="0"/>
                        <a:t>place</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smtClean="0"/>
                        <a:t>sup</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845619"/>
                  </a:ext>
                </a:extLst>
              </a:tr>
            </a:tbl>
          </a:graphicData>
        </a:graphic>
      </p:graphicFrame>
    </p:spTree>
    <p:extLst>
      <p:ext uri="{BB962C8B-B14F-4D97-AF65-F5344CB8AC3E}">
        <p14:creationId xmlns:p14="http://schemas.microsoft.com/office/powerpoint/2010/main" val="19538759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000" y="390386"/>
            <a:ext cx="11744960" cy="5940088"/>
          </a:xfrm>
          <a:prstGeom prst="rect">
            <a:avLst/>
          </a:prstGeom>
        </p:spPr>
        <p:txBody>
          <a:bodyPr wrap="square">
            <a:spAutoFit/>
          </a:bodyPr>
          <a:lstStyle/>
          <a:p>
            <a:pPr lvl="0" algn="just" fontAlgn="base">
              <a:spcBef>
                <a:spcPct val="0"/>
              </a:spcBef>
              <a:spcAft>
                <a:spcPct val="0"/>
              </a:spcAft>
            </a:pPr>
            <a:r>
              <a:rPr lang="fr-FR" sz="2000" b="1" dirty="0" smtClean="0">
                <a:latin typeface="Times New Roman" pitchFamily="18" charset="0"/>
                <a:ea typeface="Times New Roman" pitchFamily="18" charset="0"/>
                <a:cs typeface="Times New Roman" pitchFamily="18" charset="0"/>
              </a:rPr>
              <a:t>vide </a:t>
            </a:r>
            <a:r>
              <a:rPr lang="fr-FR" sz="2000" dirty="0" err="1">
                <a:latin typeface="Times New Roman" pitchFamily="18" charset="0"/>
                <a:ea typeface="Times New Roman" pitchFamily="18" charset="0"/>
                <a:cs typeface="Times New Roman" pitchFamily="18" charset="0"/>
              </a:rPr>
              <a:t>trisegmentation</a:t>
            </a:r>
            <a:r>
              <a:rPr lang="fr-FR" sz="2000" b="1" dirty="0">
                <a:latin typeface="Times New Roman" pitchFamily="18" charset="0"/>
                <a:ea typeface="Times New Roman" pitchFamily="18" charset="0"/>
                <a:cs typeface="Times New Roman" pitchFamily="18" charset="0"/>
              </a:rPr>
              <a:t>(</a:t>
            </a:r>
            <a:r>
              <a:rPr lang="fr-FR" sz="2000" b="1" dirty="0" err="1">
                <a:latin typeface="Times New Roman" pitchFamily="18" charset="0"/>
                <a:ea typeface="Times New Roman" pitchFamily="18" charset="0"/>
                <a:cs typeface="Times New Roman" pitchFamily="18" charset="0"/>
              </a:rPr>
              <a:t>dr</a:t>
            </a:r>
            <a:r>
              <a:rPr lang="fr-FR" sz="2000" b="1" dirty="0">
                <a:latin typeface="Times New Roman" pitchFamily="18" charset="0"/>
                <a:ea typeface="Times New Roman" pitchFamily="18" charset="0"/>
                <a:cs typeface="Times New Roman" pitchFamily="18" charset="0"/>
              </a:rPr>
              <a:t> entier </a:t>
            </a:r>
            <a:r>
              <a:rPr lang="fr-FR" sz="2000" dirty="0">
                <a:latin typeface="Times New Roman" pitchFamily="18" charset="0"/>
                <a:ea typeface="Times New Roman" pitchFamily="18" charset="0"/>
                <a:cs typeface="Times New Roman" pitchFamily="18" charset="0"/>
              </a:rPr>
              <a:t>t[]</a:t>
            </a:r>
            <a:r>
              <a:rPr lang="fr-FR" sz="2000" b="1" dirty="0">
                <a:latin typeface="Times New Roman" pitchFamily="18" charset="0"/>
                <a:ea typeface="Times New Roman" pitchFamily="18" charset="0"/>
                <a:cs typeface="Times New Roman" pitchFamily="18" charset="0"/>
              </a:rPr>
              <a:t>, d entier </a:t>
            </a:r>
            <a:r>
              <a:rPr lang="fr-FR" sz="2000" dirty="0" err="1">
                <a:latin typeface="Times New Roman" pitchFamily="18" charset="0"/>
                <a:ea typeface="Times New Roman" pitchFamily="18" charset="0"/>
                <a:cs typeface="Times New Roman" pitchFamily="18" charset="0"/>
              </a:rPr>
              <a:t>inf</a:t>
            </a:r>
            <a:r>
              <a:rPr lang="fr-FR" sz="2000" b="1" dirty="0">
                <a:latin typeface="Times New Roman" pitchFamily="18" charset="0"/>
                <a:ea typeface="Times New Roman" pitchFamily="18" charset="0"/>
                <a:cs typeface="Times New Roman" pitchFamily="18" charset="0"/>
              </a:rPr>
              <a:t>, d entier </a:t>
            </a:r>
            <a:r>
              <a:rPr lang="fr-FR" sz="2000" dirty="0">
                <a:latin typeface="Times New Roman" pitchFamily="18" charset="0"/>
                <a:ea typeface="Times New Roman" pitchFamily="18" charset="0"/>
                <a:cs typeface="Times New Roman" pitchFamily="18" charset="0"/>
              </a:rPr>
              <a:t>sup</a:t>
            </a:r>
            <a:r>
              <a:rPr lang="fr-FR" sz="2000" b="1" dirty="0">
                <a:latin typeface="Times New Roman" pitchFamily="18" charset="0"/>
                <a:ea typeface="Times New Roman" pitchFamily="18" charset="0"/>
                <a:cs typeface="Times New Roman" pitchFamily="18" charset="0"/>
              </a:rPr>
              <a:t>)</a:t>
            </a:r>
          </a:p>
          <a:p>
            <a:pPr lvl="0" algn="just" fontAlgn="base">
              <a:spcBef>
                <a:spcPct val="0"/>
              </a:spcBef>
              <a:spcAft>
                <a:spcPct val="0"/>
              </a:spcAft>
            </a:pPr>
            <a:r>
              <a:rPr lang="fr-FR" sz="2000" b="1" dirty="0" err="1" smtClean="0">
                <a:latin typeface="Times New Roman" pitchFamily="18" charset="0"/>
                <a:ea typeface="Times New Roman" pitchFamily="18" charset="0"/>
                <a:cs typeface="Times New Roman" pitchFamily="18" charset="0"/>
              </a:rPr>
              <a:t>debfonc</a:t>
            </a:r>
            <a:r>
              <a:rPr lang="fr-FR" sz="2000" b="1" dirty="0" smtClean="0">
                <a:latin typeface="Times New Roman" pitchFamily="18" charset="0"/>
                <a:ea typeface="Times New Roman" pitchFamily="18" charset="0"/>
                <a:cs typeface="Times New Roman" pitchFamily="18" charset="0"/>
              </a:rPr>
              <a:t> </a:t>
            </a:r>
          </a:p>
          <a:p>
            <a:pPr lvl="0" algn="just" fontAlgn="base">
              <a:spcBef>
                <a:spcPct val="0"/>
              </a:spcBef>
              <a:spcAft>
                <a:spcPct val="0"/>
              </a:spcAft>
            </a:pPr>
            <a:r>
              <a:rPr lang="fr-FR" sz="2000" b="1" dirty="0">
                <a:latin typeface="Times New Roman" pitchFamily="18" charset="0"/>
                <a:ea typeface="Times New Roman" pitchFamily="18" charset="0"/>
                <a:cs typeface="Times New Roman" pitchFamily="18" charset="0"/>
              </a:rPr>
              <a:t> </a:t>
            </a:r>
            <a:r>
              <a:rPr lang="fr-FR" sz="2000" b="1" dirty="0" smtClean="0">
                <a:latin typeface="Times New Roman" pitchFamily="18" charset="0"/>
                <a:ea typeface="Times New Roman" pitchFamily="18" charset="0"/>
                <a:cs typeface="Times New Roman" pitchFamily="18" charset="0"/>
              </a:rPr>
              <a:t> entier </a:t>
            </a:r>
            <a:r>
              <a:rPr lang="fr-FR" sz="2000" dirty="0">
                <a:latin typeface="Times New Roman" pitchFamily="18" charset="0"/>
                <a:ea typeface="Times New Roman" pitchFamily="18" charset="0"/>
                <a:cs typeface="Times New Roman" pitchFamily="18" charset="0"/>
              </a:rPr>
              <a:t>place;</a:t>
            </a:r>
            <a:endParaRPr lang="fr-FR" sz="2000" dirty="0">
              <a:latin typeface="Times New Roman" pitchFamily="18" charset="0"/>
              <a:cs typeface="Times New Roman" pitchFamily="18" charset="0"/>
            </a:endParaRP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a:t>
            </a:r>
            <a:r>
              <a:rPr lang="fr-FR" sz="2000" b="1" dirty="0" smtClean="0">
                <a:latin typeface="Times New Roman" pitchFamily="18" charset="0"/>
                <a:ea typeface="Times New Roman" pitchFamily="18" charset="0"/>
                <a:cs typeface="Times New Roman" pitchFamily="18" charset="0"/>
              </a:rPr>
              <a:t>   </a:t>
            </a:r>
            <a:r>
              <a:rPr lang="fr-FR" sz="2000" b="1" dirty="0">
                <a:latin typeface="Times New Roman" pitchFamily="18" charset="0"/>
                <a:ea typeface="Times New Roman" pitchFamily="18" charset="0"/>
                <a:cs typeface="Times New Roman" pitchFamily="18" charset="0"/>
              </a:rPr>
              <a:t>si </a:t>
            </a:r>
            <a:r>
              <a:rPr lang="fr-FR" sz="2000" dirty="0" err="1">
                <a:latin typeface="Times New Roman" pitchFamily="18" charset="0"/>
                <a:ea typeface="Times New Roman" pitchFamily="18" charset="0"/>
                <a:cs typeface="Times New Roman" pitchFamily="18" charset="0"/>
              </a:rPr>
              <a:t>inf</a:t>
            </a:r>
            <a:r>
              <a:rPr lang="fr-FR" sz="2000" dirty="0">
                <a:latin typeface="Times New Roman" pitchFamily="18" charset="0"/>
                <a:ea typeface="Times New Roman" pitchFamily="18" charset="0"/>
                <a:cs typeface="Times New Roman" pitchFamily="18" charset="0"/>
              </a:rPr>
              <a:t>&lt;sup</a:t>
            </a:r>
            <a:r>
              <a:rPr lang="fr-FR" sz="2000" b="1" dirty="0">
                <a:latin typeface="Times New Roman" pitchFamily="18" charset="0"/>
                <a:ea typeface="Times New Roman" pitchFamily="18" charset="0"/>
                <a:cs typeface="Times New Roman" pitchFamily="18" charset="0"/>
              </a:rPr>
              <a:t> alors </a:t>
            </a: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a:t>
            </a:r>
            <a:r>
              <a:rPr lang="fr-FR" sz="2000" b="1" dirty="0" smtClean="0">
                <a:latin typeface="Times New Roman" pitchFamily="18" charset="0"/>
                <a:ea typeface="Times New Roman" pitchFamily="18" charset="0"/>
                <a:cs typeface="Times New Roman" pitchFamily="18" charset="0"/>
              </a:rPr>
              <a:t>   </a:t>
            </a:r>
            <a:r>
              <a:rPr lang="fr-FR" sz="2000" dirty="0">
                <a:latin typeface="Times New Roman" pitchFamily="18" charset="0"/>
                <a:ea typeface="Times New Roman" pitchFamily="18" charset="0"/>
                <a:cs typeface="Times New Roman" pitchFamily="18" charset="0"/>
              </a:rPr>
              <a:t>segmentation(t, </a:t>
            </a:r>
            <a:r>
              <a:rPr lang="fr-FR" sz="2000" dirty="0" err="1">
                <a:latin typeface="Times New Roman" pitchFamily="18" charset="0"/>
                <a:ea typeface="Times New Roman" pitchFamily="18" charset="0"/>
                <a:cs typeface="Times New Roman" pitchFamily="18" charset="0"/>
              </a:rPr>
              <a:t>inf</a:t>
            </a:r>
            <a:r>
              <a:rPr lang="fr-FR" sz="2000" dirty="0">
                <a:latin typeface="Times New Roman" pitchFamily="18" charset="0"/>
                <a:ea typeface="Times New Roman" pitchFamily="18" charset="0"/>
                <a:cs typeface="Times New Roman" pitchFamily="18" charset="0"/>
              </a:rPr>
              <a:t>, sup, place);</a:t>
            </a:r>
            <a:endParaRPr lang="fr-FR" sz="2000" dirty="0">
              <a:latin typeface="Times New Roman" pitchFamily="18" charset="0"/>
              <a:cs typeface="Times New Roman" pitchFamily="18" charset="0"/>
            </a:endParaRPr>
          </a:p>
          <a:p>
            <a:pPr lvl="0" algn="just"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     </a:t>
            </a:r>
            <a:r>
              <a:rPr lang="fr-FR" sz="2000" dirty="0" smtClean="0">
                <a:latin typeface="Times New Roman" pitchFamily="18" charset="0"/>
                <a:ea typeface="Times New Roman" pitchFamily="18" charset="0"/>
                <a:cs typeface="Times New Roman" pitchFamily="18" charset="0"/>
              </a:rPr>
              <a:t>  </a:t>
            </a:r>
            <a:r>
              <a:rPr lang="fr-FR" sz="2000" dirty="0" err="1" smtClean="0">
                <a:latin typeface="Times New Roman" pitchFamily="18" charset="0"/>
                <a:ea typeface="Times New Roman" pitchFamily="18" charset="0"/>
                <a:cs typeface="Times New Roman" pitchFamily="18" charset="0"/>
              </a:rPr>
              <a:t>trisegmentation</a:t>
            </a:r>
            <a:r>
              <a:rPr lang="fr-FR" sz="2000" dirty="0" smtClean="0">
                <a:latin typeface="Times New Roman" pitchFamily="18" charset="0"/>
                <a:ea typeface="Times New Roman" pitchFamily="18" charset="0"/>
                <a:cs typeface="Times New Roman" pitchFamily="18" charset="0"/>
              </a:rPr>
              <a:t>(t</a:t>
            </a:r>
            <a:r>
              <a:rPr lang="fr-FR" sz="2000" dirty="0">
                <a:latin typeface="Times New Roman" pitchFamily="18" charset="0"/>
                <a:ea typeface="Times New Roman" pitchFamily="18" charset="0"/>
                <a:cs typeface="Times New Roman" pitchFamily="18" charset="0"/>
              </a:rPr>
              <a:t>, </a:t>
            </a:r>
            <a:r>
              <a:rPr lang="fr-FR" sz="2000" dirty="0" err="1">
                <a:latin typeface="Times New Roman" pitchFamily="18" charset="0"/>
                <a:ea typeface="Times New Roman" pitchFamily="18" charset="0"/>
                <a:cs typeface="Times New Roman" pitchFamily="18" charset="0"/>
              </a:rPr>
              <a:t>inf</a:t>
            </a:r>
            <a:r>
              <a:rPr lang="fr-FR" sz="2000" dirty="0">
                <a:latin typeface="Times New Roman" pitchFamily="18" charset="0"/>
                <a:ea typeface="Times New Roman" pitchFamily="18" charset="0"/>
                <a:cs typeface="Times New Roman" pitchFamily="18" charset="0"/>
              </a:rPr>
              <a:t>, place-1);</a:t>
            </a:r>
            <a:endParaRPr lang="fr-FR" sz="2000" dirty="0">
              <a:latin typeface="Times New Roman" pitchFamily="18" charset="0"/>
              <a:cs typeface="Times New Roman" pitchFamily="18" charset="0"/>
            </a:endParaRPr>
          </a:p>
          <a:p>
            <a:pPr lvl="0" algn="just"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     </a:t>
            </a:r>
            <a:r>
              <a:rPr lang="fr-FR" sz="2000" dirty="0" smtClean="0">
                <a:latin typeface="Times New Roman" pitchFamily="18" charset="0"/>
                <a:ea typeface="Times New Roman" pitchFamily="18" charset="0"/>
                <a:cs typeface="Times New Roman" pitchFamily="18" charset="0"/>
              </a:rPr>
              <a:t>  </a:t>
            </a:r>
            <a:r>
              <a:rPr lang="fr-FR" sz="2000" dirty="0" err="1" smtClean="0">
                <a:latin typeface="Times New Roman" pitchFamily="18" charset="0"/>
                <a:ea typeface="Times New Roman" pitchFamily="18" charset="0"/>
                <a:cs typeface="Times New Roman" pitchFamily="18" charset="0"/>
              </a:rPr>
              <a:t>trisegmentation</a:t>
            </a:r>
            <a:r>
              <a:rPr lang="fr-FR" sz="2000" dirty="0" smtClean="0">
                <a:latin typeface="Times New Roman" pitchFamily="18" charset="0"/>
                <a:ea typeface="Times New Roman" pitchFamily="18" charset="0"/>
                <a:cs typeface="Times New Roman" pitchFamily="18" charset="0"/>
              </a:rPr>
              <a:t>(t</a:t>
            </a:r>
            <a:r>
              <a:rPr lang="fr-FR" sz="2000" dirty="0">
                <a:latin typeface="Times New Roman" pitchFamily="18" charset="0"/>
                <a:ea typeface="Times New Roman" pitchFamily="18" charset="0"/>
                <a:cs typeface="Times New Roman" pitchFamily="18" charset="0"/>
              </a:rPr>
              <a:t>, place+1, sup);</a:t>
            </a:r>
            <a:r>
              <a:rPr lang="fr-FR" sz="2000" b="1" dirty="0">
                <a:latin typeface="Times New Roman" pitchFamily="18" charset="0"/>
                <a:ea typeface="Times New Roman" pitchFamily="18" charset="0"/>
                <a:cs typeface="Times New Roman" pitchFamily="18" charset="0"/>
              </a:rPr>
              <a:t>  </a:t>
            </a: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a:t>
            </a:r>
            <a:r>
              <a:rPr lang="fr-FR" sz="2000" b="1" dirty="0" smtClean="0">
                <a:latin typeface="Times New Roman" pitchFamily="18" charset="0"/>
                <a:ea typeface="Times New Roman" pitchFamily="18" charset="0"/>
                <a:cs typeface="Times New Roman" pitchFamily="18" charset="0"/>
              </a:rPr>
              <a:t>  </a:t>
            </a:r>
            <a:r>
              <a:rPr lang="fr-FR" sz="2000" b="1" dirty="0" err="1" smtClean="0">
                <a:latin typeface="Times New Roman" pitchFamily="18" charset="0"/>
                <a:ea typeface="Times New Roman" pitchFamily="18" charset="0"/>
                <a:cs typeface="Times New Roman" pitchFamily="18" charset="0"/>
              </a:rPr>
              <a:t>finsi</a:t>
            </a:r>
            <a:r>
              <a:rPr lang="fr-FR" sz="2000" b="1" dirty="0" smtClean="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algn="just" eaLnBrk="0" fontAlgn="base" hangingPunct="0">
              <a:spcBef>
                <a:spcPct val="0"/>
              </a:spcBef>
              <a:spcAft>
                <a:spcPct val="0"/>
              </a:spcAft>
            </a:pPr>
            <a:r>
              <a:rPr lang="fr-FR" sz="2000" b="1" dirty="0" err="1">
                <a:latin typeface="Times New Roman" pitchFamily="18" charset="0"/>
                <a:ea typeface="Times New Roman" pitchFamily="18" charset="0"/>
                <a:cs typeface="Times New Roman" pitchFamily="18" charset="0"/>
              </a:rPr>
              <a:t>f</a:t>
            </a:r>
            <a:r>
              <a:rPr lang="fr-FR" sz="2000" b="1" dirty="0" err="1" smtClean="0">
                <a:latin typeface="Times New Roman" pitchFamily="18" charset="0"/>
                <a:ea typeface="Times New Roman" pitchFamily="18" charset="0"/>
                <a:cs typeface="Times New Roman" pitchFamily="18" charset="0"/>
              </a:rPr>
              <a:t>infonc</a:t>
            </a:r>
            <a:r>
              <a:rPr lang="fr-FR" sz="2000" b="1" dirty="0" smtClean="0">
                <a:latin typeface="Times New Roman" pitchFamily="18" charset="0"/>
                <a:ea typeface="Times New Roman" pitchFamily="18" charset="0"/>
                <a:cs typeface="Times New Roman" pitchFamily="18" charset="0"/>
              </a:rPr>
              <a:t>;</a:t>
            </a:r>
            <a:endParaRPr lang="fr-FR" sz="2000" b="1" dirty="0">
              <a:latin typeface="Times New Roman" pitchFamily="18" charset="0"/>
              <a:ea typeface="Times New Roman" pitchFamily="18" charset="0"/>
              <a:cs typeface="Times New Roman" pitchFamily="18" charset="0"/>
            </a:endParaRPr>
          </a:p>
          <a:p>
            <a:pPr lvl="0" algn="just" eaLnBrk="0" fontAlgn="base" hangingPunct="0">
              <a:spcBef>
                <a:spcPct val="0"/>
              </a:spcBef>
              <a:spcAft>
                <a:spcPct val="0"/>
              </a:spcAft>
            </a:pPr>
            <a:endParaRPr lang="fr-FR" sz="2000" b="1" dirty="0">
              <a:latin typeface="Times New Roman" pitchFamily="18" charset="0"/>
              <a:ea typeface="Times New Roman" pitchFamily="18" charset="0"/>
              <a:cs typeface="Times New Roman" pitchFamily="18" charset="0"/>
            </a:endParaRPr>
          </a:p>
          <a:p>
            <a:pPr lvl="0" algn="just" eaLnBrk="0" fontAlgn="base" hangingPunct="0">
              <a:spcBef>
                <a:spcPct val="0"/>
              </a:spcBef>
              <a:spcAft>
                <a:spcPct val="0"/>
              </a:spcAft>
            </a:pPr>
            <a:r>
              <a:rPr lang="en-GB" sz="2000" dirty="0">
                <a:latin typeface="Times New Roman" pitchFamily="18" charset="0"/>
                <a:ea typeface="Times New Roman" pitchFamily="18" charset="0"/>
                <a:cs typeface="Times New Roman" pitchFamily="18" charset="0"/>
              </a:rPr>
              <a:t>Pour trier le tableau </a:t>
            </a:r>
            <a:r>
              <a:rPr lang="en-GB" sz="2000" b="1" dirty="0" smtClean="0">
                <a:latin typeface="Times New Roman" pitchFamily="18" charset="0"/>
                <a:ea typeface="Times New Roman" pitchFamily="18" charset="0"/>
                <a:cs typeface="Times New Roman" pitchFamily="18" charset="0"/>
              </a:rPr>
              <a:t>t[1..n]</a:t>
            </a:r>
            <a:r>
              <a:rPr lang="en-GB" sz="2000" dirty="0" smtClean="0">
                <a:latin typeface="Times New Roman" pitchFamily="18" charset="0"/>
                <a:ea typeface="Times New Roman" pitchFamily="18" charset="0"/>
                <a:cs typeface="Times New Roman" pitchFamily="18" charset="0"/>
              </a:rPr>
              <a:t>, </a:t>
            </a:r>
            <a:r>
              <a:rPr lang="en-GB" sz="2000" dirty="0" err="1">
                <a:latin typeface="Times New Roman" pitchFamily="18" charset="0"/>
                <a:ea typeface="Times New Roman" pitchFamily="18" charset="0"/>
                <a:cs typeface="Times New Roman" pitchFamily="18" charset="0"/>
              </a:rPr>
              <a:t>il</a:t>
            </a:r>
            <a:r>
              <a:rPr lang="en-GB" sz="2000" dirty="0">
                <a:latin typeface="Times New Roman" pitchFamily="18" charset="0"/>
                <a:ea typeface="Times New Roman" pitchFamily="18" charset="0"/>
                <a:cs typeface="Times New Roman" pitchFamily="18" charset="0"/>
              </a:rPr>
              <a:t> </a:t>
            </a:r>
            <a:r>
              <a:rPr lang="en-GB" sz="2000" dirty="0" err="1">
                <a:latin typeface="Times New Roman" pitchFamily="18" charset="0"/>
                <a:ea typeface="Times New Roman" pitchFamily="18" charset="0"/>
                <a:cs typeface="Times New Roman" pitchFamily="18" charset="0"/>
              </a:rPr>
              <a:t>suffit</a:t>
            </a:r>
            <a:r>
              <a:rPr lang="en-GB" sz="2000" dirty="0">
                <a:latin typeface="Times New Roman" pitchFamily="18" charset="0"/>
                <a:ea typeface="Times New Roman" pitchFamily="18" charset="0"/>
                <a:cs typeface="Times New Roman" pitchFamily="18" charset="0"/>
              </a:rPr>
              <a:t> </a:t>
            </a:r>
            <a:r>
              <a:rPr lang="en-GB" sz="2000" dirty="0" err="1">
                <a:latin typeface="Times New Roman" pitchFamily="18" charset="0"/>
                <a:ea typeface="Times New Roman" pitchFamily="18" charset="0"/>
                <a:cs typeface="Times New Roman" pitchFamily="18" charset="0"/>
              </a:rPr>
              <a:t>d’appeler</a:t>
            </a:r>
            <a:r>
              <a:rPr lang="en-GB" sz="2000" dirty="0">
                <a:latin typeface="Times New Roman" pitchFamily="18" charset="0"/>
                <a:ea typeface="Times New Roman" pitchFamily="18" charset="0"/>
                <a:cs typeface="Times New Roman" pitchFamily="18" charset="0"/>
              </a:rPr>
              <a:t> </a:t>
            </a:r>
            <a:r>
              <a:rPr lang="en-GB" sz="2000" b="1" dirty="0" err="1">
                <a:latin typeface="Times New Roman" pitchFamily="18" charset="0"/>
                <a:ea typeface="Times New Roman" pitchFamily="18" charset="0"/>
                <a:cs typeface="Times New Roman" pitchFamily="18" charset="0"/>
              </a:rPr>
              <a:t>trisegmentation</a:t>
            </a:r>
            <a:r>
              <a:rPr lang="en-GB" sz="2000" b="1" dirty="0">
                <a:latin typeface="Times New Roman" pitchFamily="18" charset="0"/>
                <a:ea typeface="Times New Roman" pitchFamily="18" charset="0"/>
                <a:cs typeface="Times New Roman" pitchFamily="18" charset="0"/>
              </a:rPr>
              <a:t> (t, </a:t>
            </a:r>
            <a:r>
              <a:rPr lang="en-GB" sz="2000" b="1" dirty="0" smtClean="0">
                <a:latin typeface="Times New Roman" pitchFamily="18" charset="0"/>
                <a:ea typeface="Times New Roman" pitchFamily="18" charset="0"/>
                <a:cs typeface="Times New Roman" pitchFamily="18" charset="0"/>
              </a:rPr>
              <a:t>1, n)</a:t>
            </a:r>
            <a:r>
              <a:rPr lang="en-GB" sz="2000" dirty="0" smtClean="0">
                <a:latin typeface="Times New Roman" pitchFamily="18" charset="0"/>
                <a:ea typeface="Times New Roman" pitchFamily="18" charset="0"/>
                <a:cs typeface="Times New Roman" pitchFamily="18" charset="0"/>
              </a:rPr>
              <a:t>.</a:t>
            </a:r>
            <a:endParaRPr lang="fr-FR" sz="2000" dirty="0">
              <a:latin typeface="Times New Roman" pitchFamily="18" charset="0"/>
              <a:ea typeface="Times New Roman" pitchFamily="18" charset="0"/>
              <a:cs typeface="Times New Roman" pitchFamily="18" charset="0"/>
            </a:endParaRPr>
          </a:p>
          <a:p>
            <a:pPr algn="just" eaLnBrk="0" fontAlgn="base" hangingPunct="0">
              <a:spcBef>
                <a:spcPct val="0"/>
              </a:spcBef>
              <a:spcAft>
                <a:spcPct val="0"/>
              </a:spcAft>
            </a:pPr>
            <a:endParaRPr lang="fr-FR" sz="2000" dirty="0">
              <a:latin typeface="Times New Roman" pitchFamily="18" charset="0"/>
              <a:cs typeface="Times New Roman" pitchFamily="18" charset="0"/>
            </a:endParaRPr>
          </a:p>
          <a:p>
            <a:pPr algn="just" eaLnBrk="0" fontAlgn="base" hangingPunct="0">
              <a:spcBef>
                <a:spcPct val="0"/>
              </a:spcBef>
              <a:spcAft>
                <a:spcPct val="0"/>
              </a:spcAft>
            </a:pPr>
            <a:r>
              <a:rPr lang="fr-FR" sz="2000" dirty="0">
                <a:latin typeface="Times New Roman" pitchFamily="18" charset="0"/>
                <a:cs typeface="Times New Roman" pitchFamily="18" charset="0"/>
              </a:rPr>
              <a:t>Pour écrire la fonction </a:t>
            </a:r>
            <a:r>
              <a:rPr lang="fr-FR" sz="2000" b="1" dirty="0">
                <a:latin typeface="Times New Roman" pitchFamily="18" charset="0"/>
                <a:cs typeface="Times New Roman" pitchFamily="18" charset="0"/>
              </a:rPr>
              <a:t>segmentation()</a:t>
            </a:r>
          </a:p>
          <a:p>
            <a:pPr algn="just" eaLnBrk="0" fontAlgn="base" hangingPunct="0">
              <a:spcBef>
                <a:spcPct val="0"/>
              </a:spcBef>
              <a:spcAft>
                <a:spcPct val="0"/>
              </a:spcAft>
              <a:buFont typeface="Arial" pitchFamily="34" charset="0"/>
              <a:buChar char="•"/>
            </a:pPr>
            <a:r>
              <a:rPr lang="fr-FR" sz="2000" dirty="0">
                <a:latin typeface="Times New Roman" pitchFamily="18" charset="0"/>
                <a:cs typeface="Times New Roman" pitchFamily="18" charset="0"/>
              </a:rPr>
              <a:t> On choisit une valeur appartenant à </a:t>
            </a:r>
            <a:r>
              <a:rPr lang="fr-FR" sz="2000" b="1" dirty="0">
                <a:latin typeface="Times New Roman" pitchFamily="18" charset="0"/>
                <a:cs typeface="Times New Roman" pitchFamily="18" charset="0"/>
              </a:rPr>
              <a:t>t[</a:t>
            </a:r>
            <a:r>
              <a:rPr lang="fr-FR" sz="2000" b="1" dirty="0" err="1">
                <a:latin typeface="Times New Roman" pitchFamily="18" charset="0"/>
                <a:cs typeface="Times New Roman" pitchFamily="18" charset="0"/>
              </a:rPr>
              <a:t>inf..sup</a:t>
            </a:r>
            <a:r>
              <a:rPr lang="fr-FR" sz="2000" b="1" dirty="0">
                <a:latin typeface="Times New Roman" pitchFamily="18" charset="0"/>
                <a:cs typeface="Times New Roman" pitchFamily="18" charset="0"/>
              </a:rPr>
              <a:t>]</a:t>
            </a:r>
            <a:r>
              <a:rPr lang="fr-FR" sz="2000" dirty="0">
                <a:latin typeface="Times New Roman" pitchFamily="18" charset="0"/>
                <a:cs typeface="Times New Roman" pitchFamily="18" charset="0"/>
              </a:rPr>
              <a:t> appelé </a:t>
            </a:r>
            <a:r>
              <a:rPr lang="fr-FR" sz="2000" b="1" dirty="0">
                <a:latin typeface="Times New Roman" pitchFamily="18" charset="0"/>
                <a:cs typeface="Times New Roman" pitchFamily="18" charset="0"/>
              </a:rPr>
              <a:t>pivot</a:t>
            </a:r>
            <a:r>
              <a:rPr lang="fr-FR" sz="2000" dirty="0">
                <a:latin typeface="Times New Roman" pitchFamily="18" charset="0"/>
                <a:cs typeface="Times New Roman" pitchFamily="18" charset="0"/>
              </a:rPr>
              <a:t>. </a:t>
            </a:r>
          </a:p>
          <a:p>
            <a:pPr algn="just" eaLnBrk="0" fontAlgn="base" hangingPunct="0">
              <a:spcBef>
                <a:spcPct val="0"/>
              </a:spcBef>
              <a:spcAft>
                <a:spcPct val="0"/>
              </a:spcAft>
              <a:buFont typeface="Arial" pitchFamily="34" charset="0"/>
              <a:buChar char="•"/>
            </a:pPr>
            <a:r>
              <a:rPr lang="fr-FR" sz="2000" dirty="0">
                <a:latin typeface="Times New Roman" pitchFamily="18" charset="0"/>
                <a:cs typeface="Times New Roman" pitchFamily="18" charset="0"/>
              </a:rPr>
              <a:t> On effectue des permutations afin de classer les éléments du tableau </a:t>
            </a:r>
            <a:r>
              <a:rPr lang="fr-FR" sz="2000" b="1" dirty="0">
                <a:latin typeface="Times New Roman" pitchFamily="18" charset="0"/>
                <a:cs typeface="Times New Roman" pitchFamily="18" charset="0"/>
              </a:rPr>
              <a:t>t </a:t>
            </a:r>
            <a:r>
              <a:rPr lang="fr-FR" sz="2000" dirty="0">
                <a:latin typeface="Times New Roman" pitchFamily="18" charset="0"/>
                <a:cs typeface="Times New Roman" pitchFamily="18" charset="0"/>
              </a:rPr>
              <a:t>par rapport à ce </a:t>
            </a:r>
            <a:r>
              <a:rPr lang="fr-FR" sz="2000" b="1" dirty="0">
                <a:latin typeface="Times New Roman" pitchFamily="18" charset="0"/>
                <a:cs typeface="Times New Roman" pitchFamily="18" charset="0"/>
              </a:rPr>
              <a:t>pivot</a:t>
            </a:r>
            <a:r>
              <a:rPr lang="fr-FR" sz="2000" dirty="0">
                <a:latin typeface="Times New Roman" pitchFamily="18" charset="0"/>
                <a:cs typeface="Times New Roman" pitchFamily="18" charset="0"/>
              </a:rPr>
              <a:t>. On veut obtenir : </a:t>
            </a:r>
          </a:p>
          <a:p>
            <a:pPr algn="just" eaLnBrk="0" fontAlgn="base" hangingPunct="0">
              <a:spcBef>
                <a:spcPct val="0"/>
              </a:spcBef>
              <a:spcAft>
                <a:spcPct val="0"/>
              </a:spcAft>
            </a:pPr>
            <a:r>
              <a:rPr lang="fr-FR" sz="2000" dirty="0">
                <a:latin typeface="Times New Roman" pitchFamily="18" charset="0"/>
                <a:cs typeface="Times New Roman" pitchFamily="18" charset="0"/>
              </a:rPr>
              <a:t>	</a:t>
            </a:r>
            <a:r>
              <a:rPr lang="fr-FR" sz="2000" b="1" dirty="0">
                <a:latin typeface="Times New Roman" pitchFamily="18" charset="0"/>
                <a:cs typeface="Times New Roman" pitchFamily="18" charset="0"/>
              </a:rPr>
              <a:t>t[inf..j-1] </a:t>
            </a:r>
            <a:r>
              <a:rPr lang="fr-FR" sz="2000" b="1" dirty="0">
                <a:latin typeface="Times New Roman" pitchFamily="18" charset="0"/>
                <a:cs typeface="Times New Roman" pitchFamily="18" charset="0"/>
                <a:sym typeface="Symbol"/>
              </a:rPr>
              <a:t> </a:t>
            </a:r>
            <a:r>
              <a:rPr lang="fr-FR" sz="2000" b="1" dirty="0">
                <a:latin typeface="Times New Roman" pitchFamily="18" charset="0"/>
                <a:cs typeface="Times New Roman" pitchFamily="18" charset="0"/>
              </a:rPr>
              <a:t>pivot &lt; t[j+1..sup]</a:t>
            </a:r>
          </a:p>
          <a:p>
            <a:pPr algn="just" eaLnBrk="0" fontAlgn="base" hangingPunct="0">
              <a:spcBef>
                <a:spcPct val="0"/>
              </a:spcBef>
              <a:spcAft>
                <a:spcPct val="0"/>
              </a:spcAft>
            </a:pPr>
            <a:r>
              <a:rPr lang="fr-FR" sz="2000" dirty="0">
                <a:latin typeface="Times New Roman" pitchFamily="18" charset="0"/>
                <a:cs typeface="Times New Roman" pitchFamily="18" charset="0"/>
              </a:rPr>
              <a:t> Le choix du pivot est arbitraire, on peut prendre </a:t>
            </a:r>
            <a:r>
              <a:rPr lang="fr-FR" sz="2000" b="1" dirty="0">
                <a:latin typeface="Times New Roman" pitchFamily="18" charset="0"/>
                <a:cs typeface="Times New Roman" pitchFamily="18" charset="0"/>
              </a:rPr>
              <a:t>t[</a:t>
            </a:r>
            <a:r>
              <a:rPr lang="fr-FR" sz="2000" b="1" dirty="0" err="1">
                <a:latin typeface="Times New Roman" pitchFamily="18" charset="0"/>
                <a:cs typeface="Times New Roman" pitchFamily="18" charset="0"/>
              </a:rPr>
              <a:t>inf</a:t>
            </a:r>
            <a:r>
              <a:rPr lang="fr-FR" sz="2000" b="1" dirty="0">
                <a:latin typeface="Times New Roman" pitchFamily="18" charset="0"/>
                <a:cs typeface="Times New Roman" pitchFamily="18" charset="0"/>
              </a:rPr>
              <a:t>]</a:t>
            </a:r>
            <a:r>
              <a:rPr lang="fr-FR" sz="2000" dirty="0">
                <a:latin typeface="Times New Roman" pitchFamily="18" charset="0"/>
                <a:cs typeface="Times New Roman" pitchFamily="18" charset="0"/>
              </a:rPr>
              <a:t>, </a:t>
            </a:r>
            <a:r>
              <a:rPr lang="fr-FR" sz="2000" b="1" dirty="0">
                <a:latin typeface="Times New Roman" pitchFamily="18" charset="0"/>
                <a:cs typeface="Times New Roman" pitchFamily="18" charset="0"/>
              </a:rPr>
              <a:t>t[sup]</a:t>
            </a:r>
            <a:r>
              <a:rPr lang="fr-FR" sz="2000" dirty="0">
                <a:latin typeface="Times New Roman" pitchFamily="18" charset="0"/>
                <a:cs typeface="Times New Roman" pitchFamily="18" charset="0"/>
              </a:rPr>
              <a:t> ou </a:t>
            </a:r>
            <a:r>
              <a:rPr lang="fr-FR" sz="2000" b="1" dirty="0">
                <a:latin typeface="Times New Roman" pitchFamily="18" charset="0"/>
                <a:cs typeface="Times New Roman" pitchFamily="18" charset="0"/>
              </a:rPr>
              <a:t>t[(</a:t>
            </a:r>
            <a:r>
              <a:rPr lang="fr-FR" sz="2000" b="1" dirty="0" err="1">
                <a:latin typeface="Times New Roman" pitchFamily="18" charset="0"/>
                <a:cs typeface="Times New Roman" pitchFamily="18" charset="0"/>
              </a:rPr>
              <a:t>inf+sup</a:t>
            </a:r>
            <a:r>
              <a:rPr lang="fr-FR" sz="2000" b="1" dirty="0">
                <a:latin typeface="Times New Roman" pitchFamily="18" charset="0"/>
                <a:cs typeface="Times New Roman" pitchFamily="18" charset="0"/>
              </a:rPr>
              <a:t>)/2]</a:t>
            </a:r>
            <a:r>
              <a:rPr lang="fr-FR" sz="2000" dirty="0">
                <a:latin typeface="Times New Roman" pitchFamily="18" charset="0"/>
                <a:cs typeface="Times New Roman" pitchFamily="18" charset="0"/>
              </a:rPr>
              <a:t>.</a:t>
            </a:r>
          </a:p>
          <a:p>
            <a:pPr lvl="0" algn="just" eaLnBrk="0" fontAlgn="base" hangingPunct="0">
              <a:spcBef>
                <a:spcPct val="0"/>
              </a:spcBef>
              <a:spcAft>
                <a:spcPct val="0"/>
              </a:spcAft>
            </a:pPr>
            <a:endParaRPr lang="en-GB" sz="2000" dirty="0">
              <a:latin typeface="Times New Roman" pitchFamily="18" charset="0"/>
              <a:cs typeface="Times New Roman" pitchFamily="18" charset="0"/>
            </a:endParaRPr>
          </a:p>
          <a:p>
            <a:pPr lvl="0" algn="just" eaLnBrk="0" fontAlgn="base" hangingPunct="0">
              <a:spcBef>
                <a:spcPct val="0"/>
              </a:spcBef>
              <a:spcAft>
                <a:spcPct val="0"/>
              </a:spcAft>
            </a:pPr>
            <a:r>
              <a:rPr lang="en-GB" sz="2000" dirty="0">
                <a:latin typeface="Times New Roman" pitchFamily="18" charset="0"/>
                <a:cs typeface="Times New Roman" pitchFamily="18" charset="0"/>
              </a:rPr>
              <a:t>Nous </a:t>
            </a:r>
            <a:r>
              <a:rPr lang="en-GB" sz="2000" dirty="0" err="1">
                <a:latin typeface="Times New Roman" pitchFamily="18" charset="0"/>
                <a:cs typeface="Times New Roman" pitchFamily="18" charset="0"/>
              </a:rPr>
              <a:t>choisissons</a:t>
            </a:r>
            <a:r>
              <a:rPr lang="en-GB" sz="2000" dirty="0">
                <a:latin typeface="Times New Roman" pitchFamily="18" charset="0"/>
                <a:cs typeface="Times New Roman" pitchFamily="18" charset="0"/>
              </a:rPr>
              <a:t> de </a:t>
            </a:r>
            <a:r>
              <a:rPr lang="en-GB" sz="2000" dirty="0" err="1">
                <a:latin typeface="Times New Roman" pitchFamily="18" charset="0"/>
                <a:cs typeface="Times New Roman" pitchFamily="18" charset="0"/>
              </a:rPr>
              <a:t>prendre</a:t>
            </a:r>
            <a:r>
              <a:rPr lang="en-GB" sz="2000" dirty="0">
                <a:latin typeface="Times New Roman" pitchFamily="18" charset="0"/>
                <a:cs typeface="Times New Roman" pitchFamily="18" charset="0"/>
              </a:rPr>
              <a:t> </a:t>
            </a:r>
            <a:r>
              <a:rPr lang="en-GB" sz="2000" b="1" dirty="0">
                <a:latin typeface="Times New Roman" pitchFamily="18" charset="0"/>
                <a:cs typeface="Times New Roman" pitchFamily="18" charset="0"/>
              </a:rPr>
              <a:t>t[</a:t>
            </a:r>
            <a:r>
              <a:rPr lang="en-GB" sz="2000" b="1" dirty="0" err="1">
                <a:latin typeface="Times New Roman" pitchFamily="18" charset="0"/>
                <a:cs typeface="Times New Roman" pitchFamily="18" charset="0"/>
              </a:rPr>
              <a:t>inf</a:t>
            </a:r>
            <a:r>
              <a:rPr lang="en-GB" sz="2000" b="1" dirty="0">
                <a:latin typeface="Times New Roman" pitchFamily="18" charset="0"/>
                <a:cs typeface="Times New Roman" pitchFamily="18" charset="0"/>
              </a:rPr>
              <a:t>] </a:t>
            </a:r>
            <a:r>
              <a:rPr lang="en-GB" sz="2000" dirty="0">
                <a:latin typeface="Times New Roman" pitchFamily="18" charset="0"/>
                <a:cs typeface="Times New Roman" pitchFamily="18" charset="0"/>
              </a:rPr>
              <a:t>et </a:t>
            </a:r>
            <a:r>
              <a:rPr lang="en-GB" sz="2000" dirty="0" err="1">
                <a:latin typeface="Times New Roman" pitchFamily="18" charset="0"/>
                <a:cs typeface="Times New Roman" pitchFamily="18" charset="0"/>
              </a:rPr>
              <a:t>faisons</a:t>
            </a:r>
            <a:r>
              <a:rPr lang="en-GB" sz="2000" dirty="0">
                <a:latin typeface="Times New Roman" pitchFamily="18" charset="0"/>
                <a:cs typeface="Times New Roman" pitchFamily="18" charset="0"/>
              </a:rPr>
              <a:t> le </a:t>
            </a:r>
            <a:r>
              <a:rPr lang="en-GB" sz="2000" dirty="0" err="1">
                <a:latin typeface="Times New Roman" pitchFamily="18" charset="0"/>
                <a:cs typeface="Times New Roman" pitchFamily="18" charset="0"/>
              </a:rPr>
              <a:t>parcours</a:t>
            </a:r>
            <a:r>
              <a:rPr lang="en-GB" sz="2000" dirty="0">
                <a:latin typeface="Times New Roman" pitchFamily="18" charset="0"/>
                <a:cs typeface="Times New Roman" pitchFamily="18" charset="0"/>
              </a:rPr>
              <a:t> de gauche à </a:t>
            </a:r>
            <a:r>
              <a:rPr lang="en-GB" sz="2000" dirty="0" err="1">
                <a:latin typeface="Times New Roman" pitchFamily="18" charset="0"/>
                <a:cs typeface="Times New Roman" pitchFamily="18" charset="0"/>
              </a:rPr>
              <a:t>droite</a:t>
            </a:r>
            <a:r>
              <a:rPr lang="en-GB" sz="2000" dirty="0">
                <a:latin typeface="Times New Roman" pitchFamily="18" charset="0"/>
                <a:cs typeface="Times New Roman" pitchFamily="18" charset="0"/>
              </a:rPr>
              <a:t>.</a:t>
            </a:r>
          </a:p>
        </p:txBody>
      </p:sp>
    </p:spTree>
    <p:extLst>
      <p:ext uri="{BB962C8B-B14F-4D97-AF65-F5344CB8AC3E}">
        <p14:creationId xmlns:p14="http://schemas.microsoft.com/office/powerpoint/2010/main" val="10730771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200" y="325967"/>
            <a:ext cx="11704320" cy="6370975"/>
          </a:xfrm>
          <a:prstGeom prst="rect">
            <a:avLst/>
          </a:prstGeom>
        </p:spPr>
        <p:txBody>
          <a:bodyPr wrap="square">
            <a:spAutoFit/>
          </a:bodyPr>
          <a:lstStyle/>
          <a:p>
            <a:pPr lvl="0" algn="just" fontAlgn="base">
              <a:spcBef>
                <a:spcPct val="0"/>
              </a:spcBef>
              <a:spcAft>
                <a:spcPct val="0"/>
              </a:spcAft>
            </a:pPr>
            <a:r>
              <a:rPr lang="fr-FR" sz="2400" b="1" dirty="0" smtClean="0">
                <a:latin typeface="Times New Roman" pitchFamily="18" charset="0"/>
                <a:ea typeface="Times New Roman" pitchFamily="18" charset="0"/>
                <a:cs typeface="Times New Roman" pitchFamily="18" charset="0"/>
              </a:rPr>
              <a:t>vide </a:t>
            </a:r>
            <a:r>
              <a:rPr lang="fr-FR" sz="2400" dirty="0" smtClean="0">
                <a:latin typeface="Times New Roman" pitchFamily="18" charset="0"/>
                <a:ea typeface="Times New Roman" pitchFamily="18" charset="0"/>
                <a:cs typeface="Times New Roman" pitchFamily="18" charset="0"/>
              </a:rPr>
              <a:t>segmentation</a:t>
            </a:r>
            <a:r>
              <a:rPr lang="fr-FR" sz="2400" b="1" dirty="0" smtClean="0">
                <a:latin typeface="Times New Roman" pitchFamily="18" charset="0"/>
                <a:ea typeface="Times New Roman" pitchFamily="18" charset="0"/>
                <a:cs typeface="Times New Roman" pitchFamily="18" charset="0"/>
              </a:rPr>
              <a:t>(</a:t>
            </a:r>
            <a:r>
              <a:rPr lang="fr-FR" sz="2400" b="1" dirty="0" err="1" smtClean="0">
                <a:latin typeface="Times New Roman" pitchFamily="18" charset="0"/>
                <a:ea typeface="Times New Roman" pitchFamily="18" charset="0"/>
                <a:cs typeface="Times New Roman" pitchFamily="18" charset="0"/>
              </a:rPr>
              <a:t>dr</a:t>
            </a:r>
            <a:r>
              <a:rPr lang="fr-FR" sz="2400" b="1" dirty="0" smtClean="0">
                <a:latin typeface="Times New Roman" pitchFamily="18" charset="0"/>
                <a:ea typeface="Times New Roman" pitchFamily="18" charset="0"/>
                <a:cs typeface="Times New Roman" pitchFamily="18" charset="0"/>
              </a:rPr>
              <a:t> </a:t>
            </a:r>
            <a:r>
              <a:rPr lang="fr-FR" sz="2400" b="1" dirty="0">
                <a:latin typeface="Times New Roman" pitchFamily="18" charset="0"/>
                <a:ea typeface="Times New Roman" pitchFamily="18" charset="0"/>
                <a:cs typeface="Times New Roman" pitchFamily="18" charset="0"/>
              </a:rPr>
              <a:t>entier </a:t>
            </a:r>
            <a:r>
              <a:rPr lang="fr-FR" sz="2400" dirty="0">
                <a:latin typeface="Times New Roman" pitchFamily="18" charset="0"/>
                <a:ea typeface="Times New Roman" pitchFamily="18" charset="0"/>
                <a:cs typeface="Times New Roman" pitchFamily="18" charset="0"/>
              </a:rPr>
              <a:t>t[]</a:t>
            </a:r>
            <a:r>
              <a:rPr lang="fr-FR" sz="2400" b="1" dirty="0">
                <a:latin typeface="Times New Roman" pitchFamily="18" charset="0"/>
                <a:ea typeface="Times New Roman" pitchFamily="18" charset="0"/>
                <a:cs typeface="Times New Roman" pitchFamily="18" charset="0"/>
              </a:rPr>
              <a:t>, d entier </a:t>
            </a:r>
            <a:r>
              <a:rPr lang="fr-FR" sz="2400" dirty="0" err="1">
                <a:latin typeface="Times New Roman" pitchFamily="18" charset="0"/>
                <a:ea typeface="Times New Roman" pitchFamily="18" charset="0"/>
                <a:cs typeface="Times New Roman" pitchFamily="18" charset="0"/>
              </a:rPr>
              <a:t>inf</a:t>
            </a:r>
            <a:r>
              <a:rPr lang="fr-FR" sz="2400" b="1" dirty="0">
                <a:latin typeface="Times New Roman" pitchFamily="18" charset="0"/>
                <a:ea typeface="Times New Roman" pitchFamily="18" charset="0"/>
                <a:cs typeface="Times New Roman" pitchFamily="18" charset="0"/>
              </a:rPr>
              <a:t>, d entier </a:t>
            </a:r>
            <a:r>
              <a:rPr lang="fr-FR" sz="2400" dirty="0">
                <a:latin typeface="Times New Roman" pitchFamily="18" charset="0"/>
                <a:ea typeface="Times New Roman" pitchFamily="18" charset="0"/>
                <a:cs typeface="Times New Roman" pitchFamily="18" charset="0"/>
              </a:rPr>
              <a:t>sup</a:t>
            </a:r>
            <a:r>
              <a:rPr lang="fr-FR" sz="2400" b="1" dirty="0">
                <a:latin typeface="Times New Roman" pitchFamily="18" charset="0"/>
                <a:ea typeface="Times New Roman" pitchFamily="18" charset="0"/>
                <a:cs typeface="Times New Roman" pitchFamily="18" charset="0"/>
              </a:rPr>
              <a:t>, </a:t>
            </a:r>
            <a:r>
              <a:rPr lang="fr-FR" sz="2400" b="1" dirty="0" smtClean="0">
                <a:latin typeface="Times New Roman" pitchFamily="18" charset="0"/>
                <a:ea typeface="Times New Roman" pitchFamily="18" charset="0"/>
                <a:cs typeface="Times New Roman" pitchFamily="18" charset="0"/>
              </a:rPr>
              <a:t>r </a:t>
            </a:r>
            <a:r>
              <a:rPr lang="fr-FR" sz="2400" b="1" dirty="0">
                <a:latin typeface="Times New Roman" pitchFamily="18" charset="0"/>
                <a:ea typeface="Times New Roman" pitchFamily="18" charset="0"/>
                <a:cs typeface="Times New Roman" pitchFamily="18" charset="0"/>
              </a:rPr>
              <a:t>entier </a:t>
            </a:r>
            <a:r>
              <a:rPr lang="fr-FR" sz="2400" dirty="0">
                <a:latin typeface="Times New Roman" pitchFamily="18" charset="0"/>
                <a:ea typeface="Times New Roman" pitchFamily="18" charset="0"/>
                <a:cs typeface="Times New Roman" pitchFamily="18" charset="0"/>
              </a:rPr>
              <a:t>place</a:t>
            </a:r>
            <a:r>
              <a:rPr lang="fr-FR" sz="2400" b="1" dirty="0">
                <a:latin typeface="Times New Roman" pitchFamily="18" charset="0"/>
                <a:ea typeface="Times New Roman" pitchFamily="18" charset="0"/>
                <a:cs typeface="Times New Roman" pitchFamily="18" charset="0"/>
              </a:rPr>
              <a:t>)</a:t>
            </a:r>
          </a:p>
          <a:p>
            <a:pPr lvl="0" algn="just" fontAlgn="base">
              <a:spcBef>
                <a:spcPct val="0"/>
              </a:spcBef>
              <a:spcAft>
                <a:spcPct val="0"/>
              </a:spcAft>
            </a:pPr>
            <a:r>
              <a:rPr lang="fr-FR" sz="2400" b="1" dirty="0" err="1" smtClean="0">
                <a:latin typeface="Times New Roman" pitchFamily="18" charset="0"/>
                <a:ea typeface="Times New Roman" pitchFamily="18" charset="0"/>
                <a:cs typeface="Times New Roman" pitchFamily="18" charset="0"/>
              </a:rPr>
              <a:t>debfonc</a:t>
            </a:r>
            <a:r>
              <a:rPr lang="fr-FR" sz="2400" b="1" dirty="0" smtClean="0">
                <a:latin typeface="Times New Roman" pitchFamily="18" charset="0"/>
                <a:ea typeface="Times New Roman" pitchFamily="18" charset="0"/>
                <a:cs typeface="Times New Roman" pitchFamily="18" charset="0"/>
              </a:rPr>
              <a:t> </a:t>
            </a:r>
            <a:endParaRPr lang="fr-FR" sz="2400" b="1" dirty="0">
              <a:latin typeface="Times New Roman" pitchFamily="18" charset="0"/>
              <a:ea typeface="Times New Roman" pitchFamily="18" charset="0"/>
              <a:cs typeface="Times New Roman" pitchFamily="18" charset="0"/>
            </a:endParaRPr>
          </a:p>
          <a:p>
            <a:pPr lvl="0" algn="just" fontAlgn="base">
              <a:spcBef>
                <a:spcPct val="0"/>
              </a:spcBef>
              <a:spcAft>
                <a:spcPct val="0"/>
              </a:spcAft>
            </a:pPr>
            <a:r>
              <a:rPr lang="fr-FR" sz="2400" b="1" dirty="0">
                <a:latin typeface="Times New Roman" pitchFamily="18" charset="0"/>
                <a:ea typeface="Times New Roman" pitchFamily="18" charset="0"/>
                <a:cs typeface="Times New Roman" pitchFamily="18" charset="0"/>
              </a:rPr>
              <a:t>    e</a:t>
            </a:r>
            <a:r>
              <a:rPr lang="nb-NO" sz="2400" b="1" dirty="0">
                <a:latin typeface="Times New Roman" pitchFamily="18" charset="0"/>
                <a:ea typeface="Times New Roman" pitchFamily="18" charset="0"/>
                <a:cs typeface="Times New Roman" pitchFamily="18" charset="0"/>
              </a:rPr>
              <a:t>ntier </a:t>
            </a:r>
            <a:r>
              <a:rPr lang="nb-NO" sz="2400" dirty="0">
                <a:latin typeface="Times New Roman" pitchFamily="18" charset="0"/>
                <a:ea typeface="Times New Roman" pitchFamily="18" charset="0"/>
                <a:cs typeface="Times New Roman" pitchFamily="18" charset="0"/>
              </a:rPr>
              <a:t>i, j, pivot, place;</a:t>
            </a:r>
            <a:endParaRPr lang="fr-FR" sz="2400" dirty="0">
              <a:latin typeface="Times New Roman" pitchFamily="18" charset="0"/>
              <a:cs typeface="Times New Roman" pitchFamily="18" charset="0"/>
            </a:endParaRPr>
          </a:p>
          <a:p>
            <a:pPr lvl="0" algn="just" eaLnBrk="0" fontAlgn="base" hangingPunct="0">
              <a:spcBef>
                <a:spcPct val="0"/>
              </a:spcBef>
              <a:spcAft>
                <a:spcPct val="0"/>
              </a:spcAft>
            </a:pPr>
            <a:r>
              <a:rPr lang="nb-NO" sz="2400" b="1" dirty="0">
                <a:latin typeface="Times New Roman" pitchFamily="18" charset="0"/>
                <a:ea typeface="Times New Roman" pitchFamily="18" charset="0"/>
                <a:cs typeface="Times New Roman" pitchFamily="18" charset="0"/>
              </a:rPr>
              <a:t>    </a:t>
            </a:r>
            <a:r>
              <a:rPr lang="nb-NO" sz="2400" dirty="0" smtClean="0">
                <a:latin typeface="Times New Roman" pitchFamily="18" charset="0"/>
                <a:ea typeface="Times New Roman" pitchFamily="18" charset="0"/>
                <a:cs typeface="Times New Roman" pitchFamily="18" charset="0"/>
              </a:rPr>
              <a:t>pivot:=t[inf</a:t>
            </a:r>
            <a:r>
              <a:rPr lang="nb-NO" sz="2400" dirty="0">
                <a:latin typeface="Times New Roman" pitchFamily="18" charset="0"/>
                <a:ea typeface="Times New Roman" pitchFamily="18" charset="0"/>
                <a:cs typeface="Times New Roman" pitchFamily="18" charset="0"/>
              </a:rPr>
              <a:t>]; </a:t>
            </a:r>
            <a:r>
              <a:rPr lang="nb-NO" sz="2400" dirty="0" smtClean="0">
                <a:latin typeface="Times New Roman" pitchFamily="18" charset="0"/>
                <a:ea typeface="Times New Roman" pitchFamily="18" charset="0"/>
                <a:cs typeface="Times New Roman" pitchFamily="18" charset="0"/>
              </a:rPr>
              <a:t>i:=inf+1</a:t>
            </a:r>
            <a:r>
              <a:rPr lang="nb-NO" sz="2400" dirty="0">
                <a:latin typeface="Times New Roman" pitchFamily="18" charset="0"/>
                <a:ea typeface="Times New Roman" pitchFamily="18" charset="0"/>
                <a:cs typeface="Times New Roman" pitchFamily="18" charset="0"/>
              </a:rPr>
              <a:t>; </a:t>
            </a:r>
            <a:r>
              <a:rPr lang="nb-NO" sz="2400" dirty="0" smtClean="0">
                <a:latin typeface="Times New Roman" pitchFamily="18" charset="0"/>
                <a:ea typeface="Times New Roman" pitchFamily="18" charset="0"/>
                <a:cs typeface="Times New Roman" pitchFamily="18" charset="0"/>
              </a:rPr>
              <a:t>j:=sup</a:t>
            </a:r>
            <a:r>
              <a:rPr lang="nb-NO" sz="2400" dirty="0">
                <a:latin typeface="Times New Roman" pitchFamily="18" charset="0"/>
                <a:ea typeface="Times New Roman" pitchFamily="18" charset="0"/>
                <a:cs typeface="Times New Roman" pitchFamily="18" charset="0"/>
              </a:rPr>
              <a:t>;</a:t>
            </a:r>
            <a:endParaRPr lang="fr-FR" sz="2400" dirty="0">
              <a:latin typeface="Times New Roman" pitchFamily="18" charset="0"/>
              <a:cs typeface="Times New Roman" pitchFamily="18" charset="0"/>
            </a:endParaRPr>
          </a:p>
          <a:p>
            <a:pPr lvl="0" algn="just" eaLnBrk="0" fontAlgn="base" hangingPunct="0">
              <a:spcBef>
                <a:spcPct val="0"/>
              </a:spcBef>
              <a:spcAft>
                <a:spcPct val="0"/>
              </a:spcAft>
            </a:pPr>
            <a:r>
              <a:rPr lang="nb-NO" sz="2400" b="1" dirty="0">
                <a:latin typeface="Times New Roman" pitchFamily="18" charset="0"/>
                <a:ea typeface="Times New Roman" pitchFamily="18" charset="0"/>
                <a:cs typeface="Times New Roman" pitchFamily="18" charset="0"/>
              </a:rPr>
              <a:t>    tantque </a:t>
            </a:r>
            <a:r>
              <a:rPr lang="nb-NO" sz="2400" dirty="0">
                <a:latin typeface="Times New Roman" pitchFamily="18" charset="0"/>
                <a:ea typeface="Times New Roman" pitchFamily="18" charset="0"/>
                <a:cs typeface="Times New Roman" pitchFamily="18" charset="0"/>
              </a:rPr>
              <a:t>i</a:t>
            </a:r>
            <a:r>
              <a:rPr lang="fr-FR" sz="2400" dirty="0">
                <a:latin typeface="Times New Roman" pitchFamily="18" charset="0"/>
                <a:ea typeface="Times New Roman" pitchFamily="18" charset="0"/>
                <a:cs typeface="Times New Roman" pitchFamily="18" charset="0"/>
                <a:sym typeface="Symbol" pitchFamily="18" charset="2"/>
              </a:rPr>
              <a:t>≤</a:t>
            </a:r>
            <a:r>
              <a:rPr lang="nb-NO" sz="2400" dirty="0">
                <a:latin typeface="Times New Roman" pitchFamily="18" charset="0"/>
                <a:ea typeface="Times New Roman" pitchFamily="18" charset="0"/>
                <a:cs typeface="Times New Roman" pitchFamily="18" charset="0"/>
              </a:rPr>
              <a:t>j</a:t>
            </a:r>
            <a:r>
              <a:rPr lang="nb-NO" sz="2400" b="1" dirty="0">
                <a:latin typeface="Times New Roman" pitchFamily="18" charset="0"/>
                <a:ea typeface="Times New Roman" pitchFamily="18" charset="0"/>
                <a:cs typeface="Times New Roman" pitchFamily="18" charset="0"/>
              </a:rPr>
              <a:t> faire </a:t>
            </a:r>
          </a:p>
          <a:p>
            <a:pPr lvl="0" algn="just" eaLnBrk="0" fontAlgn="base" hangingPunct="0">
              <a:spcBef>
                <a:spcPct val="0"/>
              </a:spcBef>
              <a:spcAft>
                <a:spcPct val="0"/>
              </a:spcAft>
            </a:pPr>
            <a:r>
              <a:rPr lang="nb-NO" sz="2400" b="1" dirty="0">
                <a:latin typeface="Times New Roman" pitchFamily="18" charset="0"/>
                <a:ea typeface="Times New Roman" pitchFamily="18" charset="0"/>
                <a:cs typeface="Times New Roman" pitchFamily="18" charset="0"/>
              </a:rPr>
              <a:t>      s</a:t>
            </a:r>
            <a:r>
              <a:rPr lang="nb-NO" sz="2400" b="1" dirty="0">
                <a:latin typeface="Times New Roman" pitchFamily="18" charset="0"/>
                <a:ea typeface="Times New Roman" pitchFamily="18" charset="0"/>
                <a:cs typeface="Times New Roman" pitchFamily="18" charset="0"/>
                <a:sym typeface="Symbol" pitchFamily="18" charset="2"/>
              </a:rPr>
              <a:t>i </a:t>
            </a:r>
            <a:r>
              <a:rPr lang="nb-NO" sz="2400" dirty="0">
                <a:latin typeface="Times New Roman" pitchFamily="18" charset="0"/>
                <a:ea typeface="Times New Roman" pitchFamily="18" charset="0"/>
                <a:cs typeface="Times New Roman" pitchFamily="18" charset="0"/>
                <a:sym typeface="Symbol" pitchFamily="18" charset="2"/>
              </a:rPr>
              <a:t>t[i]</a:t>
            </a:r>
            <a:r>
              <a:rPr lang="fr-FR" sz="2400" dirty="0">
                <a:latin typeface="Times New Roman" pitchFamily="18" charset="0"/>
                <a:ea typeface="Times New Roman" pitchFamily="18" charset="0"/>
                <a:cs typeface="Times New Roman" pitchFamily="18" charset="0"/>
                <a:sym typeface="Symbol" pitchFamily="18" charset="2"/>
              </a:rPr>
              <a:t>≤</a:t>
            </a:r>
            <a:r>
              <a:rPr lang="nb-NO" sz="2400" dirty="0">
                <a:latin typeface="Times New Roman" pitchFamily="18" charset="0"/>
                <a:ea typeface="Times New Roman" pitchFamily="18" charset="0"/>
                <a:cs typeface="Times New Roman" pitchFamily="18" charset="0"/>
              </a:rPr>
              <a:t>pivot</a:t>
            </a:r>
            <a:r>
              <a:rPr lang="nb-NO" sz="2400" b="1" dirty="0">
                <a:latin typeface="Times New Roman" pitchFamily="18" charset="0"/>
                <a:ea typeface="Times New Roman" pitchFamily="18" charset="0"/>
                <a:cs typeface="Times New Roman" pitchFamily="18" charset="0"/>
              </a:rPr>
              <a:t> alors </a:t>
            </a:r>
            <a:r>
              <a:rPr lang="nb-NO" sz="2400" dirty="0" smtClean="0">
                <a:latin typeface="Times New Roman" pitchFamily="18" charset="0"/>
                <a:ea typeface="Times New Roman" pitchFamily="18" charset="0"/>
                <a:cs typeface="Times New Roman" pitchFamily="18" charset="0"/>
              </a:rPr>
              <a:t>i:=i+1</a:t>
            </a:r>
            <a:r>
              <a:rPr lang="nb-NO" sz="2400" dirty="0">
                <a:latin typeface="Times New Roman" pitchFamily="18" charset="0"/>
                <a:ea typeface="Times New Roman" pitchFamily="18" charset="0"/>
                <a:cs typeface="Times New Roman" pitchFamily="18" charset="0"/>
              </a:rPr>
              <a:t>;</a:t>
            </a:r>
            <a:endParaRPr lang="fr-FR" sz="24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nb-NO" sz="2400" b="1" dirty="0">
                <a:latin typeface="Times New Roman" pitchFamily="18" charset="0"/>
                <a:ea typeface="Times New Roman" pitchFamily="18" charset="0"/>
                <a:cs typeface="Times New Roman" pitchFamily="18" charset="0"/>
                <a:sym typeface="Symbol" pitchFamily="18" charset="2"/>
              </a:rPr>
              <a:t>      sinon</a:t>
            </a:r>
            <a:r>
              <a:rPr lang="fr-FR" sz="2400" b="1" dirty="0">
                <a:latin typeface="Times New Roman" pitchFamily="18" charset="0"/>
                <a:ea typeface="Times New Roman" pitchFamily="18" charset="0"/>
                <a:cs typeface="Times New Roman" pitchFamily="18" charset="0"/>
                <a:sym typeface="Symbol" pitchFamily="18" charset="2"/>
              </a:rPr>
              <a:t> </a:t>
            </a:r>
            <a:r>
              <a:rPr lang="fr-FR" sz="2400" dirty="0" err="1">
                <a:latin typeface="Times New Roman" pitchFamily="18" charset="0"/>
                <a:ea typeface="Times New Roman" pitchFamily="18" charset="0"/>
                <a:cs typeface="Times New Roman" pitchFamily="18" charset="0"/>
                <a:sym typeface="Symbol" pitchFamily="18" charset="2"/>
              </a:rPr>
              <a:t>permut</a:t>
            </a:r>
            <a:r>
              <a:rPr lang="fr-FR" sz="2400" dirty="0">
                <a:latin typeface="Times New Roman" pitchFamily="18" charset="0"/>
                <a:ea typeface="Times New Roman" pitchFamily="18" charset="0"/>
                <a:cs typeface="Times New Roman" pitchFamily="18" charset="0"/>
                <a:sym typeface="Symbol" pitchFamily="18" charset="2"/>
              </a:rPr>
              <a:t>(t[i], t[j])</a:t>
            </a:r>
            <a:r>
              <a:rPr lang="fr-FR" sz="2400" b="1" dirty="0">
                <a:latin typeface="Times New Roman" pitchFamily="18" charset="0"/>
                <a:ea typeface="Times New Roman" pitchFamily="18" charset="0"/>
                <a:cs typeface="Times New Roman" pitchFamily="18" charset="0"/>
                <a:sym typeface="Symbol" pitchFamily="18" charset="2"/>
              </a:rPr>
              <a:t>; </a:t>
            </a: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a:t>
            </a:r>
            <a:r>
              <a:rPr lang="fr-FR" sz="2400" dirty="0" smtClean="0">
                <a:latin typeface="Times New Roman" pitchFamily="18" charset="0"/>
                <a:ea typeface="Times New Roman" pitchFamily="18" charset="0"/>
                <a:cs typeface="Times New Roman" pitchFamily="18" charset="0"/>
                <a:sym typeface="Symbol" pitchFamily="18" charset="2"/>
              </a:rPr>
              <a:t>j:=j </a:t>
            </a:r>
            <a:r>
              <a:rPr lang="fr-FR" sz="2400" dirty="0" smtClean="0">
                <a:latin typeface="Times New Roman" pitchFamily="18" charset="0"/>
                <a:ea typeface="Times New Roman" pitchFamily="18" charset="0"/>
                <a:cs typeface="Times New Roman" pitchFamily="18" charset="0"/>
                <a:sym typeface="Symbol" pitchFamily="18" charset="2"/>
              </a:rPr>
              <a:t>-1</a:t>
            </a:r>
            <a:r>
              <a:rPr lang="fr-FR" sz="2400" dirty="0">
                <a:latin typeface="Times New Roman" pitchFamily="18" charset="0"/>
                <a:ea typeface="Times New Roman" pitchFamily="18" charset="0"/>
                <a:cs typeface="Times New Roman" pitchFamily="18" charset="0"/>
                <a:sym typeface="Symbol" pitchFamily="18" charset="2"/>
              </a:rPr>
              <a:t>;</a:t>
            </a:r>
          </a:p>
          <a:p>
            <a:pPr lvl="0" algn="just" eaLnBrk="0" fontAlgn="base" hangingPunct="0">
              <a:spcBef>
                <a:spcPct val="0"/>
              </a:spcBef>
              <a:spcAft>
                <a:spcPct val="0"/>
              </a:spcAft>
            </a:pPr>
            <a:r>
              <a:rPr lang="en-GB" sz="2400" b="1" dirty="0">
                <a:latin typeface="Times New Roman" pitchFamily="18" charset="0"/>
                <a:ea typeface="Times New Roman" pitchFamily="18" charset="0"/>
                <a:cs typeface="Times New Roman" pitchFamily="18" charset="0"/>
                <a:sym typeface="Symbol" pitchFamily="18" charset="2"/>
              </a:rPr>
              <a:t>      </a:t>
            </a:r>
            <a:r>
              <a:rPr lang="en-GB" sz="2400" b="1" dirty="0" err="1">
                <a:latin typeface="Times New Roman" pitchFamily="18" charset="0"/>
                <a:ea typeface="Times New Roman" pitchFamily="18" charset="0"/>
                <a:cs typeface="Times New Roman" pitchFamily="18" charset="0"/>
                <a:sym typeface="Symbol" pitchFamily="18" charset="2"/>
              </a:rPr>
              <a:t>finsi</a:t>
            </a:r>
            <a:r>
              <a:rPr lang="en-GB" sz="2400" b="1" dirty="0">
                <a:latin typeface="Times New Roman" pitchFamily="18" charset="0"/>
                <a:ea typeface="Times New Roman" pitchFamily="18" charset="0"/>
                <a:cs typeface="Times New Roman" pitchFamily="18" charset="0"/>
                <a:sym typeface="Symbol" pitchFamily="18" charset="2"/>
              </a:rPr>
              <a:t>;</a:t>
            </a:r>
            <a:endParaRPr lang="fr-FR" sz="2400" dirty="0">
              <a:latin typeface="Times New Roman" pitchFamily="18" charset="0"/>
              <a:ea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a:t>
            </a:r>
            <a:r>
              <a:rPr lang="fr-FR" sz="2400" b="1" dirty="0" err="1">
                <a:latin typeface="Times New Roman" pitchFamily="18" charset="0"/>
                <a:ea typeface="Times New Roman" pitchFamily="18" charset="0"/>
                <a:cs typeface="Times New Roman" pitchFamily="18" charset="0"/>
                <a:sym typeface="Symbol" pitchFamily="18" charset="2"/>
              </a:rPr>
              <a:t>finfaire</a:t>
            </a:r>
            <a:r>
              <a:rPr lang="fr-FR" sz="2400" b="1" dirty="0">
                <a:latin typeface="Times New Roman" pitchFamily="18" charset="0"/>
                <a:ea typeface="Times New Roman" pitchFamily="18" charset="0"/>
                <a:cs typeface="Times New Roman" pitchFamily="18" charset="0"/>
                <a:sym typeface="Symbol" pitchFamily="18" charset="2"/>
              </a:rPr>
              <a:t>;</a:t>
            </a:r>
            <a:endParaRPr lang="fr-FR" sz="24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a:t>
            </a:r>
            <a:r>
              <a:rPr lang="fr-FR" sz="2400" dirty="0" err="1">
                <a:latin typeface="Times New Roman" pitchFamily="18" charset="0"/>
                <a:ea typeface="Times New Roman" pitchFamily="18" charset="0"/>
                <a:cs typeface="Times New Roman" pitchFamily="18" charset="0"/>
                <a:sym typeface="Symbol" pitchFamily="18" charset="2"/>
              </a:rPr>
              <a:t>permut</a:t>
            </a:r>
            <a:r>
              <a:rPr lang="fr-FR" sz="2400" dirty="0">
                <a:latin typeface="Times New Roman" pitchFamily="18" charset="0"/>
                <a:ea typeface="Times New Roman" pitchFamily="18" charset="0"/>
                <a:cs typeface="Times New Roman" pitchFamily="18" charset="0"/>
                <a:sym typeface="Symbol" pitchFamily="18" charset="2"/>
              </a:rPr>
              <a:t>(t[</a:t>
            </a:r>
            <a:r>
              <a:rPr lang="fr-FR" sz="2400" dirty="0" err="1">
                <a:latin typeface="Times New Roman" pitchFamily="18" charset="0"/>
                <a:ea typeface="Times New Roman" pitchFamily="18" charset="0"/>
                <a:cs typeface="Times New Roman" pitchFamily="18" charset="0"/>
                <a:sym typeface="Symbol" pitchFamily="18" charset="2"/>
              </a:rPr>
              <a:t>inf</a:t>
            </a:r>
            <a:r>
              <a:rPr lang="fr-FR" sz="2400" dirty="0">
                <a:latin typeface="Times New Roman" pitchFamily="18" charset="0"/>
                <a:ea typeface="Times New Roman" pitchFamily="18" charset="0"/>
                <a:cs typeface="Times New Roman" pitchFamily="18" charset="0"/>
                <a:sym typeface="Symbol" pitchFamily="18" charset="2"/>
              </a:rPr>
              <a:t>], t[j]); </a:t>
            </a:r>
          </a:p>
          <a:p>
            <a:pPr lvl="0" algn="just" eaLnBrk="0" fontAlgn="base" hangingPunct="0">
              <a:spcBef>
                <a:spcPct val="0"/>
              </a:spcBef>
              <a:spcAft>
                <a:spcPct val="0"/>
              </a:spcAft>
            </a:pPr>
            <a:r>
              <a:rPr lang="fr-FR" sz="2400" dirty="0">
                <a:latin typeface="Times New Roman" pitchFamily="18" charset="0"/>
                <a:ea typeface="Times New Roman" pitchFamily="18" charset="0"/>
                <a:cs typeface="Times New Roman" pitchFamily="18" charset="0"/>
                <a:sym typeface="Symbol" pitchFamily="18" charset="2"/>
              </a:rPr>
              <a:t>    </a:t>
            </a:r>
            <a:r>
              <a:rPr lang="fr-FR" sz="2400" dirty="0" smtClean="0">
                <a:latin typeface="Times New Roman" pitchFamily="18" charset="0"/>
                <a:ea typeface="Times New Roman" pitchFamily="18" charset="0"/>
                <a:cs typeface="Times New Roman" pitchFamily="18" charset="0"/>
                <a:sym typeface="Symbol" pitchFamily="18" charset="2"/>
              </a:rPr>
              <a:t>place:=j</a:t>
            </a:r>
            <a:r>
              <a:rPr lang="fr-FR" sz="2400" dirty="0">
                <a:latin typeface="Times New Roman" pitchFamily="18" charset="0"/>
                <a:ea typeface="Times New Roman" pitchFamily="18" charset="0"/>
                <a:cs typeface="Times New Roman" pitchFamily="18" charset="0"/>
                <a:sym typeface="Symbol" pitchFamily="18" charset="2"/>
              </a:rPr>
              <a:t>;</a:t>
            </a:r>
            <a:r>
              <a:rPr lang="fr-FR" sz="2400" b="1" dirty="0">
                <a:latin typeface="Times New Roman" pitchFamily="18" charset="0"/>
                <a:ea typeface="Times New Roman" pitchFamily="18" charset="0"/>
                <a:cs typeface="Times New Roman" pitchFamily="18" charset="0"/>
                <a:sym typeface="Symbol" pitchFamily="18" charset="2"/>
              </a:rPr>
              <a:t> </a:t>
            </a:r>
          </a:p>
          <a:p>
            <a:pPr lvl="0" algn="just" eaLnBrk="0" fontAlgn="base" hangingPunct="0">
              <a:spcBef>
                <a:spcPct val="0"/>
              </a:spcBef>
              <a:spcAft>
                <a:spcPct val="0"/>
              </a:spcAft>
            </a:pPr>
            <a:r>
              <a:rPr lang="fr-FR" sz="2400" b="1" dirty="0" err="1" smtClean="0">
                <a:latin typeface="Times New Roman" pitchFamily="18" charset="0"/>
                <a:ea typeface="Times New Roman" pitchFamily="18" charset="0"/>
                <a:cs typeface="Times New Roman" pitchFamily="18" charset="0"/>
                <a:sym typeface="Symbol" pitchFamily="18" charset="2"/>
              </a:rPr>
              <a:t>finfonc</a:t>
            </a:r>
            <a:r>
              <a:rPr lang="fr-FR" sz="2400" b="1" dirty="0">
                <a:latin typeface="Times New Roman" pitchFamily="18" charset="0"/>
                <a:ea typeface="Times New Roman" pitchFamily="18" charset="0"/>
                <a:cs typeface="Times New Roman" pitchFamily="18" charset="0"/>
                <a:sym typeface="Symbol" pitchFamily="18" charset="2"/>
              </a:rPr>
              <a:t>;    </a:t>
            </a:r>
          </a:p>
          <a:p>
            <a:pPr algn="just" eaLnBrk="0" fontAlgn="base" hangingPunct="0">
              <a:spcBef>
                <a:spcPct val="0"/>
              </a:spcBef>
              <a:spcAft>
                <a:spcPct val="0"/>
              </a:spcAft>
            </a:pPr>
            <a:r>
              <a:rPr lang="fr-FR" sz="2400" dirty="0" smtClean="0">
                <a:latin typeface="Times New Roman" pitchFamily="18" charset="0"/>
                <a:cs typeface="Times New Roman" pitchFamily="18" charset="0"/>
              </a:rPr>
              <a:t>Complexité : le pivot permet d’obtenir, à chaque pas, des </a:t>
            </a:r>
            <a:r>
              <a:rPr lang="fr-FR" sz="2400" dirty="0" err="1" smtClean="0">
                <a:latin typeface="Times New Roman" pitchFamily="18" charset="0"/>
                <a:cs typeface="Times New Roman" pitchFamily="18" charset="0"/>
              </a:rPr>
              <a:t>sous-vecteurs</a:t>
            </a:r>
            <a:r>
              <a:rPr lang="fr-FR" sz="2400" dirty="0" smtClean="0">
                <a:latin typeface="Times New Roman" pitchFamily="18" charset="0"/>
                <a:cs typeface="Times New Roman" pitchFamily="18" charset="0"/>
              </a:rPr>
              <a:t> de tailles identiques.</a:t>
            </a:r>
          </a:p>
          <a:p>
            <a:pPr algn="just" eaLnBrk="0" fontAlgn="base" hangingPunct="0">
              <a:spcBef>
                <a:spcPct val="0"/>
              </a:spcBef>
              <a:spcAft>
                <a:spcPct val="0"/>
              </a:spcAft>
            </a:pPr>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T(n) = n x log</a:t>
            </a:r>
            <a:r>
              <a:rPr lang="fr-FR" sz="2400" baseline="-25000" dirty="0" smtClean="0">
                <a:latin typeface="Times New Roman" panose="02020603050405020304" pitchFamily="18" charset="0"/>
                <a:cs typeface="Times New Roman" panose="02020603050405020304" pitchFamily="18" charset="0"/>
                <a:sym typeface="Wingdings" panose="05000000000000000000" pitchFamily="2" charset="2"/>
              </a:rPr>
              <a:t>2</a:t>
            </a:r>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(n) = </a:t>
            </a:r>
            <a:r>
              <a:rPr lang="fr-FR" sz="2400" i="1" dirty="0" smtClean="0">
                <a:latin typeface="Times New Roman" panose="02020603050405020304" pitchFamily="18" charset="0"/>
                <a:cs typeface="Times New Roman" panose="02020603050405020304" pitchFamily="18" charset="0"/>
                <a:sym typeface="Wingdings" panose="05000000000000000000" pitchFamily="2" charset="2"/>
              </a:rPr>
              <a:t>O</a:t>
            </a:r>
            <a:r>
              <a:rPr lang="fr-FR" sz="2400" dirty="0" smtClean="0">
                <a:latin typeface="Times New Roman" panose="02020603050405020304" pitchFamily="18" charset="0"/>
                <a:cs typeface="Times New Roman" panose="02020603050405020304" pitchFamily="18" charset="0"/>
                <a:sym typeface="Wingdings" panose="05000000000000000000" pitchFamily="2" charset="2"/>
              </a:rPr>
              <a:t>(n</a:t>
            </a:r>
            <a:r>
              <a:rPr lang="fr-FR" sz="2400" i="1" dirty="0" smtClean="0">
                <a:latin typeface="Times New Roman" panose="02020603050405020304" pitchFamily="18" charset="0"/>
                <a:cs typeface="Times New Roman" panose="02020603050405020304" pitchFamily="18" charset="0"/>
                <a:sym typeface="Wingdings" panose="05000000000000000000" pitchFamily="2" charset="2"/>
              </a:rPr>
              <a:t>log</a:t>
            </a:r>
            <a:r>
              <a:rPr lang="fr-FR" sz="2400" i="1" baseline="-25000" dirty="0" smtClean="0">
                <a:latin typeface="Times New Roman" panose="02020603050405020304" pitchFamily="18" charset="0"/>
                <a:cs typeface="Times New Roman" panose="02020603050405020304" pitchFamily="18" charset="0"/>
                <a:sym typeface="Wingdings" panose="05000000000000000000" pitchFamily="2" charset="2"/>
              </a:rPr>
              <a:t>2</a:t>
            </a:r>
            <a:r>
              <a:rPr lang="fr-FR" sz="2400" i="1" dirty="0" smtClean="0">
                <a:latin typeface="Times New Roman" panose="02020603050405020304" pitchFamily="18" charset="0"/>
                <a:cs typeface="Times New Roman" panose="02020603050405020304" pitchFamily="18" charset="0"/>
                <a:sym typeface="Wingdings" panose="05000000000000000000" pitchFamily="2" charset="2"/>
              </a:rPr>
              <a:t>(n</a:t>
            </a:r>
            <a:r>
              <a:rPr lang="fr-FR" sz="2400" i="1" dirty="0">
                <a:latin typeface="Times New Roman" panose="02020603050405020304" pitchFamily="18" charset="0"/>
                <a:cs typeface="Times New Roman" panose="02020603050405020304" pitchFamily="18" charset="0"/>
                <a:sym typeface="Wingdings" panose="05000000000000000000" pitchFamily="2" charset="2"/>
              </a:rPr>
              <a:t>)</a:t>
            </a:r>
            <a:r>
              <a:rPr lang="fr-FR" sz="2400" dirty="0">
                <a:latin typeface="Times New Roman" panose="02020603050405020304" pitchFamily="18" charset="0"/>
                <a:cs typeface="Times New Roman" panose="02020603050405020304" pitchFamily="18" charset="0"/>
                <a:sym typeface="Wingdings" panose="05000000000000000000" pitchFamily="2" charset="2"/>
              </a:rPr>
              <a:t>)</a:t>
            </a:r>
            <a:endParaRPr lang="fr-FR" sz="2400" dirty="0">
              <a:latin typeface="Times New Roman" pitchFamily="18" charset="0"/>
              <a:cs typeface="Times New Roman" pitchFamily="18" charset="0"/>
            </a:endParaRPr>
          </a:p>
          <a:p>
            <a:pPr algn="just" eaLnBrk="0" fontAlgn="base" hangingPunct="0">
              <a:spcBef>
                <a:spcPct val="0"/>
              </a:spcBef>
              <a:spcAft>
                <a:spcPct val="0"/>
              </a:spcAft>
            </a:pPr>
            <a:r>
              <a:rPr lang="fr-FR" sz="2400" dirty="0">
                <a:latin typeface="Times New Roman" pitchFamily="18" charset="0"/>
                <a:cs typeface="Times New Roman" pitchFamily="18" charset="0"/>
              </a:rPr>
              <a:t>Lorsque le tableau est à peu près trié, il est plus logique de prendre comme </a:t>
            </a:r>
            <a:r>
              <a:rPr lang="fr-FR" sz="2400" b="1" dirty="0">
                <a:latin typeface="Times New Roman" pitchFamily="18" charset="0"/>
                <a:cs typeface="Times New Roman" pitchFamily="18" charset="0"/>
              </a:rPr>
              <a:t>pivot</a:t>
            </a:r>
            <a:r>
              <a:rPr lang="fr-FR" sz="2400" dirty="0">
                <a:latin typeface="Times New Roman" pitchFamily="18" charset="0"/>
                <a:cs typeface="Times New Roman" pitchFamily="18" charset="0"/>
              </a:rPr>
              <a:t> au milieu du tableau (pivot central).</a:t>
            </a:r>
          </a:p>
        </p:txBody>
      </p:sp>
    </p:spTree>
    <p:extLst>
      <p:ext uri="{BB962C8B-B14F-4D97-AF65-F5344CB8AC3E}">
        <p14:creationId xmlns:p14="http://schemas.microsoft.com/office/powerpoint/2010/main" val="31671084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3520" y="462561"/>
            <a:ext cx="11775440" cy="5632311"/>
          </a:xfrm>
          <a:prstGeom prst="rect">
            <a:avLst/>
          </a:prstGeom>
        </p:spPr>
        <p:txBody>
          <a:bodyPr wrap="square">
            <a:spAutoFit/>
          </a:bodyPr>
          <a:lstStyle/>
          <a:p>
            <a:pPr lvl="0" indent="180975" algn="just" fontAlgn="base">
              <a:spcBef>
                <a:spcPct val="0"/>
              </a:spcBef>
              <a:spcAft>
                <a:spcPct val="0"/>
              </a:spcAft>
            </a:pPr>
            <a:r>
              <a:rPr lang="fr-FR" sz="2000" dirty="0" smtClean="0">
                <a:latin typeface="Times New Roman" pitchFamily="18" charset="0"/>
                <a:ea typeface="Times New Roman" pitchFamily="18" charset="0"/>
                <a:cs typeface="Times New Roman" pitchFamily="18" charset="0"/>
              </a:rPr>
              <a:t>2.1.3.3</a:t>
            </a:r>
            <a:r>
              <a:rPr lang="fr-FR" sz="2000" dirty="0">
                <a:latin typeface="Times New Roman" pitchFamily="18" charset="0"/>
                <a:ea typeface="Times New Roman" pitchFamily="18" charset="0"/>
                <a:cs typeface="Times New Roman" pitchFamily="18" charset="0"/>
              </a:rPr>
              <a:t>. </a:t>
            </a:r>
            <a:r>
              <a:rPr lang="fr-FR" sz="2000" u="sng" dirty="0">
                <a:latin typeface="Times New Roman" pitchFamily="18" charset="0"/>
                <a:ea typeface="Times New Roman" pitchFamily="18" charset="0"/>
                <a:cs typeface="Times New Roman" pitchFamily="18" charset="0"/>
              </a:rPr>
              <a:t>Tri par interclassement</a:t>
            </a:r>
            <a:endParaRPr lang="fr-FR" sz="2000" dirty="0">
              <a:latin typeface="Times New Roman" pitchFamily="18" charset="0"/>
              <a:cs typeface="Times New Roman" pitchFamily="18" charset="0"/>
            </a:endParaRPr>
          </a:p>
          <a:p>
            <a:pPr lvl="0" indent="180975" algn="just"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L’algorithme d’interclassement peut être utilisé dans un algorithme de tri s’exprimant récursivement. A chaque étape on trie la première moitié du tableau puis la seconde moitié, puis on interclasse les 2 sous-tableaux triés.</a:t>
            </a:r>
            <a:endParaRPr lang="fr-FR" sz="2000" dirty="0">
              <a:latin typeface="Times New Roman" pitchFamily="18" charset="0"/>
              <a:cs typeface="Times New Roman" pitchFamily="18" charset="0"/>
            </a:endParaRPr>
          </a:p>
          <a:p>
            <a:pPr lvl="0" indent="180975" algn="just" eaLnBrk="0" fontAlgn="base" hangingPunct="0">
              <a:spcBef>
                <a:spcPct val="0"/>
              </a:spcBef>
              <a:spcAft>
                <a:spcPct val="0"/>
              </a:spcAft>
            </a:pPr>
            <a:r>
              <a:rPr lang="fr-FR" sz="2000" b="1" dirty="0" smtClean="0">
                <a:latin typeface="Times New Roman" pitchFamily="18" charset="0"/>
                <a:ea typeface="Times New Roman" pitchFamily="18" charset="0"/>
                <a:cs typeface="Times New Roman" pitchFamily="18" charset="0"/>
              </a:rPr>
              <a:t>vide</a:t>
            </a:r>
            <a:r>
              <a:rPr lang="fr-FR" sz="2000" dirty="0" smtClean="0">
                <a:latin typeface="Times New Roman" pitchFamily="18" charset="0"/>
                <a:ea typeface="Times New Roman" pitchFamily="18" charset="0"/>
                <a:cs typeface="Times New Roman" pitchFamily="18" charset="0"/>
              </a:rPr>
              <a:t> </a:t>
            </a:r>
            <a:r>
              <a:rPr lang="fr-FR" sz="2000" dirty="0">
                <a:latin typeface="Times New Roman" pitchFamily="18" charset="0"/>
                <a:ea typeface="Times New Roman" pitchFamily="18" charset="0"/>
                <a:cs typeface="Times New Roman" pitchFamily="18" charset="0"/>
              </a:rPr>
              <a:t>tri(</a:t>
            </a:r>
            <a:r>
              <a:rPr lang="fr-FR" sz="2000" b="1" dirty="0" err="1">
                <a:latin typeface="Times New Roman" pitchFamily="18" charset="0"/>
                <a:ea typeface="Times New Roman" pitchFamily="18" charset="0"/>
                <a:cs typeface="Times New Roman" pitchFamily="18" charset="0"/>
              </a:rPr>
              <a:t>dr</a:t>
            </a:r>
            <a:r>
              <a:rPr lang="fr-FR" sz="2000" b="1" dirty="0">
                <a:latin typeface="Times New Roman" pitchFamily="18" charset="0"/>
                <a:ea typeface="Times New Roman" pitchFamily="18" charset="0"/>
                <a:cs typeface="Times New Roman" pitchFamily="18" charset="0"/>
              </a:rPr>
              <a:t> entier</a:t>
            </a:r>
            <a:r>
              <a:rPr lang="fr-FR" sz="2000" dirty="0">
                <a:latin typeface="Times New Roman" pitchFamily="18" charset="0"/>
                <a:ea typeface="Times New Roman" pitchFamily="18" charset="0"/>
                <a:cs typeface="Times New Roman" pitchFamily="18" charset="0"/>
              </a:rPr>
              <a:t> t[], </a:t>
            </a:r>
            <a:r>
              <a:rPr lang="fr-FR" sz="2000" b="1" dirty="0">
                <a:latin typeface="Times New Roman" pitchFamily="18" charset="0"/>
                <a:ea typeface="Times New Roman" pitchFamily="18" charset="0"/>
                <a:cs typeface="Times New Roman" pitchFamily="18" charset="0"/>
              </a:rPr>
              <a:t>d entier</a:t>
            </a:r>
            <a:r>
              <a:rPr lang="fr-FR" sz="2000" dirty="0">
                <a:latin typeface="Times New Roman" pitchFamily="18" charset="0"/>
                <a:ea typeface="Times New Roman" pitchFamily="18" charset="0"/>
                <a:cs typeface="Times New Roman" pitchFamily="18" charset="0"/>
              </a:rPr>
              <a:t> </a:t>
            </a:r>
            <a:r>
              <a:rPr lang="fr-FR" sz="2000" dirty="0" err="1">
                <a:latin typeface="Times New Roman" pitchFamily="18" charset="0"/>
                <a:ea typeface="Times New Roman" pitchFamily="18" charset="0"/>
                <a:cs typeface="Times New Roman" pitchFamily="18" charset="0"/>
              </a:rPr>
              <a:t>inf</a:t>
            </a:r>
            <a:r>
              <a:rPr lang="fr-FR" sz="2000" dirty="0">
                <a:latin typeface="Times New Roman" pitchFamily="18" charset="0"/>
                <a:ea typeface="Times New Roman" pitchFamily="18" charset="0"/>
                <a:cs typeface="Times New Roman" pitchFamily="18" charset="0"/>
              </a:rPr>
              <a:t>, </a:t>
            </a:r>
            <a:r>
              <a:rPr lang="fr-FR" sz="2000" b="1" dirty="0">
                <a:latin typeface="Times New Roman" pitchFamily="18" charset="0"/>
                <a:ea typeface="Times New Roman" pitchFamily="18" charset="0"/>
                <a:cs typeface="Times New Roman" pitchFamily="18" charset="0"/>
              </a:rPr>
              <a:t>d entier</a:t>
            </a:r>
            <a:r>
              <a:rPr lang="fr-FR" sz="2000" dirty="0">
                <a:latin typeface="Times New Roman" pitchFamily="18" charset="0"/>
                <a:ea typeface="Times New Roman" pitchFamily="18" charset="0"/>
                <a:cs typeface="Times New Roman" pitchFamily="18" charset="0"/>
              </a:rPr>
              <a:t> sup)</a:t>
            </a:r>
          </a:p>
          <a:p>
            <a:pPr lvl="0" indent="180975" algn="just" eaLnBrk="0" fontAlgn="base" hangingPunct="0">
              <a:spcBef>
                <a:spcPct val="0"/>
              </a:spcBef>
              <a:spcAft>
                <a:spcPct val="0"/>
              </a:spcAft>
            </a:pPr>
            <a:r>
              <a:rPr lang="fr-FR" sz="2000" b="1" dirty="0" err="1" smtClean="0">
                <a:latin typeface="Times New Roman" pitchFamily="18" charset="0"/>
                <a:ea typeface="Times New Roman" pitchFamily="18" charset="0"/>
                <a:cs typeface="Times New Roman" pitchFamily="18" charset="0"/>
              </a:rPr>
              <a:t>debfonc</a:t>
            </a:r>
            <a:endParaRPr lang="fr-FR" sz="2000" b="1" dirty="0">
              <a:latin typeface="Times New Roman" pitchFamily="18" charset="0"/>
              <a:ea typeface="Times New Roman" pitchFamily="18" charset="0"/>
              <a:cs typeface="Times New Roman" pitchFamily="18" charset="0"/>
            </a:endParaRPr>
          </a:p>
          <a:p>
            <a:pPr lvl="0" indent="180975" algn="just"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  </a:t>
            </a:r>
            <a:r>
              <a:rPr lang="fr-FR" sz="2000" dirty="0" smtClean="0">
                <a:latin typeface="Times New Roman" pitchFamily="18" charset="0"/>
                <a:ea typeface="Times New Roman" pitchFamily="18" charset="0"/>
                <a:cs typeface="Times New Roman" pitchFamily="18" charset="0"/>
              </a:rPr>
              <a:t> </a:t>
            </a:r>
            <a:r>
              <a:rPr lang="fr-FR" sz="2000" b="1" dirty="0" smtClean="0">
                <a:latin typeface="Times New Roman" pitchFamily="18" charset="0"/>
                <a:ea typeface="Times New Roman" pitchFamily="18" charset="0"/>
                <a:cs typeface="Times New Roman" pitchFamily="18" charset="0"/>
              </a:rPr>
              <a:t>entier</a:t>
            </a:r>
            <a:r>
              <a:rPr lang="fr-FR" sz="2000" dirty="0" smtClean="0">
                <a:latin typeface="Times New Roman" pitchFamily="18" charset="0"/>
                <a:ea typeface="Times New Roman" pitchFamily="18" charset="0"/>
                <a:cs typeface="Times New Roman" pitchFamily="18" charset="0"/>
              </a:rPr>
              <a:t> </a:t>
            </a:r>
            <a:r>
              <a:rPr lang="fr-FR" sz="2000" dirty="0">
                <a:latin typeface="Times New Roman" pitchFamily="18" charset="0"/>
                <a:ea typeface="Times New Roman" pitchFamily="18" charset="0"/>
                <a:cs typeface="Times New Roman" pitchFamily="18" charset="0"/>
              </a:rPr>
              <a:t>milieu; </a:t>
            </a:r>
            <a:endParaRPr lang="fr-FR" sz="2000" dirty="0">
              <a:latin typeface="Times New Roman" pitchFamily="18" charset="0"/>
              <a:cs typeface="Times New Roman" pitchFamily="18" charset="0"/>
            </a:endParaRPr>
          </a:p>
          <a:p>
            <a:pPr lvl="0" indent="180975" algn="just"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   </a:t>
            </a:r>
            <a:r>
              <a:rPr lang="fr-FR" sz="2000" b="1" dirty="0">
                <a:latin typeface="Times New Roman" pitchFamily="18" charset="0"/>
                <a:ea typeface="Times New Roman" pitchFamily="18" charset="0"/>
                <a:cs typeface="Times New Roman" pitchFamily="18" charset="0"/>
              </a:rPr>
              <a:t>si</a:t>
            </a:r>
            <a:r>
              <a:rPr lang="fr-FR" sz="2000" dirty="0">
                <a:latin typeface="Times New Roman" pitchFamily="18" charset="0"/>
                <a:ea typeface="Times New Roman" pitchFamily="18" charset="0"/>
                <a:cs typeface="Times New Roman" pitchFamily="18" charset="0"/>
              </a:rPr>
              <a:t> sup&gt;</a:t>
            </a:r>
            <a:r>
              <a:rPr lang="fr-FR" sz="2000" dirty="0" err="1">
                <a:latin typeface="Times New Roman" pitchFamily="18" charset="0"/>
                <a:ea typeface="Times New Roman" pitchFamily="18" charset="0"/>
                <a:cs typeface="Times New Roman" pitchFamily="18" charset="0"/>
              </a:rPr>
              <a:t>inf</a:t>
            </a:r>
            <a:r>
              <a:rPr lang="fr-FR" sz="2000" dirty="0">
                <a:latin typeface="Times New Roman" pitchFamily="18" charset="0"/>
                <a:ea typeface="Times New Roman" pitchFamily="18" charset="0"/>
                <a:cs typeface="Times New Roman" pitchFamily="18" charset="0"/>
              </a:rPr>
              <a:t> </a:t>
            </a:r>
            <a:r>
              <a:rPr lang="fr-FR" sz="2000" b="1" dirty="0">
                <a:latin typeface="Times New Roman" pitchFamily="18" charset="0"/>
                <a:ea typeface="Times New Roman" pitchFamily="18" charset="0"/>
                <a:cs typeface="Times New Roman" pitchFamily="18" charset="0"/>
              </a:rPr>
              <a:t>alors</a:t>
            </a:r>
          </a:p>
          <a:p>
            <a:pPr lvl="0" indent="180975" algn="just"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      </a:t>
            </a:r>
            <a:r>
              <a:rPr lang="fr-FR" sz="2000" dirty="0" smtClean="0">
                <a:latin typeface="Times New Roman" pitchFamily="18" charset="0"/>
                <a:ea typeface="Times New Roman" pitchFamily="18" charset="0"/>
                <a:cs typeface="Times New Roman" pitchFamily="18" charset="0"/>
              </a:rPr>
              <a:t>milieu</a:t>
            </a:r>
            <a:r>
              <a:rPr lang="fr-FR" sz="2000" dirty="0" smtClean="0">
                <a:latin typeface="Times New Roman" pitchFamily="18" charset="0"/>
                <a:ea typeface="Times New Roman" pitchFamily="18" charset="0"/>
                <a:cs typeface="Times New Roman" pitchFamily="18" charset="0"/>
              </a:rPr>
              <a:t>:=</a:t>
            </a:r>
            <a:r>
              <a:rPr lang="fr-FR" sz="2000" dirty="0" smtClean="0">
                <a:latin typeface="Times New Roman" pitchFamily="18" charset="0"/>
                <a:ea typeface="Times New Roman" pitchFamily="18" charset="0"/>
                <a:cs typeface="Times New Roman" pitchFamily="18" charset="0"/>
              </a:rPr>
              <a:t>(</a:t>
            </a:r>
            <a:r>
              <a:rPr lang="fr-FR" sz="2000" dirty="0" err="1" smtClean="0">
                <a:latin typeface="Times New Roman" pitchFamily="18" charset="0"/>
                <a:ea typeface="Times New Roman" pitchFamily="18" charset="0"/>
                <a:cs typeface="Times New Roman" pitchFamily="18" charset="0"/>
              </a:rPr>
              <a:t>inf+sup</a:t>
            </a:r>
            <a:r>
              <a:rPr lang="fr-FR" sz="2000" dirty="0">
                <a:latin typeface="Times New Roman" pitchFamily="18" charset="0"/>
                <a:ea typeface="Times New Roman" pitchFamily="18" charset="0"/>
                <a:cs typeface="Times New Roman" pitchFamily="18" charset="0"/>
              </a:rPr>
              <a:t>)/2; tri(t1, </a:t>
            </a:r>
            <a:r>
              <a:rPr lang="fr-FR" sz="2000" dirty="0" err="1">
                <a:latin typeface="Times New Roman" pitchFamily="18" charset="0"/>
                <a:ea typeface="Times New Roman" pitchFamily="18" charset="0"/>
                <a:cs typeface="Times New Roman" pitchFamily="18" charset="0"/>
              </a:rPr>
              <a:t>inf</a:t>
            </a:r>
            <a:r>
              <a:rPr lang="fr-FR" sz="2000" dirty="0">
                <a:latin typeface="Times New Roman" pitchFamily="18" charset="0"/>
                <a:ea typeface="Times New Roman" pitchFamily="18" charset="0"/>
                <a:cs typeface="Times New Roman" pitchFamily="18" charset="0"/>
              </a:rPr>
              <a:t>, milieu); tri(t2, milieu+1, sup);</a:t>
            </a:r>
            <a:endParaRPr lang="fr-FR" sz="2000" dirty="0">
              <a:latin typeface="Times New Roman" pitchFamily="18" charset="0"/>
              <a:cs typeface="Times New Roman" pitchFamily="18" charset="0"/>
            </a:endParaRPr>
          </a:p>
          <a:p>
            <a:pPr lvl="0" indent="180975" algn="just"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      </a:t>
            </a:r>
            <a:r>
              <a:rPr lang="fr-FR" sz="2000" dirty="0" err="1">
                <a:latin typeface="Times New Roman" pitchFamily="18" charset="0"/>
                <a:ea typeface="Times New Roman" pitchFamily="18" charset="0"/>
                <a:cs typeface="Times New Roman" pitchFamily="18" charset="0"/>
              </a:rPr>
              <a:t>interclass</a:t>
            </a:r>
            <a:r>
              <a:rPr lang="fr-FR" sz="2000" dirty="0">
                <a:latin typeface="Times New Roman" pitchFamily="18" charset="0"/>
                <a:ea typeface="Times New Roman" pitchFamily="18" charset="0"/>
                <a:cs typeface="Times New Roman" pitchFamily="18" charset="0"/>
              </a:rPr>
              <a:t>(t1, milieu, t2, sup, t3, nb3);</a:t>
            </a:r>
            <a:endParaRPr lang="fr-FR" sz="2000" dirty="0">
              <a:latin typeface="Times New Roman" pitchFamily="18" charset="0"/>
              <a:cs typeface="Times New Roman" pitchFamily="18" charset="0"/>
            </a:endParaRPr>
          </a:p>
          <a:p>
            <a:pPr lvl="0" indent="180975" algn="just"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    </a:t>
            </a:r>
            <a:r>
              <a:rPr lang="fr-FR" sz="2000" b="1" dirty="0" err="1" smtClean="0">
                <a:latin typeface="Times New Roman" pitchFamily="18" charset="0"/>
                <a:ea typeface="Times New Roman" pitchFamily="18" charset="0"/>
                <a:cs typeface="Times New Roman" pitchFamily="18" charset="0"/>
              </a:rPr>
              <a:t>finsi</a:t>
            </a:r>
            <a:r>
              <a:rPr lang="fr-FR" sz="2000" dirty="0" smtClean="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indent="180975" algn="just"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 </a:t>
            </a:r>
            <a:r>
              <a:rPr lang="fr-FR" sz="2000" b="1" dirty="0" err="1" smtClean="0">
                <a:latin typeface="Times New Roman" pitchFamily="18" charset="0"/>
                <a:ea typeface="Times New Roman" pitchFamily="18" charset="0"/>
                <a:cs typeface="Times New Roman" pitchFamily="18" charset="0"/>
              </a:rPr>
              <a:t>finfonc</a:t>
            </a:r>
            <a:r>
              <a:rPr lang="fr-FR" sz="2000" dirty="0" smtClean="0">
                <a:latin typeface="Times New Roman" pitchFamily="18" charset="0"/>
                <a:ea typeface="Times New Roman" pitchFamily="18" charset="0"/>
                <a:cs typeface="Times New Roman" pitchFamily="18" charset="0"/>
              </a:rPr>
              <a:t>:</a:t>
            </a:r>
            <a:endParaRPr lang="fr-FR" sz="2000" dirty="0">
              <a:latin typeface="Times New Roman" pitchFamily="18" charset="0"/>
              <a:ea typeface="Times New Roman" pitchFamily="18" charset="0"/>
              <a:cs typeface="Times New Roman" pitchFamily="18" charset="0"/>
            </a:endParaRPr>
          </a:p>
          <a:p>
            <a:endParaRPr lang="fr-FR" sz="2000" u="sng" dirty="0">
              <a:latin typeface="Times New Roman" pitchFamily="18" charset="0"/>
              <a:cs typeface="Times New Roman" pitchFamily="18" charset="0"/>
            </a:endParaRPr>
          </a:p>
          <a:p>
            <a:r>
              <a:rPr lang="fr-FR" sz="2000" u="sng" dirty="0">
                <a:latin typeface="Times New Roman" pitchFamily="18" charset="0"/>
                <a:cs typeface="Times New Roman" pitchFamily="18" charset="0"/>
              </a:rPr>
              <a:t>Interclassement de tableaux</a:t>
            </a:r>
            <a:endParaRPr lang="fr-FR" sz="2000" dirty="0">
              <a:latin typeface="Times New Roman" pitchFamily="18" charset="0"/>
              <a:cs typeface="Times New Roman" pitchFamily="18" charset="0"/>
            </a:endParaRPr>
          </a:p>
          <a:p>
            <a:r>
              <a:rPr lang="fr-FR" sz="2000" dirty="0">
                <a:latin typeface="Times New Roman" pitchFamily="18" charset="0"/>
                <a:cs typeface="Times New Roman" pitchFamily="18" charset="0"/>
              </a:rPr>
              <a:t>Construire, à partir de plusieurs tableaux triés, un seul tableau suivant un critère de fusion. Par exemple, pour interclasser deux tableaux triés, on a 2 parties distinctes dans l’algorithme :</a:t>
            </a:r>
          </a:p>
          <a:p>
            <a:pPr lvl="0">
              <a:buFont typeface="Arial" pitchFamily="34" charset="0"/>
              <a:buChar char="•"/>
            </a:pPr>
            <a:r>
              <a:rPr lang="fr-FR" sz="2000" dirty="0">
                <a:latin typeface="Times New Roman" pitchFamily="18" charset="0"/>
                <a:cs typeface="Times New Roman" pitchFamily="18" charset="0"/>
              </a:rPr>
              <a:t> Parcourir les 2 tableaux et à prendre à chaque fois le plus petit élément. Dès qu’un tableau est terminé on aborde la 2</a:t>
            </a:r>
            <a:r>
              <a:rPr lang="fr-FR" sz="2000" baseline="30000" dirty="0">
                <a:latin typeface="Times New Roman" pitchFamily="18" charset="0"/>
                <a:cs typeface="Times New Roman" pitchFamily="18" charset="0"/>
              </a:rPr>
              <a:t>ième</a:t>
            </a:r>
            <a:r>
              <a:rPr lang="fr-FR" sz="2000" dirty="0">
                <a:latin typeface="Times New Roman" pitchFamily="18" charset="0"/>
                <a:cs typeface="Times New Roman" pitchFamily="18" charset="0"/>
              </a:rPr>
              <a:t> partie.</a:t>
            </a:r>
          </a:p>
          <a:p>
            <a:pPr lvl="0">
              <a:buFont typeface="Arial" pitchFamily="34" charset="0"/>
              <a:buChar char="•"/>
            </a:pPr>
            <a:r>
              <a:rPr lang="fr-FR" sz="2000" dirty="0">
                <a:latin typeface="Times New Roman" pitchFamily="18" charset="0"/>
                <a:cs typeface="Times New Roman" pitchFamily="18" charset="0"/>
              </a:rPr>
              <a:t> Compléter le tableau résultant par tous les éléments restants dans le tableau non terminé.</a:t>
            </a:r>
            <a:endParaRPr lang="en-GB" sz="2000" dirty="0">
              <a:latin typeface="Times New Roman" pitchFamily="18" charset="0"/>
              <a:cs typeface="Times New Roman" pitchFamily="18" charset="0"/>
            </a:endParaRPr>
          </a:p>
        </p:txBody>
      </p:sp>
    </p:spTree>
    <p:extLst>
      <p:ext uri="{BB962C8B-B14F-4D97-AF65-F5344CB8AC3E}">
        <p14:creationId xmlns:p14="http://schemas.microsoft.com/office/powerpoint/2010/main" val="18996682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080" y="386646"/>
            <a:ext cx="11856720" cy="5940088"/>
          </a:xfrm>
          <a:prstGeom prst="rect">
            <a:avLst/>
          </a:prstGeom>
        </p:spPr>
        <p:txBody>
          <a:bodyPr wrap="square">
            <a:spAutoFit/>
          </a:bodyPr>
          <a:lstStyle/>
          <a:p>
            <a:pPr lvl="0" algn="just" fontAlgn="base">
              <a:spcBef>
                <a:spcPct val="0"/>
              </a:spcBef>
              <a:spcAft>
                <a:spcPct val="0"/>
              </a:spcAft>
            </a:pPr>
            <a:r>
              <a:rPr lang="fr-FR" sz="2000" b="1" dirty="0" smtClean="0">
                <a:latin typeface="Times New Roman" pitchFamily="18" charset="0"/>
                <a:ea typeface="Times New Roman" pitchFamily="18" charset="0"/>
                <a:cs typeface="Times New Roman" pitchFamily="18" charset="0"/>
              </a:rPr>
              <a:t>vide </a:t>
            </a:r>
            <a:r>
              <a:rPr lang="fr-FR" sz="2000" dirty="0" err="1">
                <a:latin typeface="Times New Roman" pitchFamily="18" charset="0"/>
                <a:ea typeface="Times New Roman" pitchFamily="18" charset="0"/>
                <a:cs typeface="Times New Roman" pitchFamily="18" charset="0"/>
              </a:rPr>
              <a:t>interclass</a:t>
            </a:r>
            <a:r>
              <a:rPr lang="fr-FR" sz="2000" b="1" dirty="0">
                <a:latin typeface="Times New Roman" pitchFamily="18" charset="0"/>
                <a:ea typeface="Times New Roman" pitchFamily="18" charset="0"/>
                <a:cs typeface="Times New Roman" pitchFamily="18" charset="0"/>
              </a:rPr>
              <a:t>(d entier </a:t>
            </a:r>
            <a:r>
              <a:rPr lang="fr-FR" sz="2000" dirty="0">
                <a:latin typeface="Times New Roman" pitchFamily="18" charset="0"/>
                <a:ea typeface="Times New Roman" pitchFamily="18" charset="0"/>
                <a:cs typeface="Times New Roman" pitchFamily="18" charset="0"/>
              </a:rPr>
              <a:t>t1[]</a:t>
            </a:r>
            <a:r>
              <a:rPr lang="fr-FR" sz="2000" b="1" dirty="0">
                <a:latin typeface="Times New Roman" pitchFamily="18" charset="0"/>
                <a:ea typeface="Times New Roman" pitchFamily="18" charset="0"/>
                <a:cs typeface="Times New Roman" pitchFamily="18" charset="0"/>
              </a:rPr>
              <a:t>, d entier </a:t>
            </a:r>
            <a:r>
              <a:rPr lang="fr-FR" sz="2000" dirty="0">
                <a:latin typeface="Times New Roman" pitchFamily="18" charset="0"/>
                <a:ea typeface="Times New Roman" pitchFamily="18" charset="0"/>
                <a:cs typeface="Times New Roman" pitchFamily="18" charset="0"/>
              </a:rPr>
              <a:t>n1</a:t>
            </a:r>
            <a:r>
              <a:rPr lang="fr-FR" sz="2000" b="1" dirty="0">
                <a:latin typeface="Times New Roman" pitchFamily="18" charset="0"/>
                <a:ea typeface="Times New Roman" pitchFamily="18" charset="0"/>
                <a:cs typeface="Times New Roman" pitchFamily="18" charset="0"/>
              </a:rPr>
              <a:t>, d entier </a:t>
            </a:r>
            <a:r>
              <a:rPr lang="fr-FR" sz="2000" dirty="0">
                <a:latin typeface="Times New Roman" pitchFamily="18" charset="0"/>
                <a:ea typeface="Times New Roman" pitchFamily="18" charset="0"/>
                <a:cs typeface="Times New Roman" pitchFamily="18" charset="0"/>
              </a:rPr>
              <a:t>t2[]</a:t>
            </a:r>
            <a:r>
              <a:rPr lang="fr-FR" sz="2000" b="1" dirty="0">
                <a:latin typeface="Times New Roman" pitchFamily="18" charset="0"/>
                <a:ea typeface="Times New Roman" pitchFamily="18" charset="0"/>
                <a:cs typeface="Times New Roman" pitchFamily="18" charset="0"/>
              </a:rPr>
              <a:t>, d entier </a:t>
            </a:r>
            <a:r>
              <a:rPr lang="fr-FR" sz="2000" dirty="0">
                <a:latin typeface="Times New Roman" pitchFamily="18" charset="0"/>
                <a:ea typeface="Times New Roman" pitchFamily="18" charset="0"/>
                <a:cs typeface="Times New Roman" pitchFamily="18" charset="0"/>
              </a:rPr>
              <a:t>n2</a:t>
            </a:r>
            <a:r>
              <a:rPr lang="fr-FR" sz="2000" b="1" dirty="0">
                <a:latin typeface="Times New Roman" pitchFamily="18" charset="0"/>
                <a:ea typeface="Times New Roman" pitchFamily="18" charset="0"/>
                <a:cs typeface="Times New Roman" pitchFamily="18" charset="0"/>
              </a:rPr>
              <a:t>, </a:t>
            </a:r>
            <a:r>
              <a:rPr lang="fr-FR" sz="2000" b="1" dirty="0" smtClean="0">
                <a:latin typeface="Times New Roman" pitchFamily="18" charset="0"/>
                <a:ea typeface="Times New Roman" pitchFamily="18" charset="0"/>
                <a:cs typeface="Times New Roman" pitchFamily="18" charset="0"/>
              </a:rPr>
              <a:t>r </a:t>
            </a:r>
            <a:r>
              <a:rPr lang="fr-FR" sz="2000" b="1" dirty="0">
                <a:latin typeface="Times New Roman" pitchFamily="18" charset="0"/>
                <a:ea typeface="Times New Roman" pitchFamily="18" charset="0"/>
                <a:cs typeface="Times New Roman" pitchFamily="18" charset="0"/>
              </a:rPr>
              <a:t>entier </a:t>
            </a:r>
            <a:r>
              <a:rPr lang="fr-FR" sz="2000" dirty="0">
                <a:latin typeface="Times New Roman" pitchFamily="18" charset="0"/>
                <a:ea typeface="Times New Roman" pitchFamily="18" charset="0"/>
                <a:cs typeface="Times New Roman" pitchFamily="18" charset="0"/>
              </a:rPr>
              <a:t>t3[]</a:t>
            </a:r>
            <a:r>
              <a:rPr lang="fr-FR" sz="2000" b="1" dirty="0">
                <a:latin typeface="Times New Roman" pitchFamily="18" charset="0"/>
                <a:ea typeface="Times New Roman" pitchFamily="18" charset="0"/>
                <a:cs typeface="Times New Roman" pitchFamily="18" charset="0"/>
              </a:rPr>
              <a:t>, r entier </a:t>
            </a:r>
            <a:r>
              <a:rPr lang="fr-FR" sz="2000" dirty="0">
                <a:latin typeface="Times New Roman" pitchFamily="18" charset="0"/>
                <a:ea typeface="Times New Roman" pitchFamily="18" charset="0"/>
                <a:cs typeface="Times New Roman" pitchFamily="18" charset="0"/>
              </a:rPr>
              <a:t>n3</a:t>
            </a:r>
            <a:r>
              <a:rPr lang="fr-FR" sz="2000" b="1" dirty="0">
                <a:latin typeface="Times New Roman" pitchFamily="18" charset="0"/>
                <a:ea typeface="Times New Roman" pitchFamily="18" charset="0"/>
                <a:cs typeface="Times New Roman" pitchFamily="18" charset="0"/>
              </a:rPr>
              <a:t>)</a:t>
            </a:r>
          </a:p>
          <a:p>
            <a:pPr lvl="0" algn="just" fontAlgn="base">
              <a:spcBef>
                <a:spcPct val="0"/>
              </a:spcBef>
              <a:spcAft>
                <a:spcPct val="0"/>
              </a:spcAft>
            </a:pPr>
            <a:r>
              <a:rPr lang="fr-FR" sz="2000" b="1" dirty="0" err="1" smtClean="0">
                <a:latin typeface="Times New Roman" pitchFamily="18" charset="0"/>
                <a:ea typeface="Times New Roman" pitchFamily="18" charset="0"/>
                <a:cs typeface="Times New Roman" pitchFamily="18" charset="0"/>
              </a:rPr>
              <a:t>debfonc</a:t>
            </a:r>
            <a:r>
              <a:rPr lang="nb-NO" sz="2000" b="1" dirty="0" smtClean="0">
                <a:latin typeface="Times New Roman" pitchFamily="18" charset="0"/>
                <a:ea typeface="Times New Roman" pitchFamily="18" charset="0"/>
                <a:cs typeface="Times New Roman" pitchFamily="18" charset="0"/>
              </a:rPr>
              <a:t>  </a:t>
            </a:r>
            <a:r>
              <a:rPr lang="nb-NO" sz="2000" b="1" dirty="0">
                <a:latin typeface="Times New Roman" pitchFamily="18" charset="0"/>
                <a:ea typeface="Times New Roman" pitchFamily="18" charset="0"/>
                <a:cs typeface="Times New Roman" pitchFamily="18" charset="0"/>
              </a:rPr>
              <a:t>entier </a:t>
            </a:r>
            <a:r>
              <a:rPr lang="nb-NO" sz="2000" dirty="0">
                <a:latin typeface="Times New Roman" pitchFamily="18" charset="0"/>
                <a:ea typeface="Times New Roman" pitchFamily="18" charset="0"/>
                <a:cs typeface="Times New Roman" pitchFamily="18" charset="0"/>
              </a:rPr>
              <a:t>i, j, k</a:t>
            </a:r>
            <a:r>
              <a:rPr lang="nb-NO" sz="2000" b="1"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rPr>
              <a:t>    </a:t>
            </a:r>
            <a:r>
              <a:rPr lang="nb-NO" sz="2000" dirty="0" smtClean="0">
                <a:latin typeface="Times New Roman" pitchFamily="18" charset="0"/>
                <a:ea typeface="Times New Roman" pitchFamily="18" charset="0"/>
                <a:cs typeface="Times New Roman" pitchFamily="18" charset="0"/>
              </a:rPr>
              <a:t>i:=1</a:t>
            </a:r>
            <a:r>
              <a:rPr lang="nb-NO" sz="2000" dirty="0">
                <a:latin typeface="Times New Roman" pitchFamily="18" charset="0"/>
                <a:ea typeface="Times New Roman" pitchFamily="18" charset="0"/>
                <a:cs typeface="Times New Roman" pitchFamily="18" charset="0"/>
              </a:rPr>
              <a:t>; </a:t>
            </a:r>
            <a:r>
              <a:rPr lang="nb-NO" sz="2000" dirty="0" smtClean="0">
                <a:latin typeface="Times New Roman" pitchFamily="18" charset="0"/>
                <a:ea typeface="Times New Roman" pitchFamily="18" charset="0"/>
                <a:cs typeface="Times New Roman" pitchFamily="18" charset="0"/>
              </a:rPr>
              <a:t>k:=1</a:t>
            </a:r>
            <a:r>
              <a:rPr lang="nb-NO" sz="2000" dirty="0">
                <a:latin typeface="Times New Roman" pitchFamily="18" charset="0"/>
                <a:ea typeface="Times New Roman" pitchFamily="18" charset="0"/>
                <a:cs typeface="Times New Roman" pitchFamily="18" charset="0"/>
              </a:rPr>
              <a:t>; </a:t>
            </a:r>
            <a:r>
              <a:rPr lang="nb-NO" sz="2000" dirty="0" smtClean="0">
                <a:latin typeface="Times New Roman" pitchFamily="18" charset="0"/>
                <a:ea typeface="Times New Roman" pitchFamily="18" charset="0"/>
                <a:cs typeface="Times New Roman" pitchFamily="18" charset="0"/>
              </a:rPr>
              <a:t>j:=n1+1</a:t>
            </a:r>
            <a:r>
              <a:rPr lang="nb-NO" sz="2000" dirty="0">
                <a:latin typeface="Times New Roman" pitchFamily="18" charset="0"/>
                <a:ea typeface="Times New Roman" pitchFamily="18" charset="0"/>
                <a:cs typeface="Times New Roman" pitchFamily="18" charset="0"/>
              </a:rPr>
              <a:t>;</a:t>
            </a:r>
            <a:r>
              <a:rPr lang="nb-NO" sz="2000" b="1" dirty="0">
                <a:latin typeface="Times New Roman" pitchFamily="18" charset="0"/>
                <a:ea typeface="Times New Roman" pitchFamily="18" charset="0"/>
                <a:cs typeface="Times New Roman" pitchFamily="18" charset="0"/>
              </a:rPr>
              <a:t> </a:t>
            </a:r>
            <a:r>
              <a:rPr lang="nb-NO" sz="2000" b="1" dirty="0" smtClean="0">
                <a:latin typeface="Times New Roman" pitchFamily="18" charset="0"/>
                <a:ea typeface="Times New Roman" pitchFamily="18" charset="0"/>
                <a:cs typeface="Times New Roman" pitchFamily="18" charset="0"/>
              </a:rPr>
              <a:t> </a:t>
            </a:r>
            <a:r>
              <a:rPr lang="nb-NO" sz="2000" dirty="0" smtClean="0">
                <a:latin typeface="Times New Roman" pitchFamily="18" charset="0"/>
                <a:ea typeface="Times New Roman" pitchFamily="18" charset="0"/>
                <a:cs typeface="Times New Roman" pitchFamily="18" charset="0"/>
              </a:rPr>
              <a:t>n3:=n1+n2</a:t>
            </a:r>
            <a:r>
              <a:rPr lang="nb-NO" sz="2000" dirty="0" smtClean="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rPr>
              <a:t>    tantque </a:t>
            </a:r>
            <a:r>
              <a:rPr lang="nb-NO" sz="2000" dirty="0">
                <a:latin typeface="Times New Roman" pitchFamily="18" charset="0"/>
                <a:ea typeface="Times New Roman" pitchFamily="18" charset="0"/>
                <a:cs typeface="Times New Roman" pitchFamily="18" charset="0"/>
              </a:rPr>
              <a:t>i≤n1</a:t>
            </a:r>
            <a:r>
              <a:rPr lang="nb-NO" sz="2000" b="1" dirty="0">
                <a:latin typeface="Times New Roman" pitchFamily="18" charset="0"/>
                <a:ea typeface="Times New Roman" pitchFamily="18" charset="0"/>
                <a:cs typeface="Times New Roman" pitchFamily="18" charset="0"/>
              </a:rPr>
              <a:t> et </a:t>
            </a:r>
            <a:r>
              <a:rPr lang="nb-NO" sz="2000" dirty="0">
                <a:latin typeface="Times New Roman" pitchFamily="18" charset="0"/>
                <a:ea typeface="Times New Roman" pitchFamily="18" charset="0"/>
                <a:cs typeface="Times New Roman" pitchFamily="18" charset="0"/>
              </a:rPr>
              <a:t>j</a:t>
            </a:r>
            <a:r>
              <a:rPr lang="fr-FR" sz="2000" dirty="0">
                <a:latin typeface="Times New Roman" pitchFamily="18" charset="0"/>
                <a:ea typeface="Times New Roman" pitchFamily="18" charset="0"/>
                <a:cs typeface="Times New Roman" pitchFamily="18" charset="0"/>
                <a:sym typeface="Symbol" pitchFamily="18" charset="2"/>
              </a:rPr>
              <a:t>≤</a:t>
            </a:r>
            <a:r>
              <a:rPr lang="nb-NO" sz="2000" dirty="0">
                <a:latin typeface="Times New Roman" pitchFamily="18" charset="0"/>
                <a:ea typeface="Times New Roman" pitchFamily="18" charset="0"/>
                <a:cs typeface="Times New Roman" pitchFamily="18" charset="0"/>
              </a:rPr>
              <a:t>n2</a:t>
            </a:r>
            <a:r>
              <a:rPr lang="nb-NO" sz="2000" b="1" dirty="0">
                <a:latin typeface="Times New Roman" pitchFamily="18" charset="0"/>
                <a:ea typeface="Times New Roman" pitchFamily="18" charset="0"/>
                <a:cs typeface="Times New Roman" pitchFamily="18" charset="0"/>
              </a:rPr>
              <a:t> faire</a:t>
            </a: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rPr>
              <a:t>   </a:t>
            </a:r>
            <a:r>
              <a:rPr lang="fr-FR" sz="2000" b="1" dirty="0">
                <a:latin typeface="Times New Roman" pitchFamily="18" charset="0"/>
                <a:ea typeface="Times New Roman" pitchFamily="18" charset="0"/>
                <a:cs typeface="Times New Roman" pitchFamily="18" charset="0"/>
                <a:sym typeface="Symbol" pitchFamily="18" charset="2"/>
              </a:rPr>
              <a:t>   si </a:t>
            </a:r>
            <a:r>
              <a:rPr lang="fr-FR" sz="2000" dirty="0">
                <a:latin typeface="Times New Roman" pitchFamily="18" charset="0"/>
                <a:ea typeface="Times New Roman" pitchFamily="18" charset="0"/>
                <a:cs typeface="Times New Roman" pitchFamily="18" charset="0"/>
                <a:sym typeface="Symbol" pitchFamily="18" charset="2"/>
              </a:rPr>
              <a:t>t1[i]≤</a:t>
            </a:r>
            <a:r>
              <a:rPr lang="fr-FR" sz="2000" dirty="0">
                <a:latin typeface="Times New Roman" pitchFamily="18" charset="0"/>
                <a:ea typeface="Times New Roman" pitchFamily="18" charset="0"/>
                <a:cs typeface="Times New Roman" pitchFamily="18" charset="0"/>
              </a:rPr>
              <a:t>t2[j]</a:t>
            </a:r>
            <a:r>
              <a:rPr lang="fr-FR" sz="2000" b="1" dirty="0">
                <a:latin typeface="Times New Roman" pitchFamily="18" charset="0"/>
                <a:ea typeface="Times New Roman" pitchFamily="18" charset="0"/>
                <a:cs typeface="Times New Roman" pitchFamily="18" charset="0"/>
              </a:rPr>
              <a:t> alors</a:t>
            </a: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a:t>
            </a:r>
            <a:r>
              <a:rPr lang="fr-FR" sz="2000" dirty="0" smtClean="0">
                <a:latin typeface="Times New Roman" pitchFamily="18" charset="0"/>
                <a:ea typeface="Times New Roman" pitchFamily="18" charset="0"/>
                <a:cs typeface="Times New Roman" pitchFamily="18" charset="0"/>
              </a:rPr>
              <a:t>t3[k]:=t1[i</a:t>
            </a:r>
            <a:r>
              <a:rPr lang="fr-FR" sz="2000" dirty="0">
                <a:latin typeface="Times New Roman" pitchFamily="18" charset="0"/>
                <a:ea typeface="Times New Roman" pitchFamily="18" charset="0"/>
                <a:cs typeface="Times New Roman" pitchFamily="18" charset="0"/>
              </a:rPr>
              <a:t>]; </a:t>
            </a:r>
            <a:r>
              <a:rPr lang="fr-FR" sz="2000" dirty="0" smtClean="0">
                <a:latin typeface="Times New Roman" pitchFamily="18" charset="0"/>
                <a:ea typeface="Times New Roman" pitchFamily="18" charset="0"/>
                <a:cs typeface="Times New Roman" pitchFamily="18" charset="0"/>
              </a:rPr>
              <a:t>i:=i+1</a:t>
            </a:r>
            <a:r>
              <a:rPr lang="fr-FR" sz="2000"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sinon</a:t>
            </a: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a:t>
            </a:r>
            <a:r>
              <a:rPr lang="fr-FR" sz="2000" b="1" dirty="0" smtClean="0">
                <a:latin typeface="Times New Roman" pitchFamily="18" charset="0"/>
                <a:ea typeface="Times New Roman" pitchFamily="18" charset="0"/>
                <a:cs typeface="Times New Roman" pitchFamily="18" charset="0"/>
                <a:sym typeface="Symbol" pitchFamily="18" charset="2"/>
              </a:rPr>
              <a:t> </a:t>
            </a:r>
            <a:r>
              <a:rPr lang="fr-FR" sz="2000" dirty="0" smtClean="0">
                <a:latin typeface="Times New Roman" pitchFamily="18" charset="0"/>
                <a:ea typeface="Times New Roman" pitchFamily="18" charset="0"/>
                <a:cs typeface="Times New Roman" pitchFamily="18" charset="0"/>
                <a:sym typeface="Symbol" pitchFamily="18" charset="2"/>
              </a:rPr>
              <a:t>t3[k]:=t2[j</a:t>
            </a:r>
            <a:r>
              <a:rPr lang="fr-FR" sz="2000" dirty="0">
                <a:latin typeface="Times New Roman" pitchFamily="18" charset="0"/>
                <a:ea typeface="Times New Roman" pitchFamily="18" charset="0"/>
                <a:cs typeface="Times New Roman" pitchFamily="18" charset="0"/>
                <a:sym typeface="Symbol" pitchFamily="18" charset="2"/>
              </a:rPr>
              <a:t>]; </a:t>
            </a:r>
            <a:r>
              <a:rPr lang="fr-FR" sz="2000" dirty="0" smtClean="0">
                <a:latin typeface="Times New Roman" pitchFamily="18" charset="0"/>
                <a:ea typeface="Times New Roman" pitchFamily="18" charset="0"/>
                <a:cs typeface="Times New Roman" pitchFamily="18" charset="0"/>
                <a:sym typeface="Symbol" pitchFamily="18" charset="2"/>
              </a:rPr>
              <a:t>j:=j+1</a:t>
            </a:r>
            <a:r>
              <a:rPr lang="fr-FR" sz="2000" dirty="0">
                <a:latin typeface="Times New Roman" pitchFamily="18" charset="0"/>
                <a:ea typeface="Times New Roman" pitchFamily="18" charset="0"/>
                <a:cs typeface="Times New Roman" pitchFamily="18" charset="0"/>
                <a:sym typeface="Symbol" pitchFamily="18" charset="2"/>
              </a:rPr>
              <a:t>;</a:t>
            </a:r>
            <a:endParaRPr lang="fr-FR" sz="20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a:t>
            </a:r>
            <a:r>
              <a:rPr lang="fr-FR" sz="2000" b="1" dirty="0" err="1">
                <a:latin typeface="Times New Roman" pitchFamily="18" charset="0"/>
                <a:ea typeface="Times New Roman" pitchFamily="18" charset="0"/>
                <a:cs typeface="Times New Roman" pitchFamily="18" charset="0"/>
                <a:sym typeface="Symbol" pitchFamily="18" charset="2"/>
              </a:rPr>
              <a:t>finsi</a:t>
            </a:r>
            <a:r>
              <a:rPr lang="fr-FR" sz="2000" b="1" dirty="0">
                <a:latin typeface="Times New Roman" pitchFamily="18" charset="0"/>
                <a:ea typeface="Times New Roman" pitchFamily="18" charset="0"/>
                <a:cs typeface="Times New Roman" pitchFamily="18" charset="0"/>
                <a:sym typeface="Symbol" pitchFamily="18" charset="2"/>
              </a:rPr>
              <a:t>;</a:t>
            </a:r>
            <a:endParaRPr lang="fr-FR" sz="20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a:t>
            </a:r>
            <a:r>
              <a:rPr lang="fr-FR" sz="2000" dirty="0" smtClean="0">
                <a:latin typeface="Times New Roman" pitchFamily="18" charset="0"/>
                <a:ea typeface="Times New Roman" pitchFamily="18" charset="0"/>
                <a:cs typeface="Times New Roman" pitchFamily="18" charset="0"/>
                <a:sym typeface="Symbol" pitchFamily="18" charset="2"/>
              </a:rPr>
              <a:t>k:=k+1</a:t>
            </a:r>
            <a:r>
              <a:rPr lang="fr-FR" sz="2000" dirty="0">
                <a:latin typeface="Times New Roman" pitchFamily="18" charset="0"/>
                <a:ea typeface="Times New Roman" pitchFamily="18" charset="0"/>
                <a:cs typeface="Times New Roman" pitchFamily="18" charset="0"/>
                <a:sym typeface="Symbol" pitchFamily="18" charset="2"/>
              </a:rPr>
              <a:t>;</a:t>
            </a:r>
            <a:endParaRPr lang="fr-FR" sz="20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a:t>
            </a:r>
            <a:r>
              <a:rPr lang="fr-FR" sz="2000" b="1" dirty="0" err="1">
                <a:latin typeface="Times New Roman" pitchFamily="18" charset="0"/>
                <a:ea typeface="Times New Roman" pitchFamily="18" charset="0"/>
                <a:cs typeface="Times New Roman" pitchFamily="18" charset="0"/>
                <a:sym typeface="Symbol" pitchFamily="18" charset="2"/>
              </a:rPr>
              <a:t>finfaire</a:t>
            </a:r>
            <a:r>
              <a:rPr lang="fr-FR" sz="2000" b="1" dirty="0" smtClean="0">
                <a:latin typeface="Times New Roman" pitchFamily="18" charset="0"/>
                <a:ea typeface="Times New Roman" pitchFamily="18" charset="0"/>
                <a:cs typeface="Times New Roman" pitchFamily="18" charset="0"/>
                <a:sym typeface="Symbol" pitchFamily="18" charset="2"/>
              </a:rPr>
              <a:t>;</a:t>
            </a:r>
            <a:endParaRPr lang="fr-FR" sz="20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000" b="1" dirty="0" err="1" smtClean="0">
                <a:latin typeface="Times New Roman" pitchFamily="18" charset="0"/>
                <a:cs typeface="Times New Roman" pitchFamily="18" charset="0"/>
                <a:sym typeface="Symbol" pitchFamily="18" charset="2"/>
              </a:rPr>
              <a:t>finfonc</a:t>
            </a:r>
            <a:r>
              <a:rPr lang="fr-FR" sz="2000" b="1" dirty="0">
                <a:latin typeface="Times New Roman" pitchFamily="18" charset="0"/>
                <a:cs typeface="Times New Roman" pitchFamily="18" charset="0"/>
                <a:sym typeface="Symbol" pitchFamily="18" charset="2"/>
              </a:rPr>
              <a:t>;</a:t>
            </a:r>
            <a:endParaRPr lang="fr-FR" sz="20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000" dirty="0" smtClean="0">
                <a:latin typeface="Times New Roman" pitchFamily="18" charset="0"/>
                <a:ea typeface="Times New Roman" pitchFamily="18" charset="0"/>
                <a:cs typeface="Times New Roman" pitchFamily="18" charset="0"/>
                <a:sym typeface="Symbol" pitchFamily="18" charset="2"/>
              </a:rPr>
              <a:t>//(</a:t>
            </a:r>
            <a:r>
              <a:rPr lang="fr-FR" sz="2000" dirty="0">
                <a:latin typeface="Times New Roman" pitchFamily="18" charset="0"/>
                <a:ea typeface="Times New Roman" pitchFamily="18" charset="0"/>
                <a:cs typeface="Times New Roman" pitchFamily="18" charset="0"/>
                <a:sym typeface="Symbol" pitchFamily="18" charset="2"/>
              </a:rPr>
              <a:t>i&gt;n1) ou (j&gt;n2) =&gt; une seule, au plus, de deux boucles ci-dessous sera </a:t>
            </a:r>
            <a:r>
              <a:rPr lang="fr-FR" sz="2000" dirty="0" smtClean="0">
                <a:latin typeface="Times New Roman" pitchFamily="18" charset="0"/>
                <a:ea typeface="Times New Roman" pitchFamily="18" charset="0"/>
                <a:cs typeface="Times New Roman" pitchFamily="18" charset="0"/>
                <a:sym typeface="Symbol" pitchFamily="18" charset="2"/>
              </a:rPr>
              <a:t>exécutée.</a:t>
            </a:r>
            <a:endParaRPr lang="fr-FR" sz="20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000" b="1" dirty="0" err="1">
                <a:latin typeface="Times New Roman" pitchFamily="18" charset="0"/>
                <a:ea typeface="Times New Roman" pitchFamily="18" charset="0"/>
                <a:cs typeface="Times New Roman" pitchFamily="18" charset="0"/>
                <a:sym typeface="Symbol" pitchFamily="18" charset="2"/>
              </a:rPr>
              <a:t>tantque</a:t>
            </a:r>
            <a:r>
              <a:rPr lang="fr-FR" sz="2000" b="1" dirty="0">
                <a:latin typeface="Times New Roman" pitchFamily="18" charset="0"/>
                <a:ea typeface="Times New Roman" pitchFamily="18" charset="0"/>
                <a:cs typeface="Times New Roman" pitchFamily="18" charset="0"/>
                <a:sym typeface="Symbol" pitchFamily="18" charset="2"/>
              </a:rPr>
              <a:t> </a:t>
            </a:r>
            <a:r>
              <a:rPr lang="fr-FR" sz="2000" dirty="0">
                <a:latin typeface="Times New Roman" pitchFamily="18" charset="0"/>
                <a:ea typeface="Times New Roman" pitchFamily="18" charset="0"/>
                <a:cs typeface="Times New Roman" pitchFamily="18" charset="0"/>
                <a:sym typeface="Symbol" pitchFamily="18" charset="2"/>
              </a:rPr>
              <a:t>i</a:t>
            </a:r>
            <a:r>
              <a:rPr lang="fr-FR" sz="2000" dirty="0">
                <a:latin typeface="Times New Roman" pitchFamily="18" charset="0"/>
                <a:ea typeface="Times New Roman" pitchFamily="18" charset="0"/>
                <a:cs typeface="Times New Roman" pitchFamily="18" charset="0"/>
              </a:rPr>
              <a:t>n1</a:t>
            </a:r>
            <a:r>
              <a:rPr lang="fr-FR" sz="2000" b="1" dirty="0">
                <a:latin typeface="Times New Roman" pitchFamily="18" charset="0"/>
                <a:ea typeface="Times New Roman" pitchFamily="18" charset="0"/>
                <a:cs typeface="Times New Roman" pitchFamily="18" charset="0"/>
              </a:rPr>
              <a:t> faire</a:t>
            </a:r>
            <a:endParaRPr lang="fr-FR" sz="20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a:t>
            </a:r>
            <a:r>
              <a:rPr lang="fr-FR" sz="2000" dirty="0" smtClean="0">
                <a:latin typeface="Times New Roman" pitchFamily="18" charset="0"/>
                <a:ea typeface="Times New Roman" pitchFamily="18" charset="0"/>
                <a:cs typeface="Times New Roman" pitchFamily="18" charset="0"/>
                <a:sym typeface="Symbol" pitchFamily="18" charset="2"/>
              </a:rPr>
              <a:t>t3[k]:=t1[i</a:t>
            </a:r>
            <a:r>
              <a:rPr lang="fr-FR" sz="2000" dirty="0">
                <a:latin typeface="Times New Roman" pitchFamily="18" charset="0"/>
                <a:ea typeface="Times New Roman" pitchFamily="18" charset="0"/>
                <a:cs typeface="Times New Roman" pitchFamily="18" charset="0"/>
                <a:sym typeface="Symbol" pitchFamily="18" charset="2"/>
              </a:rPr>
              <a:t>]; </a:t>
            </a:r>
            <a:r>
              <a:rPr lang="fr-FR" sz="2000" dirty="0" smtClean="0">
                <a:latin typeface="Times New Roman" pitchFamily="18" charset="0"/>
                <a:ea typeface="Times New Roman" pitchFamily="18" charset="0"/>
                <a:cs typeface="Times New Roman" pitchFamily="18" charset="0"/>
                <a:sym typeface="Symbol" pitchFamily="18" charset="2"/>
              </a:rPr>
              <a:t>i:=i+1</a:t>
            </a:r>
            <a:r>
              <a:rPr lang="fr-FR" sz="2000" dirty="0">
                <a:latin typeface="Times New Roman" pitchFamily="18" charset="0"/>
                <a:ea typeface="Times New Roman" pitchFamily="18" charset="0"/>
                <a:cs typeface="Times New Roman" pitchFamily="18" charset="0"/>
                <a:sym typeface="Symbol" pitchFamily="18" charset="2"/>
              </a:rPr>
              <a:t>; </a:t>
            </a:r>
            <a:r>
              <a:rPr lang="fr-FR" sz="2000" dirty="0" smtClean="0">
                <a:latin typeface="Times New Roman" pitchFamily="18" charset="0"/>
                <a:ea typeface="Times New Roman" pitchFamily="18" charset="0"/>
                <a:cs typeface="Times New Roman" pitchFamily="18" charset="0"/>
                <a:sym typeface="Symbol" pitchFamily="18" charset="2"/>
              </a:rPr>
              <a:t>k:=k+1</a:t>
            </a:r>
            <a:r>
              <a:rPr lang="fr-FR" sz="2000" dirty="0">
                <a:latin typeface="Times New Roman" pitchFamily="18" charset="0"/>
                <a:ea typeface="Times New Roman" pitchFamily="18" charset="0"/>
                <a:cs typeface="Times New Roman" pitchFamily="18" charset="0"/>
                <a:sym typeface="Symbol" pitchFamily="18" charset="2"/>
              </a:rPr>
              <a:t>;</a:t>
            </a:r>
            <a:endParaRPr lang="fr-FR" sz="20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000" b="1" dirty="0" err="1">
                <a:latin typeface="Times New Roman" pitchFamily="18" charset="0"/>
                <a:cs typeface="Times New Roman" pitchFamily="18" charset="0"/>
                <a:sym typeface="Symbol" pitchFamily="18" charset="2"/>
              </a:rPr>
              <a:t>finfaire</a:t>
            </a:r>
            <a:r>
              <a:rPr lang="fr-FR" sz="2000" b="1" dirty="0">
                <a:latin typeface="Times New Roman" pitchFamily="18" charset="0"/>
                <a:cs typeface="Times New Roman" pitchFamily="18" charset="0"/>
                <a:sym typeface="Symbol" pitchFamily="18" charset="2"/>
              </a:rPr>
              <a:t>;</a:t>
            </a:r>
            <a:endParaRPr lang="fr-FR" sz="20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000" b="1" dirty="0" err="1">
                <a:latin typeface="Times New Roman" pitchFamily="18" charset="0"/>
                <a:ea typeface="Times New Roman" pitchFamily="18" charset="0"/>
                <a:cs typeface="Times New Roman" pitchFamily="18" charset="0"/>
                <a:sym typeface="Symbol" pitchFamily="18" charset="2"/>
              </a:rPr>
              <a:t>tantque</a:t>
            </a:r>
            <a:r>
              <a:rPr lang="fr-FR" sz="2000" b="1" dirty="0">
                <a:latin typeface="Times New Roman" pitchFamily="18" charset="0"/>
                <a:ea typeface="Times New Roman" pitchFamily="18" charset="0"/>
                <a:cs typeface="Times New Roman" pitchFamily="18" charset="0"/>
                <a:sym typeface="Symbol" pitchFamily="18" charset="2"/>
              </a:rPr>
              <a:t> </a:t>
            </a:r>
            <a:r>
              <a:rPr lang="fr-FR" sz="2000" dirty="0">
                <a:latin typeface="Times New Roman" pitchFamily="18" charset="0"/>
                <a:ea typeface="Times New Roman" pitchFamily="18" charset="0"/>
                <a:cs typeface="Times New Roman" pitchFamily="18" charset="0"/>
                <a:sym typeface="Symbol" pitchFamily="18" charset="2"/>
              </a:rPr>
              <a:t>j</a:t>
            </a:r>
            <a:r>
              <a:rPr lang="fr-FR" sz="2000" dirty="0">
                <a:latin typeface="Times New Roman" pitchFamily="18" charset="0"/>
                <a:ea typeface="Times New Roman" pitchFamily="18" charset="0"/>
                <a:cs typeface="Times New Roman" pitchFamily="18" charset="0"/>
              </a:rPr>
              <a:t>n2</a:t>
            </a:r>
            <a:r>
              <a:rPr lang="fr-FR" sz="2000" b="1" dirty="0">
                <a:latin typeface="Times New Roman" pitchFamily="18" charset="0"/>
                <a:ea typeface="Times New Roman" pitchFamily="18" charset="0"/>
                <a:cs typeface="Times New Roman" pitchFamily="18" charset="0"/>
              </a:rPr>
              <a:t> faire</a:t>
            </a:r>
            <a:endParaRPr lang="fr-FR" sz="20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a:t>
            </a:r>
            <a:r>
              <a:rPr lang="fr-FR" sz="2000" dirty="0" smtClean="0">
                <a:latin typeface="Times New Roman" pitchFamily="18" charset="0"/>
                <a:ea typeface="Times New Roman" pitchFamily="18" charset="0"/>
                <a:cs typeface="Times New Roman" pitchFamily="18" charset="0"/>
                <a:sym typeface="Symbol" pitchFamily="18" charset="2"/>
              </a:rPr>
              <a:t>t3[k]:=t2[j</a:t>
            </a:r>
            <a:r>
              <a:rPr lang="fr-FR" sz="2000" dirty="0">
                <a:latin typeface="Times New Roman" pitchFamily="18" charset="0"/>
                <a:ea typeface="Times New Roman" pitchFamily="18" charset="0"/>
                <a:cs typeface="Times New Roman" pitchFamily="18" charset="0"/>
                <a:sym typeface="Symbol" pitchFamily="18" charset="2"/>
              </a:rPr>
              <a:t>]; </a:t>
            </a:r>
            <a:r>
              <a:rPr lang="fr-FR" sz="2000" dirty="0" smtClean="0">
                <a:latin typeface="Times New Roman" pitchFamily="18" charset="0"/>
                <a:ea typeface="Times New Roman" pitchFamily="18" charset="0"/>
                <a:cs typeface="Times New Roman" pitchFamily="18" charset="0"/>
                <a:sym typeface="Symbol" pitchFamily="18" charset="2"/>
              </a:rPr>
              <a:t>j:=j+1</a:t>
            </a:r>
            <a:r>
              <a:rPr lang="fr-FR" sz="2000" dirty="0">
                <a:latin typeface="Times New Roman" pitchFamily="18" charset="0"/>
                <a:ea typeface="Times New Roman" pitchFamily="18" charset="0"/>
                <a:cs typeface="Times New Roman" pitchFamily="18" charset="0"/>
                <a:sym typeface="Symbol" pitchFamily="18" charset="2"/>
              </a:rPr>
              <a:t>; </a:t>
            </a:r>
            <a:r>
              <a:rPr lang="fr-FR" sz="2000" dirty="0" smtClean="0">
                <a:latin typeface="Times New Roman" pitchFamily="18" charset="0"/>
                <a:ea typeface="Times New Roman" pitchFamily="18" charset="0"/>
                <a:cs typeface="Times New Roman" pitchFamily="18" charset="0"/>
                <a:sym typeface="Symbol" pitchFamily="18" charset="2"/>
              </a:rPr>
              <a:t>k:=k+1</a:t>
            </a:r>
            <a:r>
              <a:rPr lang="fr-FR" sz="2000" dirty="0">
                <a:latin typeface="Times New Roman" pitchFamily="18" charset="0"/>
                <a:ea typeface="Times New Roman" pitchFamily="18" charset="0"/>
                <a:cs typeface="Times New Roman" pitchFamily="18" charset="0"/>
                <a:sym typeface="Symbol" pitchFamily="18" charset="2"/>
              </a:rPr>
              <a:t>;</a:t>
            </a:r>
            <a:r>
              <a:rPr lang="fr-FR" sz="2000" b="1" dirty="0">
                <a:latin typeface="Times New Roman" pitchFamily="18" charset="0"/>
                <a:ea typeface="Times New Roman" pitchFamily="18" charset="0"/>
                <a:cs typeface="Times New Roman" pitchFamily="18" charset="0"/>
                <a:sym typeface="Symbol" pitchFamily="18" charset="2"/>
              </a:rPr>
              <a:t> </a:t>
            </a:r>
          </a:p>
          <a:p>
            <a:pPr lvl="0" algn="just" eaLnBrk="0" fontAlgn="base" hangingPunct="0">
              <a:spcBef>
                <a:spcPct val="0"/>
              </a:spcBef>
              <a:spcAft>
                <a:spcPct val="0"/>
              </a:spcAft>
            </a:pPr>
            <a:r>
              <a:rPr lang="fr-FR" sz="2000" b="1" dirty="0" err="1">
                <a:latin typeface="Times New Roman" pitchFamily="18" charset="0"/>
                <a:ea typeface="Times New Roman" pitchFamily="18" charset="0"/>
                <a:cs typeface="Times New Roman" pitchFamily="18" charset="0"/>
                <a:sym typeface="Symbol" pitchFamily="18" charset="2"/>
              </a:rPr>
              <a:t>finfaire</a:t>
            </a:r>
            <a:r>
              <a:rPr lang="fr-FR" sz="2000" b="1" dirty="0">
                <a:latin typeface="Times New Roman" pitchFamily="18" charset="0"/>
                <a:ea typeface="Times New Roman" pitchFamily="18" charset="0"/>
                <a:cs typeface="Times New Roman" pitchFamily="18" charset="0"/>
                <a:sym typeface="Symbol" pitchFamily="18" charset="2"/>
              </a:rPr>
              <a:t>;</a:t>
            </a:r>
          </a:p>
        </p:txBody>
      </p:sp>
    </p:spTree>
    <p:extLst>
      <p:ext uri="{BB962C8B-B14F-4D97-AF65-F5344CB8AC3E}">
        <p14:creationId xmlns:p14="http://schemas.microsoft.com/office/powerpoint/2010/main" val="3635945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160" y="533688"/>
            <a:ext cx="11318240" cy="563231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indent="180975" algn="just" fontAlgn="base">
              <a:spcBef>
                <a:spcPct val="0"/>
              </a:spcBef>
              <a:spcAft>
                <a:spcPct val="0"/>
              </a:spcAft>
            </a:pPr>
            <a:r>
              <a:rPr lang="fr-FR" b="1" dirty="0" smtClean="0">
                <a:latin typeface="Times New Roman" panose="02020603050405020304" pitchFamily="18" charset="0"/>
                <a:ea typeface="Times New Roman" panose="02020603050405020304" pitchFamily="18" charset="0"/>
                <a:cs typeface="Times New Roman" panose="02020603050405020304" pitchFamily="18" charset="0"/>
              </a:rPr>
              <a:t>2. </a:t>
            </a:r>
            <a:r>
              <a:rPr lang="fr-FR" b="1" dirty="0">
                <a:latin typeface="Times New Roman" panose="02020603050405020304" pitchFamily="18" charset="0"/>
                <a:ea typeface="Times New Roman" panose="02020603050405020304" pitchFamily="18" charset="0"/>
                <a:cs typeface="Times New Roman" panose="02020603050405020304" pitchFamily="18" charset="0"/>
              </a:rPr>
              <a:t>2. Listes </a:t>
            </a:r>
            <a:r>
              <a:rPr lang="fr-FR" b="1" dirty="0" smtClean="0">
                <a:latin typeface="Times New Roman" panose="02020603050405020304" pitchFamily="18" charset="0"/>
                <a:ea typeface="Times New Roman" panose="02020603050405020304" pitchFamily="18" charset="0"/>
                <a:cs typeface="Times New Roman" panose="02020603050405020304" pitchFamily="18" charset="0"/>
              </a:rPr>
              <a:t>linéaires </a:t>
            </a:r>
            <a:r>
              <a:rPr lang="fr-FR" b="1" dirty="0">
                <a:latin typeface="Times New Roman" panose="02020603050405020304" pitchFamily="18" charset="0"/>
                <a:ea typeface="Times New Roman" panose="02020603050405020304" pitchFamily="18" charset="0"/>
                <a:cs typeface="Times New Roman" panose="02020603050405020304" pitchFamily="18" charset="0"/>
              </a:rPr>
              <a:t>chaînées</a:t>
            </a:r>
            <a:endParaRPr lang="fr-FR" b="1" dirty="0">
              <a:latin typeface="Times New Roman" panose="02020603050405020304"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anose="02020603050405020304" pitchFamily="18" charset="0"/>
                <a:ea typeface="Times New Roman" panose="02020603050405020304" pitchFamily="18" charset="0"/>
                <a:cs typeface="Times New Roman" panose="02020603050405020304" pitchFamily="18" charset="0"/>
              </a:rPr>
              <a:t>Une liste linéaire chaînée est constituée d’un ensemble de cellules chaînées entre elles.  L’</a:t>
            </a:r>
            <a:r>
              <a:rPr lang="fr-FR" b="1" dirty="0">
                <a:latin typeface="Times New Roman" panose="02020603050405020304" pitchFamily="18" charset="0"/>
                <a:ea typeface="Times New Roman" panose="02020603050405020304" pitchFamily="18" charset="0"/>
                <a:cs typeface="Times New Roman" panose="02020603050405020304" pitchFamily="18" charset="0"/>
              </a:rPr>
              <a:t>adresse</a:t>
            </a:r>
            <a:r>
              <a:rPr lang="fr-FR" dirty="0">
                <a:latin typeface="Times New Roman" panose="02020603050405020304" pitchFamily="18" charset="0"/>
                <a:ea typeface="Times New Roman" panose="02020603050405020304" pitchFamily="18" charset="0"/>
                <a:cs typeface="Times New Roman" panose="02020603050405020304" pitchFamily="18" charset="0"/>
              </a:rPr>
              <a:t> de la première de ces cellules </a:t>
            </a:r>
            <a:r>
              <a:rPr lang="fr-FR" b="1" dirty="0">
                <a:latin typeface="Times New Roman" panose="02020603050405020304" pitchFamily="18" charset="0"/>
                <a:ea typeface="Times New Roman" panose="02020603050405020304" pitchFamily="18" charset="0"/>
                <a:cs typeface="Times New Roman" panose="02020603050405020304" pitchFamily="18" charset="0"/>
              </a:rPr>
              <a:t>détermine </a:t>
            </a:r>
            <a:r>
              <a:rPr lang="fr-FR" dirty="0">
                <a:latin typeface="Times New Roman" panose="02020603050405020304" pitchFamily="18" charset="0"/>
                <a:ea typeface="Times New Roman" panose="02020603050405020304" pitchFamily="18" charset="0"/>
                <a:cs typeface="Times New Roman" panose="02020603050405020304" pitchFamily="18" charset="0"/>
              </a:rPr>
              <a:t>la liste. Une cellule contient deux champs : un champ de nom </a:t>
            </a:r>
            <a:r>
              <a:rPr lang="fr-FR" b="1" dirty="0">
                <a:latin typeface="Times New Roman" panose="02020603050405020304" pitchFamily="18" charset="0"/>
                <a:ea typeface="Times New Roman" panose="02020603050405020304" pitchFamily="18" charset="0"/>
                <a:cs typeface="Times New Roman" panose="02020603050405020304" pitchFamily="18" charset="0"/>
              </a:rPr>
              <a:t>info</a:t>
            </a:r>
            <a:r>
              <a:rPr lang="fr-FR" dirty="0">
                <a:latin typeface="Times New Roman" panose="02020603050405020304" pitchFamily="18" charset="0"/>
                <a:ea typeface="Times New Roman" panose="02020603050405020304" pitchFamily="18" charset="0"/>
                <a:cs typeface="Times New Roman" panose="02020603050405020304" pitchFamily="18" charset="0"/>
              </a:rPr>
              <a:t> contenant une information et un champ de nom </a:t>
            </a:r>
            <a:r>
              <a:rPr lang="fr-FR" b="1" dirty="0">
                <a:latin typeface="Times New Roman" panose="02020603050405020304" pitchFamily="18" charset="0"/>
                <a:ea typeface="Times New Roman" panose="02020603050405020304" pitchFamily="18" charset="0"/>
                <a:cs typeface="Times New Roman" panose="02020603050405020304" pitchFamily="18" charset="0"/>
              </a:rPr>
              <a:t>suivant</a:t>
            </a:r>
            <a:r>
              <a:rPr lang="fr-FR" dirty="0">
                <a:latin typeface="Times New Roman" panose="02020603050405020304" pitchFamily="18" charset="0"/>
                <a:ea typeface="Times New Roman" panose="02020603050405020304" pitchFamily="18" charset="0"/>
                <a:cs typeface="Times New Roman" panose="02020603050405020304" pitchFamily="18" charset="0"/>
              </a:rPr>
              <a:t> contenant une adresse.</a:t>
            </a:r>
            <a:endParaRPr lang="fr-FR" dirty="0">
              <a:latin typeface="Times New Roman" panose="02020603050405020304"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anose="02020603050405020304" pitchFamily="18" charset="0"/>
                <a:ea typeface="Times New Roman" panose="02020603050405020304" pitchFamily="18" charset="0"/>
                <a:cs typeface="Times New Roman" panose="02020603050405020304" pitchFamily="18" charset="0"/>
              </a:rPr>
              <a:t>Exemple, la liste linéaire (a, b, c, d) est schématisé</a:t>
            </a:r>
          </a:p>
          <a:p>
            <a:pPr lvl="0" indent="180975" algn="just" eaLnBrk="0" fontAlgn="base" hangingPunct="0">
              <a:spcBef>
                <a:spcPct val="0"/>
              </a:spcBef>
              <a:spcAft>
                <a:spcPct val="0"/>
              </a:spcAft>
            </a:pPr>
            <a:endParaRPr lang="en-GB" dirty="0">
              <a:latin typeface="Times New Roman" panose="02020603050405020304" pitchFamily="18" charset="0"/>
              <a:cs typeface="Times New Roman" pitchFamily="18" charset="0"/>
            </a:endParaRPr>
          </a:p>
          <a:p>
            <a:pPr lvl="0" indent="180975" algn="just" eaLnBrk="0" fontAlgn="base" hangingPunct="0">
              <a:spcBef>
                <a:spcPct val="0"/>
              </a:spcBef>
              <a:spcAft>
                <a:spcPct val="0"/>
              </a:spcAft>
            </a:pPr>
            <a:r>
              <a:rPr lang="en-GB" dirty="0">
                <a:latin typeface="Times New Roman" panose="02020603050405020304" pitchFamily="18" charset="0"/>
                <a:cs typeface="Times New Roman" pitchFamily="18" charset="0"/>
              </a:rPr>
              <a:t>  </a:t>
            </a:r>
          </a:p>
          <a:p>
            <a:pPr lvl="0" indent="180975" algn="just" eaLnBrk="0" fontAlgn="base" hangingPunct="0">
              <a:spcBef>
                <a:spcPct val="0"/>
              </a:spcBef>
              <a:spcAft>
                <a:spcPct val="0"/>
              </a:spcAft>
            </a:pPr>
            <a:r>
              <a:rPr lang="en-GB" dirty="0">
                <a:latin typeface="Times New Roman" panose="02020603050405020304" pitchFamily="18" charset="0"/>
                <a:cs typeface="Times New Roman" pitchFamily="18" charset="0"/>
              </a:rPr>
              <a:t>	</a:t>
            </a:r>
          </a:p>
          <a:p>
            <a:pPr lvl="0" indent="180975" algn="just" eaLnBrk="0" fontAlgn="base" hangingPunct="0">
              <a:spcBef>
                <a:spcPct val="0"/>
              </a:spcBef>
              <a:spcAft>
                <a:spcPct val="0"/>
              </a:spcAft>
            </a:pPr>
            <a:r>
              <a:rPr lang="en-GB" dirty="0">
                <a:latin typeface="Times New Roman" panose="02020603050405020304" pitchFamily="18" charset="0"/>
                <a:cs typeface="Times New Roman" pitchFamily="18" charset="0"/>
              </a:rPr>
              <a:t>							</a:t>
            </a:r>
          </a:p>
          <a:p>
            <a:pPr lvl="0" indent="180975" algn="just" eaLnBrk="0" fontAlgn="base" hangingPunct="0">
              <a:spcBef>
                <a:spcPct val="0"/>
              </a:spcBef>
              <a:spcAft>
                <a:spcPct val="0"/>
              </a:spcAft>
            </a:pPr>
            <a:endParaRPr lang="en-GB" dirty="0">
              <a:latin typeface="Times New Roman" panose="02020603050405020304" pitchFamily="18" charset="0"/>
              <a:cs typeface="Times New Roman" pitchFamily="18" charset="0"/>
            </a:endParaRPr>
          </a:p>
          <a:p>
            <a:r>
              <a:rPr lang="fr-FR" dirty="0">
                <a:latin typeface="Times New Roman" panose="02020603050405020304" pitchFamily="18" charset="0"/>
                <a:cs typeface="Times New Roman" panose="02020603050405020304" pitchFamily="18" charset="0"/>
              </a:rPr>
              <a:t> </a:t>
            </a:r>
            <a:r>
              <a:rPr lang="fr-FR" b="1" dirty="0">
                <a:latin typeface="Times New Roman" panose="02020603050405020304" pitchFamily="18" charset="0"/>
                <a:cs typeface="Times New Roman" panose="02020603050405020304" pitchFamily="18" charset="0"/>
              </a:rPr>
              <a:t>liste</a:t>
            </a:r>
            <a:r>
              <a:rPr lang="fr-FR" b="1" baseline="30000" dirty="0">
                <a:latin typeface="Times New Roman" panose="02020603050405020304" pitchFamily="18" charset="0"/>
                <a:cs typeface="Times New Roman" panose="02020603050405020304" pitchFamily="18" charset="0"/>
              </a:rPr>
              <a:t>+</a:t>
            </a:r>
            <a:r>
              <a:rPr lang="fr-FR" b="1" dirty="0">
                <a:latin typeface="Times New Roman" panose="02020603050405020304" pitchFamily="18" charset="0"/>
                <a:cs typeface="Times New Roman" panose="02020603050405020304" pitchFamily="18" charset="0"/>
              </a:rPr>
              <a:t> = (a, b, c, d)</a:t>
            </a:r>
          </a:p>
          <a:p>
            <a:endParaRPr lang="fr-FR"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 si </a:t>
            </a:r>
            <a:r>
              <a:rPr lang="fr-FR" b="1" dirty="0">
                <a:latin typeface="Times New Roman" panose="02020603050405020304" pitchFamily="18" charset="0"/>
                <a:cs typeface="Times New Roman" panose="02020603050405020304" pitchFamily="18" charset="0"/>
              </a:rPr>
              <a:t>liste=</a:t>
            </a:r>
            <a:r>
              <a:rPr lang="fr-FR" b="1" dirty="0" err="1">
                <a:latin typeface="Times New Roman" panose="02020603050405020304" pitchFamily="18" charset="0"/>
                <a:cs typeface="Times New Roman" panose="02020603050405020304" pitchFamily="18" charset="0"/>
              </a:rPr>
              <a:t>nil</a:t>
            </a:r>
            <a:r>
              <a:rPr lang="fr-FR" b="1" dirty="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liste</a:t>
            </a:r>
            <a:r>
              <a:rPr lang="fr-FR" baseline="30000" dirty="0">
                <a:latin typeface="Times New Roman" panose="02020603050405020304" pitchFamily="18" charset="0"/>
                <a:cs typeface="Times New Roman" panose="02020603050405020304" pitchFamily="18" charset="0"/>
              </a:rPr>
              <a:t>-</a:t>
            </a:r>
            <a:r>
              <a:rPr lang="fr-FR" dirty="0">
                <a:latin typeface="Times New Roman" panose="02020603050405020304" pitchFamily="18" charset="0"/>
                <a:cs typeface="Times New Roman" panose="02020603050405020304" pitchFamily="18" charset="0"/>
              </a:rPr>
              <a:t> est vide (liste</a:t>
            </a:r>
            <a:r>
              <a:rPr lang="fr-FR" baseline="30000" dirty="0">
                <a:latin typeface="Times New Roman" panose="02020603050405020304" pitchFamily="18" charset="0"/>
                <a:cs typeface="Times New Roman" panose="02020603050405020304" pitchFamily="18" charset="0"/>
              </a:rPr>
              <a:t>-</a:t>
            </a:r>
            <a:r>
              <a:rPr lang="fr-FR" dirty="0">
                <a:latin typeface="Times New Roman" panose="02020603050405020304" pitchFamily="18" charset="0"/>
                <a:cs typeface="Times New Roman" panose="02020603050405020304" pitchFamily="18" charset="0"/>
              </a:rPr>
              <a:t>=&lt;&gt;),</a:t>
            </a:r>
          </a:p>
          <a:p>
            <a:r>
              <a:rPr lang="fr-FR" dirty="0">
                <a:latin typeface="Times New Roman" panose="02020603050405020304" pitchFamily="18" charset="0"/>
                <a:cs typeface="Times New Roman" panose="02020603050405020304" pitchFamily="18" charset="0"/>
              </a:rPr>
              <a:t>- il y a autant de </a:t>
            </a:r>
            <a:r>
              <a:rPr lang="fr-FR" b="1" dirty="0">
                <a:latin typeface="Times New Roman" panose="02020603050405020304" pitchFamily="18" charset="0"/>
                <a:cs typeface="Times New Roman" panose="02020603050405020304" pitchFamily="18" charset="0"/>
              </a:rPr>
              <a:t>cellules</a:t>
            </a:r>
            <a:r>
              <a:rPr lang="fr-FR" dirty="0">
                <a:latin typeface="Times New Roman" panose="02020603050405020304" pitchFamily="18" charset="0"/>
                <a:cs typeface="Times New Roman" panose="02020603050405020304" pitchFamily="18" charset="0"/>
              </a:rPr>
              <a:t> que d’</a:t>
            </a:r>
            <a:r>
              <a:rPr lang="fr-FR" b="1" dirty="0">
                <a:latin typeface="Times New Roman" panose="02020603050405020304" pitchFamily="18" charset="0"/>
                <a:cs typeface="Times New Roman" panose="02020603050405020304" pitchFamily="18" charset="0"/>
              </a:rPr>
              <a:t>éléments</a:t>
            </a:r>
            <a:r>
              <a:rPr lang="fr-FR" dirty="0">
                <a:latin typeface="Times New Roman" panose="02020603050405020304" pitchFamily="18" charset="0"/>
                <a:cs typeface="Times New Roman" panose="02020603050405020304" pitchFamily="18" charset="0"/>
              </a:rPr>
              <a:t>,</a:t>
            </a:r>
          </a:p>
          <a:p>
            <a:r>
              <a:rPr lang="fr-FR" dirty="0">
                <a:latin typeface="Times New Roman" panose="02020603050405020304" pitchFamily="18" charset="0"/>
                <a:cs typeface="Times New Roman" panose="02020603050405020304" pitchFamily="18" charset="0"/>
              </a:rPr>
              <a:t>- le champ </a:t>
            </a:r>
            <a:r>
              <a:rPr lang="fr-FR" b="1" dirty="0">
                <a:latin typeface="Times New Roman" panose="02020603050405020304" pitchFamily="18" charset="0"/>
                <a:cs typeface="Times New Roman" panose="02020603050405020304" pitchFamily="18" charset="0"/>
              </a:rPr>
              <a:t>suivant</a:t>
            </a:r>
            <a:r>
              <a:rPr lang="fr-FR" dirty="0">
                <a:latin typeface="Times New Roman" panose="02020603050405020304" pitchFamily="18" charset="0"/>
                <a:cs typeface="Times New Roman" panose="02020603050405020304" pitchFamily="18" charset="0"/>
              </a:rPr>
              <a:t> d’une cellule contient l’</a:t>
            </a:r>
            <a:r>
              <a:rPr lang="fr-FR" b="1" dirty="0">
                <a:latin typeface="Times New Roman" panose="02020603050405020304" pitchFamily="18" charset="0"/>
                <a:cs typeface="Times New Roman" panose="02020603050405020304" pitchFamily="18" charset="0"/>
              </a:rPr>
              <a:t>adresse</a:t>
            </a:r>
            <a:r>
              <a:rPr lang="fr-FR" dirty="0">
                <a:latin typeface="Times New Roman" panose="02020603050405020304" pitchFamily="18" charset="0"/>
                <a:cs typeface="Times New Roman" panose="02020603050405020304" pitchFamily="18" charset="0"/>
              </a:rPr>
              <a:t> de la cellule suivante,</a:t>
            </a:r>
          </a:p>
          <a:p>
            <a:r>
              <a:rPr lang="fr-FR" dirty="0">
                <a:latin typeface="Times New Roman" panose="02020603050405020304" pitchFamily="18" charset="0"/>
                <a:cs typeface="Times New Roman" panose="02020603050405020304" pitchFamily="18" charset="0"/>
              </a:rPr>
              <a:t>- le champ </a:t>
            </a:r>
            <a:r>
              <a:rPr lang="fr-FR" b="1" dirty="0">
                <a:latin typeface="Times New Roman" panose="02020603050405020304" pitchFamily="18" charset="0"/>
                <a:cs typeface="Times New Roman" panose="02020603050405020304" pitchFamily="18" charset="0"/>
              </a:rPr>
              <a:t>suivant</a:t>
            </a:r>
            <a:r>
              <a:rPr lang="fr-FR" dirty="0">
                <a:latin typeface="Times New Roman" panose="02020603050405020304" pitchFamily="18" charset="0"/>
                <a:cs typeface="Times New Roman" panose="02020603050405020304" pitchFamily="18" charset="0"/>
              </a:rPr>
              <a:t> de la dernière cellule contient la valeur </a:t>
            </a:r>
            <a:r>
              <a:rPr lang="fr-FR" b="1" dirty="0" err="1">
                <a:latin typeface="Times New Roman" panose="02020603050405020304" pitchFamily="18" charset="0"/>
                <a:cs typeface="Times New Roman" panose="02020603050405020304" pitchFamily="18" charset="0"/>
              </a:rPr>
              <a:t>nil</a:t>
            </a:r>
            <a:r>
              <a:rPr lang="fr-FR" dirty="0">
                <a:latin typeface="Times New Roman" panose="02020603050405020304" pitchFamily="18" charset="0"/>
                <a:cs typeface="Times New Roman" panose="02020603050405020304" pitchFamily="18" charset="0"/>
              </a:rPr>
              <a:t>.</a:t>
            </a:r>
          </a:p>
          <a:p>
            <a:r>
              <a:rPr lang="fr-FR" dirty="0">
                <a:latin typeface="Times New Roman" panose="02020603050405020304" pitchFamily="18" charset="0"/>
                <a:cs typeface="Times New Roman" panose="02020603050405020304" pitchFamily="18" charset="0"/>
              </a:rPr>
              <a:t>- il suffit de connaître l’adresse de la première cellule rangée dans la variable </a:t>
            </a:r>
            <a:r>
              <a:rPr lang="fr-FR" b="1" dirty="0">
                <a:latin typeface="Times New Roman" panose="02020603050405020304" pitchFamily="18" charset="0"/>
                <a:cs typeface="Times New Roman" panose="02020603050405020304" pitchFamily="18" charset="0"/>
              </a:rPr>
              <a:t>liste</a:t>
            </a:r>
            <a:r>
              <a:rPr lang="fr-FR" dirty="0">
                <a:latin typeface="Times New Roman" panose="02020603050405020304" pitchFamily="18" charset="0"/>
                <a:cs typeface="Times New Roman" panose="02020603050405020304" pitchFamily="18" charset="0"/>
              </a:rPr>
              <a:t> pour avoir accès à tous les éléments en utilisant les notations :</a:t>
            </a:r>
          </a:p>
          <a:p>
            <a:r>
              <a:rPr lang="fr-FR" b="1" dirty="0">
                <a:latin typeface="Times New Roman" panose="02020603050405020304" pitchFamily="18" charset="0"/>
                <a:cs typeface="Times New Roman" panose="02020603050405020304" pitchFamily="18" charset="0"/>
              </a:rPr>
              <a:t>liste-&gt;info</a:t>
            </a:r>
            <a:r>
              <a:rPr lang="fr-FR" i="1" dirty="0">
                <a:latin typeface="Times New Roman" panose="02020603050405020304" pitchFamily="18" charset="0"/>
                <a:cs typeface="Times New Roman" panose="02020603050405020304" pitchFamily="18" charset="0"/>
              </a:rPr>
              <a:t>, </a:t>
            </a:r>
            <a:r>
              <a:rPr lang="fr-FR" b="1" dirty="0">
                <a:latin typeface="Times New Roman" panose="02020603050405020304" pitchFamily="18" charset="0"/>
                <a:cs typeface="Times New Roman" panose="02020603050405020304" pitchFamily="18" charset="0"/>
              </a:rPr>
              <a:t>liste-&gt;suivant</a:t>
            </a:r>
            <a:r>
              <a:rPr lang="fr-FR" i="1" dirty="0">
                <a:latin typeface="Times New Roman" panose="02020603050405020304" pitchFamily="18" charset="0"/>
                <a:cs typeface="Times New Roman" panose="02020603050405020304" pitchFamily="18" charset="0"/>
              </a:rPr>
              <a:t>, </a:t>
            </a:r>
            <a:r>
              <a:rPr lang="fr-FR" b="1" dirty="0">
                <a:latin typeface="Times New Roman" panose="02020603050405020304" pitchFamily="18" charset="0"/>
                <a:cs typeface="Times New Roman" panose="02020603050405020304" pitchFamily="18" charset="0"/>
              </a:rPr>
              <a:t>liste-&gt;suivant-&gt;info</a:t>
            </a:r>
            <a:r>
              <a:rPr lang="fr-FR" dirty="0">
                <a:latin typeface="Times New Roman" panose="02020603050405020304" pitchFamily="18" charset="0"/>
                <a:cs typeface="Times New Roman" panose="02020603050405020304" pitchFamily="18" charset="0"/>
              </a:rPr>
              <a:t>, ….</a:t>
            </a:r>
          </a:p>
          <a:p>
            <a:r>
              <a:rPr lang="fr-FR" b="1" dirty="0">
                <a:latin typeface="Times New Roman" panose="02020603050405020304" pitchFamily="18" charset="0"/>
                <a:cs typeface="Times New Roman" panose="02020603050405020304" pitchFamily="18" charset="0"/>
              </a:rPr>
              <a:t>liste-&gt;info </a:t>
            </a:r>
            <a:r>
              <a:rPr lang="fr-FR" dirty="0">
                <a:latin typeface="Times New Roman" panose="02020603050405020304" pitchFamily="18" charset="0"/>
                <a:cs typeface="Times New Roman" panose="02020603050405020304" pitchFamily="18" charset="0"/>
              </a:rPr>
              <a:t>et </a:t>
            </a:r>
            <a:r>
              <a:rPr lang="fr-FR" b="1" dirty="0">
                <a:latin typeface="Times New Roman" panose="02020603050405020304" pitchFamily="18" charset="0"/>
                <a:cs typeface="Times New Roman" panose="02020603050405020304" pitchFamily="18" charset="0"/>
              </a:rPr>
              <a:t>liste-&gt;suivant-&gt;info</a:t>
            </a:r>
            <a:r>
              <a:rPr lang="fr-FR" dirty="0">
                <a:latin typeface="Times New Roman" panose="02020603050405020304" pitchFamily="18" charset="0"/>
                <a:cs typeface="Times New Roman" panose="02020603050405020304" pitchFamily="18" charset="0"/>
              </a:rPr>
              <a:t> ne sont définies que si </a:t>
            </a:r>
            <a:r>
              <a:rPr lang="fr-FR" b="1" dirty="0">
                <a:latin typeface="Times New Roman" panose="02020603050405020304" pitchFamily="18" charset="0"/>
                <a:cs typeface="Times New Roman" panose="02020603050405020304" pitchFamily="18" charset="0"/>
              </a:rPr>
              <a:t>liste</a:t>
            </a:r>
            <a:r>
              <a:rPr lang="fr-FR" dirty="0">
                <a:latin typeface="Times New Roman" panose="02020603050405020304" pitchFamily="18" charset="0"/>
                <a:cs typeface="Times New Roman" panose="02020603050405020304" pitchFamily="18" charset="0"/>
              </a:rPr>
              <a:t> est différente de </a:t>
            </a:r>
            <a:r>
              <a:rPr lang="fr-FR" b="1" dirty="0" err="1">
                <a:latin typeface="Times New Roman" panose="02020603050405020304" pitchFamily="18" charset="0"/>
                <a:cs typeface="Times New Roman" panose="02020603050405020304" pitchFamily="18" charset="0"/>
              </a:rPr>
              <a:t>nil</a:t>
            </a:r>
            <a:r>
              <a:rPr lang="fr-FR" dirty="0">
                <a:latin typeface="Times New Roman" panose="02020603050405020304" pitchFamily="18" charset="0"/>
                <a:cs typeface="Times New Roman" panose="02020603050405020304" pitchFamily="18" charset="0"/>
              </a:rPr>
              <a:t>.</a:t>
            </a:r>
          </a:p>
        </p:txBody>
      </p:sp>
      <p:sp>
        <p:nvSpPr>
          <p:cNvPr id="3" name="Rectangle 2"/>
          <p:cNvSpPr/>
          <p:nvPr/>
        </p:nvSpPr>
        <p:spPr>
          <a:xfrm>
            <a:off x="609600" y="1950720"/>
            <a:ext cx="802640" cy="3962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4" name="ZoneTexte 3"/>
          <p:cNvSpPr txBox="1"/>
          <p:nvPr/>
        </p:nvSpPr>
        <p:spPr>
          <a:xfrm>
            <a:off x="660400" y="1940560"/>
            <a:ext cx="711200" cy="369332"/>
          </a:xfrm>
          <a:prstGeom prst="rect">
            <a:avLst/>
          </a:prstGeom>
          <a:noFill/>
        </p:spPr>
        <p:txBody>
          <a:bodyPr wrap="square" rtlCol="0">
            <a:spAutoFit/>
          </a:bodyPr>
          <a:lstStyle/>
          <a:p>
            <a:r>
              <a:rPr lang="fr-FR" dirty="0" smtClean="0"/>
              <a:t>liste</a:t>
            </a:r>
            <a:endParaRPr lang="fr-FR" dirty="0"/>
          </a:p>
        </p:txBody>
      </p:sp>
      <p:graphicFrame>
        <p:nvGraphicFramePr>
          <p:cNvPr id="10" name="Tableau 9"/>
          <p:cNvGraphicFramePr>
            <a:graphicFrameLocks noGrp="1"/>
          </p:cNvGraphicFramePr>
          <p:nvPr>
            <p:extLst>
              <p:ext uri="{D42A27DB-BD31-4B8C-83A1-F6EECF244321}">
                <p14:modId xmlns:p14="http://schemas.microsoft.com/office/powerpoint/2010/main" val="4014400933"/>
              </p:ext>
            </p:extLst>
          </p:nvPr>
        </p:nvGraphicFramePr>
        <p:xfrm>
          <a:off x="1757680" y="2660226"/>
          <a:ext cx="8127999" cy="370840"/>
        </p:xfrm>
        <a:graphic>
          <a:graphicData uri="http://schemas.openxmlformats.org/drawingml/2006/table">
            <a:tbl>
              <a:tblPr firstRow="1" bandRow="1">
                <a:tableStyleId>{2D5ABB26-0587-4C30-8999-92F81FD0307C}</a:tableStyleId>
              </a:tblPr>
              <a:tblGrid>
                <a:gridCol w="738909">
                  <a:extLst>
                    <a:ext uri="{9D8B030D-6E8A-4147-A177-3AD203B41FA5}">
                      <a16:colId xmlns:a16="http://schemas.microsoft.com/office/drawing/2014/main" val="2032485197"/>
                    </a:ext>
                  </a:extLst>
                </a:gridCol>
                <a:gridCol w="738909">
                  <a:extLst>
                    <a:ext uri="{9D8B030D-6E8A-4147-A177-3AD203B41FA5}">
                      <a16:colId xmlns:a16="http://schemas.microsoft.com/office/drawing/2014/main" val="1171548080"/>
                    </a:ext>
                  </a:extLst>
                </a:gridCol>
                <a:gridCol w="738909">
                  <a:extLst>
                    <a:ext uri="{9D8B030D-6E8A-4147-A177-3AD203B41FA5}">
                      <a16:colId xmlns:a16="http://schemas.microsoft.com/office/drawing/2014/main" val="291051217"/>
                    </a:ext>
                  </a:extLst>
                </a:gridCol>
                <a:gridCol w="738909">
                  <a:extLst>
                    <a:ext uri="{9D8B030D-6E8A-4147-A177-3AD203B41FA5}">
                      <a16:colId xmlns:a16="http://schemas.microsoft.com/office/drawing/2014/main" val="3263389841"/>
                    </a:ext>
                  </a:extLst>
                </a:gridCol>
                <a:gridCol w="738909">
                  <a:extLst>
                    <a:ext uri="{9D8B030D-6E8A-4147-A177-3AD203B41FA5}">
                      <a16:colId xmlns:a16="http://schemas.microsoft.com/office/drawing/2014/main" val="1929024844"/>
                    </a:ext>
                  </a:extLst>
                </a:gridCol>
                <a:gridCol w="738909">
                  <a:extLst>
                    <a:ext uri="{9D8B030D-6E8A-4147-A177-3AD203B41FA5}">
                      <a16:colId xmlns:a16="http://schemas.microsoft.com/office/drawing/2014/main" val="218127941"/>
                    </a:ext>
                  </a:extLst>
                </a:gridCol>
                <a:gridCol w="738909">
                  <a:extLst>
                    <a:ext uri="{9D8B030D-6E8A-4147-A177-3AD203B41FA5}">
                      <a16:colId xmlns:a16="http://schemas.microsoft.com/office/drawing/2014/main" val="3744715376"/>
                    </a:ext>
                  </a:extLst>
                </a:gridCol>
                <a:gridCol w="738909">
                  <a:extLst>
                    <a:ext uri="{9D8B030D-6E8A-4147-A177-3AD203B41FA5}">
                      <a16:colId xmlns:a16="http://schemas.microsoft.com/office/drawing/2014/main" val="2671759502"/>
                    </a:ext>
                  </a:extLst>
                </a:gridCol>
                <a:gridCol w="738909">
                  <a:extLst>
                    <a:ext uri="{9D8B030D-6E8A-4147-A177-3AD203B41FA5}">
                      <a16:colId xmlns:a16="http://schemas.microsoft.com/office/drawing/2014/main" val="1612248335"/>
                    </a:ext>
                  </a:extLst>
                </a:gridCol>
                <a:gridCol w="738909">
                  <a:extLst>
                    <a:ext uri="{9D8B030D-6E8A-4147-A177-3AD203B41FA5}">
                      <a16:colId xmlns:a16="http://schemas.microsoft.com/office/drawing/2014/main" val="3482693878"/>
                    </a:ext>
                  </a:extLst>
                </a:gridCol>
                <a:gridCol w="738909">
                  <a:extLst>
                    <a:ext uri="{9D8B030D-6E8A-4147-A177-3AD203B41FA5}">
                      <a16:colId xmlns:a16="http://schemas.microsoft.com/office/drawing/2014/main" val="1525216692"/>
                    </a:ext>
                  </a:extLst>
                </a:gridCol>
              </a:tblGrid>
              <a:tr h="370840">
                <a:tc>
                  <a:txBody>
                    <a:bodyPr/>
                    <a:lstStyle/>
                    <a:p>
                      <a:r>
                        <a:rPr lang="fr-FR" dirty="0" smtClean="0"/>
                        <a:t>   a</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fr-FR" dirty="0" smtClean="0"/>
                        <a:t>  b</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fr-FR" dirty="0" smtClean="0"/>
                        <a:t>  c</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fr-FR" dirty="0" smtClean="0"/>
                        <a:t>  d</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1839336"/>
                  </a:ext>
                </a:extLst>
              </a:tr>
            </a:tbl>
          </a:graphicData>
        </a:graphic>
      </p:graphicFrame>
      <p:cxnSp>
        <p:nvCxnSpPr>
          <p:cNvPr id="12" name="Connecteur droit avec flèche 11"/>
          <p:cNvCxnSpPr/>
          <p:nvPr/>
        </p:nvCxnSpPr>
        <p:spPr>
          <a:xfrm>
            <a:off x="2895600" y="2845646"/>
            <a:ext cx="10464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Connecteur droit avec flèche 12"/>
          <p:cNvCxnSpPr/>
          <p:nvPr/>
        </p:nvCxnSpPr>
        <p:spPr>
          <a:xfrm>
            <a:off x="5140960" y="2845646"/>
            <a:ext cx="10464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necteur droit avec flèche 13"/>
          <p:cNvCxnSpPr/>
          <p:nvPr/>
        </p:nvCxnSpPr>
        <p:spPr>
          <a:xfrm>
            <a:off x="7376160" y="2845646"/>
            <a:ext cx="10464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Connecteur droit 15"/>
          <p:cNvCxnSpPr>
            <a:stCxn id="3" idx="3"/>
          </p:cNvCxnSpPr>
          <p:nvPr/>
        </p:nvCxnSpPr>
        <p:spPr>
          <a:xfrm>
            <a:off x="1412240" y="2148840"/>
            <a:ext cx="721360" cy="5080"/>
          </a:xfrm>
          <a:prstGeom prst="line">
            <a:avLst/>
          </a:prstGeom>
        </p:spPr>
        <p:style>
          <a:lnRef idx="1">
            <a:schemeClr val="dk1"/>
          </a:lnRef>
          <a:fillRef idx="0">
            <a:schemeClr val="dk1"/>
          </a:fillRef>
          <a:effectRef idx="0">
            <a:schemeClr val="dk1"/>
          </a:effectRef>
          <a:fontRef idx="minor">
            <a:schemeClr val="tx1"/>
          </a:fontRef>
        </p:style>
      </p:cxnSp>
      <p:cxnSp>
        <p:nvCxnSpPr>
          <p:cNvPr id="18" name="Connecteur droit avec flèche 17"/>
          <p:cNvCxnSpPr/>
          <p:nvPr/>
        </p:nvCxnSpPr>
        <p:spPr>
          <a:xfrm>
            <a:off x="2123440" y="2133600"/>
            <a:ext cx="60960" cy="5266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Connecteur droit 19"/>
          <p:cNvCxnSpPr/>
          <p:nvPr/>
        </p:nvCxnSpPr>
        <p:spPr>
          <a:xfrm>
            <a:off x="0" y="0"/>
            <a:ext cx="60960" cy="10160"/>
          </a:xfrm>
          <a:prstGeom prst="line">
            <a:avLst/>
          </a:prstGeom>
        </p:spPr>
        <p:style>
          <a:lnRef idx="1">
            <a:schemeClr val="dk1"/>
          </a:lnRef>
          <a:fillRef idx="0">
            <a:schemeClr val="dk1"/>
          </a:fillRef>
          <a:effectRef idx="0">
            <a:schemeClr val="dk1"/>
          </a:effectRef>
          <a:fontRef idx="minor">
            <a:schemeClr val="tx1"/>
          </a:fontRef>
        </p:style>
      </p:cxnSp>
      <p:cxnSp>
        <p:nvCxnSpPr>
          <p:cNvPr id="22" name="Connecteur droit 21"/>
          <p:cNvCxnSpPr/>
          <p:nvPr/>
        </p:nvCxnSpPr>
        <p:spPr>
          <a:xfrm flipH="1">
            <a:off x="9123680" y="2660226"/>
            <a:ext cx="761999" cy="37084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48024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040" y="44391"/>
            <a:ext cx="11826240" cy="6740307"/>
          </a:xfrm>
          <a:prstGeom prst="rect">
            <a:avLst/>
          </a:prstGeom>
        </p:spPr>
        <p:txBody>
          <a:bodyPr wrap="square">
            <a:spAutoFit/>
          </a:bodyPr>
          <a:lstStyle/>
          <a:p>
            <a:pPr lvl="0" indent="180975" algn="just" fontAlgn="base">
              <a:spcBef>
                <a:spcPct val="0"/>
              </a:spcBef>
              <a:spcAft>
                <a:spcPct val="0"/>
              </a:spcAft>
            </a:pPr>
            <a:r>
              <a:rPr lang="fr-FR" dirty="0" smtClean="0">
                <a:latin typeface="Times New Roman" pitchFamily="18" charset="0"/>
                <a:ea typeface="Times New Roman" pitchFamily="18" charset="0"/>
                <a:cs typeface="Times New Roman" pitchFamily="18" charset="0"/>
              </a:rPr>
              <a:t>2.2.1</a:t>
            </a:r>
            <a:r>
              <a:rPr lang="fr-FR" dirty="0">
                <a:latin typeface="Times New Roman" pitchFamily="18" charset="0"/>
                <a:ea typeface="Times New Roman" pitchFamily="18" charset="0"/>
                <a:cs typeface="Times New Roman" pitchFamily="18" charset="0"/>
              </a:rPr>
              <a:t>. </a:t>
            </a:r>
            <a:r>
              <a:rPr lang="fr-FR" u="sng" dirty="0">
                <a:latin typeface="Times New Roman" pitchFamily="18" charset="0"/>
                <a:ea typeface="Times New Roman" pitchFamily="18" charset="0"/>
                <a:cs typeface="Times New Roman" pitchFamily="18" charset="0"/>
              </a:rPr>
              <a:t>Algorithme de création d’une liste chaînée</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Créer une liste chaînée qui est la représentation de (a, b).</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Déclaration d’une cellule : </a:t>
            </a:r>
            <a:r>
              <a:rPr lang="fr-FR" b="1" dirty="0">
                <a:latin typeface="Times New Roman" pitchFamily="18" charset="0"/>
                <a:ea typeface="Times New Roman" pitchFamily="18" charset="0"/>
                <a:cs typeface="Times New Roman" pitchFamily="18" charset="0"/>
              </a:rPr>
              <a:t>structure cellule  </a:t>
            </a:r>
          </a:p>
          <a:p>
            <a:pPr lvl="0" indent="180975"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rPr>
              <a:t>                                                                t info;</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rPr>
              <a:t>				   structure cellule* suivant;</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rPr>
              <a:t>	                                fin;</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On peut déclarer une variable liste : </a:t>
            </a:r>
            <a:r>
              <a:rPr lang="fr-FR" b="1" dirty="0">
                <a:latin typeface="Times New Roman" pitchFamily="18" charset="0"/>
                <a:ea typeface="Times New Roman" pitchFamily="18" charset="0"/>
                <a:cs typeface="Times New Roman" pitchFamily="18" charset="0"/>
              </a:rPr>
              <a:t>structure cellule* liste;</a:t>
            </a:r>
            <a:r>
              <a:rPr lang="fr-FR" dirty="0">
                <a:latin typeface="Times New Roman" pitchFamily="18" charset="0"/>
                <a:ea typeface="Times New Roman" pitchFamily="18" charset="0"/>
                <a:cs typeface="Times New Roman" pitchFamily="18" charset="0"/>
              </a:rPr>
              <a:t> </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ou bien , on définit d’abord un type </a:t>
            </a:r>
            <a:r>
              <a:rPr lang="fr-FR" b="1" dirty="0">
                <a:latin typeface="Times New Roman" pitchFamily="18" charset="0"/>
                <a:ea typeface="Times New Roman" pitchFamily="18" charset="0"/>
                <a:cs typeface="Times New Roman" pitchFamily="18" charset="0"/>
              </a:rPr>
              <a:t>synonyme</a:t>
            </a:r>
            <a:r>
              <a:rPr lang="fr-FR" dirty="0">
                <a:latin typeface="Times New Roman" pitchFamily="18" charset="0"/>
                <a:ea typeface="Times New Roman" pitchFamily="18" charset="0"/>
                <a:cs typeface="Times New Roman" pitchFamily="18" charset="0"/>
              </a:rPr>
              <a:t> de </a:t>
            </a:r>
            <a:r>
              <a:rPr lang="fr-FR" b="1" dirty="0">
                <a:latin typeface="Times New Roman" pitchFamily="18" charset="0"/>
                <a:ea typeface="Times New Roman" pitchFamily="18" charset="0"/>
                <a:cs typeface="Times New Roman" pitchFamily="18" charset="0"/>
              </a:rPr>
              <a:t>structure</a:t>
            </a:r>
            <a:r>
              <a:rPr lang="fr-FR" dirty="0">
                <a:latin typeface="Times New Roman" pitchFamily="18" charset="0"/>
                <a:ea typeface="Times New Roman" pitchFamily="18" charset="0"/>
                <a:cs typeface="Times New Roman" pitchFamily="18" charset="0"/>
              </a:rPr>
              <a:t> </a:t>
            </a:r>
            <a:r>
              <a:rPr lang="fr-FR" b="1" dirty="0">
                <a:latin typeface="Times New Roman" pitchFamily="18" charset="0"/>
                <a:ea typeface="Times New Roman" pitchFamily="18" charset="0"/>
                <a:cs typeface="Times New Roman" pitchFamily="18" charset="0"/>
              </a:rPr>
              <a:t>cellule*</a:t>
            </a:r>
            <a:r>
              <a:rPr lang="fr-FR" dirty="0">
                <a:latin typeface="Times New Roman" pitchFamily="18" charset="0"/>
                <a:ea typeface="Times New Roman" pitchFamily="18" charset="0"/>
                <a:cs typeface="Times New Roman" pitchFamily="18" charset="0"/>
              </a:rPr>
              <a:t> :</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rPr>
              <a:t>type </a:t>
            </a:r>
            <a:r>
              <a:rPr lang="fr-FR" b="1" dirty="0" smtClean="0">
                <a:latin typeface="Times New Roman" pitchFamily="18" charset="0"/>
                <a:ea typeface="Times New Roman" pitchFamily="18" charset="0"/>
                <a:cs typeface="Times New Roman" pitchFamily="18" charset="0"/>
              </a:rPr>
              <a:t>structure </a:t>
            </a:r>
            <a:r>
              <a:rPr lang="fr-FR" b="1" dirty="0">
                <a:latin typeface="Times New Roman" pitchFamily="18" charset="0"/>
                <a:ea typeface="Times New Roman" pitchFamily="18" charset="0"/>
                <a:cs typeface="Times New Roman" pitchFamily="18" charset="0"/>
              </a:rPr>
              <a:t>cellule* pointeur</a:t>
            </a:r>
            <a:r>
              <a:rPr lang="fr-FR" dirty="0">
                <a:latin typeface="Times New Roman" pitchFamily="18" charset="0"/>
                <a:ea typeface="Times New Roman" pitchFamily="18" charset="0"/>
                <a:cs typeface="Times New Roman" pitchFamily="18" charset="0"/>
              </a:rPr>
              <a:t>; </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On peut ainsi déclarer une variable de type pointeur :</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rPr>
              <a:t>pointeur liste, p;</a:t>
            </a:r>
            <a:r>
              <a:rPr lang="fr-FR" dirty="0">
                <a:latin typeface="Times New Roman" pitchFamily="18" charset="0"/>
                <a:ea typeface="Times New Roman" pitchFamily="18" charset="0"/>
                <a:cs typeface="Times New Roman" pitchFamily="18" charset="0"/>
              </a:rPr>
              <a:t> </a:t>
            </a:r>
          </a:p>
          <a:p>
            <a:pPr lvl="0" indent="180975" algn="just" eaLnBrk="0" fontAlgn="base" hangingPunct="0">
              <a:spcBef>
                <a:spcPct val="0"/>
              </a:spcBef>
              <a:spcAft>
                <a:spcPct val="0"/>
              </a:spcAft>
            </a:pP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Créer la liste à partir de son dernier élément.</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Etape 1 : création d’une liste vide d’adresse </a:t>
            </a:r>
            <a:r>
              <a:rPr lang="fr-FR" b="1" dirty="0">
                <a:latin typeface="Times New Roman" pitchFamily="18" charset="0"/>
                <a:ea typeface="Times New Roman" pitchFamily="18" charset="0"/>
                <a:cs typeface="Times New Roman" pitchFamily="18" charset="0"/>
              </a:rPr>
              <a:t>l</a:t>
            </a:r>
            <a:r>
              <a:rPr lang="fr-FR" dirty="0">
                <a:latin typeface="Times New Roman" pitchFamily="18" charset="0"/>
                <a:ea typeface="Times New Roman" pitchFamily="18" charset="0"/>
                <a:cs typeface="Times New Roman" pitchFamily="18" charset="0"/>
              </a:rPr>
              <a:t>.</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a:t>
            </a:r>
            <a:r>
              <a:rPr lang="fr-FR" b="1" dirty="0" smtClean="0">
                <a:latin typeface="Times New Roman" pitchFamily="18" charset="0"/>
                <a:ea typeface="Times New Roman" pitchFamily="18" charset="0"/>
                <a:cs typeface="Times New Roman" pitchFamily="18" charset="0"/>
              </a:rPr>
              <a:t>l:=nil</a:t>
            </a:r>
            <a:r>
              <a:rPr lang="fr-FR" dirty="0">
                <a:latin typeface="Times New Roman" pitchFamily="18" charset="0"/>
                <a:ea typeface="Times New Roman" pitchFamily="18" charset="0"/>
                <a:cs typeface="Times New Roman" pitchFamily="18" charset="0"/>
              </a:rPr>
              <a:t>;</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Etape 2 : création de la liste d’adresse </a:t>
            </a:r>
            <a:r>
              <a:rPr lang="fr-FR" b="1" dirty="0">
                <a:latin typeface="Times New Roman" pitchFamily="18" charset="0"/>
                <a:ea typeface="Times New Roman" pitchFamily="18" charset="0"/>
                <a:cs typeface="Times New Roman" pitchFamily="18" charset="0"/>
              </a:rPr>
              <a:t>l</a:t>
            </a:r>
            <a:r>
              <a:rPr lang="fr-FR" dirty="0">
                <a:latin typeface="Times New Roman" pitchFamily="18" charset="0"/>
                <a:ea typeface="Times New Roman" pitchFamily="18" charset="0"/>
                <a:cs typeface="Times New Roman" pitchFamily="18" charset="0"/>
              </a:rPr>
              <a:t> et contenant l’information </a:t>
            </a:r>
            <a:r>
              <a:rPr lang="fr-FR" b="1" dirty="0">
                <a:latin typeface="Times New Roman" pitchFamily="18" charset="0"/>
                <a:ea typeface="Times New Roman" pitchFamily="18" charset="0"/>
                <a:cs typeface="Times New Roman" pitchFamily="18" charset="0"/>
              </a:rPr>
              <a:t>b</a:t>
            </a:r>
            <a:r>
              <a:rPr lang="fr-FR" dirty="0">
                <a:latin typeface="Times New Roman" pitchFamily="18" charset="0"/>
                <a:ea typeface="Times New Roman" pitchFamily="18" charset="0"/>
                <a:cs typeface="Times New Roman" pitchFamily="18" charset="0"/>
              </a:rPr>
              <a:t>.</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création d’une cellule d’adresse </a:t>
            </a:r>
            <a:r>
              <a:rPr lang="fr-FR" b="1" dirty="0">
                <a:latin typeface="Times New Roman" pitchFamily="18" charset="0"/>
                <a:ea typeface="Times New Roman" pitchFamily="18" charset="0"/>
                <a:cs typeface="Times New Roman" pitchFamily="18" charset="0"/>
              </a:rPr>
              <a:t>p</a:t>
            </a:r>
            <a:r>
              <a:rPr lang="fr-FR" dirty="0">
                <a:latin typeface="Times New Roman" pitchFamily="18" charset="0"/>
                <a:ea typeface="Times New Roman" pitchFamily="18" charset="0"/>
                <a:cs typeface="Times New Roman" pitchFamily="18" charset="0"/>
              </a:rPr>
              <a:t> contenant l’information </a:t>
            </a:r>
            <a:r>
              <a:rPr lang="fr-FR" b="1" dirty="0">
                <a:latin typeface="Times New Roman" pitchFamily="18" charset="0"/>
                <a:ea typeface="Times New Roman" pitchFamily="18" charset="0"/>
                <a:cs typeface="Times New Roman" pitchFamily="18" charset="0"/>
              </a:rPr>
              <a:t>b</a:t>
            </a:r>
            <a:r>
              <a:rPr lang="fr-FR" dirty="0">
                <a:latin typeface="Times New Roman" pitchFamily="18" charset="0"/>
                <a:ea typeface="Times New Roman" pitchFamily="18" charset="0"/>
                <a:cs typeface="Times New Roman" pitchFamily="18" charset="0"/>
              </a:rPr>
              <a:t> : </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a:t>
            </a:r>
            <a:r>
              <a:rPr lang="fr-FR" b="1" dirty="0">
                <a:latin typeface="Times New Roman" pitchFamily="18" charset="0"/>
                <a:ea typeface="Times New Roman" pitchFamily="18" charset="0"/>
                <a:cs typeface="Times New Roman" pitchFamily="18" charset="0"/>
              </a:rPr>
              <a:t>nouveau</a:t>
            </a:r>
            <a:r>
              <a:rPr lang="fr-FR" dirty="0">
                <a:latin typeface="Times New Roman" pitchFamily="18" charset="0"/>
                <a:ea typeface="Times New Roman" pitchFamily="18" charset="0"/>
                <a:cs typeface="Times New Roman" pitchFamily="18" charset="0"/>
              </a:rPr>
              <a:t>(</a:t>
            </a:r>
            <a:r>
              <a:rPr lang="fr-FR" b="1" dirty="0">
                <a:latin typeface="Times New Roman" pitchFamily="18" charset="0"/>
                <a:ea typeface="Times New Roman" pitchFamily="18" charset="0"/>
                <a:cs typeface="Times New Roman" pitchFamily="18" charset="0"/>
              </a:rPr>
              <a:t>p); </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rPr>
              <a:t>  p-&gt;</a:t>
            </a:r>
            <a:r>
              <a:rPr lang="fr-FR" b="1" dirty="0" smtClean="0">
                <a:latin typeface="Times New Roman" pitchFamily="18" charset="0"/>
                <a:ea typeface="Times New Roman" pitchFamily="18" charset="0"/>
                <a:cs typeface="Times New Roman" pitchFamily="18" charset="0"/>
              </a:rPr>
              <a:t>info</a:t>
            </a:r>
            <a:r>
              <a:rPr lang="fr-FR" b="1" dirty="0" smtClean="0">
                <a:latin typeface="Times New Roman" pitchFamily="18" charset="0"/>
                <a:ea typeface="Times New Roman" pitchFamily="18" charset="0"/>
                <a:cs typeface="Times New Roman" pitchFamily="18" charset="0"/>
              </a:rPr>
              <a:t>:=</a:t>
            </a:r>
            <a:r>
              <a:rPr lang="fr-FR" b="1" dirty="0" smtClean="0">
                <a:latin typeface="Times New Roman" pitchFamily="18" charset="0"/>
                <a:ea typeface="Times New Roman" pitchFamily="18" charset="0"/>
                <a:cs typeface="Times New Roman" pitchFamily="18" charset="0"/>
              </a:rPr>
              <a:t>‘b</a:t>
            </a:r>
            <a:r>
              <a:rPr lang="fr-FR" b="1" dirty="0">
                <a:latin typeface="Times New Roman" pitchFamily="18" charset="0"/>
                <a:ea typeface="Times New Roman" pitchFamily="18" charset="0"/>
                <a:cs typeface="Times New Roman" pitchFamily="18" charset="0"/>
              </a:rPr>
              <a:t>’;</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chaînage avec la liste précédente :</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rPr>
              <a:t>  p-&gt;</a:t>
            </a:r>
            <a:r>
              <a:rPr lang="fr-FR" b="1" dirty="0" smtClean="0">
                <a:latin typeface="Times New Roman" pitchFamily="18" charset="0"/>
                <a:ea typeface="Times New Roman" pitchFamily="18" charset="0"/>
                <a:cs typeface="Times New Roman" pitchFamily="18" charset="0"/>
              </a:rPr>
              <a:t>suivant:=l</a:t>
            </a:r>
            <a:r>
              <a:rPr lang="fr-FR" b="1" dirty="0">
                <a:latin typeface="Times New Roman" pitchFamily="18" charset="0"/>
                <a:ea typeface="Times New Roman" pitchFamily="18" charset="0"/>
                <a:cs typeface="Times New Roman" pitchFamily="18" charset="0"/>
              </a:rPr>
              <a:t>;</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création de la liste d’adresse liste représentation de (</a:t>
            </a:r>
            <a:r>
              <a:rPr lang="fr-FR" b="1" dirty="0">
                <a:latin typeface="Times New Roman" pitchFamily="18" charset="0"/>
                <a:ea typeface="Times New Roman" pitchFamily="18" charset="0"/>
                <a:cs typeface="Times New Roman" pitchFamily="18" charset="0"/>
              </a:rPr>
              <a:t>a, b</a:t>
            </a:r>
            <a:r>
              <a:rPr lang="fr-FR" dirty="0">
                <a:latin typeface="Times New Roman" pitchFamily="18" charset="0"/>
                <a:ea typeface="Times New Roman" pitchFamily="18" charset="0"/>
                <a:cs typeface="Times New Roman" pitchFamily="18" charset="0"/>
              </a:rPr>
              <a:t>) :</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a:t>
            </a:r>
            <a:r>
              <a:rPr lang="fr-FR" b="1" dirty="0" smtClean="0">
                <a:latin typeface="Times New Roman" pitchFamily="18" charset="0"/>
                <a:ea typeface="Times New Roman" pitchFamily="18" charset="0"/>
                <a:cs typeface="Times New Roman" pitchFamily="18" charset="0"/>
              </a:rPr>
              <a:t>l:=p</a:t>
            </a:r>
            <a:r>
              <a:rPr lang="fr-FR" b="1" dirty="0">
                <a:latin typeface="Times New Roman" pitchFamily="18" charset="0"/>
                <a:ea typeface="Times New Roman" pitchFamily="18" charset="0"/>
                <a:cs typeface="Times New Roman" pitchFamily="18" charset="0"/>
              </a:rPr>
              <a:t>; // </a:t>
            </a:r>
            <a:r>
              <a:rPr lang="fr-FR" dirty="0">
                <a:latin typeface="Times New Roman" pitchFamily="18" charset="0"/>
                <a:ea typeface="Times New Roman" pitchFamily="18" charset="0"/>
                <a:cs typeface="Times New Roman" pitchFamily="18" charset="0"/>
              </a:rPr>
              <a:t>Répéter l’</a:t>
            </a:r>
            <a:r>
              <a:rPr lang="fr-FR" b="1" dirty="0">
                <a:latin typeface="Times New Roman" pitchFamily="18" charset="0"/>
                <a:ea typeface="Times New Roman" pitchFamily="18" charset="0"/>
                <a:cs typeface="Times New Roman" pitchFamily="18" charset="0"/>
              </a:rPr>
              <a:t>étape 2 </a:t>
            </a:r>
            <a:r>
              <a:rPr lang="fr-FR" dirty="0">
                <a:latin typeface="Times New Roman" pitchFamily="18" charset="0"/>
                <a:ea typeface="Times New Roman" pitchFamily="18" charset="0"/>
                <a:cs typeface="Times New Roman" pitchFamily="18" charset="0"/>
              </a:rPr>
              <a:t>pour créer la </a:t>
            </a:r>
            <a:r>
              <a:rPr lang="fr-FR" b="1" dirty="0">
                <a:latin typeface="Times New Roman" pitchFamily="18" charset="0"/>
                <a:ea typeface="Times New Roman" pitchFamily="18" charset="0"/>
                <a:cs typeface="Times New Roman" pitchFamily="18" charset="0"/>
              </a:rPr>
              <a:t>cellule p</a:t>
            </a:r>
            <a:r>
              <a:rPr lang="fr-FR" dirty="0">
                <a:latin typeface="Times New Roman" pitchFamily="18" charset="0"/>
                <a:ea typeface="Times New Roman" pitchFamily="18" charset="0"/>
                <a:cs typeface="Times New Roman" pitchFamily="18" charset="0"/>
              </a:rPr>
              <a:t> contenant  </a:t>
            </a:r>
            <a:r>
              <a:rPr lang="fr-FR" b="1" dirty="0">
                <a:latin typeface="Times New Roman" pitchFamily="18" charset="0"/>
                <a:ea typeface="Times New Roman" pitchFamily="18" charset="0"/>
                <a:cs typeface="Times New Roman" pitchFamily="18" charset="0"/>
              </a:rPr>
              <a:t>a</a:t>
            </a:r>
            <a:r>
              <a:rPr lang="fr-FR" dirty="0">
                <a:latin typeface="Times New Roman" pitchFamily="18" charset="0"/>
                <a:ea typeface="Times New Roman" pitchFamily="18" charset="0"/>
                <a:cs typeface="Times New Roman" pitchFamily="18" charset="0"/>
              </a:rPr>
              <a:t> (seul changement p-&gt;</a:t>
            </a:r>
            <a:r>
              <a:rPr lang="fr-FR" dirty="0" smtClean="0">
                <a:latin typeface="Times New Roman" pitchFamily="18" charset="0"/>
                <a:ea typeface="Times New Roman" pitchFamily="18" charset="0"/>
                <a:cs typeface="Times New Roman" pitchFamily="18" charset="0"/>
              </a:rPr>
              <a:t>info&lt;-‘a</a:t>
            </a:r>
            <a:r>
              <a:rPr lang="fr-FR" dirty="0">
                <a:latin typeface="Times New Roman" pitchFamily="18" charset="0"/>
                <a:ea typeface="Times New Roman" pitchFamily="18" charset="0"/>
                <a:cs typeface="Times New Roman" pitchFamily="18" charset="0"/>
              </a:rPr>
              <a:t>’).</a:t>
            </a:r>
            <a:endParaRPr lang="fr-FR" dirty="0">
              <a:latin typeface="Times New Roman" pitchFamily="18" charset="0"/>
              <a:cs typeface="Times New Roman" pitchFamily="18" charset="0"/>
            </a:endParaRPr>
          </a:p>
          <a:p>
            <a:pPr lvl="0" indent="180975"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On peut généraliser l’algorithme en supposant que les éléments successifs se trouvent dans un fichier </a:t>
            </a:r>
            <a:r>
              <a:rPr lang="fr-FR" b="1" dirty="0">
                <a:latin typeface="Times New Roman" pitchFamily="18" charset="0"/>
                <a:ea typeface="Times New Roman" pitchFamily="18" charset="0"/>
                <a:cs typeface="Times New Roman" pitchFamily="18" charset="0"/>
              </a:rPr>
              <a:t>f</a:t>
            </a:r>
            <a:r>
              <a:rPr lang="fr-FR" dirty="0">
                <a:latin typeface="Times New Roman" pitchFamily="18" charset="0"/>
                <a:ea typeface="Times New Roman" pitchFamily="18" charset="0"/>
                <a:cs typeface="Times New Roman" pitchFamily="18" charset="0"/>
              </a:rPr>
              <a:t> ou dans un tableau </a:t>
            </a:r>
            <a:r>
              <a:rPr lang="fr-FR" b="1" dirty="0">
                <a:latin typeface="Times New Roman" pitchFamily="18" charset="0"/>
                <a:ea typeface="Times New Roman" pitchFamily="18" charset="0"/>
                <a:cs typeface="Times New Roman" pitchFamily="18" charset="0"/>
              </a:rPr>
              <a:t>t</a:t>
            </a:r>
            <a:r>
              <a:rPr lang="fr-FR" dirty="0">
                <a:latin typeface="Times New Roman" pitchFamily="18" charset="0"/>
                <a:ea typeface="Times New Roman" pitchFamily="18" charset="0"/>
                <a:cs typeface="Times New Roman" pitchFamily="18" charset="0"/>
              </a:rPr>
              <a:t>. </a:t>
            </a:r>
            <a:endParaRPr lang="fr-FR" dirty="0">
              <a:latin typeface="Times New Roman" pitchFamily="18" charset="0"/>
              <a:cs typeface="Times New Roman" pitchFamily="18" charset="0"/>
            </a:endParaRPr>
          </a:p>
        </p:txBody>
      </p:sp>
    </p:spTree>
    <p:extLst>
      <p:ext uri="{BB962C8B-B14F-4D97-AF65-F5344CB8AC3E}">
        <p14:creationId xmlns:p14="http://schemas.microsoft.com/office/powerpoint/2010/main" val="15087975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 y="113387"/>
            <a:ext cx="11704320" cy="6740307"/>
          </a:xfrm>
          <a:prstGeom prst="rect">
            <a:avLst/>
          </a:prstGeom>
        </p:spPr>
        <p:txBody>
          <a:bodyPr wrap="square">
            <a:spAutoFit/>
          </a:bodyPr>
          <a:lstStyle/>
          <a:p>
            <a:pPr lvl="0" algn="just" fontAlgn="base">
              <a:spcBef>
                <a:spcPct val="0"/>
              </a:spcBef>
              <a:spcAft>
                <a:spcPct val="0"/>
              </a:spcAft>
            </a:pPr>
            <a:r>
              <a:rPr lang="fr-FR" dirty="0">
                <a:latin typeface="Times New Roman" pitchFamily="18" charset="0"/>
                <a:ea typeface="Times New Roman" pitchFamily="18" charset="0"/>
                <a:cs typeface="Times New Roman" pitchFamily="18" charset="0"/>
              </a:rPr>
              <a:t>Passage d’un fichier à une liste</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b="1" dirty="0" smtClean="0">
                <a:latin typeface="Times New Roman" pitchFamily="18" charset="0"/>
                <a:ea typeface="Times New Roman" pitchFamily="18" charset="0"/>
                <a:cs typeface="Times New Roman" pitchFamily="18" charset="0"/>
              </a:rPr>
              <a:t>pointeur </a:t>
            </a:r>
            <a:r>
              <a:rPr lang="fr-FR" dirty="0" err="1">
                <a:latin typeface="Times New Roman" pitchFamily="18" charset="0"/>
                <a:ea typeface="Times New Roman" pitchFamily="18" charset="0"/>
                <a:cs typeface="Times New Roman" pitchFamily="18" charset="0"/>
              </a:rPr>
              <a:t>creerliste</a:t>
            </a:r>
            <a:r>
              <a:rPr lang="fr-FR" b="1" dirty="0">
                <a:latin typeface="Times New Roman" pitchFamily="18" charset="0"/>
                <a:ea typeface="Times New Roman" pitchFamily="18" charset="0"/>
                <a:cs typeface="Times New Roman" pitchFamily="18" charset="0"/>
              </a:rPr>
              <a:t>(d </a:t>
            </a:r>
            <a:r>
              <a:rPr lang="fr-FR" b="1" dirty="0" smtClean="0">
                <a:latin typeface="Times New Roman" pitchFamily="18" charset="0"/>
                <a:ea typeface="Times New Roman" pitchFamily="18" charset="0"/>
                <a:cs typeface="Times New Roman" pitchFamily="18" charset="0"/>
              </a:rPr>
              <a:t>fichier de t </a:t>
            </a:r>
            <a:r>
              <a:rPr lang="fr-FR" dirty="0" smtClean="0">
                <a:latin typeface="Times New Roman" pitchFamily="18" charset="0"/>
                <a:ea typeface="Times New Roman" pitchFamily="18" charset="0"/>
                <a:cs typeface="Times New Roman" pitchFamily="18" charset="0"/>
              </a:rPr>
              <a:t>f</a:t>
            </a:r>
            <a:r>
              <a:rPr lang="fr-FR" b="1" dirty="0" smtClean="0">
                <a:latin typeface="Times New Roman" pitchFamily="18" charset="0"/>
                <a:ea typeface="Times New Roman" pitchFamily="18" charset="0"/>
                <a:cs typeface="Times New Roman" pitchFamily="18" charset="0"/>
              </a:rPr>
              <a:t>)</a:t>
            </a:r>
            <a:endParaRPr lang="fr-FR" b="1" dirty="0">
              <a:latin typeface="Times New Roman" pitchFamily="18" charset="0"/>
              <a:cs typeface="Times New Roman" pitchFamily="18" charset="0"/>
            </a:endParaRPr>
          </a:p>
          <a:p>
            <a:pPr lvl="0" algn="just" eaLnBrk="0" fontAlgn="base" hangingPunct="0">
              <a:spcBef>
                <a:spcPct val="0"/>
              </a:spcBef>
              <a:spcAft>
                <a:spcPct val="0"/>
              </a:spcAft>
            </a:pPr>
            <a:r>
              <a:rPr lang="fr-FR" b="1" dirty="0" err="1" smtClean="0">
                <a:latin typeface="Times New Roman" pitchFamily="18" charset="0"/>
                <a:ea typeface="Times New Roman" pitchFamily="18" charset="0"/>
                <a:cs typeface="Times New Roman" pitchFamily="18" charset="0"/>
                <a:sym typeface="Wingdings" pitchFamily="2" charset="2"/>
              </a:rPr>
              <a:t>debfonc</a:t>
            </a:r>
            <a:r>
              <a:rPr lang="fr-FR" b="1" dirty="0" smtClean="0">
                <a:latin typeface="Times New Roman" pitchFamily="18" charset="0"/>
                <a:ea typeface="Times New Roman" pitchFamily="18" charset="0"/>
                <a:cs typeface="Times New Roman" pitchFamily="18" charset="0"/>
                <a:sym typeface="Wingdings" pitchFamily="2" charset="2"/>
              </a:rPr>
              <a:t> </a:t>
            </a: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b="1" dirty="0" smtClean="0">
                <a:latin typeface="Times New Roman" pitchFamily="18" charset="0"/>
                <a:ea typeface="Times New Roman" pitchFamily="18" charset="0"/>
                <a:cs typeface="Times New Roman" pitchFamily="18" charset="0"/>
                <a:sym typeface="Wingdings" pitchFamily="2" charset="2"/>
              </a:rPr>
              <a:t>  pointeur </a:t>
            </a:r>
            <a:r>
              <a:rPr lang="fr-FR" dirty="0">
                <a:latin typeface="Times New Roman" pitchFamily="18" charset="0"/>
                <a:ea typeface="Times New Roman" pitchFamily="18" charset="0"/>
                <a:cs typeface="Times New Roman" pitchFamily="18" charset="0"/>
                <a:sym typeface="Wingdings" pitchFamily="2" charset="2"/>
              </a:rPr>
              <a:t>l, p;</a:t>
            </a:r>
            <a:r>
              <a:rPr lang="fr-FR" b="1" dirty="0">
                <a:latin typeface="Times New Roman" pitchFamily="18" charset="0"/>
                <a:ea typeface="Times New Roman" pitchFamily="18" charset="0"/>
                <a:cs typeface="Times New Roman" pitchFamily="18" charset="0"/>
                <a:sym typeface="Wingdings" pitchFamily="2" charset="2"/>
              </a:rPr>
              <a:t> entier </a:t>
            </a:r>
            <a:r>
              <a:rPr lang="fr-FR" dirty="0">
                <a:latin typeface="Times New Roman" pitchFamily="18" charset="0"/>
                <a:ea typeface="Times New Roman" pitchFamily="18" charset="0"/>
                <a:cs typeface="Times New Roman" pitchFamily="18" charset="0"/>
                <a:sym typeface="Wingdings" pitchFamily="2" charset="2"/>
              </a:rPr>
              <a:t>val</a:t>
            </a:r>
            <a:r>
              <a:rPr lang="fr-FR" dirty="0" smtClean="0">
                <a:latin typeface="Times New Roman" pitchFamily="18" charset="0"/>
                <a:ea typeface="Times New Roman" pitchFamily="18" charset="0"/>
                <a:cs typeface="Times New Roman" pitchFamily="18" charset="0"/>
                <a:sym typeface="Wingdings" pitchFamily="2" charset="2"/>
              </a:rPr>
              <a:t>;</a:t>
            </a:r>
            <a:endParaRPr lang="fr-FR"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dirty="0" smtClean="0">
                <a:latin typeface="Times New Roman" pitchFamily="18" charset="0"/>
                <a:ea typeface="Times New Roman" pitchFamily="18" charset="0"/>
                <a:cs typeface="Times New Roman" pitchFamily="18" charset="0"/>
                <a:sym typeface="Wingdings" pitchFamily="2" charset="2"/>
              </a:rPr>
              <a:t>l</a:t>
            </a:r>
            <a:r>
              <a:rPr lang="fr-FR" b="1" dirty="0" smtClean="0">
                <a:latin typeface="Times New Roman" pitchFamily="18" charset="0"/>
                <a:ea typeface="Times New Roman" pitchFamily="18" charset="0"/>
                <a:cs typeface="Times New Roman" pitchFamily="18" charset="0"/>
                <a:sym typeface="Wingdings" pitchFamily="2" charset="2"/>
              </a:rPr>
              <a:t>:=</a:t>
            </a:r>
            <a:r>
              <a:rPr lang="fr-FR" b="1" dirty="0" smtClean="0">
                <a:latin typeface="Times New Roman" pitchFamily="18" charset="0"/>
                <a:ea typeface="Times New Roman" pitchFamily="18" charset="0"/>
                <a:cs typeface="Times New Roman" pitchFamily="18" charset="0"/>
                <a:sym typeface="Wingdings" pitchFamily="2" charset="2"/>
              </a:rPr>
              <a:t>nil</a:t>
            </a:r>
            <a:r>
              <a:rPr lang="fr-FR" b="1" dirty="0">
                <a:latin typeface="Times New Roman" pitchFamily="18" charset="0"/>
                <a:ea typeface="Times New Roman" pitchFamily="18" charset="0"/>
                <a:cs typeface="Times New Roman" pitchFamily="18" charset="0"/>
                <a:sym typeface="Wingdings" pitchFamily="2" charset="2"/>
              </a:rPr>
              <a:t>; relire(f);</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b="1" dirty="0" err="1">
                <a:latin typeface="Times New Roman" pitchFamily="18" charset="0"/>
                <a:ea typeface="Times New Roman" pitchFamily="18" charset="0"/>
                <a:cs typeface="Times New Roman" pitchFamily="18" charset="0"/>
                <a:sym typeface="Wingdings" pitchFamily="2" charset="2"/>
              </a:rPr>
              <a:t>tantque</a:t>
            </a:r>
            <a:r>
              <a:rPr lang="fr-FR" b="1" dirty="0">
                <a:latin typeface="Times New Roman" pitchFamily="18" charset="0"/>
                <a:ea typeface="Times New Roman" pitchFamily="18" charset="0"/>
                <a:cs typeface="Times New Roman" pitchFamily="18" charset="0"/>
                <a:sym typeface="Wingdings" pitchFamily="2" charset="2"/>
              </a:rPr>
              <a:t> non </a:t>
            </a:r>
            <a:r>
              <a:rPr lang="fr-FR" dirty="0" err="1">
                <a:latin typeface="Times New Roman" pitchFamily="18" charset="0"/>
                <a:ea typeface="Times New Roman" pitchFamily="18" charset="0"/>
                <a:cs typeface="Times New Roman" pitchFamily="18" charset="0"/>
                <a:sym typeface="Wingdings" pitchFamily="2" charset="2"/>
              </a:rPr>
              <a:t>fdf</a:t>
            </a:r>
            <a:r>
              <a:rPr lang="fr-FR" dirty="0">
                <a:latin typeface="Times New Roman" pitchFamily="18" charset="0"/>
                <a:ea typeface="Times New Roman" pitchFamily="18" charset="0"/>
                <a:cs typeface="Times New Roman" pitchFamily="18" charset="0"/>
                <a:sym typeface="Wingdings" pitchFamily="2" charset="2"/>
              </a:rPr>
              <a:t>(f)</a:t>
            </a:r>
            <a:r>
              <a:rPr lang="fr-FR" b="1" dirty="0">
                <a:latin typeface="Times New Roman" pitchFamily="18" charset="0"/>
                <a:ea typeface="Times New Roman" pitchFamily="18" charset="0"/>
                <a:cs typeface="Times New Roman" pitchFamily="18" charset="0"/>
                <a:sym typeface="Wingdings" pitchFamily="2" charset="2"/>
              </a:rPr>
              <a:t> faire</a:t>
            </a: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nouveau(</a:t>
            </a:r>
            <a:r>
              <a:rPr lang="fr-FR" dirty="0">
                <a:latin typeface="Times New Roman" pitchFamily="18" charset="0"/>
                <a:ea typeface="Times New Roman" pitchFamily="18" charset="0"/>
                <a:cs typeface="Times New Roman" pitchFamily="18" charset="0"/>
                <a:sym typeface="Wingdings" pitchFamily="2" charset="2"/>
              </a:rPr>
              <a:t>p)</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lire(</a:t>
            </a:r>
            <a:r>
              <a:rPr lang="fr-FR" dirty="0">
                <a:latin typeface="Times New Roman" pitchFamily="18" charset="0"/>
                <a:ea typeface="Times New Roman" pitchFamily="18" charset="0"/>
                <a:cs typeface="Times New Roman" pitchFamily="18" charset="0"/>
                <a:sym typeface="Wingdings" pitchFamily="2" charset="2"/>
              </a:rPr>
              <a:t>f,</a:t>
            </a:r>
            <a:r>
              <a:rPr lang="fr-FR" b="1" dirty="0">
                <a:latin typeface="Times New Roman" pitchFamily="18" charset="0"/>
                <a:ea typeface="Times New Roman" pitchFamily="18" charset="0"/>
                <a:cs typeface="Times New Roman" pitchFamily="18" charset="0"/>
                <a:sym typeface="Wingdings" pitchFamily="2" charset="2"/>
              </a:rPr>
              <a:t> </a:t>
            </a:r>
            <a:r>
              <a:rPr lang="fr-FR" dirty="0">
                <a:latin typeface="Times New Roman" pitchFamily="18" charset="0"/>
                <a:ea typeface="Times New Roman" pitchFamily="18" charset="0"/>
                <a:cs typeface="Times New Roman" pitchFamily="18" charset="0"/>
                <a:sym typeface="Wingdings" pitchFamily="2" charset="2"/>
              </a:rPr>
              <a:t>val</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dirty="0">
                <a:latin typeface="Times New Roman" pitchFamily="18" charset="0"/>
                <a:ea typeface="Times New Roman" pitchFamily="18" charset="0"/>
                <a:cs typeface="Times New Roman" pitchFamily="18" charset="0"/>
                <a:sym typeface="Wingdings" pitchFamily="2" charset="2"/>
              </a:rPr>
              <a:t>p-&gt;</a:t>
            </a:r>
            <a:r>
              <a:rPr lang="fr-FR" dirty="0" smtClean="0">
                <a:latin typeface="Times New Roman" pitchFamily="18" charset="0"/>
                <a:ea typeface="Times New Roman" pitchFamily="18" charset="0"/>
                <a:cs typeface="Times New Roman" pitchFamily="18" charset="0"/>
                <a:sym typeface="Wingdings" pitchFamily="2" charset="2"/>
              </a:rPr>
              <a:t>info:=val</a:t>
            </a:r>
            <a:r>
              <a:rPr lang="fr-FR" dirty="0">
                <a:latin typeface="Times New Roman" pitchFamily="18" charset="0"/>
                <a:ea typeface="Times New Roman" pitchFamily="18" charset="0"/>
                <a:cs typeface="Times New Roman" pitchFamily="18" charset="0"/>
                <a:sym typeface="Wingdings" pitchFamily="2" charset="2"/>
              </a:rPr>
              <a:t>; p-&gt;</a:t>
            </a:r>
            <a:r>
              <a:rPr lang="fr-FR" dirty="0" smtClean="0">
                <a:latin typeface="Times New Roman" pitchFamily="18" charset="0"/>
                <a:ea typeface="Times New Roman" pitchFamily="18" charset="0"/>
                <a:cs typeface="Times New Roman" pitchFamily="18" charset="0"/>
                <a:sym typeface="Wingdings" pitchFamily="2" charset="2"/>
              </a:rPr>
              <a:t>suivant:=l</a:t>
            </a:r>
            <a:r>
              <a:rPr lang="fr-FR" dirty="0">
                <a:latin typeface="Times New Roman" pitchFamily="18" charset="0"/>
                <a:ea typeface="Times New Roman" pitchFamily="18" charset="0"/>
                <a:cs typeface="Times New Roman" pitchFamily="18" charset="0"/>
                <a:sym typeface="Wingdings" pitchFamily="2" charset="2"/>
              </a:rPr>
              <a:t>; </a:t>
            </a: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Wingdings" pitchFamily="2" charset="2"/>
              </a:rPr>
              <a:t>      </a:t>
            </a:r>
            <a:r>
              <a:rPr lang="fr-FR" dirty="0" smtClean="0">
                <a:latin typeface="Times New Roman" pitchFamily="18" charset="0"/>
                <a:ea typeface="Times New Roman" pitchFamily="18" charset="0"/>
                <a:cs typeface="Times New Roman" pitchFamily="18" charset="0"/>
                <a:sym typeface="Wingdings" pitchFamily="2" charset="2"/>
              </a:rPr>
              <a:t>l:=p</a:t>
            </a:r>
            <a:r>
              <a:rPr lang="fr-FR" dirty="0">
                <a:latin typeface="Times New Roman" pitchFamily="18" charset="0"/>
                <a:ea typeface="Times New Roman" pitchFamily="18" charset="0"/>
                <a:cs typeface="Times New Roman" pitchFamily="18" charset="0"/>
                <a:sym typeface="Wingdings" pitchFamily="2" charset="2"/>
              </a:rPr>
              <a:t>;</a:t>
            </a:r>
            <a:endParaRPr lang="fr-FR"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b="1" dirty="0" err="1">
                <a:latin typeface="Times New Roman" pitchFamily="18" charset="0"/>
                <a:ea typeface="Times New Roman" pitchFamily="18" charset="0"/>
                <a:cs typeface="Times New Roman" pitchFamily="18" charset="0"/>
                <a:sym typeface="Wingdings" pitchFamily="2" charset="2"/>
              </a:rPr>
              <a:t>finfaire</a:t>
            </a:r>
            <a:r>
              <a:rPr lang="fr-FR" b="1" dirty="0">
                <a:latin typeface="Times New Roman" pitchFamily="18" charset="0"/>
                <a:ea typeface="Times New Roman" pitchFamily="18" charset="0"/>
                <a:cs typeface="Times New Roman" pitchFamily="18" charset="0"/>
                <a:sym typeface="Wingdings" pitchFamily="2" charset="2"/>
              </a:rPr>
              <a:t>;</a:t>
            </a:r>
          </a:p>
          <a:p>
            <a:pPr lvl="0" algn="just" eaLnBrk="0" fontAlgn="base" hangingPunct="0">
              <a:spcBef>
                <a:spcPct val="0"/>
              </a:spcBef>
              <a:spcAft>
                <a:spcPct val="0"/>
              </a:spcAft>
            </a:pPr>
            <a:r>
              <a:rPr lang="en-GB" b="1" dirty="0">
                <a:latin typeface="Times New Roman" pitchFamily="18" charset="0"/>
                <a:cs typeface="Times New Roman" pitchFamily="18" charset="0"/>
                <a:sym typeface="Wingdings" pitchFamily="2" charset="2"/>
              </a:rPr>
              <a:t>  </a:t>
            </a:r>
            <a:r>
              <a:rPr lang="en-GB" b="1" dirty="0" err="1">
                <a:latin typeface="Times New Roman" pitchFamily="18" charset="0"/>
                <a:cs typeface="Times New Roman" pitchFamily="18" charset="0"/>
                <a:sym typeface="Wingdings" pitchFamily="2" charset="2"/>
              </a:rPr>
              <a:t>retourner</a:t>
            </a:r>
            <a:r>
              <a:rPr lang="en-GB" b="1" dirty="0">
                <a:latin typeface="Times New Roman" pitchFamily="18" charset="0"/>
                <a:cs typeface="Times New Roman" pitchFamily="18" charset="0"/>
                <a:sym typeface="Wingdings" pitchFamily="2" charset="2"/>
              </a:rPr>
              <a:t> </a:t>
            </a:r>
            <a:r>
              <a:rPr lang="en-GB" dirty="0">
                <a:latin typeface="Times New Roman" pitchFamily="18" charset="0"/>
                <a:cs typeface="Times New Roman" pitchFamily="18" charset="0"/>
                <a:sym typeface="Wingdings" pitchFamily="2" charset="2"/>
              </a:rPr>
              <a:t>l;</a:t>
            </a:r>
            <a:endParaRPr lang="fr-FR"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err="1">
                <a:latin typeface="Times New Roman" pitchFamily="18" charset="0"/>
                <a:ea typeface="Times New Roman" pitchFamily="18" charset="0"/>
                <a:cs typeface="Times New Roman" pitchFamily="18" charset="0"/>
                <a:sym typeface="Wingdings" pitchFamily="2" charset="2"/>
              </a:rPr>
              <a:t>finfonc</a:t>
            </a:r>
            <a:r>
              <a:rPr lang="fr-FR" b="1" dirty="0">
                <a:latin typeface="Times New Roman" pitchFamily="18" charset="0"/>
                <a:ea typeface="Times New Roman" pitchFamily="18" charset="0"/>
                <a:cs typeface="Times New Roman" pitchFamily="18" charset="0"/>
                <a:sym typeface="Wingdings" pitchFamily="2" charset="2"/>
              </a:rPr>
              <a:t>;</a:t>
            </a:r>
          </a:p>
          <a:p>
            <a:r>
              <a:rPr lang="fr-FR" dirty="0" smtClean="0">
                <a:latin typeface="Times New Roman" pitchFamily="18" charset="0"/>
                <a:cs typeface="Times New Roman" pitchFamily="18" charset="0"/>
              </a:rPr>
              <a:t>2.2.2</a:t>
            </a:r>
            <a:r>
              <a:rPr lang="fr-FR" dirty="0">
                <a:latin typeface="Times New Roman" pitchFamily="18" charset="0"/>
                <a:cs typeface="Times New Roman" pitchFamily="18" charset="0"/>
              </a:rPr>
              <a:t>. </a:t>
            </a:r>
            <a:r>
              <a:rPr lang="fr-FR" u="sng" dirty="0">
                <a:latin typeface="Times New Roman" pitchFamily="18" charset="0"/>
                <a:cs typeface="Times New Roman" pitchFamily="18" charset="0"/>
              </a:rPr>
              <a:t>Parcours d’une liste</a:t>
            </a:r>
            <a:endParaRPr lang="fr-FR" dirty="0">
              <a:latin typeface="Times New Roman" pitchFamily="18" charset="0"/>
              <a:cs typeface="Times New Roman" pitchFamily="18" charset="0"/>
            </a:endParaRPr>
          </a:p>
          <a:p>
            <a:pPr marL="342900" indent="-342900">
              <a:buAutoNum type="alphaLcParenR"/>
            </a:pPr>
            <a:r>
              <a:rPr lang="fr-FR" dirty="0">
                <a:latin typeface="Times New Roman" pitchFamily="18" charset="0"/>
                <a:cs typeface="Times New Roman" pitchFamily="18" charset="0"/>
              </a:rPr>
              <a:t>schéma récursif.</a:t>
            </a:r>
          </a:p>
          <a:p>
            <a:pPr marL="342900" indent="-342900"/>
            <a:r>
              <a:rPr lang="fr-FR" dirty="0">
                <a:latin typeface="Times New Roman" pitchFamily="18" charset="0"/>
                <a:cs typeface="Times New Roman" pitchFamily="18" charset="0"/>
              </a:rPr>
              <a:t> Ecriture des algorithmes, sous-forme récursive, on définit une liste chaînée :</a:t>
            </a:r>
          </a:p>
          <a:p>
            <a:r>
              <a:rPr lang="fr-FR" dirty="0">
                <a:latin typeface="Times New Roman" pitchFamily="18" charset="0"/>
                <a:cs typeface="Times New Roman" pitchFamily="18" charset="0"/>
              </a:rPr>
              <a:t> Une liste chaînée est :</a:t>
            </a:r>
          </a:p>
          <a:p>
            <a:r>
              <a:rPr lang="fr-FR" dirty="0">
                <a:latin typeface="Times New Roman" pitchFamily="18" charset="0"/>
                <a:cs typeface="Times New Roman" pitchFamily="18" charset="0"/>
              </a:rPr>
              <a:t>	- soit une liste vide (liste = </a:t>
            </a:r>
            <a:r>
              <a:rPr lang="fr-FR" dirty="0" err="1">
                <a:latin typeface="Times New Roman" pitchFamily="18" charset="0"/>
                <a:cs typeface="Times New Roman" pitchFamily="18" charset="0"/>
              </a:rPr>
              <a:t>nil</a:t>
            </a:r>
            <a:r>
              <a:rPr lang="fr-FR" dirty="0">
                <a:latin typeface="Times New Roman" pitchFamily="18" charset="0"/>
                <a:cs typeface="Times New Roman" pitchFamily="18" charset="0"/>
              </a:rPr>
              <a:t>),</a:t>
            </a:r>
          </a:p>
          <a:p>
            <a:pPr lvl="0"/>
            <a:r>
              <a:rPr lang="fr-FR" dirty="0">
                <a:latin typeface="Times New Roman" pitchFamily="18" charset="0"/>
                <a:cs typeface="Times New Roman" pitchFamily="18" charset="0"/>
              </a:rPr>
              <a:t>	- soit composée d’une cellule chaînée à une sous-liste.</a:t>
            </a:r>
          </a:p>
          <a:p>
            <a:r>
              <a:rPr lang="fr-FR" u="sng" dirty="0">
                <a:latin typeface="Times New Roman" pitchFamily="18" charset="0"/>
                <a:cs typeface="Times New Roman" pitchFamily="18" charset="0"/>
              </a:rPr>
              <a:t>Exemple</a:t>
            </a:r>
            <a:r>
              <a:rPr lang="fr-FR" dirty="0">
                <a:latin typeface="Times New Roman" pitchFamily="18" charset="0"/>
                <a:cs typeface="Times New Roman" pitchFamily="18" charset="0"/>
              </a:rPr>
              <a:t> : (a, b, c, d, e) est composée d’une cellule (a) et d’une sous-liste (b, c, d, e).</a:t>
            </a:r>
          </a:p>
          <a:p>
            <a:r>
              <a:rPr lang="fr-FR" dirty="0">
                <a:latin typeface="Times New Roman" pitchFamily="18" charset="0"/>
                <a:cs typeface="Times New Roman" pitchFamily="18" charset="0"/>
              </a:rPr>
              <a:t>Cette sous-liste a pour adresse </a:t>
            </a:r>
            <a:r>
              <a:rPr lang="fr-FR" b="1" dirty="0">
                <a:latin typeface="Times New Roman" pitchFamily="18" charset="0"/>
                <a:cs typeface="Times New Roman" pitchFamily="18" charset="0"/>
              </a:rPr>
              <a:t>liste-&gt;suivant+</a:t>
            </a:r>
            <a:r>
              <a:rPr lang="fr-FR" dirty="0">
                <a:latin typeface="Times New Roman" pitchFamily="18" charset="0"/>
                <a:cs typeface="Times New Roman" pitchFamily="18" charset="0"/>
              </a:rPr>
              <a:t>. </a:t>
            </a:r>
          </a:p>
          <a:p>
            <a:r>
              <a:rPr lang="fr-FR" b="1" dirty="0">
                <a:latin typeface="Times New Roman" pitchFamily="18" charset="0"/>
                <a:cs typeface="Times New Roman" pitchFamily="18" charset="0"/>
              </a:rPr>
              <a:t>Premier parcours</a:t>
            </a:r>
            <a:endParaRPr lang="fr-FR" dirty="0">
              <a:latin typeface="Times New Roman" pitchFamily="18" charset="0"/>
              <a:cs typeface="Times New Roman" pitchFamily="18" charset="0"/>
            </a:endParaRPr>
          </a:p>
          <a:p>
            <a:r>
              <a:rPr lang="fr-FR" dirty="0">
                <a:latin typeface="Times New Roman" pitchFamily="18" charset="0"/>
                <a:cs typeface="Times New Roman" pitchFamily="18" charset="0"/>
              </a:rPr>
              <a:t>- on traite la première cellule,</a:t>
            </a:r>
          </a:p>
          <a:p>
            <a:r>
              <a:rPr lang="fr-FR" dirty="0">
                <a:latin typeface="Times New Roman" pitchFamily="18" charset="0"/>
                <a:cs typeface="Times New Roman" pitchFamily="18" charset="0"/>
              </a:rPr>
              <a:t>- on effectue le parcours de la sous-liste </a:t>
            </a:r>
            <a:r>
              <a:rPr lang="fr-FR" b="1" dirty="0">
                <a:latin typeface="Times New Roman" pitchFamily="18" charset="0"/>
                <a:cs typeface="Times New Roman" pitchFamily="18" charset="0"/>
              </a:rPr>
              <a:t>liste-&gt;suivant+</a:t>
            </a:r>
            <a:r>
              <a:rPr lang="fr-FR" dirty="0">
                <a:latin typeface="Times New Roman" pitchFamily="18" charset="0"/>
                <a:cs typeface="Times New Roman" pitchFamily="18" charset="0"/>
              </a:rPr>
              <a:t>.</a:t>
            </a:r>
          </a:p>
        </p:txBody>
      </p:sp>
    </p:spTree>
    <p:extLst>
      <p:ext uri="{BB962C8B-B14F-4D97-AF65-F5344CB8AC3E}">
        <p14:creationId xmlns:p14="http://schemas.microsoft.com/office/powerpoint/2010/main" val="27721160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3520" y="403225"/>
            <a:ext cx="11765280" cy="6186309"/>
          </a:xfrm>
          <a:prstGeom prst="rect">
            <a:avLst/>
          </a:prstGeom>
        </p:spPr>
        <p:txBody>
          <a:bodyPr wrap="square">
            <a:spAutoFit/>
          </a:bodyPr>
          <a:lstStyle/>
          <a:p>
            <a:r>
              <a:rPr lang="fr-FR" dirty="0">
                <a:latin typeface="Times New Roman" pitchFamily="18" charset="0"/>
                <a:cs typeface="Times New Roman" pitchFamily="18" charset="0"/>
              </a:rPr>
              <a:t>Algorithme de parcours d’une liste à l’endroit.</a:t>
            </a:r>
          </a:p>
          <a:p>
            <a:r>
              <a:rPr lang="fr-FR" b="1" dirty="0" smtClean="0">
                <a:latin typeface="Times New Roman" pitchFamily="18" charset="0"/>
                <a:cs typeface="Times New Roman" pitchFamily="18" charset="0"/>
              </a:rPr>
              <a:t>vide </a:t>
            </a:r>
            <a:r>
              <a:rPr lang="fr-FR" dirty="0">
                <a:latin typeface="Times New Roman" pitchFamily="18" charset="0"/>
                <a:cs typeface="Times New Roman" pitchFamily="18" charset="0"/>
              </a:rPr>
              <a:t>parcours1</a:t>
            </a:r>
            <a:r>
              <a:rPr lang="fr-FR" b="1" dirty="0">
                <a:latin typeface="Times New Roman" pitchFamily="18" charset="0"/>
                <a:cs typeface="Times New Roman" pitchFamily="18" charset="0"/>
              </a:rPr>
              <a:t>(d pointeur </a:t>
            </a:r>
            <a:r>
              <a:rPr lang="fr-FR" dirty="0">
                <a:latin typeface="Times New Roman" pitchFamily="18" charset="0"/>
                <a:cs typeface="Times New Roman" pitchFamily="18" charset="0"/>
              </a:rPr>
              <a:t>l</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debfonc</a:t>
            </a:r>
            <a:r>
              <a:rPr lang="fr-FR" b="1" dirty="0" smtClean="0">
                <a:latin typeface="Times New Roman" pitchFamily="18" charset="0"/>
                <a:cs typeface="Times New Roman" pitchFamily="18" charset="0"/>
              </a:rPr>
              <a:t> </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si </a:t>
            </a:r>
            <a:r>
              <a:rPr lang="fr-FR" dirty="0" err="1">
                <a:latin typeface="Times New Roman" pitchFamily="18" charset="0"/>
                <a:cs typeface="Times New Roman" pitchFamily="18" charset="0"/>
              </a:rPr>
              <a:t>l</a:t>
            </a:r>
            <a:r>
              <a:rPr lang="fr-FR" dirty="0" err="1">
                <a:latin typeface="Times New Roman" pitchFamily="18" charset="0"/>
                <a:cs typeface="Times New Roman" pitchFamily="18" charset="0"/>
                <a:sym typeface="Symbol"/>
              </a:rPr>
              <a:t>≠nil</a:t>
            </a:r>
            <a:r>
              <a:rPr lang="fr-FR" dirty="0">
                <a:latin typeface="Times New Roman" pitchFamily="18" charset="0"/>
                <a:cs typeface="Times New Roman" pitchFamily="18" charset="0"/>
                <a:sym typeface="Symbol"/>
              </a:rPr>
              <a:t> </a:t>
            </a:r>
            <a:r>
              <a:rPr lang="fr-FR" b="1" dirty="0">
                <a:latin typeface="Times New Roman" pitchFamily="18" charset="0"/>
                <a:cs typeface="Times New Roman" pitchFamily="18" charset="0"/>
                <a:sym typeface="Symbol"/>
              </a:rPr>
              <a:t>alors</a:t>
            </a:r>
            <a:r>
              <a:rPr lang="fr-FR" b="1" dirty="0">
                <a:latin typeface="Times New Roman" pitchFamily="18" charset="0"/>
                <a:cs typeface="Times New Roman" pitchFamily="18" charset="0"/>
              </a:rPr>
              <a:t> </a:t>
            </a:r>
          </a:p>
          <a:p>
            <a:r>
              <a:rPr lang="fr-FR" b="1" dirty="0">
                <a:latin typeface="Times New Roman" pitchFamily="18" charset="0"/>
                <a:cs typeface="Times New Roman" pitchFamily="18" charset="0"/>
              </a:rPr>
              <a:t>     traiter(</a:t>
            </a:r>
            <a:r>
              <a:rPr lang="fr-FR" dirty="0">
                <a:latin typeface="Times New Roman" pitchFamily="18" charset="0"/>
                <a:cs typeface="Times New Roman" pitchFamily="18" charset="0"/>
              </a:rPr>
              <a:t>l-&gt;info</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parcours1(</a:t>
            </a:r>
            <a:r>
              <a:rPr lang="fr-FR" dirty="0">
                <a:latin typeface="Times New Roman" pitchFamily="18" charset="0"/>
                <a:cs typeface="Times New Roman" pitchFamily="18" charset="0"/>
              </a:rPr>
              <a:t>l-&gt;suivant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finsi</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finfonc</a:t>
            </a:r>
            <a:r>
              <a:rPr lang="fr-FR" b="1" dirty="0" smtClean="0">
                <a:latin typeface="Times New Roman" pitchFamily="18" charset="0"/>
                <a:cs typeface="Times New Roman" pitchFamily="18" charset="0"/>
              </a:rPr>
              <a:t>;</a:t>
            </a:r>
            <a:endParaRPr lang="fr-FR" b="1" dirty="0"/>
          </a:p>
          <a:p>
            <a:endParaRPr lang="fr-FR" b="1" dirty="0" smtClean="0">
              <a:latin typeface="Times New Roman" pitchFamily="18" charset="0"/>
              <a:cs typeface="Times New Roman" pitchFamily="18" charset="0"/>
            </a:endParaRPr>
          </a:p>
          <a:p>
            <a:r>
              <a:rPr lang="fr-FR" b="1" dirty="0" smtClean="0">
                <a:latin typeface="Times New Roman" pitchFamily="18" charset="0"/>
                <a:cs typeface="Times New Roman" pitchFamily="18" charset="0"/>
              </a:rPr>
              <a:t>Deuxième </a:t>
            </a:r>
            <a:r>
              <a:rPr lang="fr-FR" b="1" dirty="0">
                <a:latin typeface="Times New Roman" pitchFamily="18" charset="0"/>
                <a:cs typeface="Times New Roman" pitchFamily="18" charset="0"/>
              </a:rPr>
              <a:t>parcours</a:t>
            </a:r>
            <a:endParaRPr lang="fr-FR" dirty="0">
              <a:latin typeface="Times New Roman" pitchFamily="18" charset="0"/>
              <a:cs typeface="Times New Roman" pitchFamily="18" charset="0"/>
            </a:endParaRPr>
          </a:p>
          <a:p>
            <a:r>
              <a:rPr lang="fr-FR" b="1" dirty="0">
                <a:latin typeface="Times New Roman" pitchFamily="18" charset="0"/>
                <a:cs typeface="Times New Roman" pitchFamily="18" charset="0"/>
              </a:rPr>
              <a:t>- </a:t>
            </a:r>
            <a:r>
              <a:rPr lang="fr-FR" dirty="0">
                <a:latin typeface="Times New Roman" pitchFamily="18" charset="0"/>
                <a:cs typeface="Times New Roman" pitchFamily="18" charset="0"/>
              </a:rPr>
              <a:t>on effectue le parcours de la sous-liste </a:t>
            </a:r>
            <a:r>
              <a:rPr lang="fr-FR" b="1" dirty="0">
                <a:latin typeface="Times New Roman" pitchFamily="18" charset="0"/>
                <a:cs typeface="Times New Roman" pitchFamily="18" charset="0"/>
              </a:rPr>
              <a:t>liste-&gt;suivant +</a:t>
            </a:r>
            <a:r>
              <a:rPr lang="fr-FR" dirty="0">
                <a:latin typeface="Times New Roman" pitchFamily="18" charset="0"/>
                <a:cs typeface="Times New Roman" pitchFamily="18" charset="0"/>
              </a:rPr>
              <a:t>.</a:t>
            </a:r>
          </a:p>
          <a:p>
            <a:pPr>
              <a:buFontTx/>
              <a:buChar char="-"/>
            </a:pPr>
            <a:r>
              <a:rPr lang="fr-FR" dirty="0">
                <a:latin typeface="Times New Roman" pitchFamily="18" charset="0"/>
                <a:cs typeface="Times New Roman" pitchFamily="18" charset="0"/>
              </a:rPr>
              <a:t> on traite la première cellule.</a:t>
            </a:r>
          </a:p>
          <a:p>
            <a:r>
              <a:rPr lang="fr-FR" dirty="0" smtClean="0">
                <a:latin typeface="Times New Roman" pitchFamily="18" charset="0"/>
                <a:cs typeface="Times New Roman" pitchFamily="18" charset="0"/>
              </a:rPr>
              <a:t>Algorithme </a:t>
            </a:r>
            <a:r>
              <a:rPr lang="fr-FR" dirty="0">
                <a:latin typeface="Times New Roman" pitchFamily="18" charset="0"/>
                <a:cs typeface="Times New Roman" pitchFamily="18" charset="0"/>
              </a:rPr>
              <a:t>de parcours de la liste à l’envers </a:t>
            </a:r>
          </a:p>
          <a:p>
            <a:r>
              <a:rPr lang="fr-FR" b="1" dirty="0" smtClean="0">
                <a:latin typeface="Times New Roman" pitchFamily="18" charset="0"/>
                <a:cs typeface="Times New Roman" pitchFamily="18" charset="0"/>
              </a:rPr>
              <a:t>vide </a:t>
            </a:r>
            <a:r>
              <a:rPr lang="fr-FR" dirty="0">
                <a:latin typeface="Times New Roman" pitchFamily="18" charset="0"/>
                <a:cs typeface="Times New Roman" pitchFamily="18" charset="0"/>
              </a:rPr>
              <a:t>parcours2</a:t>
            </a:r>
            <a:r>
              <a:rPr lang="fr-FR" b="1" dirty="0">
                <a:latin typeface="Times New Roman" pitchFamily="18" charset="0"/>
                <a:cs typeface="Times New Roman" pitchFamily="18" charset="0"/>
              </a:rPr>
              <a:t>(d pointeur </a:t>
            </a:r>
            <a:r>
              <a:rPr lang="fr-FR" dirty="0">
                <a:latin typeface="Times New Roman" pitchFamily="18" charset="0"/>
                <a:cs typeface="Times New Roman" pitchFamily="18" charset="0"/>
              </a:rPr>
              <a:t>l</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debfonc</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si </a:t>
            </a:r>
            <a:r>
              <a:rPr lang="fr-FR" dirty="0" err="1">
                <a:latin typeface="Times New Roman" pitchFamily="18" charset="0"/>
                <a:cs typeface="Times New Roman" pitchFamily="18" charset="0"/>
              </a:rPr>
              <a:t>l≠</a:t>
            </a:r>
            <a:r>
              <a:rPr lang="fr-FR" b="1" dirty="0" err="1">
                <a:latin typeface="Times New Roman" pitchFamily="18" charset="0"/>
                <a:cs typeface="Times New Roman" pitchFamily="18" charset="0"/>
              </a:rPr>
              <a:t>nil</a:t>
            </a:r>
            <a:r>
              <a:rPr lang="fr-FR" b="1" dirty="0">
                <a:latin typeface="Times New Roman" pitchFamily="18" charset="0"/>
                <a:cs typeface="Times New Roman" pitchFamily="18" charset="0"/>
              </a:rPr>
              <a:t> alors </a:t>
            </a:r>
          </a:p>
          <a:p>
            <a:r>
              <a:rPr lang="fr-FR" b="1" dirty="0">
                <a:latin typeface="Times New Roman" pitchFamily="18" charset="0"/>
                <a:cs typeface="Times New Roman" pitchFamily="18" charset="0"/>
              </a:rPr>
              <a:t>    parcours2(</a:t>
            </a:r>
            <a:r>
              <a:rPr lang="fr-FR" dirty="0">
                <a:latin typeface="Times New Roman" pitchFamily="18" charset="0"/>
                <a:cs typeface="Times New Roman" pitchFamily="18" charset="0"/>
              </a:rPr>
              <a:t>l-&gt;suivant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traiter(</a:t>
            </a:r>
            <a:r>
              <a:rPr lang="fr-FR" dirty="0">
                <a:latin typeface="Times New Roman" pitchFamily="18" charset="0"/>
                <a:cs typeface="Times New Roman" pitchFamily="18" charset="0"/>
              </a:rPr>
              <a:t>l-&gt;info</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finsi</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finfonc</a:t>
            </a:r>
            <a:r>
              <a:rPr lang="fr-FR" b="1" dirty="0" smtClean="0">
                <a:latin typeface="Times New Roman" pitchFamily="18" charset="0"/>
                <a:cs typeface="Times New Roman" pitchFamily="18" charset="0"/>
              </a:rPr>
              <a:t>;</a:t>
            </a:r>
          </a:p>
          <a:p>
            <a:endParaRPr lang="fr-FR" b="1" dirty="0" smtClean="0">
              <a:latin typeface="Times New Roman" pitchFamily="18" charset="0"/>
              <a:cs typeface="Times New Roman" pitchFamily="18" charset="0"/>
            </a:endParaRPr>
          </a:p>
          <a:p>
            <a:r>
              <a:rPr lang="fr-FR" b="1" dirty="0" err="1" smtClean="0">
                <a:latin typeface="Times New Roman" pitchFamily="18" charset="0"/>
                <a:cs typeface="Times New Roman" pitchFamily="18" charset="0"/>
              </a:rPr>
              <a:t>Complexuté</a:t>
            </a:r>
            <a:r>
              <a:rPr lang="fr-FR" b="1" dirty="0" smtClean="0">
                <a:latin typeface="Times New Roman" pitchFamily="18" charset="0"/>
                <a:cs typeface="Times New Roman" pitchFamily="18" charset="0"/>
              </a:rPr>
              <a:t> de l’algorithme de parcours : </a:t>
            </a:r>
            <a:r>
              <a:rPr lang="fr-FR" dirty="0" smtClean="0">
                <a:latin typeface="Times New Roman" pitchFamily="18" charset="0"/>
                <a:cs typeface="Times New Roman" pitchFamily="18" charset="0"/>
              </a:rPr>
              <a:t>T(n) = 3 x n = n = O(n)</a:t>
            </a:r>
            <a:endParaRPr lang="fr-FR" dirty="0">
              <a:latin typeface="Times New Roman" pitchFamily="18" charset="0"/>
              <a:cs typeface="Times New Roman" pitchFamily="18" charset="0"/>
            </a:endParaRPr>
          </a:p>
        </p:txBody>
      </p:sp>
    </p:spTree>
    <p:extLst>
      <p:ext uri="{BB962C8B-B14F-4D97-AF65-F5344CB8AC3E}">
        <p14:creationId xmlns:p14="http://schemas.microsoft.com/office/powerpoint/2010/main" val="3939982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320" y="9109"/>
            <a:ext cx="11663680" cy="6740307"/>
          </a:xfrm>
          <a:prstGeom prst="rect">
            <a:avLst/>
          </a:prstGeom>
        </p:spPr>
        <p:txBody>
          <a:bodyPr wrap="square">
            <a:spAutoFit/>
          </a:bodyPr>
          <a:lstStyle/>
          <a:p>
            <a:pPr lvl="0" algn="just" fontAlgn="base">
              <a:spcBef>
                <a:spcPct val="0"/>
              </a:spcBef>
              <a:spcAft>
                <a:spcPct val="0"/>
              </a:spcAft>
            </a:pPr>
            <a:r>
              <a:rPr lang="fr-FR" dirty="0">
                <a:latin typeface="Times New Roman" pitchFamily="18" charset="0"/>
                <a:ea typeface="Times New Roman" pitchFamily="18" charset="0"/>
                <a:cs typeface="Times New Roman" pitchFamily="18" charset="0"/>
              </a:rPr>
              <a:t>b) </a:t>
            </a:r>
            <a:r>
              <a:rPr lang="fr-FR" u="sng" dirty="0">
                <a:latin typeface="Times New Roman" pitchFamily="18" charset="0"/>
                <a:ea typeface="Times New Roman" pitchFamily="18" charset="0"/>
                <a:cs typeface="Times New Roman" pitchFamily="18" charset="0"/>
              </a:rPr>
              <a:t>Schéma itératif</a:t>
            </a:r>
            <a:r>
              <a:rPr lang="fr-FR" dirty="0">
                <a:latin typeface="Times New Roman" pitchFamily="18" charset="0"/>
                <a:ea typeface="Times New Roman" pitchFamily="18" charset="0"/>
                <a:cs typeface="Times New Roman" pitchFamily="18" charset="0"/>
              </a:rPr>
              <a:t>. Le 2</a:t>
            </a:r>
            <a:r>
              <a:rPr lang="fr-FR" baseline="30000" dirty="0">
                <a:latin typeface="Times New Roman" pitchFamily="18" charset="0"/>
                <a:ea typeface="Times New Roman" pitchFamily="18" charset="0"/>
                <a:cs typeface="Times New Roman" pitchFamily="18" charset="0"/>
              </a:rPr>
              <a:t>ième</a:t>
            </a:r>
            <a:r>
              <a:rPr lang="fr-FR" dirty="0">
                <a:latin typeface="Times New Roman" pitchFamily="18" charset="0"/>
                <a:ea typeface="Times New Roman" pitchFamily="18" charset="0"/>
                <a:cs typeface="Times New Roman" pitchFamily="18" charset="0"/>
              </a:rPr>
              <a:t> parcours n’est pas simple à obtenir en itératif. Il est nécessaire de disposer d’une pile pour pouvoir l’écrire.</a:t>
            </a:r>
          </a:p>
          <a:p>
            <a:pPr lvl="0" indent="180975" algn="just" fontAlgn="base">
              <a:spcBef>
                <a:spcPct val="0"/>
              </a:spcBef>
              <a:spcAft>
                <a:spcPct val="0"/>
              </a:spcAft>
            </a:pPr>
            <a:endParaRPr lang="fr-FR" dirty="0">
              <a:latin typeface="Times New Roman" pitchFamily="18" charset="0"/>
              <a:ea typeface="Times New Roman" pitchFamily="18" charset="0"/>
              <a:cs typeface="Times New Roman" pitchFamily="18" charset="0"/>
            </a:endParaRPr>
          </a:p>
          <a:p>
            <a:pPr lvl="0" algn="just" fontAlgn="base">
              <a:spcBef>
                <a:spcPct val="0"/>
              </a:spcBef>
              <a:spcAft>
                <a:spcPct val="0"/>
              </a:spcAft>
            </a:pPr>
            <a:r>
              <a:rPr lang="fr-FR" dirty="0">
                <a:latin typeface="Times New Roman" pitchFamily="18" charset="0"/>
                <a:ea typeface="Times New Roman" pitchFamily="18" charset="0"/>
                <a:cs typeface="Times New Roman" pitchFamily="18" charset="0"/>
              </a:rPr>
              <a:t>Schéma itératif du premier parcours.</a:t>
            </a:r>
          </a:p>
          <a:p>
            <a:r>
              <a:rPr lang="fr-FR" b="1" dirty="0" smtClean="0">
                <a:latin typeface="Times New Roman" pitchFamily="18" charset="0"/>
                <a:cs typeface="Times New Roman" pitchFamily="18" charset="0"/>
              </a:rPr>
              <a:t>vide </a:t>
            </a:r>
            <a:r>
              <a:rPr lang="fr-FR" dirty="0">
                <a:latin typeface="Times New Roman" pitchFamily="18" charset="0"/>
                <a:cs typeface="Times New Roman" pitchFamily="18" charset="0"/>
              </a:rPr>
              <a:t>parcours3</a:t>
            </a:r>
            <a:r>
              <a:rPr lang="fr-FR" b="1" dirty="0">
                <a:latin typeface="Times New Roman" pitchFamily="18" charset="0"/>
                <a:cs typeface="Times New Roman" pitchFamily="18" charset="0"/>
              </a:rPr>
              <a:t>(d pointeur </a:t>
            </a:r>
            <a:r>
              <a:rPr lang="fr-FR" dirty="0">
                <a:latin typeface="Times New Roman" pitchFamily="18" charset="0"/>
                <a:cs typeface="Times New Roman" pitchFamily="18" charset="0"/>
              </a:rPr>
              <a:t>l</a:t>
            </a:r>
            <a:r>
              <a:rPr lang="fr-FR" b="1" dirty="0">
                <a:latin typeface="Times New Roman" pitchFamily="18" charset="0"/>
                <a:cs typeface="Times New Roman" pitchFamily="18" charset="0"/>
              </a:rPr>
              <a:t>) </a:t>
            </a:r>
          </a:p>
          <a:p>
            <a:r>
              <a:rPr lang="fr-FR" b="1" dirty="0" err="1" smtClean="0">
                <a:latin typeface="Times New Roman" pitchFamily="18" charset="0"/>
                <a:cs typeface="Times New Roman" pitchFamily="18" charset="0"/>
              </a:rPr>
              <a:t>debfonc</a:t>
            </a:r>
            <a:r>
              <a:rPr lang="fr-FR" b="1" dirty="0" smtClean="0">
                <a:latin typeface="Times New Roman" pitchFamily="18" charset="0"/>
                <a:cs typeface="Times New Roman" pitchFamily="18" charset="0"/>
              </a:rPr>
              <a:t>  </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tantque</a:t>
            </a:r>
            <a:r>
              <a:rPr lang="fr-FR" b="1" dirty="0">
                <a:latin typeface="Times New Roman" pitchFamily="18" charset="0"/>
                <a:cs typeface="Times New Roman" pitchFamily="18" charset="0"/>
              </a:rPr>
              <a:t> </a:t>
            </a:r>
            <a:r>
              <a:rPr lang="fr-FR" dirty="0" err="1">
                <a:latin typeface="Times New Roman" pitchFamily="18" charset="0"/>
                <a:cs typeface="Times New Roman" pitchFamily="18" charset="0"/>
              </a:rPr>
              <a:t>l≠</a:t>
            </a:r>
            <a:r>
              <a:rPr lang="fr-FR" b="1" dirty="0" err="1">
                <a:latin typeface="Times New Roman" pitchFamily="18" charset="0"/>
                <a:cs typeface="Times New Roman" pitchFamily="18" charset="0"/>
              </a:rPr>
              <a:t>nil</a:t>
            </a:r>
            <a:r>
              <a:rPr lang="fr-FR" b="1" dirty="0">
                <a:latin typeface="Times New Roman" pitchFamily="18" charset="0"/>
                <a:cs typeface="Times New Roman" pitchFamily="18" charset="0"/>
              </a:rPr>
              <a:t> faire</a:t>
            </a:r>
          </a:p>
          <a:p>
            <a:r>
              <a:rPr lang="fr-FR" b="1" dirty="0">
                <a:latin typeface="Times New Roman" pitchFamily="18" charset="0"/>
                <a:cs typeface="Times New Roman" pitchFamily="18" charset="0"/>
              </a:rPr>
              <a:t>      traiter(</a:t>
            </a:r>
            <a:r>
              <a:rPr lang="fr-FR" dirty="0">
                <a:latin typeface="Times New Roman" pitchFamily="18" charset="0"/>
                <a:cs typeface="Times New Roman" pitchFamily="18" charset="0"/>
              </a:rPr>
              <a:t>l-&gt;info</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smtClean="0">
                <a:latin typeface="Times New Roman" pitchFamily="18" charset="0"/>
                <a:cs typeface="Times New Roman" pitchFamily="18" charset="0"/>
              </a:rPr>
              <a:t>l:=</a:t>
            </a:r>
            <a:r>
              <a:rPr lang="fr-FR" dirty="0">
                <a:latin typeface="Times New Roman" pitchFamily="18" charset="0"/>
                <a:cs typeface="Times New Roman" pitchFamily="18" charset="0"/>
              </a:rPr>
              <a:t>l-&gt;suivant;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finfaire</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finfonc</a:t>
            </a:r>
            <a:r>
              <a:rPr lang="fr-FR" b="1" dirty="0">
                <a:latin typeface="Times New Roman" pitchFamily="18" charset="0"/>
                <a:cs typeface="Times New Roman" pitchFamily="18" charset="0"/>
              </a:rPr>
              <a:t>;</a:t>
            </a:r>
          </a:p>
          <a:p>
            <a:r>
              <a:rPr lang="fr-FR" b="1" dirty="0" smtClean="0">
                <a:latin typeface="Times New Roman" pitchFamily="18" charset="0"/>
                <a:cs typeface="Times New Roman" pitchFamily="18" charset="0"/>
              </a:rPr>
              <a:t>Complexité : </a:t>
            </a:r>
            <a:r>
              <a:rPr lang="fr-FR" dirty="0" smtClean="0">
                <a:latin typeface="Times New Roman" pitchFamily="18" charset="0"/>
                <a:cs typeface="Times New Roman" pitchFamily="18" charset="0"/>
              </a:rPr>
              <a:t>parcourir tous les nœuds jusqu’à la fin ; T(n) = 3 x n = O(n).</a:t>
            </a:r>
            <a:r>
              <a:rPr lang="fr-FR" b="1" dirty="0" smtClean="0">
                <a:latin typeface="Times New Roman" pitchFamily="18" charset="0"/>
                <a:cs typeface="Times New Roman" pitchFamily="18" charset="0"/>
              </a:rPr>
              <a:t> </a:t>
            </a:r>
            <a:endParaRPr lang="fr-FR" b="1" dirty="0">
              <a:latin typeface="Times New Roman" pitchFamily="18" charset="0"/>
              <a:cs typeface="Times New Roman" pitchFamily="18" charset="0"/>
            </a:endParaRPr>
          </a:p>
          <a:p>
            <a:endParaRPr lang="fr-FR" dirty="0" smtClean="0">
              <a:latin typeface="Times New Roman" pitchFamily="18" charset="0"/>
              <a:cs typeface="Times New Roman" pitchFamily="18" charset="0"/>
            </a:endParaRPr>
          </a:p>
          <a:p>
            <a:r>
              <a:rPr lang="fr-FR" dirty="0" smtClean="0">
                <a:latin typeface="Times New Roman" pitchFamily="18" charset="0"/>
                <a:cs typeface="Times New Roman" pitchFamily="18" charset="0"/>
              </a:rPr>
              <a:t>2.2.3</a:t>
            </a:r>
            <a:r>
              <a:rPr lang="fr-FR" dirty="0">
                <a:latin typeface="Times New Roman" pitchFamily="18" charset="0"/>
                <a:cs typeface="Times New Roman" pitchFamily="18" charset="0"/>
              </a:rPr>
              <a:t>. </a:t>
            </a:r>
            <a:r>
              <a:rPr lang="fr-FR" u="sng" dirty="0">
                <a:latin typeface="Times New Roman" pitchFamily="18" charset="0"/>
                <a:cs typeface="Times New Roman" pitchFamily="18" charset="0"/>
              </a:rPr>
              <a:t>Algorithmes d’écriture des éléments d’une liste</a:t>
            </a:r>
            <a:endParaRPr lang="fr-FR" dirty="0">
              <a:latin typeface="Times New Roman" pitchFamily="18" charset="0"/>
              <a:cs typeface="Times New Roman" pitchFamily="18" charset="0"/>
            </a:endParaRPr>
          </a:p>
          <a:p>
            <a:r>
              <a:rPr lang="fr-FR" dirty="0">
                <a:latin typeface="Times New Roman" pitchFamily="18" charset="0"/>
                <a:cs typeface="Times New Roman" pitchFamily="18" charset="0"/>
              </a:rPr>
              <a:t>On se propose d’écrire sous forme récursive deux algorithmes d’écriture des éléments d’une liste.</a:t>
            </a:r>
          </a:p>
          <a:p>
            <a:r>
              <a:rPr lang="fr-FR" dirty="0" smtClean="0">
                <a:latin typeface="Times New Roman" pitchFamily="18" charset="0"/>
                <a:cs typeface="Times New Roman" pitchFamily="18" charset="0"/>
              </a:rPr>
              <a:t>a</a:t>
            </a:r>
            <a:r>
              <a:rPr lang="fr-FR" dirty="0">
                <a:latin typeface="Times New Roman" pitchFamily="18" charset="0"/>
                <a:cs typeface="Times New Roman" pitchFamily="18" charset="0"/>
              </a:rPr>
              <a:t>) </a:t>
            </a:r>
            <a:r>
              <a:rPr lang="fr-FR" u="sng" dirty="0">
                <a:latin typeface="Times New Roman" pitchFamily="18" charset="0"/>
                <a:cs typeface="Times New Roman" pitchFamily="18" charset="0"/>
              </a:rPr>
              <a:t>première version</a:t>
            </a:r>
            <a:endParaRPr lang="fr-FR" dirty="0">
              <a:latin typeface="Times New Roman" pitchFamily="18" charset="0"/>
              <a:cs typeface="Times New Roman" pitchFamily="18" charset="0"/>
            </a:endParaRPr>
          </a:p>
          <a:p>
            <a:r>
              <a:rPr lang="fr-FR" dirty="0">
                <a:latin typeface="Times New Roman" pitchFamily="18" charset="0"/>
                <a:cs typeface="Times New Roman" pitchFamily="18" charset="0"/>
              </a:rPr>
              <a:t>On utilise la fonction </a:t>
            </a:r>
            <a:r>
              <a:rPr lang="fr-FR" b="1" dirty="0">
                <a:latin typeface="Times New Roman" pitchFamily="18" charset="0"/>
                <a:cs typeface="Times New Roman" pitchFamily="18" charset="0"/>
              </a:rPr>
              <a:t>parcours1</a:t>
            </a:r>
            <a:r>
              <a:rPr lang="fr-FR" dirty="0">
                <a:latin typeface="Times New Roman" pitchFamily="18" charset="0"/>
                <a:cs typeface="Times New Roman" pitchFamily="18" charset="0"/>
              </a:rPr>
              <a:t>. On écrit les éléments de la liste à partir du premier élément.</a:t>
            </a:r>
          </a:p>
          <a:p>
            <a:r>
              <a:rPr lang="fr-FR" b="1" dirty="0" smtClean="0">
                <a:latin typeface="Times New Roman" pitchFamily="18" charset="0"/>
                <a:cs typeface="Times New Roman" pitchFamily="18" charset="0"/>
              </a:rPr>
              <a:t>vide </a:t>
            </a:r>
            <a:r>
              <a:rPr lang="fr-FR" dirty="0" err="1">
                <a:latin typeface="Times New Roman" pitchFamily="18" charset="0"/>
                <a:cs typeface="Times New Roman" pitchFamily="18" charset="0"/>
              </a:rPr>
              <a:t>ecritliste</a:t>
            </a:r>
            <a:r>
              <a:rPr lang="fr-FR" b="1" dirty="0">
                <a:latin typeface="Times New Roman" pitchFamily="18" charset="0"/>
                <a:cs typeface="Times New Roman" pitchFamily="18" charset="0"/>
              </a:rPr>
              <a:t>(d pointeur </a:t>
            </a:r>
            <a:r>
              <a:rPr lang="fr-FR" dirty="0">
                <a:latin typeface="Times New Roman" pitchFamily="18" charset="0"/>
                <a:cs typeface="Times New Roman" pitchFamily="18" charset="0"/>
              </a:rPr>
              <a:t>l</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debfonc</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si </a:t>
            </a:r>
            <a:r>
              <a:rPr lang="fr-FR" dirty="0">
                <a:latin typeface="Times New Roman" pitchFamily="18" charset="0"/>
                <a:cs typeface="Times New Roman" pitchFamily="18" charset="0"/>
              </a:rPr>
              <a:t>l</a:t>
            </a:r>
            <a:r>
              <a:rPr lang="fr-FR" b="1" dirty="0">
                <a:latin typeface="Times New Roman" pitchFamily="18" charset="0"/>
                <a:cs typeface="Times New Roman" pitchFamily="18" charset="0"/>
              </a:rPr>
              <a:t> ≠ </a:t>
            </a:r>
            <a:r>
              <a:rPr lang="fr-FR" b="1" dirty="0" err="1">
                <a:latin typeface="Times New Roman" pitchFamily="18" charset="0"/>
                <a:cs typeface="Times New Roman" pitchFamily="18" charset="0"/>
              </a:rPr>
              <a:t>nil</a:t>
            </a:r>
            <a:r>
              <a:rPr lang="fr-FR" b="1" dirty="0">
                <a:latin typeface="Times New Roman" pitchFamily="18" charset="0"/>
                <a:cs typeface="Times New Roman" pitchFamily="18" charset="0"/>
              </a:rPr>
              <a:t> alors </a:t>
            </a:r>
          </a:p>
          <a:p>
            <a:r>
              <a:rPr lang="fr-FR" b="1" dirty="0">
                <a:latin typeface="Times New Roman" pitchFamily="18" charset="0"/>
                <a:cs typeface="Times New Roman" pitchFamily="18" charset="0"/>
              </a:rPr>
              <a:t>      écrire(</a:t>
            </a:r>
            <a:r>
              <a:rPr lang="fr-FR" dirty="0">
                <a:latin typeface="Times New Roman" pitchFamily="18" charset="0"/>
                <a:cs typeface="Times New Roman" pitchFamily="18" charset="0"/>
              </a:rPr>
              <a:t>l-&gt;info</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err="1">
                <a:latin typeface="Times New Roman" pitchFamily="18" charset="0"/>
                <a:cs typeface="Times New Roman" pitchFamily="18" charset="0"/>
              </a:rPr>
              <a:t>ecritliste</a:t>
            </a:r>
            <a:r>
              <a:rPr lang="fr-FR" b="1" dirty="0">
                <a:latin typeface="Times New Roman" pitchFamily="18" charset="0"/>
                <a:cs typeface="Times New Roman" pitchFamily="18" charset="0"/>
              </a:rPr>
              <a:t>(</a:t>
            </a:r>
            <a:r>
              <a:rPr lang="fr-FR" dirty="0">
                <a:latin typeface="Times New Roman" pitchFamily="18" charset="0"/>
                <a:cs typeface="Times New Roman" pitchFamily="18" charset="0"/>
              </a:rPr>
              <a:t>l-&gt;suivant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finsi</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finfonc</a:t>
            </a:r>
            <a:r>
              <a:rPr lang="fr-FR" b="1" dirty="0">
                <a:latin typeface="Times New Roman" pitchFamily="18" charset="0"/>
                <a:cs typeface="Times New Roman" pitchFamily="18" charset="0"/>
              </a:rPr>
              <a:t>;</a:t>
            </a:r>
          </a:p>
        </p:txBody>
      </p:sp>
    </p:spTree>
    <p:extLst>
      <p:ext uri="{BB962C8B-B14F-4D97-AF65-F5344CB8AC3E}">
        <p14:creationId xmlns:p14="http://schemas.microsoft.com/office/powerpoint/2010/main" val="26514248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000" y="201087"/>
            <a:ext cx="11582400" cy="6463308"/>
          </a:xfrm>
          <a:prstGeom prst="rect">
            <a:avLst/>
          </a:prstGeom>
        </p:spPr>
        <p:txBody>
          <a:bodyPr wrap="square">
            <a:spAutoFit/>
          </a:bodyPr>
          <a:lstStyle/>
          <a:p>
            <a:pPr lvl="0" indent="180975" fontAlgn="base">
              <a:spcBef>
                <a:spcPct val="0"/>
              </a:spcBef>
              <a:spcAft>
                <a:spcPct val="0"/>
              </a:spcAft>
            </a:pPr>
            <a:r>
              <a:rPr lang="fr-FR" dirty="0">
                <a:latin typeface="Times New Roman" pitchFamily="18" charset="0"/>
                <a:ea typeface="Times New Roman" pitchFamily="18" charset="0"/>
                <a:cs typeface="Times New Roman" pitchFamily="18" charset="0"/>
              </a:rPr>
              <a:t>b) </a:t>
            </a:r>
            <a:r>
              <a:rPr lang="fr-FR" u="sng" dirty="0">
                <a:latin typeface="Times New Roman" pitchFamily="18" charset="0"/>
                <a:ea typeface="Times New Roman" pitchFamily="18" charset="0"/>
                <a:cs typeface="Times New Roman" pitchFamily="18" charset="0"/>
              </a:rPr>
              <a:t>deuxième version</a:t>
            </a:r>
            <a:endParaRPr lang="fr-FR" dirty="0">
              <a:latin typeface="Times New Roman" pitchFamily="18" charset="0"/>
              <a:cs typeface="Times New Roman" pitchFamily="18" charset="0"/>
            </a:endParaRPr>
          </a:p>
          <a:p>
            <a:pPr lvl="0" indent="180975"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On utilise </a:t>
            </a:r>
            <a:r>
              <a:rPr lang="fr-FR" b="1" dirty="0">
                <a:latin typeface="Times New Roman" pitchFamily="18" charset="0"/>
                <a:ea typeface="Times New Roman" pitchFamily="18" charset="0"/>
                <a:cs typeface="Times New Roman" pitchFamily="18" charset="0"/>
              </a:rPr>
              <a:t>parcours2</a:t>
            </a:r>
            <a:r>
              <a:rPr lang="fr-FR" dirty="0">
                <a:latin typeface="Times New Roman" pitchFamily="18" charset="0"/>
                <a:ea typeface="Times New Roman" pitchFamily="18" charset="0"/>
                <a:cs typeface="Times New Roman" pitchFamily="18" charset="0"/>
              </a:rPr>
              <a:t> qui permet d’obtenir l’écriture des éléments à partir du dernier élément.</a:t>
            </a:r>
          </a:p>
          <a:p>
            <a:r>
              <a:rPr lang="fr-FR" b="1" dirty="0" smtClean="0">
                <a:latin typeface="Times New Roman" pitchFamily="18" charset="0"/>
                <a:cs typeface="Times New Roman" pitchFamily="18" charset="0"/>
              </a:rPr>
              <a:t>vide </a:t>
            </a:r>
            <a:r>
              <a:rPr lang="fr-FR" dirty="0" err="1">
                <a:latin typeface="Times New Roman" pitchFamily="18" charset="0"/>
                <a:cs typeface="Times New Roman" pitchFamily="18" charset="0"/>
              </a:rPr>
              <a:t>ecritliste</a:t>
            </a:r>
            <a:r>
              <a:rPr lang="fr-FR" b="1" dirty="0">
                <a:latin typeface="Times New Roman" pitchFamily="18" charset="0"/>
                <a:cs typeface="Times New Roman" pitchFamily="18" charset="0"/>
              </a:rPr>
              <a:t>(d pointeur </a:t>
            </a:r>
            <a:r>
              <a:rPr lang="fr-FR" dirty="0">
                <a:latin typeface="Times New Roman" pitchFamily="18" charset="0"/>
                <a:cs typeface="Times New Roman" pitchFamily="18" charset="0"/>
              </a:rPr>
              <a:t>l</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debfonc</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si </a:t>
            </a:r>
            <a:r>
              <a:rPr lang="fr-FR" dirty="0" err="1">
                <a:latin typeface="Times New Roman" pitchFamily="18" charset="0"/>
                <a:cs typeface="Times New Roman" pitchFamily="18" charset="0"/>
              </a:rPr>
              <a:t>l≠nil</a:t>
            </a:r>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alors</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ecritliste</a:t>
            </a:r>
            <a:r>
              <a:rPr lang="fr-FR" b="1" dirty="0">
                <a:latin typeface="Times New Roman" pitchFamily="18" charset="0"/>
                <a:cs typeface="Times New Roman" pitchFamily="18" charset="0"/>
              </a:rPr>
              <a:t>(</a:t>
            </a:r>
            <a:r>
              <a:rPr lang="fr-FR" dirty="0">
                <a:latin typeface="Times New Roman" pitchFamily="18" charset="0"/>
                <a:cs typeface="Times New Roman" pitchFamily="18" charset="0"/>
              </a:rPr>
              <a:t>l-&gt;suivant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écrire(</a:t>
            </a:r>
            <a:r>
              <a:rPr lang="fr-FR" dirty="0">
                <a:latin typeface="Times New Roman" pitchFamily="18" charset="0"/>
                <a:cs typeface="Times New Roman" pitchFamily="18" charset="0"/>
              </a:rPr>
              <a:t>l-&gt;info</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finsi</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finfonc</a:t>
            </a:r>
            <a:r>
              <a:rPr lang="fr-FR" b="1" dirty="0" smtClean="0">
                <a:latin typeface="Times New Roman" pitchFamily="18" charset="0"/>
                <a:cs typeface="Times New Roman" pitchFamily="18" charset="0"/>
              </a:rPr>
              <a:t>;</a:t>
            </a:r>
            <a:endParaRPr lang="fr-FR" dirty="0"/>
          </a:p>
          <a:p>
            <a:r>
              <a:rPr lang="fr-FR" dirty="0" smtClean="0">
                <a:latin typeface="Times New Roman" pitchFamily="18" charset="0"/>
                <a:cs typeface="Times New Roman" pitchFamily="18" charset="0"/>
              </a:rPr>
              <a:t>2.2.4</a:t>
            </a:r>
            <a:r>
              <a:rPr lang="fr-FR" dirty="0">
                <a:latin typeface="Times New Roman" pitchFamily="18" charset="0"/>
                <a:cs typeface="Times New Roman" pitchFamily="18" charset="0"/>
              </a:rPr>
              <a:t>. </a:t>
            </a:r>
            <a:r>
              <a:rPr lang="fr-FR" u="sng" dirty="0">
                <a:latin typeface="Times New Roman" pitchFamily="18" charset="0"/>
                <a:cs typeface="Times New Roman" pitchFamily="18" charset="0"/>
              </a:rPr>
              <a:t>Algorithmes d’accès dans une liste</a:t>
            </a:r>
            <a:endParaRPr lang="fr-FR" dirty="0">
              <a:latin typeface="Times New Roman" pitchFamily="18" charset="0"/>
              <a:cs typeface="Times New Roman" pitchFamily="18" charset="0"/>
            </a:endParaRPr>
          </a:p>
          <a:p>
            <a:pPr marL="342900" indent="-342900"/>
            <a:r>
              <a:rPr lang="fr-FR" dirty="0" smtClean="0">
                <a:latin typeface="Times New Roman" pitchFamily="18" charset="0"/>
                <a:cs typeface="Times New Roman" pitchFamily="18" charset="0"/>
              </a:rPr>
              <a:t>a) Accès </a:t>
            </a:r>
            <a:r>
              <a:rPr lang="fr-FR" dirty="0">
                <a:latin typeface="Times New Roman" pitchFamily="18" charset="0"/>
                <a:cs typeface="Times New Roman" pitchFamily="18" charset="0"/>
              </a:rPr>
              <a:t>associatif dans une </a:t>
            </a:r>
            <a:r>
              <a:rPr lang="fr-FR" dirty="0" smtClean="0">
                <a:latin typeface="Times New Roman" pitchFamily="18" charset="0"/>
                <a:cs typeface="Times New Roman" pitchFamily="18" charset="0"/>
              </a:rPr>
              <a:t>liste non triée.</a:t>
            </a:r>
            <a:endParaRPr lang="fr-FR" dirty="0">
              <a:latin typeface="Times New Roman" pitchFamily="18" charset="0"/>
              <a:cs typeface="Times New Roman" pitchFamily="18" charset="0"/>
            </a:endParaRPr>
          </a:p>
          <a:p>
            <a:pPr marL="342900" indent="-342900"/>
            <a:r>
              <a:rPr lang="fr-FR" dirty="0" smtClean="0">
                <a:latin typeface="Times New Roman" pitchFamily="18" charset="0"/>
                <a:cs typeface="Times New Roman" pitchFamily="18" charset="0"/>
              </a:rPr>
              <a:t>- </a:t>
            </a:r>
            <a:r>
              <a:rPr lang="fr-FR" u="sng" dirty="0" smtClean="0">
                <a:latin typeface="Times New Roman" pitchFamily="18" charset="0"/>
                <a:cs typeface="Times New Roman" pitchFamily="18" charset="0"/>
              </a:rPr>
              <a:t>Schéma </a:t>
            </a:r>
            <a:r>
              <a:rPr lang="fr-FR" u="sng" dirty="0">
                <a:latin typeface="Times New Roman" pitchFamily="18" charset="0"/>
                <a:cs typeface="Times New Roman" pitchFamily="18" charset="0"/>
              </a:rPr>
              <a:t>itératif</a:t>
            </a:r>
          </a:p>
          <a:p>
            <a:r>
              <a:rPr lang="fr-FR" b="1" dirty="0" smtClean="0">
                <a:latin typeface="Times New Roman" pitchFamily="18" charset="0"/>
                <a:cs typeface="Times New Roman" pitchFamily="18" charset="0"/>
              </a:rPr>
              <a:t>booléen </a:t>
            </a:r>
            <a:r>
              <a:rPr lang="fr-FR" dirty="0" err="1">
                <a:latin typeface="Times New Roman" pitchFamily="18" charset="0"/>
                <a:cs typeface="Times New Roman" pitchFamily="18" charset="0"/>
              </a:rPr>
              <a:t>accesv</a:t>
            </a:r>
            <a:r>
              <a:rPr lang="fr-FR" b="1" dirty="0">
                <a:latin typeface="Times New Roman" pitchFamily="18" charset="0"/>
                <a:cs typeface="Times New Roman" pitchFamily="18" charset="0"/>
              </a:rPr>
              <a:t>(d pointeur </a:t>
            </a:r>
            <a:r>
              <a:rPr lang="fr-FR" dirty="0">
                <a:latin typeface="Times New Roman" pitchFamily="18" charset="0"/>
                <a:cs typeface="Times New Roman" pitchFamily="18" charset="0"/>
              </a:rPr>
              <a:t>l</a:t>
            </a:r>
            <a:r>
              <a:rPr lang="fr-FR" b="1" dirty="0">
                <a:latin typeface="Times New Roman" pitchFamily="18" charset="0"/>
                <a:cs typeface="Times New Roman" pitchFamily="18" charset="0"/>
              </a:rPr>
              <a:t>, d t </a:t>
            </a:r>
            <a:r>
              <a:rPr lang="fr-FR" dirty="0">
                <a:latin typeface="Times New Roman" pitchFamily="18" charset="0"/>
                <a:cs typeface="Times New Roman" pitchFamily="18" charset="0"/>
              </a:rPr>
              <a:t>val,</a:t>
            </a:r>
            <a:r>
              <a:rPr lang="fr-FR" b="1" dirty="0">
                <a:latin typeface="Times New Roman" pitchFamily="18" charset="0"/>
                <a:cs typeface="Times New Roman" pitchFamily="18" charset="0"/>
              </a:rPr>
              <a:t> r pointeur </a:t>
            </a:r>
            <a:r>
              <a:rPr lang="fr-FR" dirty="0">
                <a:latin typeface="Times New Roman" pitchFamily="18" charset="0"/>
                <a:cs typeface="Times New Roman" pitchFamily="18" charset="0"/>
              </a:rPr>
              <a:t>point</a:t>
            </a:r>
            <a:r>
              <a:rPr lang="fr-FR" b="1" dirty="0">
                <a:latin typeface="Times New Roman" pitchFamily="18" charset="0"/>
                <a:cs typeface="Times New Roman" pitchFamily="18" charset="0"/>
              </a:rPr>
              <a:t>) </a:t>
            </a:r>
          </a:p>
          <a:p>
            <a:r>
              <a:rPr lang="fr-FR" b="1" dirty="0" err="1" smtClean="0">
                <a:latin typeface="Times New Roman" pitchFamily="18" charset="0"/>
                <a:cs typeface="Times New Roman" pitchFamily="18" charset="0"/>
              </a:rPr>
              <a:t>defonc</a:t>
            </a:r>
            <a:r>
              <a:rPr lang="fr-FR" b="1" dirty="0" smtClean="0">
                <a:latin typeface="Times New Roman" pitchFamily="18" charset="0"/>
                <a:cs typeface="Times New Roman" pitchFamily="18" charset="0"/>
              </a:rPr>
              <a:t> </a:t>
            </a:r>
            <a:r>
              <a:rPr lang="fr-FR" b="1" dirty="0">
                <a:latin typeface="Times New Roman" pitchFamily="18" charset="0"/>
                <a:cs typeface="Times New Roman" pitchFamily="18" charset="0"/>
              </a:rPr>
              <a:t>booléen </a:t>
            </a:r>
            <a:r>
              <a:rPr lang="fr-FR" dirty="0">
                <a:latin typeface="Times New Roman" pitchFamily="18" charset="0"/>
                <a:cs typeface="Times New Roman" pitchFamily="18" charset="0"/>
              </a:rPr>
              <a:t>trouve;</a:t>
            </a:r>
          </a:p>
          <a:p>
            <a:r>
              <a:rPr lang="fr-FR" b="1" dirty="0">
                <a:latin typeface="Times New Roman" pitchFamily="18" charset="0"/>
                <a:cs typeface="Times New Roman" pitchFamily="18" charset="0"/>
              </a:rPr>
              <a:t>  </a:t>
            </a:r>
            <a:r>
              <a:rPr lang="fr-FR" dirty="0" smtClean="0">
                <a:latin typeface="Times New Roman" pitchFamily="18" charset="0"/>
                <a:cs typeface="Times New Roman" pitchFamily="18" charset="0"/>
              </a:rPr>
              <a:t>trouve:=</a:t>
            </a:r>
            <a:r>
              <a:rPr lang="fr-FR" b="1" dirty="0" smtClean="0">
                <a:latin typeface="Times New Roman" pitchFamily="18" charset="0"/>
                <a:cs typeface="Times New Roman" pitchFamily="18" charset="0"/>
              </a:rPr>
              <a:t>faux</a:t>
            </a:r>
            <a:r>
              <a:rPr lang="fr-FR" b="1" dirty="0" smtClean="0">
                <a:latin typeface="Times New Roman" pitchFamily="18" charset="0"/>
                <a:cs typeface="Times New Roman" pitchFamily="18" charset="0"/>
              </a:rPr>
              <a:t>; </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a:t>
            </a:r>
            <a:r>
              <a:rPr lang="fr-FR" b="1" dirty="0" err="1" smtClean="0">
                <a:latin typeface="Times New Roman" pitchFamily="18" charset="0"/>
                <a:cs typeface="Times New Roman" pitchFamily="18" charset="0"/>
              </a:rPr>
              <a:t>tantque</a:t>
            </a:r>
            <a:r>
              <a:rPr lang="fr-FR" b="1" dirty="0">
                <a:latin typeface="Times New Roman" pitchFamily="18" charset="0"/>
                <a:cs typeface="Times New Roman" pitchFamily="18" charset="0"/>
              </a:rPr>
              <a:t> </a:t>
            </a:r>
            <a:r>
              <a:rPr lang="fr-FR" dirty="0" smtClean="0">
                <a:latin typeface="Times New Roman" pitchFamily="18" charset="0"/>
                <a:cs typeface="Times New Roman" pitchFamily="18" charset="0"/>
              </a:rPr>
              <a:t>(</a:t>
            </a:r>
            <a:r>
              <a:rPr lang="fr-FR" dirty="0" err="1" smtClean="0">
                <a:latin typeface="Times New Roman" pitchFamily="18" charset="0"/>
                <a:cs typeface="Times New Roman" pitchFamily="18" charset="0"/>
              </a:rPr>
              <a:t>l</a:t>
            </a:r>
            <a:r>
              <a:rPr lang="fr-FR" dirty="0" err="1" smtClean="0">
                <a:latin typeface="Times New Roman" pitchFamily="18" charset="0"/>
                <a:cs typeface="Times New Roman" pitchFamily="18" charset="0"/>
                <a:sym typeface="Symbol"/>
              </a:rPr>
              <a:t>≠nil</a:t>
            </a:r>
            <a:r>
              <a:rPr lang="fr-FR" dirty="0" smtClean="0">
                <a:latin typeface="Times New Roman" pitchFamily="18" charset="0"/>
                <a:cs typeface="Times New Roman" pitchFamily="18" charset="0"/>
              </a:rPr>
              <a:t>) et </a:t>
            </a:r>
            <a:r>
              <a:rPr lang="fr-FR" b="1" dirty="0" smtClean="0">
                <a:latin typeface="Times New Roman" pitchFamily="18" charset="0"/>
                <a:cs typeface="Times New Roman" pitchFamily="18" charset="0"/>
              </a:rPr>
              <a:t>(non trouve) faire</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si </a:t>
            </a:r>
            <a:r>
              <a:rPr lang="fr-FR" dirty="0">
                <a:latin typeface="Times New Roman" pitchFamily="18" charset="0"/>
                <a:cs typeface="Times New Roman" pitchFamily="18" charset="0"/>
              </a:rPr>
              <a:t>l-&gt;info=val</a:t>
            </a:r>
            <a:r>
              <a:rPr lang="fr-FR" b="1" dirty="0">
                <a:latin typeface="Times New Roman" pitchFamily="18" charset="0"/>
                <a:cs typeface="Times New Roman" pitchFamily="18" charset="0"/>
              </a:rPr>
              <a:t> alors </a:t>
            </a:r>
            <a:r>
              <a:rPr lang="fr-FR" dirty="0" smtClean="0">
                <a:latin typeface="Times New Roman" pitchFamily="18" charset="0"/>
                <a:cs typeface="Times New Roman" pitchFamily="18" charset="0"/>
              </a:rPr>
              <a:t>trouve:=</a:t>
            </a:r>
            <a:r>
              <a:rPr lang="fr-FR" b="1" dirty="0" smtClean="0">
                <a:latin typeface="Times New Roman" pitchFamily="18" charset="0"/>
                <a:cs typeface="Times New Roman" pitchFamily="18" charset="0"/>
              </a:rPr>
              <a:t>vrai</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sinon </a:t>
            </a:r>
            <a:r>
              <a:rPr lang="fr-FR" dirty="0" smtClean="0">
                <a:latin typeface="Times New Roman" pitchFamily="18" charset="0"/>
                <a:cs typeface="Times New Roman" pitchFamily="18" charset="0"/>
              </a:rPr>
              <a:t>l:=l-</a:t>
            </a:r>
            <a:r>
              <a:rPr lang="fr-FR" dirty="0">
                <a:latin typeface="Times New Roman" pitchFamily="18" charset="0"/>
                <a:cs typeface="Times New Roman" pitchFamily="18" charset="0"/>
              </a:rPr>
              <a:t>&gt;suivant; </a:t>
            </a:r>
            <a:r>
              <a:rPr lang="fr-FR" b="1" dirty="0" err="1">
                <a:latin typeface="Times New Roman" pitchFamily="18" charset="0"/>
                <a:cs typeface="Times New Roman" pitchFamily="18" charset="0"/>
              </a:rPr>
              <a:t>finsi</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finfaire</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smtClean="0">
                <a:latin typeface="Times New Roman" pitchFamily="18" charset="0"/>
                <a:cs typeface="Times New Roman" pitchFamily="18" charset="0"/>
              </a:rPr>
              <a:t>point:=l</a:t>
            </a:r>
            <a:r>
              <a:rPr lang="fr-FR" dirty="0">
                <a:latin typeface="Times New Roman" pitchFamily="18" charset="0"/>
                <a:cs typeface="Times New Roman" pitchFamily="18" charset="0"/>
              </a:rPr>
              <a:t>;</a:t>
            </a:r>
          </a:p>
          <a:p>
            <a:r>
              <a:rPr lang="en-GB" b="1" dirty="0">
                <a:latin typeface="Times New Roman" pitchFamily="18" charset="0"/>
                <a:cs typeface="Times New Roman" pitchFamily="18" charset="0"/>
              </a:rPr>
              <a:t>   </a:t>
            </a:r>
            <a:r>
              <a:rPr lang="fr-FR" b="1" dirty="0">
                <a:latin typeface="Times New Roman" pitchFamily="18" charset="0"/>
                <a:cs typeface="Times New Roman" pitchFamily="18" charset="0"/>
              </a:rPr>
              <a:t>retourner </a:t>
            </a:r>
            <a:r>
              <a:rPr lang="fr-FR" dirty="0">
                <a:latin typeface="Times New Roman" pitchFamily="18" charset="0"/>
                <a:cs typeface="Times New Roman" pitchFamily="18" charset="0"/>
              </a:rPr>
              <a:t>trouve;</a:t>
            </a:r>
          </a:p>
          <a:p>
            <a:r>
              <a:rPr lang="fr-FR" b="1" dirty="0" err="1">
                <a:latin typeface="Times New Roman" pitchFamily="18" charset="0"/>
                <a:cs typeface="Times New Roman" pitchFamily="18" charset="0"/>
              </a:rPr>
              <a:t>finfonc</a:t>
            </a:r>
            <a:r>
              <a:rPr lang="fr-FR" b="1" dirty="0" smtClean="0">
                <a:latin typeface="Times New Roman" pitchFamily="18" charset="0"/>
                <a:cs typeface="Times New Roman" pitchFamily="18" charset="0"/>
              </a:rPr>
              <a:t>;</a:t>
            </a:r>
          </a:p>
          <a:p>
            <a:r>
              <a:rPr lang="fr-FR" b="1" dirty="0" smtClean="0">
                <a:latin typeface="Times New Roman" pitchFamily="18" charset="0"/>
                <a:cs typeface="Times New Roman" pitchFamily="18" charset="0"/>
              </a:rPr>
              <a:t>Complexité </a:t>
            </a:r>
            <a:r>
              <a:rPr lang="fr-FR" dirty="0" smtClean="0">
                <a:latin typeface="Times New Roman" pitchFamily="18" charset="0"/>
                <a:cs typeface="Times New Roman" pitchFamily="18" charset="0"/>
              </a:rPr>
              <a:t>T(n) = 2 + 4n = n = O(n) </a:t>
            </a:r>
            <a:endParaRPr lang="fr-FR" dirty="0">
              <a:latin typeface="Times New Roman" pitchFamily="18" charset="0"/>
              <a:cs typeface="Times New Roman" pitchFamily="18" charset="0"/>
            </a:endParaRPr>
          </a:p>
        </p:txBody>
      </p:sp>
    </p:spTree>
    <p:extLst>
      <p:ext uri="{BB962C8B-B14F-4D97-AF65-F5344CB8AC3E}">
        <p14:creationId xmlns:p14="http://schemas.microsoft.com/office/powerpoint/2010/main" val="19612671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3520" y="107018"/>
            <a:ext cx="11775440" cy="6370975"/>
          </a:xfrm>
          <a:prstGeom prst="rect">
            <a:avLst/>
          </a:prstGeom>
        </p:spPr>
        <p:txBody>
          <a:bodyPr wrap="square">
            <a:spAutoFit/>
          </a:bodyPr>
          <a:lstStyle/>
          <a:p>
            <a:pPr lvl="0" algn="just" fontAlgn="base">
              <a:spcBef>
                <a:spcPct val="0"/>
              </a:spcBef>
              <a:spcAft>
                <a:spcPct val="0"/>
              </a:spcAft>
            </a:pPr>
            <a:r>
              <a:rPr lang="fr-FR" sz="2400" dirty="0">
                <a:latin typeface="Times New Roman" panose="02020603050405020304" pitchFamily="18" charset="0"/>
                <a:ea typeface="Times New Roman" panose="02020603050405020304" pitchFamily="18" charset="0"/>
                <a:cs typeface="Times New Roman" panose="02020603050405020304" pitchFamily="18" charset="0"/>
              </a:rPr>
              <a:t>-</a:t>
            </a:r>
            <a:r>
              <a:rPr lang="fr-FR" sz="24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fr-FR" sz="2400" u="sng" dirty="0">
                <a:latin typeface="Times New Roman" panose="02020603050405020304" pitchFamily="18" charset="0"/>
                <a:ea typeface="Times New Roman" panose="02020603050405020304" pitchFamily="18" charset="0"/>
                <a:cs typeface="Times New Roman" panose="02020603050405020304" pitchFamily="18" charset="0"/>
              </a:rPr>
              <a:t>Schéma récursif </a:t>
            </a:r>
          </a:p>
          <a:p>
            <a:r>
              <a:rPr lang="fr-FR" sz="2400" b="1" dirty="0">
                <a:latin typeface="Times New Roman" panose="02020603050405020304" pitchFamily="18" charset="0"/>
                <a:cs typeface="Times New Roman" pitchFamily="18" charset="0"/>
              </a:rPr>
              <a:t>pointeur </a:t>
            </a:r>
            <a:r>
              <a:rPr lang="fr-FR" sz="2400" dirty="0">
                <a:latin typeface="Times New Roman" pitchFamily="18" charset="0"/>
                <a:cs typeface="Times New Roman" pitchFamily="18" charset="0"/>
              </a:rPr>
              <a:t>point</a:t>
            </a:r>
            <a:r>
              <a:rPr lang="fr-FR" sz="2400" b="1" dirty="0">
                <a:latin typeface="Times New Roman" pitchFamily="18" charset="0"/>
                <a:cs typeface="Times New Roman" pitchFamily="18" charset="0"/>
              </a:rPr>
              <a:t>(d pointeur </a:t>
            </a:r>
            <a:r>
              <a:rPr lang="fr-FR" sz="2400" dirty="0">
                <a:latin typeface="Times New Roman" pitchFamily="18" charset="0"/>
                <a:cs typeface="Times New Roman" pitchFamily="18" charset="0"/>
              </a:rPr>
              <a:t>l,</a:t>
            </a:r>
            <a:r>
              <a:rPr lang="fr-FR" sz="2400" b="1" dirty="0">
                <a:latin typeface="Times New Roman" pitchFamily="18" charset="0"/>
                <a:cs typeface="Times New Roman" pitchFamily="18" charset="0"/>
              </a:rPr>
              <a:t> d t </a:t>
            </a:r>
            <a:r>
              <a:rPr lang="fr-FR" sz="2400" dirty="0">
                <a:latin typeface="Times New Roman" pitchFamily="18" charset="0"/>
                <a:cs typeface="Times New Roman" pitchFamily="18" charset="0"/>
              </a:rPr>
              <a:t>val</a:t>
            </a:r>
            <a:r>
              <a:rPr lang="fr-FR" sz="2400" b="1" dirty="0">
                <a:latin typeface="Times New Roman" pitchFamily="18" charset="0"/>
                <a:cs typeface="Times New Roman" pitchFamily="18" charset="0"/>
              </a:rPr>
              <a:t>)</a:t>
            </a:r>
          </a:p>
          <a:p>
            <a:r>
              <a:rPr lang="fr-FR" sz="2400" b="1" dirty="0" err="1">
                <a:latin typeface="Times New Roman" pitchFamily="18" charset="0"/>
                <a:cs typeface="Times New Roman" pitchFamily="18" charset="0"/>
              </a:rPr>
              <a:t>debfonc</a:t>
            </a:r>
            <a:r>
              <a:rPr lang="fr-FR" sz="2400" b="1" dirty="0">
                <a:latin typeface="Times New Roman" pitchFamily="18" charset="0"/>
                <a:cs typeface="Times New Roman" pitchFamily="18" charset="0"/>
              </a:rPr>
              <a:t>   si l=</a:t>
            </a:r>
            <a:r>
              <a:rPr lang="fr-FR" sz="2400" b="1" dirty="0" err="1">
                <a:latin typeface="Times New Roman" pitchFamily="18" charset="0"/>
                <a:cs typeface="Times New Roman" pitchFamily="18" charset="0"/>
              </a:rPr>
              <a:t>nil</a:t>
            </a:r>
            <a:r>
              <a:rPr lang="fr-FR" sz="2400" b="1" dirty="0">
                <a:latin typeface="Times New Roman" pitchFamily="18" charset="0"/>
                <a:cs typeface="Times New Roman" pitchFamily="18" charset="0"/>
              </a:rPr>
              <a:t> alors retourner </a:t>
            </a:r>
            <a:r>
              <a:rPr lang="fr-FR" sz="2400" b="1" dirty="0" err="1">
                <a:latin typeface="Times New Roman" pitchFamily="18" charset="0"/>
                <a:cs typeface="Times New Roman" pitchFamily="18" charset="0"/>
              </a:rPr>
              <a:t>nil</a:t>
            </a:r>
            <a:r>
              <a:rPr lang="fr-FR" sz="2400" b="1" dirty="0">
                <a:latin typeface="Times New Roman" pitchFamily="18" charset="0"/>
                <a:cs typeface="Times New Roman" pitchFamily="18" charset="0"/>
              </a:rPr>
              <a:t>;</a:t>
            </a:r>
          </a:p>
          <a:p>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sinonsi</a:t>
            </a:r>
            <a:r>
              <a:rPr lang="fr-FR" sz="2400" b="1" dirty="0">
                <a:latin typeface="Times New Roman" pitchFamily="18" charset="0"/>
                <a:cs typeface="Times New Roman" pitchFamily="18" charset="0"/>
              </a:rPr>
              <a:t> </a:t>
            </a:r>
            <a:r>
              <a:rPr lang="fr-FR" sz="2400" dirty="0">
                <a:latin typeface="Times New Roman" pitchFamily="18" charset="0"/>
                <a:cs typeface="Times New Roman" pitchFamily="18" charset="0"/>
              </a:rPr>
              <a:t>l-&gt;info</a:t>
            </a:r>
            <a:r>
              <a:rPr lang="fr-FR" sz="2400" b="1" dirty="0">
                <a:latin typeface="Times New Roman" pitchFamily="18" charset="0"/>
                <a:cs typeface="Times New Roman" pitchFamily="18" charset="0"/>
              </a:rPr>
              <a:t>=</a:t>
            </a:r>
            <a:r>
              <a:rPr lang="fr-FR" sz="2400" dirty="0">
                <a:latin typeface="Times New Roman" pitchFamily="18" charset="0"/>
                <a:cs typeface="Times New Roman" pitchFamily="18" charset="0"/>
              </a:rPr>
              <a:t>val</a:t>
            </a:r>
            <a:r>
              <a:rPr lang="fr-FR" sz="2400" b="1" dirty="0">
                <a:latin typeface="Times New Roman" pitchFamily="18" charset="0"/>
                <a:cs typeface="Times New Roman" pitchFamily="18" charset="0"/>
              </a:rPr>
              <a:t> retourner </a:t>
            </a:r>
            <a:r>
              <a:rPr lang="fr-FR" sz="2400" dirty="0">
                <a:latin typeface="Times New Roman" pitchFamily="18" charset="0"/>
                <a:cs typeface="Times New Roman" pitchFamily="18" charset="0"/>
              </a:rPr>
              <a:t>l;</a:t>
            </a:r>
          </a:p>
          <a:p>
            <a:r>
              <a:rPr lang="fr-FR" sz="2400" b="1" dirty="0">
                <a:latin typeface="Times New Roman" pitchFamily="18" charset="0"/>
                <a:cs typeface="Times New Roman" pitchFamily="18" charset="0"/>
              </a:rPr>
              <a:t>                          sinon retourner </a:t>
            </a:r>
            <a:r>
              <a:rPr lang="fr-FR" sz="2400" dirty="0">
                <a:latin typeface="Times New Roman" pitchFamily="18" charset="0"/>
                <a:cs typeface="Times New Roman" pitchFamily="18" charset="0"/>
              </a:rPr>
              <a:t>point(l-&gt;suivant, val);</a:t>
            </a:r>
          </a:p>
          <a:p>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finsi</a:t>
            </a:r>
            <a:r>
              <a:rPr lang="fr-FR" sz="2400" b="1" dirty="0">
                <a:latin typeface="Times New Roman" pitchFamily="18" charset="0"/>
                <a:cs typeface="Times New Roman" pitchFamily="18" charset="0"/>
              </a:rPr>
              <a:t>;</a:t>
            </a:r>
          </a:p>
          <a:p>
            <a:r>
              <a:rPr lang="fr-FR" sz="2400" dirty="0" err="1">
                <a:latin typeface="Times New Roman" pitchFamily="18" charset="0"/>
                <a:cs typeface="Times New Roman" pitchFamily="18" charset="0"/>
              </a:rPr>
              <a:t>finfonc</a:t>
            </a:r>
            <a:r>
              <a:rPr lang="fr-FR" sz="2400" b="1" dirty="0" smtClean="0">
                <a:latin typeface="Times New Roman" pitchFamily="18" charset="0"/>
                <a:cs typeface="Times New Roman" pitchFamily="18" charset="0"/>
              </a:rPr>
              <a:t>;</a:t>
            </a:r>
          </a:p>
          <a:p>
            <a:pPr lvl="0" algn="just" fontAlgn="base">
              <a:spcBef>
                <a:spcPct val="0"/>
              </a:spcBef>
              <a:spcAft>
                <a:spcPct val="0"/>
              </a:spcAft>
            </a:pPr>
            <a:r>
              <a:rPr lang="fr-FR" sz="2400" dirty="0">
                <a:latin typeface="Times New Roman" pitchFamily="18" charset="0"/>
                <a:ea typeface="Times New Roman" pitchFamily="18" charset="0"/>
                <a:cs typeface="Times New Roman" pitchFamily="18" charset="0"/>
              </a:rPr>
              <a:t>b</a:t>
            </a:r>
            <a:r>
              <a:rPr lang="fr-FR" sz="2400" dirty="0" smtClean="0">
                <a:latin typeface="Times New Roman" pitchFamily="18" charset="0"/>
                <a:ea typeface="Times New Roman" pitchFamily="18" charset="0"/>
                <a:cs typeface="Times New Roman" pitchFamily="18" charset="0"/>
              </a:rPr>
              <a:t>) </a:t>
            </a:r>
            <a:r>
              <a:rPr lang="fr-FR" sz="2400" u="sng" dirty="0" smtClean="0">
                <a:latin typeface="Times New Roman" pitchFamily="18" charset="0"/>
                <a:ea typeface="Times New Roman" pitchFamily="18" charset="0"/>
                <a:cs typeface="Times New Roman" pitchFamily="18" charset="0"/>
              </a:rPr>
              <a:t>Algorithme d’accès par position - schéma </a:t>
            </a:r>
            <a:r>
              <a:rPr lang="fr-FR" sz="2400" u="sng" dirty="0">
                <a:latin typeface="Times New Roman" pitchFamily="18" charset="0"/>
                <a:ea typeface="Times New Roman" pitchFamily="18" charset="0"/>
                <a:cs typeface="Times New Roman" pitchFamily="18" charset="0"/>
              </a:rPr>
              <a:t>récursif</a:t>
            </a:r>
            <a:endParaRPr lang="fr-FR" sz="2400" dirty="0">
              <a:latin typeface="Times New Roman" pitchFamily="18" charset="0"/>
              <a:cs typeface="Times New Roman" pitchFamily="18" charset="0"/>
            </a:endParaRPr>
          </a:p>
          <a:p>
            <a:pPr lvl="0" algn="just" eaLnBrk="0" fontAlgn="base" hangingPunct="0">
              <a:spcBef>
                <a:spcPct val="0"/>
              </a:spcBef>
              <a:spcAft>
                <a:spcPct val="0"/>
              </a:spcAft>
            </a:pPr>
            <a:r>
              <a:rPr lang="fr-FR" sz="2400" dirty="0" smtClean="0">
                <a:latin typeface="Times New Roman" pitchFamily="18" charset="0"/>
                <a:ea typeface="Times New Roman" pitchFamily="18" charset="0"/>
                <a:cs typeface="Times New Roman" pitchFamily="18" charset="0"/>
              </a:rPr>
              <a:t>Le raisonnement est fondé sur la constatation suivante : chercher le </a:t>
            </a:r>
            <a:r>
              <a:rPr lang="fr-FR" sz="2400" b="1" dirty="0" err="1" smtClean="0">
                <a:latin typeface="Times New Roman" pitchFamily="18" charset="0"/>
                <a:ea typeface="Times New Roman" pitchFamily="18" charset="0"/>
                <a:cs typeface="Times New Roman" pitchFamily="18" charset="0"/>
              </a:rPr>
              <a:t>k</a:t>
            </a:r>
            <a:r>
              <a:rPr lang="fr-FR" sz="2400" b="1" baseline="30000" dirty="0" err="1" smtClean="0">
                <a:latin typeface="Times New Roman" pitchFamily="18" charset="0"/>
                <a:ea typeface="Times New Roman" pitchFamily="18" charset="0"/>
                <a:cs typeface="Times New Roman" pitchFamily="18" charset="0"/>
              </a:rPr>
              <a:t>ième</a:t>
            </a:r>
            <a:r>
              <a:rPr lang="fr-FR" sz="2400" dirty="0" smtClean="0">
                <a:latin typeface="Times New Roman" pitchFamily="18" charset="0"/>
                <a:ea typeface="Times New Roman" pitchFamily="18" charset="0"/>
                <a:cs typeface="Times New Roman" pitchFamily="18" charset="0"/>
              </a:rPr>
              <a:t> (k&gt;1) élément dans </a:t>
            </a:r>
            <a:r>
              <a:rPr lang="fr-FR" sz="2400" b="1" dirty="0" smtClean="0">
                <a:latin typeface="Times New Roman" pitchFamily="18" charset="0"/>
                <a:ea typeface="Times New Roman" pitchFamily="18" charset="0"/>
                <a:cs typeface="Times New Roman" pitchFamily="18" charset="0"/>
              </a:rPr>
              <a:t>liste</a:t>
            </a:r>
            <a:r>
              <a:rPr lang="fr-FR" sz="2400" dirty="0" smtClean="0">
                <a:latin typeface="Times New Roman" pitchFamily="18" charset="0"/>
                <a:ea typeface="Times New Roman" pitchFamily="18" charset="0"/>
                <a:cs typeface="Times New Roman" pitchFamily="18" charset="0"/>
              </a:rPr>
              <a:t> revient à chercher le </a:t>
            </a:r>
            <a:r>
              <a:rPr lang="fr-FR" sz="2400" b="1" dirty="0" smtClean="0">
                <a:latin typeface="Times New Roman" pitchFamily="18" charset="0"/>
                <a:ea typeface="Times New Roman" pitchFamily="18" charset="0"/>
                <a:cs typeface="Times New Roman" pitchFamily="18" charset="0"/>
              </a:rPr>
              <a:t>k-1</a:t>
            </a:r>
            <a:r>
              <a:rPr lang="fr-FR" sz="2400" b="1" baseline="30000" dirty="0" smtClean="0">
                <a:latin typeface="Times New Roman" pitchFamily="18" charset="0"/>
                <a:ea typeface="Times New Roman" pitchFamily="18" charset="0"/>
                <a:cs typeface="Times New Roman" pitchFamily="18" charset="0"/>
              </a:rPr>
              <a:t>ième</a:t>
            </a:r>
            <a:r>
              <a:rPr lang="fr-FR" sz="2400" dirty="0" smtClean="0">
                <a:latin typeface="Times New Roman" pitchFamily="18" charset="0"/>
                <a:ea typeface="Times New Roman" pitchFamily="18" charset="0"/>
                <a:cs typeface="Times New Roman" pitchFamily="18" charset="0"/>
              </a:rPr>
              <a:t> élément dans </a:t>
            </a:r>
            <a:r>
              <a:rPr lang="fr-FR" sz="2400" b="1" dirty="0" smtClean="0">
                <a:latin typeface="Times New Roman" pitchFamily="18" charset="0"/>
                <a:ea typeface="Times New Roman" pitchFamily="18" charset="0"/>
                <a:cs typeface="Times New Roman" pitchFamily="18" charset="0"/>
              </a:rPr>
              <a:t>liste-&gt;suivant+.</a:t>
            </a:r>
            <a:endParaRPr lang="fr-FR" sz="2400" dirty="0" smtClean="0">
              <a:latin typeface="Times New Roman" pitchFamily="18" charset="0"/>
              <a:ea typeface="Times New Roman" pitchFamily="18" charset="0"/>
              <a:cs typeface="Times New Roman" pitchFamily="18" charset="0"/>
            </a:endParaRPr>
          </a:p>
          <a:p>
            <a:pPr lvl="0" algn="just" eaLnBrk="0" fontAlgn="base" hangingPunct="0">
              <a:spcBef>
                <a:spcPct val="0"/>
              </a:spcBef>
              <a:spcAft>
                <a:spcPct val="0"/>
              </a:spcAft>
            </a:pPr>
            <a:r>
              <a:rPr lang="fr-FR" sz="2400" b="1" dirty="0" smtClean="0">
                <a:latin typeface="Times New Roman" pitchFamily="18" charset="0"/>
                <a:cs typeface="Times New Roman" pitchFamily="18" charset="0"/>
              </a:rPr>
              <a:t>  </a:t>
            </a:r>
            <a:r>
              <a:rPr lang="fr-FR" sz="2400" dirty="0" smtClean="0">
                <a:latin typeface="Times New Roman" pitchFamily="18" charset="0"/>
                <a:cs typeface="Times New Roman" pitchFamily="18" charset="0"/>
              </a:rPr>
              <a:t>liste</a:t>
            </a:r>
          </a:p>
          <a:p>
            <a:pPr lvl="0" algn="just" eaLnBrk="0" fontAlgn="base" hangingPunct="0">
              <a:spcBef>
                <a:spcPct val="0"/>
              </a:spcBef>
              <a:spcAft>
                <a:spcPct val="0"/>
              </a:spcAft>
            </a:pPr>
            <a:endParaRPr lang="fr-FR" sz="2400" b="1" dirty="0">
              <a:latin typeface="Times New Roman" pitchFamily="18" charset="0"/>
              <a:cs typeface="Times New Roman" pitchFamily="18" charset="0"/>
            </a:endParaRPr>
          </a:p>
          <a:p>
            <a:pPr lvl="0" algn="just" eaLnBrk="0" fontAlgn="base" hangingPunct="0">
              <a:spcBef>
                <a:spcPct val="0"/>
              </a:spcBef>
              <a:spcAft>
                <a:spcPct val="0"/>
              </a:spcAft>
            </a:pPr>
            <a:r>
              <a:rPr lang="fr-FR" sz="2400" b="1" dirty="0" smtClean="0">
                <a:latin typeface="Times New Roman" pitchFamily="18" charset="0"/>
                <a:cs typeface="Times New Roman" pitchFamily="18" charset="0"/>
              </a:rPr>
              <a:t>        </a:t>
            </a:r>
            <a:r>
              <a:rPr lang="fr-FR" sz="2400" dirty="0" smtClean="0">
                <a:latin typeface="Times New Roman" pitchFamily="18" charset="0"/>
                <a:cs typeface="Times New Roman" pitchFamily="18" charset="0"/>
              </a:rPr>
              <a:t>(1)	      (2)		 (k-1)                (k)                (n)</a:t>
            </a:r>
          </a:p>
          <a:p>
            <a:pPr lvl="0" algn="just" eaLnBrk="0" fontAlgn="base" hangingPunct="0">
              <a:spcBef>
                <a:spcPct val="0"/>
              </a:spcBef>
              <a:spcAft>
                <a:spcPct val="0"/>
              </a:spcAft>
            </a:pPr>
            <a:endParaRPr lang="fr-FR" sz="2400" b="1" dirty="0">
              <a:latin typeface="Times New Roman" pitchFamily="18" charset="0"/>
              <a:cs typeface="Times New Roman" pitchFamily="18" charset="0"/>
            </a:endParaRPr>
          </a:p>
          <a:p>
            <a:pPr lvl="0" algn="just" eaLnBrk="0" fontAlgn="base" hangingPunct="0">
              <a:spcBef>
                <a:spcPct val="0"/>
              </a:spcBef>
              <a:spcAft>
                <a:spcPct val="0"/>
              </a:spcAft>
            </a:pPr>
            <a:r>
              <a:rPr lang="fr-FR" sz="2400" b="1" dirty="0" smtClean="0">
                <a:latin typeface="Times New Roman" pitchFamily="18" charset="0"/>
                <a:cs typeface="Times New Roman" pitchFamily="18" charset="0"/>
              </a:rPr>
              <a:t>        </a:t>
            </a:r>
            <a:r>
              <a:rPr lang="fr-FR" sz="2400" dirty="0" smtClean="0">
                <a:latin typeface="Times New Roman" pitchFamily="18" charset="0"/>
                <a:cs typeface="Times New Roman" pitchFamily="18" charset="0"/>
              </a:rPr>
              <a:t>liste-&gt;suivant </a:t>
            </a:r>
          </a:p>
          <a:p>
            <a:pPr lvl="0" algn="just" eaLnBrk="0" fontAlgn="base" hangingPunct="0">
              <a:spcBef>
                <a:spcPct val="0"/>
              </a:spcBef>
              <a:spcAft>
                <a:spcPct val="0"/>
              </a:spcAft>
            </a:pPr>
            <a:r>
              <a:rPr lang="fr-FR" sz="2400" b="1" dirty="0" smtClean="0">
                <a:latin typeface="Times New Roman" pitchFamily="18" charset="0"/>
                <a:cs typeface="Times New Roman" pitchFamily="18" charset="0"/>
              </a:rPr>
              <a:t>                               </a:t>
            </a:r>
            <a:r>
              <a:rPr lang="fr-FR" sz="2400" dirty="0" smtClean="0">
                <a:latin typeface="Times New Roman" pitchFamily="18" charset="0"/>
                <a:cs typeface="Times New Roman" pitchFamily="18" charset="0"/>
              </a:rPr>
              <a:t>(1)               (k-2)             (k-1)             (n-1)</a:t>
            </a:r>
            <a:endParaRPr lang="fr-FR" sz="2400" dirty="0">
              <a:latin typeface="Times New Roman" pitchFamily="18" charset="0"/>
              <a:cs typeface="Times New Roman" pitchFamily="18" charset="0"/>
            </a:endParaRPr>
          </a:p>
          <a:p>
            <a:endParaRPr lang="fr-FR" sz="2400" b="1" dirty="0" smtClean="0">
              <a:latin typeface="Times New Roman" pitchFamily="18" charset="0"/>
              <a:cs typeface="Times New Roman" pitchFamily="18" charset="0"/>
            </a:endParaRPr>
          </a:p>
        </p:txBody>
      </p:sp>
      <p:sp>
        <p:nvSpPr>
          <p:cNvPr id="3" name="Rectangle 2"/>
          <p:cNvSpPr/>
          <p:nvPr/>
        </p:nvSpPr>
        <p:spPr>
          <a:xfrm>
            <a:off x="487998" y="4221782"/>
            <a:ext cx="571472" cy="21431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5" name="Rectangle 4"/>
          <p:cNvSpPr/>
          <p:nvPr/>
        </p:nvSpPr>
        <p:spPr>
          <a:xfrm>
            <a:off x="7061804" y="4914888"/>
            <a:ext cx="1142976" cy="28575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6" name="Rectangle 5"/>
          <p:cNvSpPr/>
          <p:nvPr/>
        </p:nvSpPr>
        <p:spPr>
          <a:xfrm>
            <a:off x="5415884" y="4925048"/>
            <a:ext cx="1142976" cy="28575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7" name="Rectangle 6"/>
          <p:cNvSpPr/>
          <p:nvPr/>
        </p:nvSpPr>
        <p:spPr>
          <a:xfrm>
            <a:off x="3800444" y="4925048"/>
            <a:ext cx="1142976" cy="28575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8" name="Rectangle 7"/>
          <p:cNvSpPr/>
          <p:nvPr/>
        </p:nvSpPr>
        <p:spPr>
          <a:xfrm>
            <a:off x="2164684" y="4925048"/>
            <a:ext cx="1142976" cy="28575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9" name="Rectangle 8"/>
          <p:cNvSpPr/>
          <p:nvPr/>
        </p:nvSpPr>
        <p:spPr>
          <a:xfrm>
            <a:off x="539084" y="4914888"/>
            <a:ext cx="1142976" cy="28575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10" name="Rectangle 9"/>
          <p:cNvSpPr/>
          <p:nvPr/>
        </p:nvSpPr>
        <p:spPr>
          <a:xfrm>
            <a:off x="7082124" y="5981688"/>
            <a:ext cx="1142976" cy="28575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11" name="Rectangle 10"/>
          <p:cNvSpPr/>
          <p:nvPr/>
        </p:nvSpPr>
        <p:spPr>
          <a:xfrm>
            <a:off x="5436204" y="5991848"/>
            <a:ext cx="1142976" cy="28575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12" name="Rectangle 11"/>
          <p:cNvSpPr/>
          <p:nvPr/>
        </p:nvSpPr>
        <p:spPr>
          <a:xfrm>
            <a:off x="2185004" y="6012168"/>
            <a:ext cx="1142976" cy="28575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13" name="Rectangle 12"/>
          <p:cNvSpPr/>
          <p:nvPr/>
        </p:nvSpPr>
        <p:spPr>
          <a:xfrm>
            <a:off x="3800444" y="6012168"/>
            <a:ext cx="1142976" cy="28575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14" name="Rectangle 13"/>
          <p:cNvSpPr/>
          <p:nvPr/>
        </p:nvSpPr>
        <p:spPr>
          <a:xfrm>
            <a:off x="1290638" y="5634022"/>
            <a:ext cx="571472" cy="21431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cxnSp>
        <p:nvCxnSpPr>
          <p:cNvPr id="15" name="Connecteur droit avec flèche 14"/>
          <p:cNvCxnSpPr/>
          <p:nvPr/>
        </p:nvCxnSpPr>
        <p:spPr>
          <a:xfrm>
            <a:off x="1712540" y="5057764"/>
            <a:ext cx="42866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Connecteur droit avec flèche 15"/>
          <p:cNvCxnSpPr/>
          <p:nvPr/>
        </p:nvCxnSpPr>
        <p:spPr>
          <a:xfrm>
            <a:off x="4953580" y="5067924"/>
            <a:ext cx="42866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a:off x="6609660" y="5078084"/>
            <a:ext cx="42866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Connecteur droit avec flèche 17"/>
          <p:cNvCxnSpPr/>
          <p:nvPr/>
        </p:nvCxnSpPr>
        <p:spPr>
          <a:xfrm>
            <a:off x="3358460" y="5078084"/>
            <a:ext cx="42866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Connecteur droit avec flèche 18"/>
          <p:cNvCxnSpPr/>
          <p:nvPr/>
        </p:nvCxnSpPr>
        <p:spPr>
          <a:xfrm>
            <a:off x="6599500" y="6094084"/>
            <a:ext cx="42866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Connecteur droit avec flèche 20"/>
          <p:cNvCxnSpPr/>
          <p:nvPr/>
        </p:nvCxnSpPr>
        <p:spPr>
          <a:xfrm>
            <a:off x="3338140" y="6124564"/>
            <a:ext cx="42866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Connecteur droit 27"/>
          <p:cNvCxnSpPr/>
          <p:nvPr/>
        </p:nvCxnSpPr>
        <p:spPr>
          <a:xfrm>
            <a:off x="792480" y="4328939"/>
            <a:ext cx="50800" cy="585949"/>
          </a:xfrm>
          <a:prstGeom prst="line">
            <a:avLst/>
          </a:prstGeom>
        </p:spPr>
        <p:style>
          <a:lnRef idx="1">
            <a:schemeClr val="dk1"/>
          </a:lnRef>
          <a:fillRef idx="0">
            <a:schemeClr val="dk1"/>
          </a:fillRef>
          <a:effectRef idx="0">
            <a:schemeClr val="dk1"/>
          </a:effectRef>
          <a:fontRef idx="minor">
            <a:schemeClr val="tx1"/>
          </a:fontRef>
        </p:style>
      </p:cxnSp>
      <p:cxnSp>
        <p:nvCxnSpPr>
          <p:cNvPr id="30" name="Connecteur droit 29"/>
          <p:cNvCxnSpPr/>
          <p:nvPr/>
        </p:nvCxnSpPr>
        <p:spPr>
          <a:xfrm>
            <a:off x="1617014" y="5766102"/>
            <a:ext cx="0" cy="340058"/>
          </a:xfrm>
          <a:prstGeom prst="line">
            <a:avLst/>
          </a:prstGeom>
        </p:spPr>
        <p:style>
          <a:lnRef idx="1">
            <a:schemeClr val="dk1"/>
          </a:lnRef>
          <a:fillRef idx="0">
            <a:schemeClr val="dk1"/>
          </a:fillRef>
          <a:effectRef idx="0">
            <a:schemeClr val="dk1"/>
          </a:effectRef>
          <a:fontRef idx="minor">
            <a:schemeClr val="tx1"/>
          </a:fontRef>
        </p:style>
      </p:cxnSp>
      <p:cxnSp>
        <p:nvCxnSpPr>
          <p:cNvPr id="32" name="Connecteur droit avec flèche 31"/>
          <p:cNvCxnSpPr/>
          <p:nvPr/>
        </p:nvCxnSpPr>
        <p:spPr>
          <a:xfrm>
            <a:off x="1566214" y="6135360"/>
            <a:ext cx="5984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Connecteur droit avec flèche 32"/>
          <p:cNvCxnSpPr/>
          <p:nvPr/>
        </p:nvCxnSpPr>
        <p:spPr>
          <a:xfrm>
            <a:off x="4963740" y="6134724"/>
            <a:ext cx="42866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4" name="Connecteur droit 33"/>
          <p:cNvCxnSpPr/>
          <p:nvPr/>
        </p:nvCxnSpPr>
        <p:spPr>
          <a:xfrm rot="16200000" flipH="1">
            <a:off x="2576030" y="5073172"/>
            <a:ext cx="285752" cy="1588"/>
          </a:xfrm>
          <a:prstGeom prst="line">
            <a:avLst/>
          </a:prstGeom>
        </p:spPr>
        <p:style>
          <a:lnRef idx="1">
            <a:schemeClr val="dk1"/>
          </a:lnRef>
          <a:fillRef idx="0">
            <a:schemeClr val="dk1"/>
          </a:fillRef>
          <a:effectRef idx="0">
            <a:schemeClr val="dk1"/>
          </a:effectRef>
          <a:fontRef idx="minor">
            <a:schemeClr val="tx1"/>
          </a:fontRef>
        </p:style>
      </p:cxnSp>
      <p:cxnSp>
        <p:nvCxnSpPr>
          <p:cNvPr id="35" name="Connecteur droit 34"/>
          <p:cNvCxnSpPr/>
          <p:nvPr/>
        </p:nvCxnSpPr>
        <p:spPr>
          <a:xfrm rot="16200000" flipH="1">
            <a:off x="980910" y="5063012"/>
            <a:ext cx="285752" cy="1588"/>
          </a:xfrm>
          <a:prstGeom prst="line">
            <a:avLst/>
          </a:prstGeom>
        </p:spPr>
        <p:style>
          <a:lnRef idx="1">
            <a:schemeClr val="dk1"/>
          </a:lnRef>
          <a:fillRef idx="0">
            <a:schemeClr val="dk1"/>
          </a:fillRef>
          <a:effectRef idx="0">
            <a:schemeClr val="dk1"/>
          </a:effectRef>
          <a:fontRef idx="minor">
            <a:schemeClr val="tx1"/>
          </a:fontRef>
        </p:style>
      </p:cxnSp>
      <p:cxnSp>
        <p:nvCxnSpPr>
          <p:cNvPr id="36" name="Connecteur droit 35"/>
          <p:cNvCxnSpPr/>
          <p:nvPr/>
        </p:nvCxnSpPr>
        <p:spPr>
          <a:xfrm rot="16200000" flipH="1">
            <a:off x="4221950" y="5083332"/>
            <a:ext cx="285752" cy="1588"/>
          </a:xfrm>
          <a:prstGeom prst="line">
            <a:avLst/>
          </a:prstGeom>
        </p:spPr>
        <p:style>
          <a:lnRef idx="1">
            <a:schemeClr val="dk1"/>
          </a:lnRef>
          <a:fillRef idx="0">
            <a:schemeClr val="dk1"/>
          </a:fillRef>
          <a:effectRef idx="0">
            <a:schemeClr val="dk1"/>
          </a:effectRef>
          <a:fontRef idx="minor">
            <a:schemeClr val="tx1"/>
          </a:fontRef>
        </p:style>
      </p:cxnSp>
      <p:cxnSp>
        <p:nvCxnSpPr>
          <p:cNvPr id="37" name="Connecteur droit 36"/>
          <p:cNvCxnSpPr/>
          <p:nvPr/>
        </p:nvCxnSpPr>
        <p:spPr>
          <a:xfrm rot="16200000" flipH="1">
            <a:off x="5837390" y="5073172"/>
            <a:ext cx="285752" cy="1588"/>
          </a:xfrm>
          <a:prstGeom prst="line">
            <a:avLst/>
          </a:prstGeom>
        </p:spPr>
        <p:style>
          <a:lnRef idx="1">
            <a:schemeClr val="dk1"/>
          </a:lnRef>
          <a:fillRef idx="0">
            <a:schemeClr val="dk1"/>
          </a:fillRef>
          <a:effectRef idx="0">
            <a:schemeClr val="dk1"/>
          </a:effectRef>
          <a:fontRef idx="minor">
            <a:schemeClr val="tx1"/>
          </a:fontRef>
        </p:style>
      </p:cxnSp>
      <p:cxnSp>
        <p:nvCxnSpPr>
          <p:cNvPr id="38" name="Connecteur droit 37"/>
          <p:cNvCxnSpPr/>
          <p:nvPr/>
        </p:nvCxnSpPr>
        <p:spPr>
          <a:xfrm rot="16200000" flipH="1">
            <a:off x="7473150" y="5073172"/>
            <a:ext cx="285752" cy="1588"/>
          </a:xfrm>
          <a:prstGeom prst="line">
            <a:avLst/>
          </a:prstGeom>
        </p:spPr>
        <p:style>
          <a:lnRef idx="1">
            <a:schemeClr val="dk1"/>
          </a:lnRef>
          <a:fillRef idx="0">
            <a:schemeClr val="dk1"/>
          </a:fillRef>
          <a:effectRef idx="0">
            <a:schemeClr val="dk1"/>
          </a:effectRef>
          <a:fontRef idx="minor">
            <a:schemeClr val="tx1"/>
          </a:fontRef>
        </p:style>
      </p:cxnSp>
      <p:cxnSp>
        <p:nvCxnSpPr>
          <p:cNvPr id="39" name="Connecteur droit 38"/>
          <p:cNvCxnSpPr/>
          <p:nvPr/>
        </p:nvCxnSpPr>
        <p:spPr>
          <a:xfrm rot="16200000" flipH="1">
            <a:off x="7493470" y="6109492"/>
            <a:ext cx="285752" cy="1588"/>
          </a:xfrm>
          <a:prstGeom prst="line">
            <a:avLst/>
          </a:prstGeom>
        </p:spPr>
        <p:style>
          <a:lnRef idx="1">
            <a:schemeClr val="dk1"/>
          </a:lnRef>
          <a:fillRef idx="0">
            <a:schemeClr val="dk1"/>
          </a:fillRef>
          <a:effectRef idx="0">
            <a:schemeClr val="dk1"/>
          </a:effectRef>
          <a:fontRef idx="minor">
            <a:schemeClr val="tx1"/>
          </a:fontRef>
        </p:style>
      </p:cxnSp>
      <p:cxnSp>
        <p:nvCxnSpPr>
          <p:cNvPr id="40" name="Connecteur droit 39"/>
          <p:cNvCxnSpPr/>
          <p:nvPr/>
        </p:nvCxnSpPr>
        <p:spPr>
          <a:xfrm rot="16200000" flipH="1">
            <a:off x="5847550" y="6150132"/>
            <a:ext cx="285752" cy="1588"/>
          </a:xfrm>
          <a:prstGeom prst="line">
            <a:avLst/>
          </a:prstGeom>
        </p:spPr>
        <p:style>
          <a:lnRef idx="1">
            <a:schemeClr val="dk1"/>
          </a:lnRef>
          <a:fillRef idx="0">
            <a:schemeClr val="dk1"/>
          </a:fillRef>
          <a:effectRef idx="0">
            <a:schemeClr val="dk1"/>
          </a:effectRef>
          <a:fontRef idx="minor">
            <a:schemeClr val="tx1"/>
          </a:fontRef>
        </p:style>
      </p:cxnSp>
      <p:cxnSp>
        <p:nvCxnSpPr>
          <p:cNvPr id="41" name="Connecteur droit 40"/>
          <p:cNvCxnSpPr/>
          <p:nvPr/>
        </p:nvCxnSpPr>
        <p:spPr>
          <a:xfrm rot="16200000" flipH="1">
            <a:off x="4221950" y="6150132"/>
            <a:ext cx="285752" cy="1588"/>
          </a:xfrm>
          <a:prstGeom prst="line">
            <a:avLst/>
          </a:prstGeom>
        </p:spPr>
        <p:style>
          <a:lnRef idx="1">
            <a:schemeClr val="dk1"/>
          </a:lnRef>
          <a:fillRef idx="0">
            <a:schemeClr val="dk1"/>
          </a:fillRef>
          <a:effectRef idx="0">
            <a:schemeClr val="dk1"/>
          </a:effectRef>
          <a:fontRef idx="minor">
            <a:schemeClr val="tx1"/>
          </a:fontRef>
        </p:style>
      </p:cxnSp>
      <p:cxnSp>
        <p:nvCxnSpPr>
          <p:cNvPr id="42" name="Connecteur droit 41"/>
          <p:cNvCxnSpPr/>
          <p:nvPr/>
        </p:nvCxnSpPr>
        <p:spPr>
          <a:xfrm rot="16200000" flipH="1">
            <a:off x="2606510" y="6139972"/>
            <a:ext cx="285752" cy="1588"/>
          </a:xfrm>
          <a:prstGeom prst="line">
            <a:avLst/>
          </a:prstGeom>
        </p:spPr>
        <p:style>
          <a:lnRef idx="1">
            <a:schemeClr val="dk1"/>
          </a:lnRef>
          <a:fillRef idx="0">
            <a:schemeClr val="dk1"/>
          </a:fillRef>
          <a:effectRef idx="0">
            <a:schemeClr val="dk1"/>
          </a:effectRef>
          <a:fontRef idx="minor">
            <a:schemeClr val="tx1"/>
          </a:fontRef>
        </p:style>
      </p:cxnSp>
      <p:cxnSp>
        <p:nvCxnSpPr>
          <p:cNvPr id="44" name="Connecteur droit 43"/>
          <p:cNvCxnSpPr/>
          <p:nvPr/>
        </p:nvCxnSpPr>
        <p:spPr>
          <a:xfrm flipV="1">
            <a:off x="7615232" y="4914888"/>
            <a:ext cx="589548" cy="285752"/>
          </a:xfrm>
          <a:prstGeom prst="line">
            <a:avLst/>
          </a:prstGeom>
        </p:spPr>
        <p:style>
          <a:lnRef idx="1">
            <a:schemeClr val="dk1"/>
          </a:lnRef>
          <a:fillRef idx="0">
            <a:schemeClr val="dk1"/>
          </a:fillRef>
          <a:effectRef idx="0">
            <a:schemeClr val="dk1"/>
          </a:effectRef>
          <a:fontRef idx="minor">
            <a:schemeClr val="tx1"/>
          </a:fontRef>
        </p:style>
      </p:cxnSp>
      <p:cxnSp>
        <p:nvCxnSpPr>
          <p:cNvPr id="45" name="Connecteur droit 44"/>
          <p:cNvCxnSpPr/>
          <p:nvPr/>
        </p:nvCxnSpPr>
        <p:spPr>
          <a:xfrm flipV="1">
            <a:off x="7584752" y="5991848"/>
            <a:ext cx="589548" cy="28575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66151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3680" y="178138"/>
            <a:ext cx="11765280" cy="6647974"/>
          </a:xfrm>
          <a:prstGeom prst="rect">
            <a:avLst/>
          </a:prstGeom>
        </p:spPr>
        <p:txBody>
          <a:bodyPr wrap="square">
            <a:spAutoFit/>
          </a:bodyPr>
          <a:lstStyle/>
          <a:p>
            <a:pPr lvl="0"/>
            <a:r>
              <a:rPr lang="en-GB" sz="2400" dirty="0" err="1">
                <a:latin typeface="Times New Roman" pitchFamily="18" charset="0"/>
                <a:cs typeface="Times New Roman" pitchFamily="18" charset="0"/>
              </a:rPr>
              <a:t>Raisonnement</a:t>
            </a:r>
            <a:endParaRPr lang="fr-FR" sz="2400" dirty="0">
              <a:latin typeface="Times New Roman" pitchFamily="18" charset="0"/>
              <a:cs typeface="Times New Roman" pitchFamily="18" charset="0"/>
            </a:endParaRPr>
          </a:p>
          <a:p>
            <a:pPr lvl="0">
              <a:buFont typeface="Arial" pitchFamily="34" charset="0"/>
              <a:buChar char="•"/>
            </a:pPr>
            <a:r>
              <a:rPr lang="fr-FR" sz="2400" dirty="0">
                <a:latin typeface="Times New Roman" pitchFamily="18" charset="0"/>
                <a:cs typeface="Times New Roman" pitchFamily="18" charset="0"/>
              </a:rPr>
              <a:t> liste+ est vide. Algorithme est terminé, le </a:t>
            </a:r>
            <a:r>
              <a:rPr lang="fr-FR" sz="2400" dirty="0" err="1">
                <a:latin typeface="Times New Roman" pitchFamily="18" charset="0"/>
                <a:cs typeface="Times New Roman" pitchFamily="18" charset="0"/>
              </a:rPr>
              <a:t>k</a:t>
            </a:r>
            <a:r>
              <a:rPr lang="fr-FR" sz="2400" baseline="30000" dirty="0" err="1">
                <a:latin typeface="Times New Roman" pitchFamily="18" charset="0"/>
                <a:cs typeface="Times New Roman" pitchFamily="18" charset="0"/>
              </a:rPr>
              <a:t>ième</a:t>
            </a:r>
            <a:r>
              <a:rPr lang="fr-FR" sz="2400" dirty="0">
                <a:latin typeface="Times New Roman" pitchFamily="18" charset="0"/>
                <a:cs typeface="Times New Roman" pitchFamily="18" charset="0"/>
              </a:rPr>
              <a:t> élément n‘existe pas et </a:t>
            </a:r>
            <a:r>
              <a:rPr lang="fr-FR" sz="2400" b="1" dirty="0" err="1">
                <a:latin typeface="Times New Roman" pitchFamily="18" charset="0"/>
                <a:cs typeface="Times New Roman" pitchFamily="18" charset="0"/>
              </a:rPr>
              <a:t>pointk</a:t>
            </a:r>
            <a:r>
              <a:rPr lang="fr-FR" sz="2400" dirty="0">
                <a:latin typeface="Times New Roman" pitchFamily="18" charset="0"/>
                <a:cs typeface="Times New Roman" pitchFamily="18" charset="0"/>
              </a:rPr>
              <a:t> prend la valeur   </a:t>
            </a:r>
          </a:p>
          <a:p>
            <a:pPr lvl="0"/>
            <a:r>
              <a:rPr lang="fr-FR" sz="2400" dirty="0">
                <a:latin typeface="Times New Roman" pitchFamily="18" charset="0"/>
                <a:cs typeface="Times New Roman" pitchFamily="18" charset="0"/>
              </a:rPr>
              <a:t>                           </a:t>
            </a:r>
            <a:r>
              <a:rPr lang="fr-FR" sz="2400" b="1" dirty="0" err="1">
                <a:latin typeface="Times New Roman" pitchFamily="18" charset="0"/>
                <a:cs typeface="Times New Roman" pitchFamily="18" charset="0"/>
              </a:rPr>
              <a:t>nil</a:t>
            </a:r>
            <a:r>
              <a:rPr lang="fr-FR" sz="2400" b="1" dirty="0">
                <a:latin typeface="Times New Roman" pitchFamily="18" charset="0"/>
                <a:cs typeface="Times New Roman" pitchFamily="18" charset="0"/>
              </a:rPr>
              <a:t> : retourner liste</a:t>
            </a:r>
            <a:r>
              <a:rPr lang="fr-FR" sz="2400" dirty="0">
                <a:latin typeface="Times New Roman" pitchFamily="18" charset="0"/>
                <a:cs typeface="Times New Roman" pitchFamily="18" charset="0"/>
              </a:rPr>
              <a:t>;	*</a:t>
            </a:r>
          </a:p>
          <a:p>
            <a:pPr lvl="0">
              <a:buFont typeface="Arial" pitchFamily="34" charset="0"/>
              <a:buChar char="•"/>
            </a:pPr>
            <a:r>
              <a:rPr lang="fr-FR" sz="2400" dirty="0">
                <a:latin typeface="Times New Roman" pitchFamily="18" charset="0"/>
                <a:cs typeface="Times New Roman" pitchFamily="18" charset="0"/>
              </a:rPr>
              <a:t> liste+ </a:t>
            </a:r>
            <a:r>
              <a:rPr lang="nl-NL" sz="2400" dirty="0" err="1">
                <a:latin typeface="Times New Roman" pitchFamily="18" charset="0"/>
                <a:cs typeface="Times New Roman" pitchFamily="18" charset="0"/>
                <a:sym typeface="Symbol"/>
              </a:rPr>
              <a:t>n’est</a:t>
            </a:r>
            <a:r>
              <a:rPr lang="nl-NL" sz="2400" dirty="0">
                <a:latin typeface="Times New Roman" pitchFamily="18" charset="0"/>
                <a:cs typeface="Times New Roman" pitchFamily="18" charset="0"/>
                <a:sym typeface="Symbol"/>
              </a:rPr>
              <a:t> pas vide.</a:t>
            </a:r>
            <a:endParaRPr lang="fr-FR" sz="2400" dirty="0">
              <a:latin typeface="Times New Roman" pitchFamily="18" charset="0"/>
              <a:cs typeface="Times New Roman" pitchFamily="18" charset="0"/>
            </a:endParaRPr>
          </a:p>
          <a:p>
            <a:r>
              <a:rPr lang="fr-FR" sz="2400" dirty="0">
                <a:latin typeface="Times New Roman" pitchFamily="18" charset="0"/>
                <a:cs typeface="Times New Roman" pitchFamily="18" charset="0"/>
              </a:rPr>
              <a:t>	°°  k = 1. Algorithme est terminé et </a:t>
            </a:r>
            <a:r>
              <a:rPr lang="fr-FR" sz="2400" b="1" dirty="0" err="1">
                <a:latin typeface="Times New Roman" pitchFamily="18" charset="0"/>
                <a:cs typeface="Times New Roman" pitchFamily="18" charset="0"/>
              </a:rPr>
              <a:t>pointk</a:t>
            </a:r>
            <a:r>
              <a:rPr lang="fr-FR" sz="2400" dirty="0">
                <a:latin typeface="Times New Roman" pitchFamily="18" charset="0"/>
                <a:cs typeface="Times New Roman" pitchFamily="18" charset="0"/>
              </a:rPr>
              <a:t> prend la valeur de l’adresse contenue dans </a:t>
            </a:r>
          </a:p>
          <a:p>
            <a:r>
              <a:rPr lang="fr-FR" sz="2400" dirty="0">
                <a:latin typeface="Times New Roman" pitchFamily="18" charset="0"/>
                <a:cs typeface="Times New Roman" pitchFamily="18" charset="0"/>
              </a:rPr>
              <a:t>                                la variable </a:t>
            </a:r>
            <a:r>
              <a:rPr lang="fr-FR" sz="2400" b="1" dirty="0">
                <a:latin typeface="Times New Roman" pitchFamily="18" charset="0"/>
                <a:cs typeface="Times New Roman" pitchFamily="18" charset="0"/>
              </a:rPr>
              <a:t>liste</a:t>
            </a:r>
            <a:r>
              <a:rPr lang="fr-FR" sz="2400" dirty="0">
                <a:latin typeface="Times New Roman" pitchFamily="18" charset="0"/>
                <a:cs typeface="Times New Roman" pitchFamily="18" charset="0"/>
              </a:rPr>
              <a:t> : </a:t>
            </a:r>
            <a:r>
              <a:rPr lang="fr-FR" sz="2400" b="1" dirty="0">
                <a:latin typeface="Times New Roman" pitchFamily="18" charset="0"/>
                <a:cs typeface="Times New Roman" pitchFamily="18" charset="0"/>
              </a:rPr>
              <a:t>retourner liste</a:t>
            </a:r>
            <a:r>
              <a:rPr lang="fr-FR" sz="2400" dirty="0">
                <a:latin typeface="Times New Roman" pitchFamily="18" charset="0"/>
                <a:cs typeface="Times New Roman" pitchFamily="18" charset="0"/>
              </a:rPr>
              <a:t>;</a:t>
            </a:r>
          </a:p>
          <a:p>
            <a:r>
              <a:rPr lang="fr-FR" sz="2400" dirty="0">
                <a:latin typeface="Times New Roman" pitchFamily="18" charset="0"/>
                <a:cs typeface="Times New Roman" pitchFamily="18" charset="0"/>
              </a:rPr>
              <a:t>	°°  k </a:t>
            </a:r>
            <a:r>
              <a:rPr lang="fr-FR" sz="2400" dirty="0">
                <a:latin typeface="Times New Roman" pitchFamily="18" charset="0"/>
                <a:cs typeface="Times New Roman" pitchFamily="18" charset="0"/>
                <a:sym typeface="Symbol"/>
              </a:rPr>
              <a:t></a:t>
            </a:r>
            <a:r>
              <a:rPr lang="fr-FR" sz="2400" dirty="0">
                <a:latin typeface="Times New Roman" pitchFamily="18" charset="0"/>
                <a:cs typeface="Times New Roman" pitchFamily="18" charset="0"/>
              </a:rPr>
              <a:t> 1. On rappelle la fonction pour chercher le k-1</a:t>
            </a:r>
            <a:r>
              <a:rPr lang="fr-FR" sz="2400" baseline="30000" dirty="0">
                <a:latin typeface="Times New Roman" pitchFamily="18" charset="0"/>
                <a:cs typeface="Times New Roman" pitchFamily="18" charset="0"/>
              </a:rPr>
              <a:t>ième</a:t>
            </a:r>
            <a:r>
              <a:rPr lang="fr-FR" sz="2400" dirty="0">
                <a:latin typeface="Times New Roman" pitchFamily="18" charset="0"/>
                <a:cs typeface="Times New Roman" pitchFamily="18" charset="0"/>
              </a:rPr>
              <a:t> élément dans la sous-liste </a:t>
            </a:r>
          </a:p>
          <a:p>
            <a:r>
              <a:rPr lang="fr-FR" sz="2400" i="1" dirty="0">
                <a:latin typeface="Times New Roman" pitchFamily="18" charset="0"/>
                <a:cs typeface="Times New Roman" pitchFamily="18" charset="0"/>
              </a:rPr>
              <a:t>                                </a:t>
            </a:r>
            <a:r>
              <a:rPr lang="fr-FR" sz="2400" b="1" dirty="0">
                <a:latin typeface="Times New Roman" pitchFamily="18" charset="0"/>
                <a:cs typeface="Times New Roman" pitchFamily="18" charset="0"/>
              </a:rPr>
              <a:t>liste-&gt;suivant+ </a:t>
            </a:r>
            <a:r>
              <a:rPr lang="fr-FR" sz="2400" dirty="0">
                <a:latin typeface="Times New Roman" pitchFamily="18" charset="0"/>
                <a:cs typeface="Times New Roman" pitchFamily="18" charset="0"/>
              </a:rPr>
              <a:t>:</a:t>
            </a:r>
            <a:r>
              <a:rPr lang="fr-FR" sz="2400" b="1" dirty="0">
                <a:latin typeface="Times New Roman" pitchFamily="18" charset="0"/>
                <a:cs typeface="Times New Roman" pitchFamily="18" charset="0"/>
              </a:rPr>
              <a:t> retourner (</a:t>
            </a:r>
            <a:r>
              <a:rPr lang="fr-FR" sz="2400" b="1" dirty="0" err="1">
                <a:latin typeface="Times New Roman" pitchFamily="18" charset="0"/>
                <a:cs typeface="Times New Roman" pitchFamily="18" charset="0"/>
              </a:rPr>
              <a:t>pointk</a:t>
            </a:r>
            <a:r>
              <a:rPr lang="fr-FR" sz="2400" b="1" dirty="0">
                <a:latin typeface="Times New Roman" pitchFamily="18" charset="0"/>
                <a:cs typeface="Times New Roman" pitchFamily="18" charset="0"/>
              </a:rPr>
              <a:t>(liste-&gt;suivant, k-1))</a:t>
            </a:r>
            <a:r>
              <a:rPr lang="fr-FR" sz="2400" dirty="0">
                <a:latin typeface="Times New Roman" pitchFamily="18" charset="0"/>
                <a:cs typeface="Times New Roman" pitchFamily="18" charset="0"/>
              </a:rPr>
              <a:t>;</a:t>
            </a:r>
          </a:p>
          <a:p>
            <a:pPr lvl="1"/>
            <a:endParaRPr lang="fr-FR" sz="2400" dirty="0">
              <a:latin typeface="Times New Roman" pitchFamily="18" charset="0"/>
              <a:cs typeface="Times New Roman" pitchFamily="18" charset="0"/>
            </a:endParaRPr>
          </a:p>
          <a:p>
            <a:pPr marL="0" lvl="1"/>
            <a:r>
              <a:rPr lang="en-GB" sz="2400" dirty="0">
                <a:latin typeface="Times New Roman" pitchFamily="18" charset="0"/>
                <a:cs typeface="Times New Roman" pitchFamily="18" charset="0"/>
              </a:rPr>
              <a:t>On </a:t>
            </a:r>
            <a:r>
              <a:rPr lang="en-GB" sz="2400" dirty="0" err="1">
                <a:latin typeface="Times New Roman" pitchFamily="18" charset="0"/>
                <a:cs typeface="Times New Roman" pitchFamily="18" charset="0"/>
              </a:rPr>
              <a:t>peut</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mettre</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en</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facteur</a:t>
            </a:r>
            <a:r>
              <a:rPr lang="en-GB" sz="2400" dirty="0">
                <a:latin typeface="Times New Roman" pitchFamily="18" charset="0"/>
                <a:cs typeface="Times New Roman" pitchFamily="18" charset="0"/>
              </a:rPr>
              <a:t> </a:t>
            </a:r>
            <a:r>
              <a:rPr lang="en-GB" sz="2400" b="1" dirty="0" err="1">
                <a:latin typeface="Times New Roman" pitchFamily="18" charset="0"/>
                <a:cs typeface="Times New Roman" pitchFamily="18" charset="0"/>
              </a:rPr>
              <a:t>retourner</a:t>
            </a:r>
            <a:r>
              <a:rPr lang="en-GB" sz="2400" b="1" dirty="0">
                <a:latin typeface="Times New Roman" pitchFamily="18" charset="0"/>
                <a:cs typeface="Times New Roman" pitchFamily="18" charset="0"/>
              </a:rPr>
              <a:t> </a:t>
            </a:r>
            <a:r>
              <a:rPr lang="en-GB" sz="2400" b="1" dirty="0" err="1">
                <a:latin typeface="Times New Roman" pitchFamily="18" charset="0"/>
                <a:cs typeface="Times New Roman" pitchFamily="18" charset="0"/>
              </a:rPr>
              <a:t>liste</a:t>
            </a:r>
            <a:r>
              <a:rPr lang="en-GB" sz="2400" b="1" dirty="0">
                <a:latin typeface="Times New Roman" pitchFamily="18" charset="0"/>
                <a:cs typeface="Times New Roman" pitchFamily="18" charset="0"/>
              </a:rPr>
              <a:t>;</a:t>
            </a:r>
            <a:endParaRPr lang="fr-FR" sz="2400" b="1" dirty="0">
              <a:latin typeface="Times New Roman" pitchFamily="18" charset="0"/>
              <a:cs typeface="Times New Roman" pitchFamily="18" charset="0"/>
            </a:endParaRPr>
          </a:p>
          <a:p>
            <a:pPr lvl="0" algn="just" fontAlgn="base">
              <a:spcBef>
                <a:spcPct val="0"/>
              </a:spcBef>
              <a:spcAft>
                <a:spcPct val="0"/>
              </a:spcAft>
            </a:pPr>
            <a:endParaRPr lang="fr-FR" dirty="0" smtClean="0">
              <a:latin typeface="Times New Roman" pitchFamily="18" charset="0"/>
              <a:ea typeface="Times New Roman" pitchFamily="18" charset="0"/>
              <a:cs typeface="Times New Roman" pitchFamily="18" charset="0"/>
            </a:endParaRPr>
          </a:p>
          <a:p>
            <a:pPr lvl="0" algn="just" fontAlgn="base">
              <a:spcBef>
                <a:spcPct val="0"/>
              </a:spcBef>
              <a:spcAft>
                <a:spcPct val="0"/>
              </a:spcAft>
            </a:pPr>
            <a:r>
              <a:rPr lang="fr-FR" sz="2400" dirty="0" smtClean="0">
                <a:latin typeface="Times New Roman" pitchFamily="18" charset="0"/>
                <a:ea typeface="Times New Roman" pitchFamily="18" charset="0"/>
                <a:cs typeface="Times New Roman" pitchFamily="18" charset="0"/>
              </a:rPr>
              <a:t>Accès </a:t>
            </a:r>
            <a:r>
              <a:rPr lang="fr-FR" sz="2400" dirty="0">
                <a:latin typeface="Times New Roman" pitchFamily="18" charset="0"/>
                <a:ea typeface="Times New Roman" pitchFamily="18" charset="0"/>
                <a:cs typeface="Times New Roman" pitchFamily="18" charset="0"/>
              </a:rPr>
              <a:t>par position, schéma récursif.</a:t>
            </a:r>
            <a:endParaRPr lang="fr-FR" sz="2400" dirty="0">
              <a:latin typeface="Times New Roman" pitchFamily="18" charset="0"/>
              <a:cs typeface="Times New Roman" pitchFamily="18" charset="0"/>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pointeur fonction </a:t>
            </a:r>
            <a:r>
              <a:rPr lang="fr-FR" sz="2400" dirty="0" err="1">
                <a:latin typeface="Times New Roman" pitchFamily="18" charset="0"/>
                <a:ea typeface="Times New Roman" pitchFamily="18" charset="0"/>
                <a:cs typeface="Times New Roman" pitchFamily="18" charset="0"/>
              </a:rPr>
              <a:t>pointk</a:t>
            </a:r>
            <a:r>
              <a:rPr lang="fr-FR" sz="2400" b="1" dirty="0">
                <a:latin typeface="Times New Roman" pitchFamily="18" charset="0"/>
                <a:ea typeface="Times New Roman" pitchFamily="18" charset="0"/>
                <a:cs typeface="Times New Roman" pitchFamily="18" charset="0"/>
              </a:rPr>
              <a:t>(</a:t>
            </a:r>
            <a:r>
              <a:rPr lang="fr-FR" sz="2400" dirty="0">
                <a:latin typeface="Times New Roman" pitchFamily="18" charset="0"/>
                <a:ea typeface="Times New Roman" pitchFamily="18" charset="0"/>
                <a:cs typeface="Times New Roman" pitchFamily="18" charset="0"/>
              </a:rPr>
              <a:t>d </a:t>
            </a:r>
            <a:r>
              <a:rPr lang="fr-FR" sz="2400" b="1" dirty="0">
                <a:latin typeface="Times New Roman" pitchFamily="18" charset="0"/>
                <a:ea typeface="Times New Roman" pitchFamily="18" charset="0"/>
                <a:cs typeface="Times New Roman" pitchFamily="18" charset="0"/>
              </a:rPr>
              <a:t>pointeur </a:t>
            </a:r>
            <a:r>
              <a:rPr lang="fr-FR" sz="2400" dirty="0">
                <a:latin typeface="Times New Roman" pitchFamily="18" charset="0"/>
                <a:ea typeface="Times New Roman" pitchFamily="18" charset="0"/>
                <a:cs typeface="Times New Roman" pitchFamily="18" charset="0"/>
              </a:rPr>
              <a:t>l</a:t>
            </a:r>
            <a:r>
              <a:rPr lang="fr-FR" sz="2400" b="1" dirty="0">
                <a:latin typeface="Times New Roman" pitchFamily="18" charset="0"/>
                <a:ea typeface="Times New Roman" pitchFamily="18" charset="0"/>
                <a:cs typeface="Times New Roman" pitchFamily="18" charset="0"/>
              </a:rPr>
              <a:t>, d entier </a:t>
            </a:r>
            <a:r>
              <a:rPr lang="fr-FR" sz="2400" dirty="0">
                <a:latin typeface="Times New Roman" pitchFamily="18" charset="0"/>
                <a:ea typeface="Times New Roman" pitchFamily="18" charset="0"/>
                <a:cs typeface="Times New Roman" pitchFamily="18" charset="0"/>
              </a:rPr>
              <a:t>k</a:t>
            </a:r>
            <a:r>
              <a:rPr lang="fr-FR" sz="2400" b="1" dirty="0">
                <a:latin typeface="Times New Roman" pitchFamily="18" charset="0"/>
                <a:ea typeface="Times New Roman" pitchFamily="18" charset="0"/>
                <a:cs typeface="Times New Roman" pitchFamily="18" charset="0"/>
              </a:rPr>
              <a:t>) </a:t>
            </a:r>
          </a:p>
          <a:p>
            <a:pPr lvl="0" algn="just" eaLnBrk="0" fontAlgn="base" hangingPunct="0">
              <a:spcBef>
                <a:spcPct val="0"/>
              </a:spcBef>
              <a:spcAft>
                <a:spcPct val="0"/>
              </a:spcAft>
            </a:pPr>
            <a:r>
              <a:rPr lang="fr-FR" sz="2400" b="1" dirty="0" err="1">
                <a:latin typeface="Times New Roman" pitchFamily="18" charset="0"/>
                <a:ea typeface="Times New Roman" pitchFamily="18" charset="0"/>
                <a:cs typeface="Times New Roman" pitchFamily="18" charset="0"/>
              </a:rPr>
              <a:t>defonc</a:t>
            </a:r>
            <a:r>
              <a:rPr lang="fr-FR" sz="2400" b="1" dirty="0">
                <a:latin typeface="Times New Roman" pitchFamily="18" charset="0"/>
                <a:ea typeface="Times New Roman" pitchFamily="18" charset="0"/>
                <a:cs typeface="Times New Roman" pitchFamily="18" charset="0"/>
              </a:rPr>
              <a:t>   </a:t>
            </a: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si (</a:t>
            </a:r>
            <a:r>
              <a:rPr lang="fr-FR" sz="2400" dirty="0">
                <a:latin typeface="Times New Roman" pitchFamily="18" charset="0"/>
                <a:ea typeface="Times New Roman" pitchFamily="18" charset="0"/>
                <a:cs typeface="Times New Roman" pitchFamily="18" charset="0"/>
              </a:rPr>
              <a:t>l</a:t>
            </a:r>
            <a:r>
              <a:rPr lang="fr-FR" sz="2400" b="1" dirty="0">
                <a:latin typeface="Times New Roman" pitchFamily="18" charset="0"/>
                <a:ea typeface="Times New Roman" pitchFamily="18" charset="0"/>
                <a:cs typeface="Times New Roman" pitchFamily="18" charset="0"/>
              </a:rPr>
              <a:t>=</a:t>
            </a:r>
            <a:r>
              <a:rPr lang="fr-FR" sz="2400" b="1" dirty="0" err="1">
                <a:latin typeface="Times New Roman" pitchFamily="18" charset="0"/>
                <a:ea typeface="Times New Roman" pitchFamily="18" charset="0"/>
                <a:cs typeface="Times New Roman" pitchFamily="18" charset="0"/>
              </a:rPr>
              <a:t>nil</a:t>
            </a:r>
            <a:r>
              <a:rPr lang="fr-FR" sz="2400" b="1" dirty="0">
                <a:latin typeface="Times New Roman" pitchFamily="18" charset="0"/>
                <a:ea typeface="Times New Roman" pitchFamily="18" charset="0"/>
                <a:cs typeface="Times New Roman" pitchFamily="18" charset="0"/>
              </a:rPr>
              <a:t>) ou (</a:t>
            </a:r>
            <a:r>
              <a:rPr lang="fr-FR" sz="2400" dirty="0">
                <a:latin typeface="Times New Roman" pitchFamily="18" charset="0"/>
                <a:ea typeface="Times New Roman" pitchFamily="18" charset="0"/>
                <a:cs typeface="Times New Roman" pitchFamily="18" charset="0"/>
              </a:rPr>
              <a:t>k</a:t>
            </a:r>
            <a:r>
              <a:rPr lang="fr-FR" sz="2400" b="1" dirty="0">
                <a:latin typeface="Times New Roman" pitchFamily="18" charset="0"/>
                <a:ea typeface="Times New Roman" pitchFamily="18" charset="0"/>
                <a:cs typeface="Times New Roman" pitchFamily="18" charset="0"/>
              </a:rPr>
              <a:t>=1) alors retourner </a:t>
            </a:r>
            <a:r>
              <a:rPr lang="fr-FR" sz="2400" dirty="0">
                <a:latin typeface="Times New Roman" pitchFamily="18" charset="0"/>
                <a:ea typeface="Times New Roman" pitchFamily="18" charset="0"/>
                <a:cs typeface="Times New Roman" pitchFamily="18" charset="0"/>
              </a:rPr>
              <a:t>l</a:t>
            </a:r>
            <a:r>
              <a:rPr lang="fr-FR" sz="2400" b="1" dirty="0">
                <a:latin typeface="Times New Roman" pitchFamily="18" charset="0"/>
                <a:ea typeface="Times New Roman" pitchFamily="18" charset="0"/>
                <a:cs typeface="Times New Roman" pitchFamily="18" charset="0"/>
              </a:rPr>
              <a:t>;</a:t>
            </a:r>
            <a:endParaRPr lang="fr-FR" sz="2400" b="1" dirty="0">
              <a:latin typeface="Times New Roman" pitchFamily="18" charset="0"/>
              <a:cs typeface="Times New Roman" pitchFamily="18" charset="0"/>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sinon retourner (</a:t>
            </a:r>
            <a:r>
              <a:rPr lang="fr-FR" sz="2400" dirty="0" err="1">
                <a:latin typeface="Times New Roman" pitchFamily="18" charset="0"/>
                <a:ea typeface="Times New Roman" pitchFamily="18" charset="0"/>
                <a:cs typeface="Times New Roman" pitchFamily="18" charset="0"/>
              </a:rPr>
              <a:t>pointk</a:t>
            </a:r>
            <a:r>
              <a:rPr lang="fr-FR" sz="2400" b="1" dirty="0">
                <a:latin typeface="Times New Roman" pitchFamily="18" charset="0"/>
                <a:ea typeface="Times New Roman" pitchFamily="18" charset="0"/>
                <a:cs typeface="Times New Roman" pitchFamily="18" charset="0"/>
              </a:rPr>
              <a:t>(</a:t>
            </a:r>
            <a:r>
              <a:rPr lang="fr-FR" sz="2400" dirty="0">
                <a:latin typeface="Times New Roman" pitchFamily="18" charset="0"/>
                <a:ea typeface="Times New Roman" pitchFamily="18" charset="0"/>
                <a:cs typeface="Times New Roman" pitchFamily="18" charset="0"/>
              </a:rPr>
              <a:t>l-&gt;suivant, k-1</a:t>
            </a:r>
            <a:r>
              <a:rPr lang="fr-FR" sz="2400" b="1" dirty="0">
                <a:latin typeface="Times New Roman" pitchFamily="18" charset="0"/>
                <a:ea typeface="Times New Roman" pitchFamily="18" charset="0"/>
                <a:cs typeface="Times New Roman" pitchFamily="18" charset="0"/>
              </a:rPr>
              <a:t>));</a:t>
            </a:r>
            <a:endParaRPr lang="fr-FR" sz="2400" b="1" dirty="0">
              <a:latin typeface="Times New Roman" pitchFamily="18" charset="0"/>
              <a:cs typeface="Times New Roman" pitchFamily="18" charset="0"/>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a:t>
            </a:r>
            <a:r>
              <a:rPr lang="fr-FR" sz="2400" b="1" dirty="0" err="1">
                <a:latin typeface="Times New Roman" pitchFamily="18" charset="0"/>
                <a:ea typeface="Times New Roman" pitchFamily="18" charset="0"/>
                <a:cs typeface="Times New Roman" pitchFamily="18" charset="0"/>
              </a:rPr>
              <a:t>finsi</a:t>
            </a:r>
            <a:r>
              <a:rPr lang="fr-FR" sz="2400" b="1" dirty="0">
                <a:latin typeface="Times New Roman" pitchFamily="18" charset="0"/>
                <a:ea typeface="Times New Roman" pitchFamily="18" charset="0"/>
                <a:cs typeface="Times New Roman" pitchFamily="18" charset="0"/>
              </a:rPr>
              <a:t>;</a:t>
            </a:r>
          </a:p>
          <a:p>
            <a:pPr lvl="0" algn="just" eaLnBrk="0" fontAlgn="base" hangingPunct="0">
              <a:spcBef>
                <a:spcPct val="0"/>
              </a:spcBef>
              <a:spcAft>
                <a:spcPct val="0"/>
              </a:spcAft>
            </a:pPr>
            <a:r>
              <a:rPr lang="fr-FR" sz="2400" b="1" dirty="0" err="1">
                <a:latin typeface="Times New Roman" pitchFamily="18" charset="0"/>
                <a:ea typeface="Times New Roman" pitchFamily="18" charset="0"/>
                <a:cs typeface="Times New Roman" pitchFamily="18" charset="0"/>
              </a:rPr>
              <a:t>finfonc</a:t>
            </a:r>
            <a:r>
              <a:rPr lang="fr-FR" sz="2400" b="1" dirty="0">
                <a:latin typeface="Times New Roman" pitchFamily="18" charset="0"/>
                <a:ea typeface="Times New Roman" pitchFamily="18" charset="0"/>
                <a:cs typeface="Times New Roman" pitchFamily="18" charset="0"/>
              </a:rPr>
              <a:t>;</a:t>
            </a:r>
          </a:p>
        </p:txBody>
      </p:sp>
    </p:spTree>
    <p:extLst>
      <p:ext uri="{BB962C8B-B14F-4D97-AF65-F5344CB8AC3E}">
        <p14:creationId xmlns:p14="http://schemas.microsoft.com/office/powerpoint/2010/main" val="36629718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2720" y="447606"/>
            <a:ext cx="11846560" cy="5262979"/>
          </a:xfrm>
          <a:prstGeom prst="rect">
            <a:avLst/>
          </a:prstGeom>
        </p:spPr>
        <p:txBody>
          <a:bodyPr wrap="square">
            <a:spAutoFit/>
          </a:bodyPr>
          <a:lstStyle/>
          <a:p>
            <a:r>
              <a:rPr lang="fr-FR" sz="2400" dirty="0" smtClean="0">
                <a:latin typeface="Times New Roman" pitchFamily="18" charset="0"/>
                <a:cs typeface="Times New Roman" pitchFamily="18" charset="0"/>
              </a:rPr>
              <a:t>c</a:t>
            </a:r>
            <a:r>
              <a:rPr lang="fr-FR" sz="2400" dirty="0">
                <a:latin typeface="Times New Roman" pitchFamily="18" charset="0"/>
                <a:cs typeface="Times New Roman" pitchFamily="18" charset="0"/>
              </a:rPr>
              <a:t>) </a:t>
            </a:r>
            <a:r>
              <a:rPr lang="fr-FR" sz="2400" u="sng" dirty="0">
                <a:latin typeface="Times New Roman" pitchFamily="18" charset="0"/>
                <a:cs typeface="Times New Roman" pitchFamily="18" charset="0"/>
              </a:rPr>
              <a:t>Accès associatif dans une liste triée</a:t>
            </a:r>
          </a:p>
          <a:p>
            <a:r>
              <a:rPr lang="fr-FR" sz="2400" dirty="0">
                <a:latin typeface="Times New Roman" pitchFamily="18" charset="0"/>
                <a:cs typeface="Times New Roman" pitchFamily="18" charset="0"/>
              </a:rPr>
              <a:t>- </a:t>
            </a:r>
            <a:r>
              <a:rPr lang="fr-FR" sz="2400" u="sng" dirty="0">
                <a:latin typeface="Times New Roman" pitchFamily="18" charset="0"/>
                <a:cs typeface="Times New Roman" pitchFamily="18" charset="0"/>
              </a:rPr>
              <a:t>définition d’une liste triée</a:t>
            </a:r>
          </a:p>
          <a:p>
            <a:r>
              <a:rPr lang="fr-FR" sz="2400" dirty="0">
                <a:latin typeface="Times New Roman" pitchFamily="18" charset="0"/>
                <a:cs typeface="Times New Roman" pitchFamily="18" charset="0"/>
              </a:rPr>
              <a:t>* une liste </a:t>
            </a:r>
            <a:r>
              <a:rPr lang="fr-FR" sz="2400" b="1" dirty="0">
                <a:latin typeface="Times New Roman" pitchFamily="18" charset="0"/>
                <a:cs typeface="Times New Roman" pitchFamily="18" charset="0"/>
              </a:rPr>
              <a:t>vide</a:t>
            </a:r>
            <a:r>
              <a:rPr lang="fr-FR" sz="2400" dirty="0">
                <a:latin typeface="Times New Roman" pitchFamily="18" charset="0"/>
                <a:cs typeface="Times New Roman" pitchFamily="18" charset="0"/>
              </a:rPr>
              <a:t> est triée,</a:t>
            </a:r>
          </a:p>
          <a:p>
            <a:r>
              <a:rPr lang="fr-FR" sz="2400" dirty="0">
                <a:latin typeface="Times New Roman" pitchFamily="18" charset="0"/>
                <a:cs typeface="Times New Roman" pitchFamily="18" charset="0"/>
              </a:rPr>
              <a:t>* une liste d’</a:t>
            </a:r>
            <a:r>
              <a:rPr lang="fr-FR" sz="2400" b="1" dirty="0">
                <a:latin typeface="Times New Roman" pitchFamily="18" charset="0"/>
                <a:cs typeface="Times New Roman" pitchFamily="18" charset="0"/>
              </a:rPr>
              <a:t>un élément</a:t>
            </a:r>
            <a:r>
              <a:rPr lang="fr-FR" sz="2400" dirty="0">
                <a:latin typeface="Times New Roman" pitchFamily="18" charset="0"/>
                <a:cs typeface="Times New Roman" pitchFamily="18" charset="0"/>
              </a:rPr>
              <a:t> est triée,</a:t>
            </a:r>
          </a:p>
          <a:p>
            <a:r>
              <a:rPr lang="fr-FR" sz="2400" dirty="0">
                <a:latin typeface="Times New Roman" pitchFamily="18" charset="0"/>
                <a:cs typeface="Times New Roman" pitchFamily="18" charset="0"/>
              </a:rPr>
              <a:t>* une liste de plus d’un élément est triée si tous les éléments consécutifs vérifient la relation d’ordre : </a:t>
            </a:r>
            <a:r>
              <a:rPr lang="fr-FR" sz="2400" b="1" dirty="0">
                <a:latin typeface="Times New Roman" panose="02020603050405020304" pitchFamily="18" charset="0"/>
                <a:cs typeface="Times New Roman" panose="02020603050405020304" pitchFamily="18" charset="0"/>
              </a:rPr>
              <a:t>liste </a:t>
            </a:r>
            <a:r>
              <a:rPr lang="fr-FR" sz="2400" b="1" dirty="0">
                <a:latin typeface="Times New Roman" panose="02020603050405020304" pitchFamily="18" charset="0"/>
                <a:cs typeface="Times New Roman" panose="02020603050405020304" pitchFamily="18" charset="0"/>
                <a:sym typeface="Symbol"/>
              </a:rPr>
              <a:t></a:t>
            </a:r>
            <a:r>
              <a:rPr lang="fr-FR" sz="2400" b="1" dirty="0">
                <a:latin typeface="Times New Roman" panose="02020603050405020304" pitchFamily="18" charset="0"/>
                <a:cs typeface="Times New Roman" panose="02020603050405020304" pitchFamily="18" charset="0"/>
              </a:rPr>
              <a:t> </a:t>
            </a:r>
            <a:r>
              <a:rPr lang="fr-FR" sz="2400" b="1" dirty="0" err="1" smtClean="0">
                <a:latin typeface="Times New Roman" panose="02020603050405020304" pitchFamily="18" charset="0"/>
                <a:cs typeface="Times New Roman" panose="02020603050405020304" pitchFamily="18" charset="0"/>
              </a:rPr>
              <a:t>nil</a:t>
            </a:r>
            <a:r>
              <a:rPr lang="fr-FR" sz="2400" b="1" dirty="0" smtClean="0">
                <a:latin typeface="Times New Roman" panose="02020603050405020304" pitchFamily="18" charset="0"/>
                <a:cs typeface="Times New Roman" panose="02020603050405020304" pitchFamily="18" charset="0"/>
              </a:rPr>
              <a:t>, </a:t>
            </a:r>
            <a:r>
              <a:rPr lang="fr-FR" sz="2400" b="1" dirty="0">
                <a:latin typeface="Times New Roman" panose="02020603050405020304" pitchFamily="18" charset="0"/>
                <a:cs typeface="Times New Roman" panose="02020603050405020304" pitchFamily="18" charset="0"/>
              </a:rPr>
              <a:t>liste-&gt;suivant </a:t>
            </a:r>
            <a:r>
              <a:rPr lang="fr-FR" sz="2400" b="1" dirty="0">
                <a:latin typeface="Times New Roman" panose="02020603050405020304" pitchFamily="18" charset="0"/>
                <a:cs typeface="Times New Roman" panose="02020603050405020304" pitchFamily="18" charset="0"/>
                <a:sym typeface="Symbol"/>
              </a:rPr>
              <a:t></a:t>
            </a:r>
            <a:r>
              <a:rPr lang="fr-FR" sz="2400" b="1" dirty="0">
                <a:latin typeface="Times New Roman" panose="02020603050405020304" pitchFamily="18" charset="0"/>
                <a:cs typeface="Times New Roman" panose="02020603050405020304" pitchFamily="18" charset="0"/>
              </a:rPr>
              <a:t> </a:t>
            </a:r>
            <a:r>
              <a:rPr lang="fr-FR" sz="2400" b="1" dirty="0" err="1" smtClean="0">
                <a:latin typeface="Times New Roman" panose="02020603050405020304" pitchFamily="18" charset="0"/>
                <a:cs typeface="Times New Roman" panose="02020603050405020304" pitchFamily="18" charset="0"/>
              </a:rPr>
              <a:t>nil</a:t>
            </a:r>
            <a:r>
              <a:rPr lang="fr-FR" sz="2400" b="1" dirty="0" smtClean="0">
                <a:latin typeface="Times New Roman" panose="02020603050405020304" pitchFamily="18" charset="0"/>
                <a:cs typeface="Times New Roman" panose="02020603050405020304" pitchFamily="18" charset="0"/>
              </a:rPr>
              <a:t>, </a:t>
            </a:r>
            <a:r>
              <a:rPr lang="fr-FR" sz="2400" b="1" dirty="0">
                <a:latin typeface="Times New Roman" panose="02020603050405020304" pitchFamily="18" charset="0"/>
                <a:cs typeface="Times New Roman" panose="02020603050405020304" pitchFamily="18" charset="0"/>
              </a:rPr>
              <a:t>liste-&gt;info </a:t>
            </a:r>
            <a:r>
              <a:rPr lang="fr-FR" sz="2400" b="1" dirty="0">
                <a:latin typeface="Times New Roman" panose="02020603050405020304" pitchFamily="18" charset="0"/>
                <a:cs typeface="Times New Roman" panose="02020603050405020304" pitchFamily="18" charset="0"/>
                <a:sym typeface="Symbol"/>
              </a:rPr>
              <a:t></a:t>
            </a:r>
            <a:r>
              <a:rPr lang="fr-FR" sz="2400" b="1" dirty="0">
                <a:latin typeface="Times New Roman" panose="02020603050405020304" pitchFamily="18" charset="0"/>
                <a:cs typeface="Times New Roman" panose="02020603050405020304" pitchFamily="18" charset="0"/>
              </a:rPr>
              <a:t> liste-&gt;suivant-&gt; info.</a:t>
            </a:r>
            <a:endParaRPr lang="fr-FR" sz="2400" dirty="0">
              <a:latin typeface="Times New Roman" panose="02020603050405020304" pitchFamily="18" charset="0"/>
              <a:cs typeface="Times New Roman" panose="02020603050405020304" pitchFamily="18" charset="0"/>
            </a:endParaRPr>
          </a:p>
          <a:p>
            <a:pPr>
              <a:buFontTx/>
              <a:buChar char="-"/>
            </a:pPr>
            <a:r>
              <a:rPr lang="fr-FR" sz="2400" u="sng" dirty="0">
                <a:latin typeface="Times New Roman" pitchFamily="18" charset="0"/>
                <a:cs typeface="Times New Roman" pitchFamily="18" charset="0"/>
              </a:rPr>
              <a:t>schéma récursif</a:t>
            </a:r>
          </a:p>
          <a:p>
            <a:r>
              <a:rPr lang="fr-FR" sz="2400" b="1" dirty="0" smtClean="0">
                <a:latin typeface="Times New Roman" pitchFamily="18" charset="0"/>
                <a:cs typeface="Times New Roman" pitchFamily="18" charset="0"/>
              </a:rPr>
              <a:t>pointeur </a:t>
            </a:r>
            <a:r>
              <a:rPr lang="fr-FR" sz="2400" dirty="0">
                <a:latin typeface="Times New Roman" pitchFamily="18" charset="0"/>
                <a:cs typeface="Times New Roman" pitchFamily="18" charset="0"/>
              </a:rPr>
              <a:t>point</a:t>
            </a:r>
            <a:r>
              <a:rPr lang="fr-FR" sz="2400" b="1" dirty="0">
                <a:latin typeface="Times New Roman" pitchFamily="18" charset="0"/>
                <a:cs typeface="Times New Roman" pitchFamily="18" charset="0"/>
              </a:rPr>
              <a:t>(d pointeur </a:t>
            </a:r>
            <a:r>
              <a:rPr lang="fr-FR" sz="2400" dirty="0">
                <a:latin typeface="Times New Roman" pitchFamily="18" charset="0"/>
                <a:cs typeface="Times New Roman" pitchFamily="18" charset="0"/>
              </a:rPr>
              <a:t>l, d</a:t>
            </a:r>
            <a:r>
              <a:rPr lang="fr-FR" sz="2400" b="1" dirty="0">
                <a:latin typeface="Times New Roman" pitchFamily="18" charset="0"/>
                <a:cs typeface="Times New Roman" pitchFamily="18" charset="0"/>
              </a:rPr>
              <a:t> t </a:t>
            </a:r>
            <a:r>
              <a:rPr lang="fr-FR" sz="2400" dirty="0">
                <a:latin typeface="Times New Roman" pitchFamily="18" charset="0"/>
                <a:cs typeface="Times New Roman" pitchFamily="18" charset="0"/>
              </a:rPr>
              <a:t>val</a:t>
            </a:r>
            <a:r>
              <a:rPr lang="fr-FR" sz="2400" b="1" dirty="0">
                <a:latin typeface="Times New Roman" pitchFamily="18" charset="0"/>
                <a:cs typeface="Times New Roman" pitchFamily="18" charset="0"/>
              </a:rPr>
              <a:t>)</a:t>
            </a:r>
          </a:p>
          <a:p>
            <a:r>
              <a:rPr lang="fr-FR" sz="2400" b="1" dirty="0" err="1">
                <a:latin typeface="Times New Roman" pitchFamily="18" charset="0"/>
                <a:cs typeface="Times New Roman" pitchFamily="18" charset="0"/>
              </a:rPr>
              <a:t>debfonc</a:t>
            </a:r>
            <a:r>
              <a:rPr lang="fr-FR" sz="2400" b="1" dirty="0">
                <a:latin typeface="Times New Roman" pitchFamily="18" charset="0"/>
                <a:cs typeface="Times New Roman" pitchFamily="18" charset="0"/>
              </a:rPr>
              <a:t>  si l=</a:t>
            </a:r>
            <a:r>
              <a:rPr lang="fr-FR" sz="2400" b="1" dirty="0" err="1">
                <a:latin typeface="Times New Roman" pitchFamily="18" charset="0"/>
                <a:cs typeface="Times New Roman" pitchFamily="18" charset="0"/>
              </a:rPr>
              <a:t>nil</a:t>
            </a:r>
            <a:r>
              <a:rPr lang="fr-FR" sz="2400" b="1" dirty="0">
                <a:latin typeface="Times New Roman" pitchFamily="18" charset="0"/>
                <a:cs typeface="Times New Roman" pitchFamily="18" charset="0"/>
              </a:rPr>
              <a:t> alors retourner </a:t>
            </a:r>
            <a:r>
              <a:rPr lang="fr-FR" sz="2400" b="1" dirty="0" err="1">
                <a:latin typeface="Times New Roman" pitchFamily="18" charset="0"/>
                <a:cs typeface="Times New Roman" pitchFamily="18" charset="0"/>
              </a:rPr>
              <a:t>nil</a:t>
            </a:r>
            <a:r>
              <a:rPr lang="fr-FR" sz="2400" b="1" dirty="0">
                <a:latin typeface="Times New Roman" pitchFamily="18" charset="0"/>
                <a:cs typeface="Times New Roman" pitchFamily="18" charset="0"/>
              </a:rPr>
              <a:t>;</a:t>
            </a:r>
          </a:p>
          <a:p>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sinonsi</a:t>
            </a:r>
            <a:r>
              <a:rPr lang="fr-FR" sz="2400" b="1" dirty="0">
                <a:latin typeface="Times New Roman" pitchFamily="18" charset="0"/>
                <a:cs typeface="Times New Roman" pitchFamily="18" charset="0"/>
              </a:rPr>
              <a:t> </a:t>
            </a:r>
            <a:r>
              <a:rPr lang="fr-FR" sz="2400" dirty="0">
                <a:latin typeface="Times New Roman" pitchFamily="18" charset="0"/>
                <a:cs typeface="Times New Roman" pitchFamily="18" charset="0"/>
              </a:rPr>
              <a:t>l-&gt;info&lt;val</a:t>
            </a:r>
            <a:r>
              <a:rPr lang="fr-FR" sz="2400" b="1" dirty="0">
                <a:latin typeface="Times New Roman" pitchFamily="18" charset="0"/>
                <a:cs typeface="Times New Roman" pitchFamily="18" charset="0"/>
              </a:rPr>
              <a:t> retourner </a:t>
            </a:r>
            <a:r>
              <a:rPr lang="fr-FR" sz="2400" dirty="0">
                <a:latin typeface="Times New Roman" pitchFamily="18" charset="0"/>
                <a:cs typeface="Times New Roman" pitchFamily="18" charset="0"/>
              </a:rPr>
              <a:t>point(l-&gt;suivant, val);</a:t>
            </a:r>
          </a:p>
          <a:p>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sinonsi</a:t>
            </a:r>
            <a:r>
              <a:rPr lang="fr-FR" sz="2400" b="1" dirty="0">
                <a:latin typeface="Times New Roman" pitchFamily="18" charset="0"/>
                <a:cs typeface="Times New Roman" pitchFamily="18" charset="0"/>
              </a:rPr>
              <a:t> </a:t>
            </a:r>
            <a:r>
              <a:rPr lang="fr-FR" sz="2400" dirty="0">
                <a:latin typeface="Times New Roman" pitchFamily="18" charset="0"/>
                <a:cs typeface="Times New Roman" pitchFamily="18" charset="0"/>
              </a:rPr>
              <a:t>l-&gt;info&gt;val</a:t>
            </a:r>
            <a:r>
              <a:rPr lang="fr-FR" sz="2400" b="1" dirty="0">
                <a:latin typeface="Times New Roman" pitchFamily="18" charset="0"/>
                <a:cs typeface="Times New Roman" pitchFamily="18" charset="0"/>
              </a:rPr>
              <a:t> return </a:t>
            </a:r>
            <a:r>
              <a:rPr lang="fr-FR" sz="2400" b="1" dirty="0" err="1">
                <a:latin typeface="Times New Roman" pitchFamily="18" charset="0"/>
                <a:cs typeface="Times New Roman" pitchFamily="18" charset="0"/>
              </a:rPr>
              <a:t>nil</a:t>
            </a:r>
            <a:r>
              <a:rPr lang="fr-FR" sz="2400" b="1" dirty="0">
                <a:latin typeface="Times New Roman" pitchFamily="18" charset="0"/>
                <a:cs typeface="Times New Roman" pitchFamily="18" charset="0"/>
              </a:rPr>
              <a:t>;</a:t>
            </a:r>
          </a:p>
          <a:p>
            <a:r>
              <a:rPr lang="fr-FR" sz="2400" b="1" dirty="0">
                <a:latin typeface="Times New Roman" pitchFamily="18" charset="0"/>
                <a:cs typeface="Times New Roman" pitchFamily="18" charset="0"/>
              </a:rPr>
              <a:t>                         sinon retourner </a:t>
            </a:r>
            <a:r>
              <a:rPr lang="fr-FR" sz="2400" dirty="0">
                <a:latin typeface="Times New Roman" pitchFamily="18" charset="0"/>
                <a:cs typeface="Times New Roman" pitchFamily="18" charset="0"/>
              </a:rPr>
              <a:t>l;</a:t>
            </a:r>
          </a:p>
          <a:p>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finsi</a:t>
            </a:r>
            <a:r>
              <a:rPr lang="fr-FR" sz="2400" b="1" dirty="0">
                <a:latin typeface="Times New Roman" pitchFamily="18" charset="0"/>
                <a:cs typeface="Times New Roman" pitchFamily="18" charset="0"/>
              </a:rPr>
              <a:t>;</a:t>
            </a:r>
          </a:p>
          <a:p>
            <a:r>
              <a:rPr lang="fr-FR" sz="2400" b="1" dirty="0" err="1">
                <a:latin typeface="Times New Roman" pitchFamily="18" charset="0"/>
                <a:cs typeface="Times New Roman" pitchFamily="18" charset="0"/>
              </a:rPr>
              <a:t>finfonc</a:t>
            </a:r>
            <a:r>
              <a:rPr lang="fr-FR" sz="2400" b="1" dirty="0">
                <a:latin typeface="Times New Roman" pitchFamily="18" charset="0"/>
                <a:cs typeface="Times New Roman" pitchFamily="18" charset="0"/>
              </a:rPr>
              <a:t>:</a:t>
            </a:r>
          </a:p>
        </p:txBody>
      </p:sp>
    </p:spTree>
    <p:extLst>
      <p:ext uri="{BB962C8B-B14F-4D97-AF65-F5344CB8AC3E}">
        <p14:creationId xmlns:p14="http://schemas.microsoft.com/office/powerpoint/2010/main" val="33870647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 y="447606"/>
            <a:ext cx="11816080" cy="5940088"/>
          </a:xfrm>
          <a:prstGeom prst="rect">
            <a:avLst/>
          </a:prstGeom>
        </p:spPr>
        <p:txBody>
          <a:bodyPr wrap="square">
            <a:spAutoFit/>
          </a:bodyPr>
          <a:lstStyle/>
          <a:p>
            <a:pPr lvl="0" indent="180975" algn="just" fontAlgn="base">
              <a:spcBef>
                <a:spcPct val="0"/>
              </a:spcBef>
              <a:spcAft>
                <a:spcPct val="0"/>
              </a:spcAft>
            </a:pPr>
            <a:r>
              <a:rPr lang="fr-FR" sz="2000" dirty="0" smtClean="0">
                <a:latin typeface="Times New Roman" pitchFamily="18" charset="0"/>
                <a:ea typeface="Times New Roman" pitchFamily="18" charset="0"/>
                <a:cs typeface="Times New Roman" pitchFamily="18" charset="0"/>
              </a:rPr>
              <a:t>2.2.5</a:t>
            </a:r>
            <a:r>
              <a:rPr lang="fr-FR" sz="2000" dirty="0">
                <a:latin typeface="Times New Roman" pitchFamily="18" charset="0"/>
                <a:ea typeface="Times New Roman" pitchFamily="18" charset="0"/>
                <a:cs typeface="Times New Roman" pitchFamily="18" charset="0"/>
              </a:rPr>
              <a:t>. </a:t>
            </a:r>
            <a:r>
              <a:rPr lang="fr-FR" sz="2000" u="sng" dirty="0">
                <a:latin typeface="Times New Roman" pitchFamily="18" charset="0"/>
                <a:ea typeface="Times New Roman" pitchFamily="18" charset="0"/>
                <a:cs typeface="Times New Roman" pitchFamily="18" charset="0"/>
              </a:rPr>
              <a:t>Algorithmes de mise à jour dans une liste</a:t>
            </a:r>
            <a:endParaRPr lang="fr-FR" sz="2000" dirty="0">
              <a:latin typeface="Times New Roman" pitchFamily="18" charset="0"/>
              <a:cs typeface="Times New Roman" pitchFamily="18" charset="0"/>
            </a:endParaRPr>
          </a:p>
          <a:p>
            <a:pPr lvl="0" indent="180975" algn="just"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La mise </a:t>
            </a:r>
            <a:r>
              <a:rPr lang="fr-FR" sz="2000" dirty="0" smtClean="0">
                <a:latin typeface="Times New Roman" pitchFamily="18" charset="0"/>
                <a:ea typeface="Times New Roman" pitchFamily="18" charset="0"/>
                <a:cs typeface="Times New Roman" pitchFamily="18" charset="0"/>
              </a:rPr>
              <a:t>à jour </a:t>
            </a:r>
            <a:r>
              <a:rPr lang="fr-FR" sz="2000" dirty="0">
                <a:latin typeface="Times New Roman" pitchFamily="18" charset="0"/>
                <a:ea typeface="Times New Roman" pitchFamily="18" charset="0"/>
                <a:cs typeface="Times New Roman" pitchFamily="18" charset="0"/>
              </a:rPr>
              <a:t>d’une liste n’entraîne que la </a:t>
            </a:r>
            <a:r>
              <a:rPr lang="fr-FR" sz="2000" b="1" dirty="0">
                <a:latin typeface="Times New Roman" pitchFamily="18" charset="0"/>
                <a:ea typeface="Times New Roman" pitchFamily="18" charset="0"/>
                <a:cs typeface="Times New Roman" pitchFamily="18" charset="0"/>
              </a:rPr>
              <a:t>modification</a:t>
            </a:r>
            <a:r>
              <a:rPr lang="fr-FR" sz="2000" dirty="0">
                <a:latin typeface="Times New Roman" pitchFamily="18" charset="0"/>
                <a:ea typeface="Times New Roman" pitchFamily="18" charset="0"/>
                <a:cs typeface="Times New Roman" pitchFamily="18" charset="0"/>
              </a:rPr>
              <a:t> d’un ou deux pointeurs </a:t>
            </a:r>
            <a:r>
              <a:rPr lang="fr-FR" sz="2000" b="1" dirty="0">
                <a:latin typeface="Times New Roman" pitchFamily="18" charset="0"/>
                <a:ea typeface="Times New Roman" pitchFamily="18" charset="0"/>
                <a:cs typeface="Times New Roman" pitchFamily="18" charset="0"/>
              </a:rPr>
              <a:t>sans recopie</a:t>
            </a:r>
            <a:r>
              <a:rPr lang="fr-FR" sz="2000" dirty="0">
                <a:latin typeface="Times New Roman" pitchFamily="18" charset="0"/>
                <a:ea typeface="Times New Roman" pitchFamily="18" charset="0"/>
                <a:cs typeface="Times New Roman" pitchFamily="18" charset="0"/>
              </a:rPr>
              <a:t> ni </a:t>
            </a:r>
            <a:r>
              <a:rPr lang="fr-FR" sz="2000" b="1" dirty="0">
                <a:latin typeface="Times New Roman" pitchFamily="18" charset="0"/>
                <a:ea typeface="Times New Roman" pitchFamily="18" charset="0"/>
                <a:cs typeface="Times New Roman" pitchFamily="18" charset="0"/>
              </a:rPr>
              <a:t>décalage</a:t>
            </a:r>
            <a:r>
              <a:rPr lang="fr-FR" sz="2000" dirty="0">
                <a:latin typeface="Times New Roman" pitchFamily="18" charset="0"/>
                <a:ea typeface="Times New Roman" pitchFamily="18" charset="0"/>
                <a:cs typeface="Times New Roman" pitchFamily="18" charset="0"/>
              </a:rPr>
              <a:t> des éléments non concernés par la mise à jour.</a:t>
            </a:r>
          </a:p>
          <a:p>
            <a:pPr lvl="0" indent="180975" algn="just" eaLnBrk="0" fontAlgn="base" hangingPunct="0">
              <a:spcBef>
                <a:spcPct val="0"/>
              </a:spcBef>
              <a:spcAft>
                <a:spcPct val="0"/>
              </a:spcAft>
            </a:pPr>
            <a:endParaRPr lang="fr-FR" sz="2000" dirty="0">
              <a:latin typeface="Times New Roman" pitchFamily="18" charset="0"/>
              <a:cs typeface="Times New Roman" pitchFamily="18" charset="0"/>
            </a:endParaRPr>
          </a:p>
          <a:p>
            <a:pPr lvl="0" indent="180975" algn="just" eaLnBrk="0" fontAlgn="base" hangingPunct="0">
              <a:spcBef>
                <a:spcPct val="0"/>
              </a:spcBef>
              <a:spcAft>
                <a:spcPct val="0"/>
              </a:spcAft>
              <a:buFontTx/>
              <a:buAutoNum type="alphaLcParenR"/>
            </a:pPr>
            <a:r>
              <a:rPr lang="fr-FR" sz="2000" dirty="0" smtClean="0">
                <a:latin typeface="Times New Roman" pitchFamily="18" charset="0"/>
                <a:ea typeface="Times New Roman" pitchFamily="18" charset="0"/>
                <a:cs typeface="Times New Roman" pitchFamily="18" charset="0"/>
              </a:rPr>
              <a:t> </a:t>
            </a:r>
            <a:r>
              <a:rPr lang="fr-FR" sz="2000" u="sng" dirty="0" smtClean="0">
                <a:latin typeface="Times New Roman" pitchFamily="18" charset="0"/>
                <a:ea typeface="Times New Roman" pitchFamily="18" charset="0"/>
                <a:cs typeface="Times New Roman" pitchFamily="18" charset="0"/>
              </a:rPr>
              <a:t>Insertion </a:t>
            </a:r>
            <a:r>
              <a:rPr lang="fr-FR" sz="2000" u="sng" dirty="0">
                <a:latin typeface="Times New Roman" pitchFamily="18" charset="0"/>
                <a:ea typeface="Times New Roman" pitchFamily="18" charset="0"/>
                <a:cs typeface="Times New Roman" pitchFamily="18" charset="0"/>
              </a:rPr>
              <a:t>d’un élément en tête de liste</a:t>
            </a:r>
            <a:endParaRPr lang="fr-FR" sz="2000" dirty="0">
              <a:latin typeface="Times New Roman" pitchFamily="18" charset="0"/>
              <a:cs typeface="Times New Roman" pitchFamily="18" charset="0"/>
            </a:endParaRPr>
          </a:p>
          <a:p>
            <a:pPr lvl="0" indent="180975" algn="just"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Utilisée très souvent pour réaliser les autres insertions, c’est un cas très particulier car l’insertion en tête modifie l’adresse de la liste. </a:t>
            </a:r>
            <a:endParaRPr lang="fr-FR" sz="2000" dirty="0">
              <a:latin typeface="Times New Roman" pitchFamily="18" charset="0"/>
              <a:cs typeface="Times New Roman" pitchFamily="18" charset="0"/>
            </a:endParaRPr>
          </a:p>
          <a:p>
            <a:r>
              <a:rPr lang="fr-FR" sz="2000" b="1" dirty="0" smtClean="0">
                <a:latin typeface="Times New Roman" pitchFamily="18" charset="0"/>
                <a:cs typeface="Times New Roman" pitchFamily="18" charset="0"/>
              </a:rPr>
              <a:t>vide </a:t>
            </a:r>
            <a:r>
              <a:rPr lang="fr-FR" sz="2000" dirty="0" err="1">
                <a:latin typeface="Times New Roman" pitchFamily="18" charset="0"/>
                <a:cs typeface="Times New Roman" pitchFamily="18" charset="0"/>
              </a:rPr>
              <a:t>insertete</a:t>
            </a:r>
            <a:r>
              <a:rPr lang="fr-FR" sz="2000" b="1" dirty="0">
                <a:latin typeface="Times New Roman" pitchFamily="18" charset="0"/>
                <a:cs typeface="Times New Roman" pitchFamily="18" charset="0"/>
              </a:rPr>
              <a:t>(</a:t>
            </a:r>
            <a:r>
              <a:rPr lang="fr-FR" sz="2000" b="1" dirty="0" err="1">
                <a:latin typeface="Times New Roman" pitchFamily="18" charset="0"/>
                <a:cs typeface="Times New Roman" pitchFamily="18" charset="0"/>
              </a:rPr>
              <a:t>dr</a:t>
            </a:r>
            <a:r>
              <a:rPr lang="fr-FR" sz="2000" b="1" dirty="0">
                <a:latin typeface="Times New Roman" pitchFamily="18" charset="0"/>
                <a:cs typeface="Times New Roman" pitchFamily="18" charset="0"/>
              </a:rPr>
              <a:t> pointeur  </a:t>
            </a:r>
            <a:r>
              <a:rPr lang="fr-FR" sz="2000" dirty="0">
                <a:latin typeface="Times New Roman" pitchFamily="18" charset="0"/>
                <a:cs typeface="Times New Roman" pitchFamily="18" charset="0"/>
              </a:rPr>
              <a:t>l,</a:t>
            </a:r>
            <a:r>
              <a:rPr lang="fr-FR" sz="2000" b="1" dirty="0">
                <a:latin typeface="Times New Roman" pitchFamily="18" charset="0"/>
                <a:cs typeface="Times New Roman" pitchFamily="18" charset="0"/>
              </a:rPr>
              <a:t> d t </a:t>
            </a:r>
            <a:r>
              <a:rPr lang="fr-FR" sz="2000" dirty="0" err="1">
                <a:latin typeface="Times New Roman" pitchFamily="18" charset="0"/>
                <a:cs typeface="Times New Roman" pitchFamily="18" charset="0"/>
              </a:rPr>
              <a:t>elem</a:t>
            </a:r>
            <a:r>
              <a:rPr lang="fr-FR" sz="2000" b="1" dirty="0">
                <a:latin typeface="Times New Roman" pitchFamily="18" charset="0"/>
                <a:cs typeface="Times New Roman" pitchFamily="18" charset="0"/>
              </a:rPr>
              <a:t>)</a:t>
            </a:r>
          </a:p>
          <a:p>
            <a:r>
              <a:rPr lang="fr-FR" sz="2000" b="1" dirty="0" err="1" smtClean="0">
                <a:latin typeface="Times New Roman" pitchFamily="18" charset="0"/>
                <a:cs typeface="Times New Roman" pitchFamily="18" charset="0"/>
              </a:rPr>
              <a:t>debfonc</a:t>
            </a:r>
            <a:r>
              <a:rPr lang="fr-FR" sz="2000" b="1" dirty="0" smtClean="0">
                <a:latin typeface="Times New Roman" pitchFamily="18" charset="0"/>
                <a:cs typeface="Times New Roman" pitchFamily="18" charset="0"/>
              </a:rPr>
              <a:t>  </a:t>
            </a:r>
          </a:p>
          <a:p>
            <a:r>
              <a:rPr lang="fr-FR" sz="2000" b="1" dirty="0">
                <a:latin typeface="Times New Roman" pitchFamily="18" charset="0"/>
                <a:cs typeface="Times New Roman" pitchFamily="18" charset="0"/>
              </a:rPr>
              <a:t> </a:t>
            </a:r>
            <a:r>
              <a:rPr lang="fr-FR" sz="2000" b="1" dirty="0" smtClean="0">
                <a:latin typeface="Times New Roman" pitchFamily="18" charset="0"/>
                <a:cs typeface="Times New Roman" pitchFamily="18" charset="0"/>
              </a:rPr>
              <a:t>   pointeur </a:t>
            </a:r>
            <a:r>
              <a:rPr lang="fr-FR" sz="2000" dirty="0">
                <a:latin typeface="Times New Roman" pitchFamily="18" charset="0"/>
                <a:cs typeface="Times New Roman" pitchFamily="18" charset="0"/>
              </a:rPr>
              <a:t>p;</a:t>
            </a:r>
          </a:p>
          <a:p>
            <a:r>
              <a:rPr lang="fr-FR" sz="2000" b="1" dirty="0">
                <a:latin typeface="Times New Roman" pitchFamily="18" charset="0"/>
                <a:cs typeface="Times New Roman" pitchFamily="18" charset="0"/>
              </a:rPr>
              <a:t>    </a:t>
            </a:r>
            <a:r>
              <a:rPr lang="fr-FR" sz="2000" b="1" dirty="0" smtClean="0">
                <a:latin typeface="Times New Roman" pitchFamily="18" charset="0"/>
                <a:cs typeface="Times New Roman" pitchFamily="18" charset="0"/>
              </a:rPr>
              <a:t>nouveau(</a:t>
            </a:r>
            <a:r>
              <a:rPr lang="fr-FR" sz="2000" dirty="0" smtClean="0">
                <a:latin typeface="Times New Roman" pitchFamily="18" charset="0"/>
                <a:cs typeface="Times New Roman" pitchFamily="18" charset="0"/>
              </a:rPr>
              <a:t>p</a:t>
            </a:r>
            <a:r>
              <a:rPr lang="fr-FR" sz="2000" dirty="0">
                <a:latin typeface="Times New Roman" pitchFamily="18" charset="0"/>
                <a:cs typeface="Times New Roman" pitchFamily="18" charset="0"/>
              </a:rPr>
              <a:t>)</a:t>
            </a:r>
            <a:r>
              <a:rPr lang="fr-FR" sz="2000" b="1" dirty="0">
                <a:latin typeface="Times New Roman" pitchFamily="18" charset="0"/>
                <a:cs typeface="Times New Roman" pitchFamily="18" charset="0"/>
              </a:rPr>
              <a:t>;  </a:t>
            </a:r>
            <a:r>
              <a:rPr lang="fr-FR" sz="2000" dirty="0">
                <a:latin typeface="Times New Roman" pitchFamily="18" charset="0"/>
                <a:cs typeface="Times New Roman" pitchFamily="18" charset="0"/>
              </a:rPr>
              <a:t>//création d’une cellule p</a:t>
            </a:r>
          </a:p>
          <a:p>
            <a:r>
              <a:rPr lang="fr-FR" sz="2000" b="1" dirty="0">
                <a:latin typeface="Times New Roman" pitchFamily="18" charset="0"/>
                <a:cs typeface="Times New Roman" pitchFamily="18" charset="0"/>
              </a:rPr>
              <a:t>    </a:t>
            </a:r>
            <a:r>
              <a:rPr lang="fr-FR" sz="2000" dirty="0">
                <a:latin typeface="Times New Roman" pitchFamily="18" charset="0"/>
                <a:cs typeface="Times New Roman" pitchFamily="18" charset="0"/>
              </a:rPr>
              <a:t>p-&gt;</a:t>
            </a:r>
            <a:r>
              <a:rPr lang="fr-FR" sz="2000" dirty="0" smtClean="0">
                <a:latin typeface="Times New Roman" pitchFamily="18" charset="0"/>
                <a:cs typeface="Times New Roman" pitchFamily="18" charset="0"/>
              </a:rPr>
              <a:t>info:=</a:t>
            </a:r>
            <a:r>
              <a:rPr lang="fr-FR" sz="2000" dirty="0" err="1" smtClean="0">
                <a:latin typeface="Times New Roman" pitchFamily="18" charset="0"/>
                <a:cs typeface="Times New Roman" pitchFamily="18" charset="0"/>
              </a:rPr>
              <a:t>elem</a:t>
            </a:r>
            <a:r>
              <a:rPr lang="fr-FR" sz="2000" dirty="0">
                <a:latin typeface="Times New Roman" pitchFamily="18" charset="0"/>
                <a:cs typeface="Times New Roman" pitchFamily="18" charset="0"/>
              </a:rPr>
              <a:t>;</a:t>
            </a:r>
          </a:p>
          <a:p>
            <a:r>
              <a:rPr lang="fr-FR" sz="2000" b="1" dirty="0">
                <a:latin typeface="Times New Roman" pitchFamily="18" charset="0"/>
                <a:cs typeface="Times New Roman" pitchFamily="18" charset="0"/>
              </a:rPr>
              <a:t>    </a:t>
            </a:r>
            <a:r>
              <a:rPr lang="fr-FR" sz="2000" dirty="0">
                <a:latin typeface="Times New Roman" pitchFamily="18" charset="0"/>
                <a:cs typeface="Times New Roman" pitchFamily="18" charset="0"/>
              </a:rPr>
              <a:t>p-&gt;</a:t>
            </a:r>
            <a:r>
              <a:rPr lang="fr-FR" sz="2000" dirty="0" smtClean="0">
                <a:latin typeface="Times New Roman" pitchFamily="18" charset="0"/>
                <a:cs typeface="Times New Roman" pitchFamily="18" charset="0"/>
              </a:rPr>
              <a:t>suivant:=l</a:t>
            </a:r>
            <a:r>
              <a:rPr lang="fr-FR" sz="2000" dirty="0">
                <a:latin typeface="Times New Roman" pitchFamily="18" charset="0"/>
                <a:cs typeface="Times New Roman" pitchFamily="18" charset="0"/>
              </a:rPr>
              <a:t>;</a:t>
            </a:r>
            <a:r>
              <a:rPr lang="fr-FR" sz="2000" b="1" dirty="0">
                <a:latin typeface="Times New Roman" pitchFamily="18" charset="0"/>
                <a:cs typeface="Times New Roman" pitchFamily="18" charset="0"/>
              </a:rPr>
              <a:t> </a:t>
            </a:r>
            <a:r>
              <a:rPr lang="fr-FR" sz="2000" dirty="0">
                <a:latin typeface="Times New Roman" pitchFamily="18" charset="0"/>
                <a:cs typeface="Times New Roman" pitchFamily="18" charset="0"/>
              </a:rPr>
              <a:t>//liaison a</a:t>
            </a:r>
          </a:p>
          <a:p>
            <a:r>
              <a:rPr lang="fr-FR" sz="2000" b="1" dirty="0">
                <a:latin typeface="Times New Roman" pitchFamily="18" charset="0"/>
                <a:cs typeface="Times New Roman" pitchFamily="18" charset="0"/>
              </a:rPr>
              <a:t>    </a:t>
            </a:r>
            <a:r>
              <a:rPr lang="fr-FR" sz="2000" dirty="0" smtClean="0">
                <a:latin typeface="Times New Roman" pitchFamily="18" charset="0"/>
                <a:cs typeface="Times New Roman" pitchFamily="18" charset="0"/>
              </a:rPr>
              <a:t>l:=p</a:t>
            </a:r>
            <a:r>
              <a:rPr lang="fr-FR" sz="2000" dirty="0">
                <a:latin typeface="Times New Roman" pitchFamily="18" charset="0"/>
                <a:cs typeface="Times New Roman" pitchFamily="18" charset="0"/>
              </a:rPr>
              <a:t>;</a:t>
            </a:r>
            <a:r>
              <a:rPr lang="fr-FR" sz="2000" b="1" dirty="0">
                <a:latin typeface="Times New Roman" pitchFamily="18" charset="0"/>
                <a:cs typeface="Times New Roman" pitchFamily="18" charset="0"/>
              </a:rPr>
              <a:t>  </a:t>
            </a:r>
            <a:r>
              <a:rPr lang="fr-FR" sz="2000" dirty="0">
                <a:latin typeface="Times New Roman" pitchFamily="18" charset="0"/>
                <a:cs typeface="Times New Roman" pitchFamily="18" charset="0"/>
              </a:rPr>
              <a:t>//liaison b</a:t>
            </a:r>
          </a:p>
          <a:p>
            <a:r>
              <a:rPr lang="fr-FR" sz="2000" b="1" dirty="0" err="1" smtClean="0">
                <a:latin typeface="Times New Roman" pitchFamily="18" charset="0"/>
                <a:cs typeface="Times New Roman" pitchFamily="18" charset="0"/>
              </a:rPr>
              <a:t>finfonc</a:t>
            </a:r>
            <a:r>
              <a:rPr lang="fr-FR" sz="2000" b="1" dirty="0">
                <a:latin typeface="Times New Roman" pitchFamily="18" charset="0"/>
                <a:cs typeface="Times New Roman" pitchFamily="18" charset="0"/>
              </a:rPr>
              <a:t>;</a:t>
            </a:r>
          </a:p>
          <a:p>
            <a:r>
              <a:rPr lang="fr-FR" sz="2000" b="1" dirty="0" err="1" smtClean="0">
                <a:latin typeface="Times New Roman" pitchFamily="18" charset="0"/>
                <a:cs typeface="Times New Roman" pitchFamily="18" charset="0"/>
              </a:rPr>
              <a:t>Compléxité</a:t>
            </a:r>
            <a:r>
              <a:rPr lang="fr-FR" sz="2000" b="1" dirty="0" smtClean="0">
                <a:latin typeface="Times New Roman" pitchFamily="18" charset="0"/>
                <a:cs typeface="Times New Roman" pitchFamily="18" charset="0"/>
              </a:rPr>
              <a:t> : </a:t>
            </a:r>
            <a:r>
              <a:rPr lang="fr-FR" sz="2000" dirty="0" smtClean="0">
                <a:latin typeface="Times New Roman" pitchFamily="18" charset="0"/>
                <a:cs typeface="Times New Roman" pitchFamily="18" charset="0"/>
              </a:rPr>
              <a:t>T(n) = 4 = O(4).</a:t>
            </a:r>
            <a:endParaRPr lang="fr-FR" sz="2000" dirty="0">
              <a:latin typeface="Times New Roman" pitchFamily="18" charset="0"/>
              <a:cs typeface="Times New Roman" pitchFamily="18" charset="0"/>
            </a:endParaRPr>
          </a:p>
          <a:p>
            <a:r>
              <a:rPr lang="fr-FR" sz="2000" dirty="0">
                <a:latin typeface="Times New Roman" pitchFamily="18" charset="0"/>
                <a:cs typeface="Times New Roman" pitchFamily="18" charset="0"/>
              </a:rPr>
              <a:t>b) Insertion d’un élément en fin de liste</a:t>
            </a:r>
          </a:p>
          <a:p>
            <a:r>
              <a:rPr lang="fr-FR" sz="2000" dirty="0">
                <a:latin typeface="Times New Roman" pitchFamily="18" charset="0"/>
                <a:cs typeface="Times New Roman" pitchFamily="18" charset="0"/>
              </a:rPr>
              <a:t>Disposant de la fonction </a:t>
            </a:r>
            <a:r>
              <a:rPr lang="fr-FR" sz="2000" b="1" dirty="0">
                <a:latin typeface="Times New Roman" pitchFamily="18" charset="0"/>
                <a:cs typeface="Times New Roman" pitchFamily="18" charset="0"/>
              </a:rPr>
              <a:t>dernier</a:t>
            </a:r>
            <a:r>
              <a:rPr lang="fr-FR" sz="2000" dirty="0">
                <a:latin typeface="Times New Roman" pitchFamily="18" charset="0"/>
                <a:cs typeface="Times New Roman" pitchFamily="18" charset="0"/>
              </a:rPr>
              <a:t> dont l’en-tête est </a:t>
            </a:r>
            <a:r>
              <a:rPr lang="fr-FR" sz="2000" b="1" dirty="0">
                <a:latin typeface="Times New Roman" pitchFamily="18" charset="0"/>
                <a:cs typeface="Times New Roman" pitchFamily="18" charset="0"/>
              </a:rPr>
              <a:t>pointeur dernier(d pointeur l).</a:t>
            </a:r>
          </a:p>
          <a:p>
            <a:r>
              <a:rPr lang="fr-FR" sz="2000" dirty="0">
                <a:latin typeface="Times New Roman" pitchFamily="18" charset="0"/>
                <a:cs typeface="Times New Roman" pitchFamily="18" charset="0"/>
              </a:rPr>
              <a:t>On peut écrire l’algorithme d’insertion d’un élément en fin de liste sous-forme itérative.</a:t>
            </a:r>
          </a:p>
        </p:txBody>
      </p:sp>
    </p:spTree>
    <p:extLst>
      <p:ext uri="{BB962C8B-B14F-4D97-AF65-F5344CB8AC3E}">
        <p14:creationId xmlns:p14="http://schemas.microsoft.com/office/powerpoint/2010/main" val="27733163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200" y="154027"/>
            <a:ext cx="11694160" cy="6463308"/>
          </a:xfrm>
          <a:prstGeom prst="rect">
            <a:avLst/>
          </a:prstGeom>
        </p:spPr>
        <p:txBody>
          <a:bodyPr wrap="square">
            <a:spAutoFit/>
          </a:bodyPr>
          <a:lstStyle/>
          <a:p>
            <a:pPr lvl="0" algn="just" fontAlgn="base">
              <a:spcBef>
                <a:spcPct val="0"/>
              </a:spcBef>
              <a:spcAft>
                <a:spcPct val="0"/>
              </a:spcAft>
            </a:pPr>
            <a:r>
              <a:rPr lang="fr-FR" b="1" dirty="0" smtClean="0">
                <a:latin typeface="Times New Roman" pitchFamily="18" charset="0"/>
                <a:ea typeface="Times New Roman" pitchFamily="18" charset="0"/>
                <a:cs typeface="Times New Roman" pitchFamily="18" charset="0"/>
              </a:rPr>
              <a:t>vide </a:t>
            </a:r>
            <a:r>
              <a:rPr lang="fr-FR" dirty="0" err="1">
                <a:latin typeface="Times New Roman" pitchFamily="18" charset="0"/>
                <a:ea typeface="Times New Roman" pitchFamily="18" charset="0"/>
                <a:cs typeface="Times New Roman" pitchFamily="18" charset="0"/>
              </a:rPr>
              <a:t>inserfin</a:t>
            </a:r>
            <a:r>
              <a:rPr lang="fr-FR" b="1" dirty="0">
                <a:latin typeface="Times New Roman" pitchFamily="18" charset="0"/>
                <a:ea typeface="Times New Roman" pitchFamily="18" charset="0"/>
                <a:cs typeface="Times New Roman" pitchFamily="18" charset="0"/>
              </a:rPr>
              <a:t>(</a:t>
            </a:r>
            <a:r>
              <a:rPr lang="fr-FR" b="1" dirty="0" err="1">
                <a:latin typeface="Times New Roman" pitchFamily="18" charset="0"/>
                <a:ea typeface="Times New Roman" pitchFamily="18" charset="0"/>
                <a:cs typeface="Times New Roman" pitchFamily="18" charset="0"/>
              </a:rPr>
              <a:t>dr</a:t>
            </a:r>
            <a:r>
              <a:rPr lang="fr-FR" b="1" dirty="0">
                <a:latin typeface="Times New Roman" pitchFamily="18" charset="0"/>
                <a:ea typeface="Times New Roman" pitchFamily="18" charset="0"/>
                <a:cs typeface="Times New Roman" pitchFamily="18" charset="0"/>
              </a:rPr>
              <a:t> pointeur  </a:t>
            </a:r>
            <a:r>
              <a:rPr lang="fr-FR" dirty="0">
                <a:latin typeface="Times New Roman" pitchFamily="18" charset="0"/>
                <a:ea typeface="Times New Roman" pitchFamily="18" charset="0"/>
                <a:cs typeface="Times New Roman" pitchFamily="18" charset="0"/>
              </a:rPr>
              <a:t>l,</a:t>
            </a:r>
            <a:r>
              <a:rPr lang="fr-FR" b="1" dirty="0">
                <a:latin typeface="Times New Roman" pitchFamily="18" charset="0"/>
                <a:ea typeface="Times New Roman" pitchFamily="18" charset="0"/>
                <a:cs typeface="Times New Roman" pitchFamily="18" charset="0"/>
              </a:rPr>
              <a:t> d t </a:t>
            </a:r>
            <a:r>
              <a:rPr lang="fr-FR" dirty="0" err="1">
                <a:latin typeface="Times New Roman" pitchFamily="18" charset="0"/>
                <a:ea typeface="Times New Roman" pitchFamily="18" charset="0"/>
                <a:cs typeface="Times New Roman" pitchFamily="18" charset="0"/>
              </a:rPr>
              <a:t>elem</a:t>
            </a:r>
            <a:r>
              <a:rPr lang="fr-FR" b="1" dirty="0">
                <a:latin typeface="Times New Roman" pitchFamily="18" charset="0"/>
                <a:ea typeface="Times New Roman" pitchFamily="18" charset="0"/>
                <a:cs typeface="Times New Roman" pitchFamily="18" charset="0"/>
              </a:rPr>
              <a:t>)</a:t>
            </a:r>
            <a:endParaRPr lang="fr-FR" b="1" dirty="0">
              <a:latin typeface="Times New Roman" pitchFamily="18" charset="0"/>
              <a:cs typeface="Times New Roman" pitchFamily="18" charset="0"/>
            </a:endParaRPr>
          </a:p>
          <a:p>
            <a:pPr lvl="0" algn="just" eaLnBrk="0" fontAlgn="base" hangingPunct="0">
              <a:spcBef>
                <a:spcPct val="0"/>
              </a:spcBef>
              <a:spcAft>
                <a:spcPct val="0"/>
              </a:spcAft>
            </a:pPr>
            <a:r>
              <a:rPr lang="fr-FR" b="1" dirty="0" err="1" smtClean="0">
                <a:latin typeface="Times New Roman" pitchFamily="18" charset="0"/>
                <a:ea typeface="Times New Roman" pitchFamily="18" charset="0"/>
                <a:cs typeface="Times New Roman" pitchFamily="18" charset="0"/>
                <a:sym typeface="Wingdings" pitchFamily="2" charset="2"/>
              </a:rPr>
              <a:t>debfonc</a:t>
            </a:r>
            <a:r>
              <a:rPr lang="fr-FR" b="1" dirty="0" smtClean="0">
                <a:latin typeface="Times New Roman" pitchFamily="18" charset="0"/>
                <a:ea typeface="Times New Roman" pitchFamily="18" charset="0"/>
                <a:cs typeface="Times New Roman" pitchFamily="18" charset="0"/>
                <a:sym typeface="Wingdings" pitchFamily="2" charset="2"/>
              </a:rPr>
              <a:t> </a:t>
            </a:r>
            <a:r>
              <a:rPr lang="fr-FR" b="1" dirty="0">
                <a:latin typeface="Times New Roman" pitchFamily="18" charset="0"/>
                <a:ea typeface="Times New Roman" pitchFamily="18" charset="0"/>
                <a:cs typeface="Times New Roman" pitchFamily="18" charset="0"/>
                <a:sym typeface="Wingdings" pitchFamily="2" charset="2"/>
              </a:rPr>
              <a:t>pointeur </a:t>
            </a:r>
            <a:r>
              <a:rPr lang="fr-FR" dirty="0">
                <a:latin typeface="Times New Roman" pitchFamily="18" charset="0"/>
                <a:ea typeface="Times New Roman" pitchFamily="18" charset="0"/>
                <a:cs typeface="Times New Roman" pitchFamily="18" charset="0"/>
                <a:sym typeface="Wingdings" pitchFamily="2" charset="2"/>
              </a:rPr>
              <a:t>der, p;</a:t>
            </a:r>
            <a:endParaRPr lang="fr-FR"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si l</a:t>
            </a:r>
            <a:r>
              <a:rPr lang="fr-FR" dirty="0">
                <a:latin typeface="Times New Roman" pitchFamily="18" charset="0"/>
                <a:ea typeface="Times New Roman" pitchFamily="18" charset="0"/>
                <a:cs typeface="Times New Roman" pitchFamily="18" charset="0"/>
                <a:sym typeface="Wingdings" pitchFamily="2" charset="2"/>
              </a:rPr>
              <a:t>=</a:t>
            </a:r>
            <a:r>
              <a:rPr lang="fr-FR" b="1" dirty="0" err="1">
                <a:latin typeface="Times New Roman" pitchFamily="18" charset="0"/>
                <a:ea typeface="Times New Roman" pitchFamily="18" charset="0"/>
                <a:cs typeface="Times New Roman" pitchFamily="18" charset="0"/>
                <a:sym typeface="Wingdings" pitchFamily="2" charset="2"/>
              </a:rPr>
              <a:t>nil</a:t>
            </a:r>
            <a:r>
              <a:rPr lang="fr-FR" b="1" dirty="0">
                <a:latin typeface="Times New Roman" pitchFamily="18" charset="0"/>
                <a:ea typeface="Times New Roman" pitchFamily="18" charset="0"/>
                <a:cs typeface="Times New Roman" pitchFamily="18" charset="0"/>
                <a:sym typeface="Wingdings" pitchFamily="2" charset="2"/>
              </a:rPr>
              <a:t> alors </a:t>
            </a:r>
            <a:r>
              <a:rPr lang="fr-FR" b="1" dirty="0" err="1">
                <a:latin typeface="Times New Roman" pitchFamily="18" charset="0"/>
                <a:ea typeface="Times New Roman" pitchFamily="18" charset="0"/>
                <a:cs typeface="Times New Roman" pitchFamily="18" charset="0"/>
                <a:sym typeface="Wingdings" pitchFamily="2" charset="2"/>
              </a:rPr>
              <a:t>insertete</a:t>
            </a:r>
            <a:r>
              <a:rPr lang="fr-FR" b="1" dirty="0">
                <a:latin typeface="Times New Roman" pitchFamily="18" charset="0"/>
                <a:ea typeface="Times New Roman" pitchFamily="18" charset="0"/>
                <a:cs typeface="Times New Roman" pitchFamily="18" charset="0"/>
                <a:sym typeface="Wingdings" pitchFamily="2" charset="2"/>
              </a:rPr>
              <a:t>(</a:t>
            </a:r>
            <a:r>
              <a:rPr lang="fr-FR" dirty="0">
                <a:latin typeface="Times New Roman" pitchFamily="18" charset="0"/>
                <a:ea typeface="Times New Roman" pitchFamily="18" charset="0"/>
                <a:cs typeface="Times New Roman" pitchFamily="18" charset="0"/>
                <a:sym typeface="Wingdings" pitchFamily="2" charset="2"/>
              </a:rPr>
              <a:t>l, </a:t>
            </a:r>
            <a:r>
              <a:rPr lang="fr-FR" dirty="0" err="1">
                <a:latin typeface="Times New Roman" pitchFamily="18" charset="0"/>
                <a:ea typeface="Times New Roman" pitchFamily="18" charset="0"/>
                <a:cs typeface="Times New Roman" pitchFamily="18" charset="0"/>
                <a:sym typeface="Wingdings" pitchFamily="2" charset="2"/>
              </a:rPr>
              <a:t>elem</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sinon</a:t>
            </a: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Wingdings" pitchFamily="2" charset="2"/>
              </a:rPr>
              <a:t>  </a:t>
            </a:r>
            <a:r>
              <a:rPr lang="fr-FR" b="1" dirty="0">
                <a:latin typeface="Times New Roman" pitchFamily="18" charset="0"/>
                <a:ea typeface="Times New Roman" pitchFamily="18" charset="0"/>
                <a:cs typeface="Times New Roman" pitchFamily="18" charset="0"/>
                <a:sym typeface="Wingdings" pitchFamily="2" charset="2"/>
              </a:rPr>
              <a:t>    </a:t>
            </a:r>
            <a:r>
              <a:rPr lang="fr-FR" dirty="0" smtClean="0">
                <a:latin typeface="Times New Roman" pitchFamily="18" charset="0"/>
                <a:ea typeface="Times New Roman" pitchFamily="18" charset="0"/>
                <a:cs typeface="Times New Roman" pitchFamily="18" charset="0"/>
                <a:sym typeface="Wingdings" pitchFamily="2" charset="2"/>
              </a:rPr>
              <a:t>der&lt;-</a:t>
            </a:r>
            <a:r>
              <a:rPr lang="fr-FR" b="1" dirty="0" smtClean="0">
                <a:latin typeface="Times New Roman" pitchFamily="18" charset="0"/>
                <a:ea typeface="Times New Roman" pitchFamily="18" charset="0"/>
                <a:cs typeface="Times New Roman" pitchFamily="18" charset="0"/>
                <a:sym typeface="Wingdings" pitchFamily="2" charset="2"/>
              </a:rPr>
              <a:t>dernier(</a:t>
            </a:r>
            <a:r>
              <a:rPr lang="fr-FR" dirty="0" smtClean="0">
                <a:latin typeface="Times New Roman" pitchFamily="18" charset="0"/>
                <a:ea typeface="Times New Roman" pitchFamily="18" charset="0"/>
                <a:cs typeface="Times New Roman" pitchFamily="18" charset="0"/>
                <a:sym typeface="Wingdings" pitchFamily="2" charset="2"/>
              </a:rPr>
              <a:t>l</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nouveau(</a:t>
            </a:r>
            <a:r>
              <a:rPr lang="fr-FR" dirty="0">
                <a:latin typeface="Times New Roman" pitchFamily="18" charset="0"/>
                <a:ea typeface="Times New Roman" pitchFamily="18" charset="0"/>
                <a:cs typeface="Times New Roman" pitchFamily="18" charset="0"/>
                <a:sym typeface="Wingdings" pitchFamily="2" charset="2"/>
              </a:rPr>
              <a:t>p)</a:t>
            </a:r>
            <a:r>
              <a:rPr lang="fr-FR" b="1" dirty="0">
                <a:latin typeface="Times New Roman" pitchFamily="18" charset="0"/>
                <a:ea typeface="Times New Roman" pitchFamily="18" charset="0"/>
                <a:cs typeface="Times New Roman" pitchFamily="18" charset="0"/>
                <a:sym typeface="Wingdings" pitchFamily="2" charset="2"/>
              </a:rPr>
              <a:t>;      </a:t>
            </a:r>
            <a:r>
              <a:rPr lang="fr-FR" dirty="0">
                <a:latin typeface="Times New Roman" pitchFamily="18" charset="0"/>
                <a:ea typeface="Times New Roman" pitchFamily="18" charset="0"/>
                <a:cs typeface="Times New Roman" pitchFamily="18" charset="0"/>
                <a:sym typeface="Wingdings" pitchFamily="2" charset="2"/>
              </a:rPr>
              <a:t>	/*1*/</a:t>
            </a:r>
            <a:endParaRPr lang="fr-FR"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Wingdings" pitchFamily="2" charset="2"/>
              </a:rPr>
              <a:t>      p-&gt;</a:t>
            </a:r>
            <a:r>
              <a:rPr lang="fr-FR" dirty="0" smtClean="0">
                <a:latin typeface="Times New Roman" pitchFamily="18" charset="0"/>
                <a:ea typeface="Times New Roman" pitchFamily="18" charset="0"/>
                <a:cs typeface="Times New Roman" pitchFamily="18" charset="0"/>
                <a:sym typeface="Wingdings" pitchFamily="2" charset="2"/>
              </a:rPr>
              <a:t>info:=</a:t>
            </a:r>
            <a:r>
              <a:rPr lang="fr-FR" dirty="0" err="1" smtClean="0">
                <a:latin typeface="Times New Roman" pitchFamily="18" charset="0"/>
                <a:ea typeface="Times New Roman" pitchFamily="18" charset="0"/>
                <a:cs typeface="Times New Roman" pitchFamily="18" charset="0"/>
                <a:sym typeface="Wingdings" pitchFamily="2" charset="2"/>
              </a:rPr>
              <a:t>elem</a:t>
            </a:r>
            <a:r>
              <a:rPr lang="fr-FR" dirty="0">
                <a:latin typeface="Times New Roman" pitchFamily="18" charset="0"/>
                <a:ea typeface="Times New Roman" pitchFamily="18" charset="0"/>
                <a:cs typeface="Times New Roman" pitchFamily="18" charset="0"/>
                <a:sym typeface="Wingdings" pitchFamily="2" charset="2"/>
              </a:rPr>
              <a:t>;		/*2*/</a:t>
            </a:r>
            <a:endParaRPr lang="fr-FR"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Wingdings" pitchFamily="2" charset="2"/>
              </a:rPr>
              <a:t>      p-&gt;</a:t>
            </a:r>
            <a:r>
              <a:rPr lang="fr-FR" dirty="0" smtClean="0">
                <a:latin typeface="Times New Roman" pitchFamily="18" charset="0"/>
                <a:ea typeface="Times New Roman" pitchFamily="18" charset="0"/>
                <a:cs typeface="Times New Roman" pitchFamily="18" charset="0"/>
                <a:sym typeface="Wingdings" pitchFamily="2" charset="2"/>
              </a:rPr>
              <a:t>suivant:=</a:t>
            </a:r>
            <a:r>
              <a:rPr lang="fr-FR" dirty="0" err="1" smtClean="0">
                <a:latin typeface="Times New Roman" pitchFamily="18" charset="0"/>
                <a:ea typeface="Times New Roman" pitchFamily="18" charset="0"/>
                <a:cs typeface="Times New Roman" pitchFamily="18" charset="0"/>
                <a:sym typeface="Wingdings" pitchFamily="2" charset="2"/>
              </a:rPr>
              <a:t>nil</a:t>
            </a:r>
            <a:r>
              <a:rPr lang="fr-FR" dirty="0" smtClean="0">
                <a:latin typeface="Times New Roman" pitchFamily="18" charset="0"/>
                <a:ea typeface="Times New Roman" pitchFamily="18" charset="0"/>
                <a:cs typeface="Times New Roman" pitchFamily="18" charset="0"/>
                <a:sym typeface="Wingdings" pitchFamily="2" charset="2"/>
              </a:rPr>
              <a:t>;	</a:t>
            </a:r>
            <a:r>
              <a:rPr lang="fr-FR" dirty="0">
                <a:latin typeface="Times New Roman" pitchFamily="18" charset="0"/>
                <a:ea typeface="Times New Roman" pitchFamily="18" charset="0"/>
                <a:cs typeface="Times New Roman" pitchFamily="18" charset="0"/>
                <a:sym typeface="Wingdings" pitchFamily="2" charset="2"/>
              </a:rPr>
              <a:t>	/*3*/</a:t>
            </a:r>
            <a:endParaRPr lang="fr-FR"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Wingdings" pitchFamily="2" charset="2"/>
              </a:rPr>
              <a:t>      der-&gt;</a:t>
            </a:r>
            <a:r>
              <a:rPr lang="fr-FR" dirty="0" smtClean="0">
                <a:latin typeface="Times New Roman" pitchFamily="18" charset="0"/>
                <a:ea typeface="Times New Roman" pitchFamily="18" charset="0"/>
                <a:cs typeface="Times New Roman" pitchFamily="18" charset="0"/>
                <a:sym typeface="Wingdings" pitchFamily="2" charset="2"/>
              </a:rPr>
              <a:t>suivant:=p</a:t>
            </a:r>
            <a:r>
              <a:rPr lang="fr-FR" dirty="0">
                <a:latin typeface="Times New Roman" pitchFamily="18" charset="0"/>
                <a:ea typeface="Times New Roman" pitchFamily="18" charset="0"/>
                <a:cs typeface="Times New Roman" pitchFamily="18" charset="0"/>
                <a:sym typeface="Wingdings" pitchFamily="2" charset="2"/>
              </a:rPr>
              <a:t>;</a:t>
            </a:r>
            <a:r>
              <a:rPr lang="fr-FR" b="1" dirty="0">
                <a:latin typeface="Times New Roman" pitchFamily="18" charset="0"/>
                <a:ea typeface="Times New Roman" pitchFamily="18" charset="0"/>
                <a:cs typeface="Times New Roman" pitchFamily="18" charset="0"/>
                <a:sym typeface="Wingdings" pitchFamily="2" charset="2"/>
              </a:rPr>
              <a:t> </a:t>
            </a:r>
            <a:r>
              <a:rPr lang="fr-FR" dirty="0">
                <a:latin typeface="Times New Roman" pitchFamily="18" charset="0"/>
                <a:ea typeface="Times New Roman" pitchFamily="18" charset="0"/>
                <a:cs typeface="Times New Roman" pitchFamily="18" charset="0"/>
                <a:sym typeface="Wingdings" pitchFamily="2" charset="2"/>
              </a:rPr>
              <a:t>	/*4*/</a:t>
            </a:r>
            <a:endParaRPr lang="fr-FR"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b="1" dirty="0" err="1" smtClean="0">
                <a:latin typeface="Times New Roman" pitchFamily="18" charset="0"/>
                <a:ea typeface="Times New Roman" pitchFamily="18" charset="0"/>
                <a:cs typeface="Times New Roman" pitchFamily="18" charset="0"/>
                <a:sym typeface="Wingdings" pitchFamily="2" charset="2"/>
              </a:rPr>
              <a:t>finsi</a:t>
            </a:r>
            <a:r>
              <a:rPr lang="fr-FR" b="1" dirty="0" smtClean="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ea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en-GB" b="1" dirty="0">
                <a:latin typeface="Times New Roman" pitchFamily="18" charset="0"/>
                <a:cs typeface="Times New Roman" pitchFamily="18" charset="0"/>
                <a:sym typeface="Wingdings" pitchFamily="2" charset="2"/>
              </a:rPr>
              <a:t>  </a:t>
            </a:r>
            <a:r>
              <a:rPr lang="en-GB" b="1" dirty="0" err="1" smtClean="0">
                <a:latin typeface="Times New Roman" pitchFamily="18" charset="0"/>
                <a:cs typeface="Times New Roman" pitchFamily="18" charset="0"/>
                <a:sym typeface="Wingdings" pitchFamily="2" charset="2"/>
              </a:rPr>
              <a:t>retourner</a:t>
            </a:r>
            <a:r>
              <a:rPr lang="en-GB" b="1" dirty="0" smtClean="0">
                <a:latin typeface="Times New Roman" pitchFamily="18" charset="0"/>
                <a:cs typeface="Times New Roman" pitchFamily="18" charset="0"/>
                <a:sym typeface="Wingdings" pitchFamily="2" charset="2"/>
              </a:rPr>
              <a:t> </a:t>
            </a:r>
            <a:r>
              <a:rPr lang="en-GB" dirty="0">
                <a:latin typeface="Times New Roman" pitchFamily="18" charset="0"/>
                <a:cs typeface="Times New Roman" pitchFamily="18" charset="0"/>
                <a:sym typeface="Wingdings" pitchFamily="2" charset="2"/>
              </a:rPr>
              <a:t>l;</a:t>
            </a:r>
            <a:endParaRPr lang="fr-FR"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err="1">
                <a:latin typeface="Times New Roman" pitchFamily="18" charset="0"/>
                <a:ea typeface="Times New Roman" pitchFamily="18" charset="0"/>
                <a:cs typeface="Times New Roman" pitchFamily="18" charset="0"/>
                <a:sym typeface="Wingdings" pitchFamily="2" charset="2"/>
              </a:rPr>
              <a:t>f</a:t>
            </a:r>
            <a:r>
              <a:rPr lang="fr-FR" b="1" dirty="0" err="1" smtClean="0">
                <a:latin typeface="Times New Roman" pitchFamily="18" charset="0"/>
                <a:ea typeface="Times New Roman" pitchFamily="18" charset="0"/>
                <a:cs typeface="Times New Roman" pitchFamily="18" charset="0"/>
                <a:sym typeface="Wingdings" pitchFamily="2" charset="2"/>
              </a:rPr>
              <a:t>infonc</a:t>
            </a:r>
            <a:r>
              <a:rPr lang="fr-FR" b="1" dirty="0" smtClean="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ea typeface="Times New Roman" pitchFamily="18" charset="0"/>
              <a:cs typeface="Times New Roman" pitchFamily="18" charset="0"/>
              <a:sym typeface="Wingdings" pitchFamily="2" charset="2"/>
            </a:endParaRPr>
          </a:p>
          <a:p>
            <a:pPr algn="just" eaLnBrk="0" fontAlgn="base" hangingPunct="0">
              <a:spcBef>
                <a:spcPct val="0"/>
              </a:spcBef>
              <a:spcAft>
                <a:spcPct val="0"/>
              </a:spcAft>
            </a:pPr>
            <a:r>
              <a:rPr lang="fr-FR" b="1" dirty="0" smtClean="0">
                <a:latin typeface="Times New Roman" pitchFamily="18" charset="0"/>
                <a:cs typeface="Times New Roman" pitchFamily="18" charset="0"/>
              </a:rPr>
              <a:t>Complexité :</a:t>
            </a:r>
            <a:r>
              <a:rPr lang="fr-FR" dirty="0" smtClean="0">
                <a:latin typeface="Times New Roman" pitchFamily="18" charset="0"/>
                <a:cs typeface="Times New Roman" pitchFamily="18" charset="0"/>
              </a:rPr>
              <a:t> T(n) = 6 + n = O(n).</a:t>
            </a:r>
          </a:p>
          <a:p>
            <a:pPr algn="just" eaLnBrk="0" fontAlgn="base" hangingPunct="0">
              <a:spcBef>
                <a:spcPct val="0"/>
              </a:spcBef>
              <a:spcAft>
                <a:spcPct val="0"/>
              </a:spcAft>
            </a:pPr>
            <a:r>
              <a:rPr lang="fr-FR" dirty="0" smtClean="0">
                <a:latin typeface="Times New Roman" pitchFamily="18" charset="0"/>
                <a:cs typeface="Times New Roman" pitchFamily="18" charset="0"/>
              </a:rPr>
              <a:t>Les </a:t>
            </a:r>
            <a:r>
              <a:rPr lang="fr-FR" dirty="0">
                <a:latin typeface="Times New Roman" pitchFamily="18" charset="0"/>
                <a:cs typeface="Times New Roman" pitchFamily="18" charset="0"/>
              </a:rPr>
              <a:t>actions /*1*/, /*2*/, /*3*/, /*4*/ correspondent à </a:t>
            </a:r>
            <a:r>
              <a:rPr lang="fr-FR" b="1" dirty="0" err="1">
                <a:latin typeface="Times New Roman" pitchFamily="18" charset="0"/>
                <a:cs typeface="Times New Roman" pitchFamily="18" charset="0"/>
              </a:rPr>
              <a:t>insertete</a:t>
            </a:r>
            <a:r>
              <a:rPr lang="fr-FR" b="1" dirty="0">
                <a:latin typeface="Times New Roman" pitchFamily="18" charset="0"/>
                <a:cs typeface="Times New Roman" pitchFamily="18" charset="0"/>
              </a:rPr>
              <a:t>(der-&gt;suivant, </a:t>
            </a:r>
            <a:r>
              <a:rPr lang="fr-FR" b="1" dirty="0" err="1">
                <a:latin typeface="Times New Roman" pitchFamily="18" charset="0"/>
                <a:cs typeface="Times New Roman" pitchFamily="18" charset="0"/>
              </a:rPr>
              <a:t>elem</a:t>
            </a:r>
            <a:r>
              <a:rPr lang="fr-FR" b="1" dirty="0">
                <a:latin typeface="Times New Roman" pitchFamily="18" charset="0"/>
                <a:cs typeface="Times New Roman" pitchFamily="18" charset="0"/>
              </a:rPr>
              <a:t>). </a:t>
            </a:r>
            <a:r>
              <a:rPr lang="fr-FR" dirty="0">
                <a:latin typeface="Times New Roman" pitchFamily="18" charset="0"/>
                <a:cs typeface="Times New Roman" pitchFamily="18" charset="0"/>
              </a:rPr>
              <a:t>En effet, insérer en fin de liste est équivalent à insérer en tête de la liste qui suit (c’est-à-dire la liste vide).</a:t>
            </a:r>
          </a:p>
          <a:p>
            <a:r>
              <a:rPr lang="fr-FR" b="1" dirty="0" smtClean="0">
                <a:latin typeface="Times New Roman" pitchFamily="18" charset="0"/>
                <a:cs typeface="Times New Roman" pitchFamily="18" charset="0"/>
              </a:rPr>
              <a:t>vide </a:t>
            </a:r>
            <a:r>
              <a:rPr lang="fr-FR" dirty="0" err="1">
                <a:latin typeface="Times New Roman" pitchFamily="18" charset="0"/>
                <a:cs typeface="Times New Roman" pitchFamily="18" charset="0"/>
              </a:rPr>
              <a:t>inserfin</a:t>
            </a:r>
            <a:r>
              <a:rPr lang="fr-FR" b="1" dirty="0">
                <a:latin typeface="Times New Roman" pitchFamily="18" charset="0"/>
                <a:cs typeface="Times New Roman" pitchFamily="18" charset="0"/>
              </a:rPr>
              <a:t>(</a:t>
            </a:r>
            <a:r>
              <a:rPr lang="fr-FR" b="1" dirty="0" err="1">
                <a:latin typeface="Times New Roman" pitchFamily="18" charset="0"/>
                <a:cs typeface="Times New Roman" pitchFamily="18" charset="0"/>
              </a:rPr>
              <a:t>dr</a:t>
            </a:r>
            <a:r>
              <a:rPr lang="fr-FR" b="1" dirty="0">
                <a:latin typeface="Times New Roman" pitchFamily="18" charset="0"/>
                <a:cs typeface="Times New Roman" pitchFamily="18" charset="0"/>
              </a:rPr>
              <a:t> pointeur </a:t>
            </a:r>
            <a:r>
              <a:rPr lang="fr-FR" dirty="0">
                <a:latin typeface="Times New Roman" pitchFamily="18" charset="0"/>
                <a:cs typeface="Times New Roman" pitchFamily="18" charset="0"/>
              </a:rPr>
              <a:t>l,</a:t>
            </a:r>
            <a:r>
              <a:rPr lang="fr-FR" b="1" dirty="0">
                <a:latin typeface="Times New Roman" pitchFamily="18" charset="0"/>
                <a:cs typeface="Times New Roman" pitchFamily="18" charset="0"/>
              </a:rPr>
              <a:t> d t </a:t>
            </a:r>
            <a:r>
              <a:rPr lang="fr-FR" dirty="0" err="1">
                <a:latin typeface="Times New Roman" pitchFamily="18" charset="0"/>
                <a:cs typeface="Times New Roman" pitchFamily="18" charset="0"/>
              </a:rPr>
              <a:t>elem</a:t>
            </a:r>
            <a:r>
              <a:rPr lang="fr-FR" b="1" dirty="0">
                <a:latin typeface="Times New Roman" pitchFamily="18" charset="0"/>
                <a:cs typeface="Times New Roman" pitchFamily="18" charset="0"/>
              </a:rPr>
              <a:t>)</a:t>
            </a:r>
          </a:p>
          <a:p>
            <a:r>
              <a:rPr lang="nb-NO" b="1" dirty="0" smtClean="0">
                <a:latin typeface="Times New Roman" pitchFamily="18" charset="0"/>
                <a:cs typeface="Times New Roman" pitchFamily="18" charset="0"/>
              </a:rPr>
              <a:t>debfonc </a:t>
            </a:r>
            <a:r>
              <a:rPr lang="nb-NO" b="1" dirty="0">
                <a:latin typeface="Times New Roman" pitchFamily="18" charset="0"/>
                <a:cs typeface="Times New Roman" pitchFamily="18" charset="0"/>
              </a:rPr>
              <a:t>pointeur </a:t>
            </a:r>
            <a:r>
              <a:rPr lang="nb-NO" dirty="0">
                <a:latin typeface="Times New Roman" pitchFamily="18" charset="0"/>
                <a:cs typeface="Times New Roman" pitchFamily="18" charset="0"/>
              </a:rPr>
              <a:t>der, p;</a:t>
            </a:r>
            <a:endParaRPr lang="fr-FR" dirty="0">
              <a:latin typeface="Times New Roman" pitchFamily="18" charset="0"/>
              <a:cs typeface="Times New Roman" pitchFamily="18" charset="0"/>
            </a:endParaRPr>
          </a:p>
          <a:p>
            <a:r>
              <a:rPr lang="nb-NO" b="1" dirty="0">
                <a:latin typeface="Times New Roman" pitchFamily="18" charset="0"/>
                <a:cs typeface="Times New Roman" pitchFamily="18" charset="0"/>
              </a:rPr>
              <a:t>  si </a:t>
            </a:r>
            <a:r>
              <a:rPr lang="nb-NO" dirty="0">
                <a:latin typeface="Times New Roman" pitchFamily="18" charset="0"/>
                <a:cs typeface="Times New Roman" pitchFamily="18" charset="0"/>
              </a:rPr>
              <a:t>l=</a:t>
            </a:r>
            <a:r>
              <a:rPr lang="nb-NO" b="1" dirty="0">
                <a:latin typeface="Times New Roman" pitchFamily="18" charset="0"/>
                <a:cs typeface="Times New Roman" pitchFamily="18" charset="0"/>
              </a:rPr>
              <a:t>nil alors insertete</a:t>
            </a:r>
            <a:r>
              <a:rPr lang="nb-NO" dirty="0">
                <a:latin typeface="Times New Roman" pitchFamily="18" charset="0"/>
                <a:cs typeface="Times New Roman" pitchFamily="18" charset="0"/>
              </a:rPr>
              <a:t>(l, elem);</a:t>
            </a:r>
            <a:endParaRPr lang="fr-FR" dirty="0">
              <a:latin typeface="Times New Roman" pitchFamily="18" charset="0"/>
              <a:cs typeface="Times New Roman" pitchFamily="18" charset="0"/>
            </a:endParaRPr>
          </a:p>
          <a:p>
            <a:r>
              <a:rPr lang="nb-NO" b="1" dirty="0">
                <a:latin typeface="Times New Roman" pitchFamily="18" charset="0"/>
                <a:cs typeface="Times New Roman" pitchFamily="18" charset="0"/>
              </a:rPr>
              <a:t>  sinon</a:t>
            </a:r>
          </a:p>
          <a:p>
            <a:r>
              <a:rPr lang="nb-NO" b="1" dirty="0">
                <a:latin typeface="Times New Roman" pitchFamily="18" charset="0"/>
                <a:cs typeface="Times New Roman" pitchFamily="18" charset="0"/>
              </a:rPr>
              <a:t>      </a:t>
            </a:r>
            <a:r>
              <a:rPr lang="nb-NO" dirty="0" smtClean="0">
                <a:latin typeface="Times New Roman" pitchFamily="18" charset="0"/>
                <a:cs typeface="Times New Roman" pitchFamily="18" charset="0"/>
              </a:rPr>
              <a:t>der:=dernier(l</a:t>
            </a:r>
            <a:r>
              <a:rPr lang="nb-NO" dirty="0">
                <a:latin typeface="Times New Roman" pitchFamily="18" charset="0"/>
                <a:cs typeface="Times New Roman" pitchFamily="18" charset="0"/>
              </a:rPr>
              <a:t>);</a:t>
            </a:r>
            <a:endParaRPr lang="fr-FR" dirty="0">
              <a:latin typeface="Times New Roman" pitchFamily="18" charset="0"/>
              <a:cs typeface="Times New Roman" pitchFamily="18" charset="0"/>
            </a:endParaRPr>
          </a:p>
          <a:p>
            <a:r>
              <a:rPr lang="nb-NO" b="1" dirty="0">
                <a:latin typeface="Times New Roman" pitchFamily="18" charset="0"/>
                <a:cs typeface="Times New Roman" pitchFamily="18" charset="0"/>
              </a:rPr>
              <a:t>      insertete(</a:t>
            </a:r>
            <a:r>
              <a:rPr lang="nb-NO" dirty="0">
                <a:latin typeface="Times New Roman" pitchFamily="18" charset="0"/>
                <a:cs typeface="Times New Roman" pitchFamily="18" charset="0"/>
              </a:rPr>
              <a:t>der-&gt;suivant, elem</a:t>
            </a:r>
            <a:r>
              <a:rPr lang="nb-NO" b="1" dirty="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nb-NO" b="1" dirty="0">
                <a:latin typeface="Times New Roman" pitchFamily="18" charset="0"/>
                <a:cs typeface="Times New Roman" pitchFamily="18" charset="0"/>
              </a:rPr>
              <a:t>   </a:t>
            </a:r>
            <a:r>
              <a:rPr lang="fr-FR" b="1" dirty="0" err="1">
                <a:latin typeface="Times New Roman" pitchFamily="18" charset="0"/>
                <a:cs typeface="Times New Roman" pitchFamily="18" charset="0"/>
              </a:rPr>
              <a:t>finsi</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finfonc</a:t>
            </a:r>
            <a:r>
              <a:rPr lang="fr-FR" b="1" dirty="0">
                <a:latin typeface="Times New Roman" pitchFamily="18" charset="0"/>
                <a:cs typeface="Times New Roman" pitchFamily="18" charset="0"/>
              </a:rPr>
              <a:t>;</a:t>
            </a:r>
          </a:p>
        </p:txBody>
      </p:sp>
    </p:spTree>
    <p:extLst>
      <p:ext uri="{BB962C8B-B14F-4D97-AF65-F5344CB8AC3E}">
        <p14:creationId xmlns:p14="http://schemas.microsoft.com/office/powerpoint/2010/main" val="28055647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040" y="280244"/>
            <a:ext cx="11785600" cy="6370975"/>
          </a:xfrm>
          <a:prstGeom prst="rect">
            <a:avLst/>
          </a:prstGeom>
        </p:spPr>
        <p:txBody>
          <a:bodyPr wrap="square">
            <a:spAutoFit/>
          </a:bodyPr>
          <a:lstStyle/>
          <a:p>
            <a:pPr lvl="0" algn="just" fontAlgn="base">
              <a:spcBef>
                <a:spcPct val="0"/>
              </a:spcBef>
              <a:spcAft>
                <a:spcPct val="0"/>
              </a:spcAft>
            </a:pPr>
            <a:r>
              <a:rPr lang="fr-FR" sz="2400" u="sng" dirty="0">
                <a:latin typeface="Times New Roman" pitchFamily="18" charset="0"/>
                <a:ea typeface="Times New Roman" pitchFamily="18" charset="0"/>
                <a:cs typeface="Times New Roman" pitchFamily="18" charset="0"/>
              </a:rPr>
              <a:t>Fonction dernier</a:t>
            </a:r>
          </a:p>
          <a:p>
            <a:pPr lvl="0" algn="just" eaLnBrk="0" fontAlgn="base" hangingPunct="0">
              <a:spcBef>
                <a:spcPct val="0"/>
              </a:spcBef>
              <a:spcAft>
                <a:spcPct val="0"/>
              </a:spcAft>
            </a:pPr>
            <a:r>
              <a:rPr lang="fr-FR" sz="2400" b="1" dirty="0" smtClean="0">
                <a:latin typeface="Times New Roman" pitchFamily="18" charset="0"/>
                <a:ea typeface="Times New Roman" pitchFamily="18" charset="0"/>
                <a:cs typeface="Times New Roman" pitchFamily="18" charset="0"/>
              </a:rPr>
              <a:t>pointeur </a:t>
            </a:r>
            <a:r>
              <a:rPr lang="fr-FR" sz="2400" dirty="0">
                <a:latin typeface="Times New Roman" pitchFamily="18" charset="0"/>
                <a:ea typeface="Times New Roman" pitchFamily="18" charset="0"/>
                <a:cs typeface="Times New Roman" pitchFamily="18" charset="0"/>
              </a:rPr>
              <a:t>dernier</a:t>
            </a:r>
            <a:r>
              <a:rPr lang="fr-FR" sz="2400" b="1" dirty="0">
                <a:latin typeface="Times New Roman" pitchFamily="18" charset="0"/>
                <a:ea typeface="Times New Roman" pitchFamily="18" charset="0"/>
                <a:cs typeface="Times New Roman" pitchFamily="18" charset="0"/>
              </a:rPr>
              <a:t>(d pointeur </a:t>
            </a:r>
            <a:r>
              <a:rPr lang="fr-FR" sz="2400" dirty="0">
                <a:latin typeface="Times New Roman" pitchFamily="18" charset="0"/>
                <a:ea typeface="Times New Roman" pitchFamily="18" charset="0"/>
                <a:cs typeface="Times New Roman" pitchFamily="18" charset="0"/>
              </a:rPr>
              <a:t>l</a:t>
            </a:r>
            <a:r>
              <a:rPr lang="fr-FR" sz="2400" b="1" dirty="0">
                <a:latin typeface="Times New Roman" pitchFamily="18" charset="0"/>
                <a:ea typeface="Times New Roman" pitchFamily="18" charset="0"/>
                <a:cs typeface="Times New Roman" pitchFamily="18" charset="0"/>
              </a:rPr>
              <a:t>)</a:t>
            </a:r>
            <a:endParaRPr lang="fr-FR" sz="2400" b="1" dirty="0">
              <a:latin typeface="Times New Roman" pitchFamily="18" charset="0"/>
              <a:cs typeface="Times New Roman" pitchFamily="18" charset="0"/>
            </a:endParaRPr>
          </a:p>
          <a:p>
            <a:pPr lvl="0" algn="just" eaLnBrk="0" fontAlgn="base" hangingPunct="0">
              <a:spcBef>
                <a:spcPct val="0"/>
              </a:spcBef>
              <a:spcAft>
                <a:spcPct val="0"/>
              </a:spcAft>
            </a:pPr>
            <a:r>
              <a:rPr lang="fr-FR" sz="2400" b="1" dirty="0" err="1">
                <a:latin typeface="Times New Roman" pitchFamily="18" charset="0"/>
                <a:ea typeface="Times New Roman" pitchFamily="18" charset="0"/>
                <a:cs typeface="Times New Roman" pitchFamily="18" charset="0"/>
                <a:sym typeface="Wingdings" pitchFamily="2" charset="2"/>
              </a:rPr>
              <a:t>debproc</a:t>
            </a:r>
            <a:endParaRPr lang="fr-FR" sz="2400" b="1" dirty="0">
              <a:latin typeface="Times New Roman" pitchFamily="18" charset="0"/>
              <a:ea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Wingdings" pitchFamily="2" charset="2"/>
              </a:rPr>
              <a:t>  </a:t>
            </a:r>
            <a:r>
              <a:rPr lang="fr-FR" sz="2400" b="1" dirty="0" err="1">
                <a:latin typeface="Times New Roman" pitchFamily="18" charset="0"/>
                <a:ea typeface="Times New Roman" pitchFamily="18" charset="0"/>
                <a:cs typeface="Times New Roman" pitchFamily="18" charset="0"/>
                <a:sym typeface="Wingdings" pitchFamily="2" charset="2"/>
              </a:rPr>
              <a:t>tantque</a:t>
            </a:r>
            <a:r>
              <a:rPr lang="fr-FR" sz="2400" b="1" dirty="0">
                <a:latin typeface="Times New Roman" pitchFamily="18" charset="0"/>
                <a:ea typeface="Times New Roman" pitchFamily="18" charset="0"/>
                <a:cs typeface="Times New Roman" pitchFamily="18" charset="0"/>
                <a:sym typeface="Wingdings" pitchFamily="2" charset="2"/>
              </a:rPr>
              <a:t> </a:t>
            </a:r>
            <a:r>
              <a:rPr lang="fr-FR" sz="2400" dirty="0" err="1">
                <a:latin typeface="Times New Roman" pitchFamily="18" charset="0"/>
                <a:ea typeface="Times New Roman" pitchFamily="18" charset="0"/>
                <a:cs typeface="Times New Roman" pitchFamily="18" charset="0"/>
                <a:sym typeface="Wingdings" pitchFamily="2" charset="2"/>
              </a:rPr>
              <a:t>l≠</a:t>
            </a:r>
            <a:r>
              <a:rPr lang="fr-FR" sz="2400" b="1" dirty="0" err="1">
                <a:latin typeface="Times New Roman" pitchFamily="18" charset="0"/>
                <a:ea typeface="Times New Roman" pitchFamily="18" charset="0"/>
                <a:cs typeface="Times New Roman" pitchFamily="18" charset="0"/>
                <a:sym typeface="Wingdings" pitchFamily="2" charset="2"/>
              </a:rPr>
              <a:t>nil</a:t>
            </a:r>
            <a:r>
              <a:rPr lang="fr-FR" sz="2400" b="1" dirty="0">
                <a:latin typeface="Times New Roman" pitchFamily="18" charset="0"/>
                <a:ea typeface="Times New Roman" pitchFamily="18" charset="0"/>
                <a:cs typeface="Times New Roman" pitchFamily="18" charset="0"/>
                <a:sym typeface="Wingdings" pitchFamily="2" charset="2"/>
              </a:rPr>
              <a:t> faire</a:t>
            </a:r>
            <a:endParaRPr lang="fr-FR" sz="2400" b="1" dirty="0">
              <a:latin typeface="Times New Roman" pitchFamily="18" charset="0"/>
              <a:ea typeface="Times New Roman" pitchFamily="18" charset="0"/>
              <a:cs typeface="Times New Roman" pitchFamily="18" charset="0"/>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a:t>
            </a:r>
            <a:r>
              <a:rPr lang="fr-FR" sz="2400" b="1" dirty="0">
                <a:latin typeface="Times New Roman" pitchFamily="18" charset="0"/>
                <a:ea typeface="Times New Roman" pitchFamily="18" charset="0"/>
                <a:cs typeface="Times New Roman" pitchFamily="18" charset="0"/>
                <a:sym typeface="Symbol" pitchFamily="18" charset="2"/>
              </a:rPr>
              <a:t>  </a:t>
            </a:r>
            <a:r>
              <a:rPr lang="fr-FR" sz="2400" dirty="0" err="1" smtClean="0">
                <a:latin typeface="Times New Roman" pitchFamily="18" charset="0"/>
                <a:ea typeface="Times New Roman" pitchFamily="18" charset="0"/>
                <a:cs typeface="Times New Roman" pitchFamily="18" charset="0"/>
                <a:sym typeface="Symbol" pitchFamily="18" charset="2"/>
              </a:rPr>
              <a:t>precedent</a:t>
            </a:r>
            <a:r>
              <a:rPr lang="fr-FR" sz="2400" dirty="0" smtClean="0">
                <a:latin typeface="Times New Roman" pitchFamily="18" charset="0"/>
                <a:ea typeface="Times New Roman" pitchFamily="18" charset="0"/>
                <a:cs typeface="Times New Roman" pitchFamily="18" charset="0"/>
                <a:sym typeface="Symbol" pitchFamily="18" charset="2"/>
              </a:rPr>
              <a:t>:=</a:t>
            </a:r>
            <a:r>
              <a:rPr lang="fr-FR" sz="2400" dirty="0" smtClean="0">
                <a:latin typeface="Times New Roman" pitchFamily="18" charset="0"/>
                <a:ea typeface="Times New Roman" pitchFamily="18" charset="0"/>
                <a:cs typeface="Times New Roman" pitchFamily="18" charset="0"/>
                <a:sym typeface="Symbol" pitchFamily="18" charset="2"/>
              </a:rPr>
              <a:t>l</a:t>
            </a:r>
            <a:r>
              <a:rPr lang="fr-FR" sz="2400" dirty="0">
                <a:latin typeface="Times New Roman" pitchFamily="18" charset="0"/>
                <a:ea typeface="Times New Roman" pitchFamily="18" charset="0"/>
                <a:cs typeface="Times New Roman" pitchFamily="18" charset="0"/>
                <a:sym typeface="Symbol" pitchFamily="18" charset="2"/>
              </a:rPr>
              <a:t>;</a:t>
            </a:r>
            <a:endParaRPr lang="fr-FR" sz="24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400" dirty="0">
                <a:latin typeface="Times New Roman" pitchFamily="18" charset="0"/>
                <a:ea typeface="Times New Roman" pitchFamily="18" charset="0"/>
                <a:cs typeface="Times New Roman" pitchFamily="18" charset="0"/>
                <a:sym typeface="Symbol" pitchFamily="18" charset="2"/>
              </a:rPr>
              <a:t>     </a:t>
            </a:r>
            <a:r>
              <a:rPr lang="fr-FR" sz="2400" dirty="0" smtClean="0">
                <a:latin typeface="Times New Roman" pitchFamily="18" charset="0"/>
                <a:ea typeface="Times New Roman" pitchFamily="18" charset="0"/>
                <a:cs typeface="Times New Roman" pitchFamily="18" charset="0"/>
                <a:sym typeface="Symbol" pitchFamily="18" charset="2"/>
              </a:rPr>
              <a:t>l:=l-</a:t>
            </a:r>
            <a:r>
              <a:rPr lang="fr-FR" sz="2400" dirty="0">
                <a:latin typeface="Times New Roman" pitchFamily="18" charset="0"/>
                <a:ea typeface="Times New Roman" pitchFamily="18" charset="0"/>
                <a:cs typeface="Times New Roman" pitchFamily="18" charset="0"/>
                <a:sym typeface="Symbol" pitchFamily="18" charset="2"/>
              </a:rPr>
              <a:t>&gt;suivant;</a:t>
            </a:r>
            <a:endParaRPr lang="fr-FR" sz="24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a:t>
            </a:r>
            <a:r>
              <a:rPr lang="fr-FR" sz="2400" b="1" dirty="0" err="1">
                <a:latin typeface="Times New Roman" pitchFamily="18" charset="0"/>
                <a:ea typeface="Times New Roman" pitchFamily="18" charset="0"/>
                <a:cs typeface="Times New Roman" pitchFamily="18" charset="0"/>
                <a:sym typeface="Symbol" pitchFamily="18" charset="2"/>
              </a:rPr>
              <a:t>finfaire</a:t>
            </a:r>
            <a:r>
              <a:rPr lang="fr-FR" sz="2400" b="1" dirty="0">
                <a:latin typeface="Times New Roman" pitchFamily="18" charset="0"/>
                <a:ea typeface="Times New Roman" pitchFamily="18" charset="0"/>
                <a:cs typeface="Times New Roman" pitchFamily="18" charset="0"/>
                <a:sym typeface="Symbol" pitchFamily="18" charset="2"/>
              </a:rPr>
              <a:t>;</a:t>
            </a:r>
            <a:endParaRPr lang="fr-FR" sz="24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retourner </a:t>
            </a:r>
            <a:r>
              <a:rPr lang="fr-FR" sz="2400" dirty="0" err="1">
                <a:latin typeface="Times New Roman" pitchFamily="18" charset="0"/>
                <a:ea typeface="Times New Roman" pitchFamily="18" charset="0"/>
                <a:cs typeface="Times New Roman" pitchFamily="18" charset="0"/>
                <a:sym typeface="Symbol" pitchFamily="18" charset="2"/>
              </a:rPr>
              <a:t>precedent</a:t>
            </a:r>
            <a:r>
              <a:rPr lang="fr-FR" sz="2400" dirty="0">
                <a:latin typeface="Times New Roman" pitchFamily="18" charset="0"/>
                <a:ea typeface="Times New Roman" pitchFamily="18" charset="0"/>
                <a:cs typeface="Times New Roman" pitchFamily="18" charset="0"/>
                <a:sym typeface="Symbol" pitchFamily="18" charset="2"/>
              </a:rPr>
              <a:t>;</a:t>
            </a:r>
            <a:endParaRPr lang="fr-FR" sz="24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400" b="1" dirty="0" err="1">
                <a:latin typeface="Times New Roman" pitchFamily="18" charset="0"/>
                <a:ea typeface="Times New Roman" pitchFamily="18" charset="0"/>
                <a:cs typeface="Times New Roman" pitchFamily="18" charset="0"/>
                <a:sym typeface="Symbol" pitchFamily="18" charset="2"/>
              </a:rPr>
              <a:t>finfonc</a:t>
            </a:r>
            <a:r>
              <a:rPr lang="fr-FR" sz="2400" b="1" dirty="0">
                <a:latin typeface="Times New Roman" pitchFamily="18" charset="0"/>
                <a:ea typeface="Times New Roman" pitchFamily="18" charset="0"/>
                <a:cs typeface="Times New Roman" pitchFamily="18" charset="0"/>
                <a:sym typeface="Symbol" pitchFamily="18" charset="2"/>
              </a:rPr>
              <a:t>;</a:t>
            </a:r>
          </a:p>
          <a:p>
            <a:pPr lvl="0" algn="just" eaLnBrk="0" fontAlgn="base" hangingPunct="0">
              <a:spcBef>
                <a:spcPct val="0"/>
              </a:spcBef>
              <a:spcAft>
                <a:spcPct val="0"/>
              </a:spcAft>
            </a:pPr>
            <a:r>
              <a:rPr lang="fr-FR" sz="2400" b="1" dirty="0" smtClean="0">
                <a:latin typeface="Times New Roman" pitchFamily="18" charset="0"/>
                <a:ea typeface="Times New Roman" pitchFamily="18" charset="0"/>
                <a:cs typeface="Times New Roman" pitchFamily="18" charset="0"/>
                <a:sym typeface="Symbol" pitchFamily="18" charset="2"/>
              </a:rPr>
              <a:t>Complexité : </a:t>
            </a:r>
            <a:r>
              <a:rPr lang="fr-FR" sz="2400" dirty="0" smtClean="0">
                <a:latin typeface="Times New Roman" pitchFamily="18" charset="0"/>
                <a:ea typeface="Times New Roman" pitchFamily="18" charset="0"/>
                <a:cs typeface="Times New Roman" pitchFamily="18" charset="0"/>
                <a:sym typeface="Symbol" pitchFamily="18" charset="2"/>
              </a:rPr>
              <a:t>T(n) = 3n = 0(n).</a:t>
            </a:r>
          </a:p>
          <a:p>
            <a:pPr lvl="0" algn="just" eaLnBrk="0" fontAlgn="base" hangingPunct="0">
              <a:spcBef>
                <a:spcPct val="0"/>
              </a:spcBef>
              <a:spcAft>
                <a:spcPct val="0"/>
              </a:spcAft>
            </a:pPr>
            <a:endParaRPr lang="fr-FR" sz="2400" dirty="0">
              <a:latin typeface="Times New Roman" pitchFamily="18" charset="0"/>
              <a:ea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en-GB" sz="2400" dirty="0" err="1">
                <a:latin typeface="Times New Roman" pitchFamily="18" charset="0"/>
                <a:cs typeface="Times New Roman" pitchFamily="18" charset="0"/>
                <a:sym typeface="Symbol" pitchFamily="18" charset="2"/>
              </a:rPr>
              <a:t>Une</a:t>
            </a:r>
            <a:r>
              <a:rPr lang="en-GB" sz="2400" dirty="0">
                <a:latin typeface="Times New Roman" pitchFamily="18" charset="0"/>
                <a:cs typeface="Times New Roman" pitchFamily="18" charset="0"/>
                <a:sym typeface="Symbol" pitchFamily="18" charset="2"/>
              </a:rPr>
              <a:t> </a:t>
            </a:r>
            <a:r>
              <a:rPr lang="en-GB" sz="2400" dirty="0" err="1">
                <a:latin typeface="Times New Roman" pitchFamily="18" charset="0"/>
                <a:cs typeface="Times New Roman" pitchFamily="18" charset="0"/>
                <a:sym typeface="Symbol" pitchFamily="18" charset="2"/>
              </a:rPr>
              <a:t>liste</a:t>
            </a:r>
            <a:r>
              <a:rPr lang="en-GB" sz="2400" dirty="0">
                <a:latin typeface="Times New Roman" pitchFamily="18" charset="0"/>
                <a:cs typeface="Times New Roman" pitchFamily="18" charset="0"/>
                <a:sym typeface="Symbol" pitchFamily="18" charset="2"/>
              </a:rPr>
              <a:t> </a:t>
            </a:r>
            <a:r>
              <a:rPr lang="en-GB" sz="2400" dirty="0" err="1">
                <a:latin typeface="Times New Roman" pitchFamily="18" charset="0"/>
                <a:cs typeface="Times New Roman" pitchFamily="18" charset="0"/>
                <a:sym typeface="Symbol" pitchFamily="18" charset="2"/>
              </a:rPr>
              <a:t>différente</a:t>
            </a:r>
            <a:r>
              <a:rPr lang="en-GB" sz="2400" dirty="0">
                <a:latin typeface="Times New Roman" pitchFamily="18" charset="0"/>
                <a:cs typeface="Times New Roman" pitchFamily="18" charset="0"/>
                <a:sym typeface="Symbol" pitchFamily="18" charset="2"/>
              </a:rPr>
              <a:t> de vide </a:t>
            </a:r>
            <a:r>
              <a:rPr lang="en-GB" sz="2400" dirty="0" err="1">
                <a:latin typeface="Times New Roman" pitchFamily="18" charset="0"/>
                <a:cs typeface="Times New Roman" pitchFamily="18" charset="0"/>
                <a:sym typeface="Symbol" pitchFamily="18" charset="2"/>
              </a:rPr>
              <a:t>contient</a:t>
            </a:r>
            <a:r>
              <a:rPr lang="en-GB" sz="2400" dirty="0">
                <a:latin typeface="Times New Roman" pitchFamily="18" charset="0"/>
                <a:cs typeface="Times New Roman" pitchFamily="18" charset="0"/>
                <a:sym typeface="Symbol" pitchFamily="18" charset="2"/>
              </a:rPr>
              <a:t> au </a:t>
            </a:r>
            <a:r>
              <a:rPr lang="en-GB" sz="2400" dirty="0" err="1">
                <a:latin typeface="Times New Roman" pitchFamily="18" charset="0"/>
                <a:cs typeface="Times New Roman" pitchFamily="18" charset="0"/>
                <a:sym typeface="Symbol" pitchFamily="18" charset="2"/>
              </a:rPr>
              <a:t>moins</a:t>
            </a:r>
            <a:r>
              <a:rPr lang="en-GB" sz="2400" dirty="0">
                <a:latin typeface="Times New Roman" pitchFamily="18" charset="0"/>
                <a:cs typeface="Times New Roman" pitchFamily="18" charset="0"/>
                <a:sym typeface="Symbol" pitchFamily="18" charset="2"/>
              </a:rPr>
              <a:t> un </a:t>
            </a:r>
            <a:r>
              <a:rPr lang="en-GB" sz="2400" dirty="0" err="1">
                <a:latin typeface="Times New Roman" pitchFamily="18" charset="0"/>
                <a:cs typeface="Times New Roman" pitchFamily="18" charset="0"/>
                <a:sym typeface="Symbol" pitchFamily="18" charset="2"/>
              </a:rPr>
              <a:t>élément</a:t>
            </a:r>
            <a:r>
              <a:rPr lang="en-GB" sz="2400" dirty="0" smtClean="0">
                <a:latin typeface="Times New Roman" pitchFamily="18" charset="0"/>
                <a:cs typeface="Times New Roman" pitchFamily="18" charset="0"/>
                <a:sym typeface="Symbol" pitchFamily="18" charset="2"/>
              </a:rPr>
              <a:t>.</a:t>
            </a:r>
            <a:endParaRPr lang="fr-FR" sz="24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pointeur </a:t>
            </a:r>
            <a:r>
              <a:rPr lang="fr-FR" sz="2400" dirty="0" smtClean="0">
                <a:latin typeface="Times New Roman" pitchFamily="18" charset="0"/>
                <a:ea typeface="Times New Roman" pitchFamily="18" charset="0"/>
                <a:cs typeface="Times New Roman" pitchFamily="18" charset="0"/>
                <a:sym typeface="Symbol" pitchFamily="18" charset="2"/>
              </a:rPr>
              <a:t>dernier</a:t>
            </a:r>
            <a:r>
              <a:rPr lang="fr-FR" sz="2400" b="1" dirty="0" smtClean="0">
                <a:latin typeface="Times New Roman" pitchFamily="18" charset="0"/>
                <a:ea typeface="Times New Roman" pitchFamily="18" charset="0"/>
                <a:cs typeface="Times New Roman" pitchFamily="18" charset="0"/>
                <a:sym typeface="Symbol" pitchFamily="18" charset="2"/>
              </a:rPr>
              <a:t>(d </a:t>
            </a:r>
            <a:r>
              <a:rPr lang="fr-FR" sz="2400" b="1" dirty="0">
                <a:latin typeface="Times New Roman" pitchFamily="18" charset="0"/>
                <a:ea typeface="Times New Roman" pitchFamily="18" charset="0"/>
                <a:cs typeface="Times New Roman" pitchFamily="18" charset="0"/>
                <a:sym typeface="Symbol" pitchFamily="18" charset="2"/>
              </a:rPr>
              <a:t>pointeur </a:t>
            </a:r>
            <a:r>
              <a:rPr lang="fr-FR" sz="2400" dirty="0" smtClean="0">
                <a:latin typeface="Times New Roman" pitchFamily="18" charset="0"/>
                <a:ea typeface="Times New Roman" pitchFamily="18" charset="0"/>
                <a:cs typeface="Times New Roman" pitchFamily="18" charset="0"/>
                <a:sym typeface="Symbol" pitchFamily="18" charset="2"/>
              </a:rPr>
              <a:t>l</a:t>
            </a:r>
            <a:r>
              <a:rPr lang="fr-FR" sz="2400" b="1" dirty="0" smtClean="0">
                <a:latin typeface="Times New Roman" pitchFamily="18" charset="0"/>
                <a:ea typeface="Times New Roman" pitchFamily="18" charset="0"/>
                <a:cs typeface="Times New Roman" pitchFamily="18" charset="0"/>
                <a:sym typeface="Symbol" pitchFamily="18" charset="2"/>
              </a:rPr>
              <a:t>)</a:t>
            </a:r>
            <a:endParaRPr lang="fr-FR" sz="24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400" b="1" dirty="0" err="1">
                <a:latin typeface="Times New Roman" pitchFamily="18" charset="0"/>
                <a:ea typeface="Times New Roman" pitchFamily="18" charset="0"/>
                <a:cs typeface="Times New Roman" pitchFamily="18" charset="0"/>
                <a:sym typeface="Symbol" pitchFamily="18" charset="2"/>
              </a:rPr>
              <a:t>debfonc</a:t>
            </a:r>
            <a:endParaRPr lang="fr-FR" sz="2400" b="1" dirty="0">
              <a:latin typeface="Times New Roman" pitchFamily="18" charset="0"/>
              <a:ea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si </a:t>
            </a:r>
            <a:r>
              <a:rPr lang="fr-FR" sz="2400" dirty="0">
                <a:latin typeface="Times New Roman" pitchFamily="18" charset="0"/>
                <a:ea typeface="Times New Roman" pitchFamily="18" charset="0"/>
                <a:cs typeface="Times New Roman" pitchFamily="18" charset="0"/>
                <a:sym typeface="Symbol" pitchFamily="18" charset="2"/>
              </a:rPr>
              <a:t>l-&gt;suivant=</a:t>
            </a:r>
            <a:r>
              <a:rPr lang="fr-FR" sz="2400" b="1" dirty="0" err="1">
                <a:latin typeface="Times New Roman" pitchFamily="18" charset="0"/>
                <a:ea typeface="Times New Roman" pitchFamily="18" charset="0"/>
                <a:cs typeface="Times New Roman" pitchFamily="18" charset="0"/>
                <a:sym typeface="Symbol" pitchFamily="18" charset="2"/>
              </a:rPr>
              <a:t>nil</a:t>
            </a:r>
            <a:r>
              <a:rPr lang="fr-FR" sz="2400" b="1" dirty="0">
                <a:latin typeface="Times New Roman" pitchFamily="18" charset="0"/>
                <a:ea typeface="Times New Roman" pitchFamily="18" charset="0"/>
                <a:cs typeface="Times New Roman" pitchFamily="18" charset="0"/>
                <a:sym typeface="Symbol" pitchFamily="18" charset="2"/>
              </a:rPr>
              <a:t> alors retourner </a:t>
            </a:r>
            <a:r>
              <a:rPr lang="fr-FR" sz="2400" dirty="0">
                <a:latin typeface="Times New Roman" pitchFamily="18" charset="0"/>
                <a:ea typeface="Times New Roman" pitchFamily="18" charset="0"/>
                <a:cs typeface="Times New Roman" pitchFamily="18" charset="0"/>
                <a:sym typeface="Symbol" pitchFamily="18" charset="2"/>
              </a:rPr>
              <a:t>l;</a:t>
            </a:r>
            <a:endParaRPr lang="fr-FR" sz="2400"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sinon retourner </a:t>
            </a:r>
            <a:r>
              <a:rPr lang="fr-FR" sz="2400" dirty="0">
                <a:latin typeface="Times New Roman" pitchFamily="18" charset="0"/>
                <a:ea typeface="Times New Roman" pitchFamily="18" charset="0"/>
                <a:cs typeface="Times New Roman" pitchFamily="18" charset="0"/>
                <a:sym typeface="Symbol" pitchFamily="18" charset="2"/>
              </a:rPr>
              <a:t>dernier</a:t>
            </a:r>
            <a:r>
              <a:rPr lang="fr-FR" sz="2400" b="1" dirty="0">
                <a:latin typeface="Times New Roman" pitchFamily="18" charset="0"/>
                <a:ea typeface="Times New Roman" pitchFamily="18" charset="0"/>
                <a:cs typeface="Times New Roman" pitchFamily="18" charset="0"/>
                <a:sym typeface="Symbol" pitchFamily="18" charset="2"/>
              </a:rPr>
              <a:t>(</a:t>
            </a:r>
            <a:r>
              <a:rPr lang="fr-FR" sz="2400" dirty="0">
                <a:latin typeface="Times New Roman" pitchFamily="18" charset="0"/>
                <a:ea typeface="Times New Roman" pitchFamily="18" charset="0"/>
                <a:cs typeface="Times New Roman" pitchFamily="18" charset="0"/>
                <a:sym typeface="Symbol" pitchFamily="18" charset="2"/>
              </a:rPr>
              <a:t>l-&gt;suivant</a:t>
            </a:r>
            <a:r>
              <a:rPr lang="fr-FR" sz="2400" b="1" dirty="0">
                <a:latin typeface="Times New Roman" pitchFamily="18" charset="0"/>
                <a:ea typeface="Times New Roman" pitchFamily="18" charset="0"/>
                <a:cs typeface="Times New Roman" pitchFamily="18" charset="0"/>
                <a:sym typeface="Symbol" pitchFamily="18" charset="2"/>
              </a:rPr>
              <a:t>);</a:t>
            </a:r>
          </a:p>
          <a:p>
            <a:pPr lvl="0" algn="just" eaLnBrk="0" fontAlgn="base" hangingPunct="0">
              <a:spcBef>
                <a:spcPct val="0"/>
              </a:spcBef>
              <a:spcAft>
                <a:spcPct val="0"/>
              </a:spcAft>
            </a:pPr>
            <a:r>
              <a:rPr lang="en-GB" sz="2400" b="1" dirty="0" err="1">
                <a:latin typeface="Times New Roman" pitchFamily="18" charset="0"/>
                <a:ea typeface="Times New Roman" pitchFamily="18" charset="0"/>
                <a:cs typeface="Times New Roman" pitchFamily="18" charset="0"/>
                <a:sym typeface="Symbol" pitchFamily="18" charset="2"/>
              </a:rPr>
              <a:t>finfonc</a:t>
            </a:r>
            <a:r>
              <a:rPr lang="en-GB" sz="2400" b="1" dirty="0">
                <a:latin typeface="Times New Roman" pitchFamily="18" charset="0"/>
                <a:ea typeface="Times New Roman" pitchFamily="18" charset="0"/>
                <a:cs typeface="Times New Roman" pitchFamily="18" charset="0"/>
                <a:sym typeface="Symbol" pitchFamily="18" charset="2"/>
              </a:rPr>
              <a:t>;</a:t>
            </a:r>
          </a:p>
        </p:txBody>
      </p:sp>
    </p:spTree>
    <p:extLst>
      <p:ext uri="{BB962C8B-B14F-4D97-AF65-F5344CB8AC3E}">
        <p14:creationId xmlns:p14="http://schemas.microsoft.com/office/powerpoint/2010/main" val="38785079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920" y="37971"/>
            <a:ext cx="11948160" cy="6740307"/>
          </a:xfrm>
          <a:prstGeom prst="rect">
            <a:avLst/>
          </a:prstGeom>
        </p:spPr>
        <p:txBody>
          <a:bodyPr wrap="square">
            <a:spAutoFit/>
          </a:bodyPr>
          <a:lstStyle/>
          <a:p>
            <a:pPr lvl="0" algn="just" fontAlgn="base">
              <a:spcBef>
                <a:spcPct val="0"/>
              </a:spcBef>
              <a:spcAft>
                <a:spcPct val="0"/>
              </a:spcAft>
            </a:pPr>
            <a:r>
              <a:rPr lang="fr-FR" sz="1600" dirty="0" smtClean="0">
                <a:latin typeface="Times New Roman" pitchFamily="18" charset="0"/>
                <a:ea typeface="Times New Roman" pitchFamily="18" charset="0"/>
                <a:cs typeface="Times New Roman" pitchFamily="18" charset="0"/>
              </a:rPr>
              <a:t>c) </a:t>
            </a:r>
            <a:r>
              <a:rPr lang="fr-FR" sz="1600" u="sng" dirty="0">
                <a:latin typeface="Times New Roman" pitchFamily="18" charset="0"/>
                <a:ea typeface="Times New Roman" pitchFamily="18" charset="0"/>
                <a:cs typeface="Times New Roman" pitchFamily="18" charset="0"/>
              </a:rPr>
              <a:t>Algorithme de suppression </a:t>
            </a:r>
            <a:endParaRPr lang="fr-FR" sz="1600" dirty="0">
              <a:latin typeface="Times New Roman" pitchFamily="18" charset="0"/>
              <a:cs typeface="Times New Roman" pitchFamily="18" charset="0"/>
            </a:endParaRPr>
          </a:p>
          <a:p>
            <a:r>
              <a:rPr lang="fr-FR" sz="1600" dirty="0">
                <a:latin typeface="Times New Roman" pitchFamily="18" charset="0"/>
                <a:cs typeface="Times New Roman" pitchFamily="18" charset="0"/>
              </a:rPr>
              <a:t>Suppression du 1</a:t>
            </a:r>
            <a:r>
              <a:rPr lang="fr-FR" sz="1600" baseline="30000" dirty="0">
                <a:latin typeface="Times New Roman" pitchFamily="18" charset="0"/>
                <a:cs typeface="Times New Roman" pitchFamily="18" charset="0"/>
              </a:rPr>
              <a:t>er</a:t>
            </a:r>
            <a:r>
              <a:rPr lang="fr-FR" sz="1600" dirty="0">
                <a:latin typeface="Times New Roman" pitchFamily="18" charset="0"/>
                <a:cs typeface="Times New Roman" pitchFamily="18" charset="0"/>
              </a:rPr>
              <a:t> élément.</a:t>
            </a:r>
          </a:p>
          <a:p>
            <a:r>
              <a:rPr lang="fr-FR" sz="1600" b="1" dirty="0" smtClean="0">
                <a:latin typeface="Times New Roman" pitchFamily="18" charset="0"/>
                <a:cs typeface="Times New Roman" pitchFamily="18" charset="0"/>
              </a:rPr>
              <a:t>vide </a:t>
            </a:r>
            <a:r>
              <a:rPr lang="fr-FR" sz="1600" dirty="0" err="1">
                <a:latin typeface="Times New Roman" pitchFamily="18" charset="0"/>
                <a:cs typeface="Times New Roman" pitchFamily="18" charset="0"/>
              </a:rPr>
              <a:t>supptete</a:t>
            </a:r>
            <a:r>
              <a:rPr lang="fr-FR" sz="1600" b="1" dirty="0">
                <a:latin typeface="Times New Roman" pitchFamily="18" charset="0"/>
                <a:cs typeface="Times New Roman" pitchFamily="18" charset="0"/>
              </a:rPr>
              <a:t>(</a:t>
            </a:r>
            <a:r>
              <a:rPr lang="fr-FR" sz="1600" b="1" dirty="0" err="1">
                <a:latin typeface="Times New Roman" pitchFamily="18" charset="0"/>
                <a:cs typeface="Times New Roman" pitchFamily="18" charset="0"/>
              </a:rPr>
              <a:t>dr</a:t>
            </a:r>
            <a:r>
              <a:rPr lang="fr-FR" sz="1600" b="1" dirty="0">
                <a:latin typeface="Times New Roman" pitchFamily="18" charset="0"/>
                <a:cs typeface="Times New Roman" pitchFamily="18" charset="0"/>
              </a:rPr>
              <a:t> pointeur </a:t>
            </a:r>
            <a:r>
              <a:rPr lang="fr-FR" sz="1600" dirty="0">
                <a:latin typeface="Times New Roman" pitchFamily="18" charset="0"/>
                <a:cs typeface="Times New Roman" pitchFamily="18" charset="0"/>
              </a:rPr>
              <a:t>l</a:t>
            </a:r>
            <a:r>
              <a:rPr lang="fr-FR" sz="1600" b="1" dirty="0">
                <a:latin typeface="Times New Roman" pitchFamily="18" charset="0"/>
                <a:cs typeface="Times New Roman" pitchFamily="18" charset="0"/>
              </a:rPr>
              <a:t>)</a:t>
            </a:r>
          </a:p>
          <a:p>
            <a:r>
              <a:rPr lang="fr-FR" sz="1600" b="1" dirty="0" err="1" smtClean="0">
                <a:latin typeface="Times New Roman" pitchFamily="18" charset="0"/>
                <a:cs typeface="Times New Roman" pitchFamily="18" charset="0"/>
              </a:rPr>
              <a:t>debfonc</a:t>
            </a:r>
            <a:r>
              <a:rPr lang="fr-FR" sz="1600" b="1" dirty="0" smtClean="0">
                <a:latin typeface="Times New Roman" pitchFamily="18" charset="0"/>
                <a:cs typeface="Times New Roman" pitchFamily="18" charset="0"/>
              </a:rPr>
              <a:t>  </a:t>
            </a:r>
            <a:endParaRPr lang="fr-FR" sz="1600" b="1" dirty="0">
              <a:latin typeface="Times New Roman" pitchFamily="18" charset="0"/>
              <a:cs typeface="Times New Roman" pitchFamily="18" charset="0"/>
            </a:endParaRPr>
          </a:p>
          <a:p>
            <a:r>
              <a:rPr lang="fr-FR" sz="1600" b="1" dirty="0">
                <a:latin typeface="Times New Roman" pitchFamily="18" charset="0"/>
                <a:cs typeface="Times New Roman" pitchFamily="18" charset="0"/>
              </a:rPr>
              <a:t>   </a:t>
            </a:r>
            <a:r>
              <a:rPr lang="fr-FR" sz="1600" dirty="0" smtClean="0">
                <a:latin typeface="Times New Roman" pitchFamily="18" charset="0"/>
                <a:cs typeface="Times New Roman" pitchFamily="18" charset="0"/>
              </a:rPr>
              <a:t>p:=l</a:t>
            </a:r>
            <a:r>
              <a:rPr lang="fr-FR" sz="1600" dirty="0">
                <a:latin typeface="Times New Roman" pitchFamily="18" charset="0"/>
                <a:cs typeface="Times New Roman" pitchFamily="18" charset="0"/>
              </a:rPr>
              <a:t>;  </a:t>
            </a:r>
            <a:r>
              <a:rPr lang="fr-FR" sz="1600" dirty="0" smtClean="0">
                <a:latin typeface="Times New Roman" pitchFamily="18" charset="0"/>
                <a:cs typeface="Times New Roman" pitchFamily="18" charset="0"/>
              </a:rPr>
              <a:t>l:=l-</a:t>
            </a:r>
            <a:r>
              <a:rPr lang="fr-FR" sz="1600" dirty="0">
                <a:latin typeface="Times New Roman" pitchFamily="18" charset="0"/>
                <a:cs typeface="Times New Roman" pitchFamily="18" charset="0"/>
              </a:rPr>
              <a:t>&gt;suivant;</a:t>
            </a:r>
          </a:p>
          <a:p>
            <a:r>
              <a:rPr lang="fr-FR" sz="1600" b="1" dirty="0">
                <a:latin typeface="Times New Roman" pitchFamily="18" charset="0"/>
                <a:cs typeface="Times New Roman" pitchFamily="18" charset="0"/>
              </a:rPr>
              <a:t>   laisser(</a:t>
            </a:r>
            <a:r>
              <a:rPr lang="fr-FR" sz="1600" dirty="0">
                <a:latin typeface="Times New Roman" pitchFamily="18" charset="0"/>
                <a:cs typeface="Times New Roman" pitchFamily="18" charset="0"/>
              </a:rPr>
              <a:t>p</a:t>
            </a:r>
            <a:r>
              <a:rPr lang="fr-FR" sz="1600" b="1" dirty="0">
                <a:latin typeface="Times New Roman" pitchFamily="18" charset="0"/>
                <a:cs typeface="Times New Roman" pitchFamily="18" charset="0"/>
              </a:rPr>
              <a:t>);</a:t>
            </a:r>
          </a:p>
          <a:p>
            <a:r>
              <a:rPr lang="fr-FR" sz="1600" b="1" dirty="0" err="1" smtClean="0">
                <a:latin typeface="Times New Roman" pitchFamily="18" charset="0"/>
                <a:cs typeface="Times New Roman" pitchFamily="18" charset="0"/>
              </a:rPr>
              <a:t>finfonc</a:t>
            </a:r>
            <a:r>
              <a:rPr lang="fr-FR" sz="1600" b="1" dirty="0" smtClean="0">
                <a:latin typeface="Times New Roman" pitchFamily="18" charset="0"/>
                <a:cs typeface="Times New Roman" pitchFamily="18" charset="0"/>
              </a:rPr>
              <a:t>;  //Complexité : </a:t>
            </a:r>
            <a:r>
              <a:rPr lang="fr-FR" sz="1600" dirty="0" smtClean="0">
                <a:latin typeface="Times New Roman" pitchFamily="18" charset="0"/>
                <a:cs typeface="Times New Roman" pitchFamily="18" charset="0"/>
              </a:rPr>
              <a:t>T(n) = 3 = O(3).</a:t>
            </a:r>
            <a:endParaRPr lang="fr-FR" sz="1600" dirty="0">
              <a:latin typeface="Times New Roman" pitchFamily="18" charset="0"/>
              <a:cs typeface="Times New Roman" pitchFamily="18" charset="0"/>
            </a:endParaRPr>
          </a:p>
          <a:p>
            <a:r>
              <a:rPr lang="fr-FR" sz="1600" dirty="0">
                <a:latin typeface="Times New Roman" pitchFamily="18" charset="0"/>
                <a:ea typeface="Times New Roman" pitchFamily="18" charset="0"/>
                <a:cs typeface="Times New Roman" pitchFamily="18" charset="0"/>
              </a:rPr>
              <a:t>Supprimer le </a:t>
            </a:r>
            <a:r>
              <a:rPr lang="fr-FR" sz="1600" dirty="0" err="1">
                <a:latin typeface="Times New Roman" pitchFamily="18" charset="0"/>
                <a:ea typeface="Times New Roman" pitchFamily="18" charset="0"/>
                <a:cs typeface="Times New Roman" pitchFamily="18" charset="0"/>
              </a:rPr>
              <a:t>k</a:t>
            </a:r>
            <a:r>
              <a:rPr lang="fr-FR" sz="1600" baseline="30000" dirty="0" err="1">
                <a:latin typeface="Times New Roman" pitchFamily="18" charset="0"/>
                <a:ea typeface="Times New Roman" pitchFamily="18" charset="0"/>
                <a:cs typeface="Times New Roman" pitchFamily="18" charset="0"/>
              </a:rPr>
              <a:t>ième</a:t>
            </a:r>
            <a:r>
              <a:rPr lang="fr-FR" sz="1600" dirty="0">
                <a:latin typeface="Times New Roman" pitchFamily="18" charset="0"/>
                <a:ea typeface="Times New Roman" pitchFamily="18" charset="0"/>
                <a:cs typeface="Times New Roman" pitchFamily="18" charset="0"/>
              </a:rPr>
              <a:t> élément.</a:t>
            </a:r>
            <a:endParaRPr lang="fr-FR" sz="1600" dirty="0">
              <a:latin typeface="Times New Roman" pitchFamily="18" charset="0"/>
              <a:cs typeface="Times New Roman" pitchFamily="18" charset="0"/>
            </a:endParaRPr>
          </a:p>
          <a:p>
            <a:pPr lvl="0" indent="180975" algn="just" eaLnBrk="0" fontAlgn="base" hangingPunct="0">
              <a:spcBef>
                <a:spcPct val="0"/>
              </a:spcBef>
              <a:spcAft>
                <a:spcPct val="0"/>
              </a:spcAft>
            </a:pPr>
            <a:r>
              <a:rPr lang="fr-FR" sz="1600" dirty="0">
                <a:latin typeface="Times New Roman" pitchFamily="18" charset="0"/>
                <a:ea typeface="Times New Roman" pitchFamily="18" charset="0"/>
                <a:cs typeface="Times New Roman" pitchFamily="18" charset="0"/>
              </a:rPr>
              <a:t>- </a:t>
            </a:r>
            <a:r>
              <a:rPr lang="fr-FR" sz="1600" u="sng" dirty="0">
                <a:latin typeface="Times New Roman" pitchFamily="18" charset="0"/>
                <a:ea typeface="Times New Roman" pitchFamily="18" charset="0"/>
                <a:cs typeface="Times New Roman" pitchFamily="18" charset="0"/>
              </a:rPr>
              <a:t>Schéma itératif</a:t>
            </a:r>
            <a:endParaRPr lang="fr-FR" sz="1600" dirty="0">
              <a:latin typeface="Times New Roman" pitchFamily="18" charset="0"/>
              <a:cs typeface="Times New Roman" pitchFamily="18" charset="0"/>
            </a:endParaRPr>
          </a:p>
          <a:p>
            <a:pPr lvl="0" indent="180975" algn="just" eaLnBrk="0" fontAlgn="base" hangingPunct="0">
              <a:spcBef>
                <a:spcPct val="0"/>
              </a:spcBef>
              <a:spcAft>
                <a:spcPct val="0"/>
              </a:spcAft>
            </a:pPr>
            <a:r>
              <a:rPr lang="fr-FR" sz="1600" dirty="0">
                <a:latin typeface="Times New Roman" pitchFamily="18" charset="0"/>
                <a:ea typeface="Times New Roman" pitchFamily="18" charset="0"/>
                <a:cs typeface="Times New Roman" pitchFamily="18" charset="0"/>
              </a:rPr>
              <a:t>Il faut déterminer l’adresse </a:t>
            </a:r>
            <a:r>
              <a:rPr lang="fr-FR" sz="1600" b="1" dirty="0" err="1">
                <a:latin typeface="Times New Roman" pitchFamily="18" charset="0"/>
                <a:ea typeface="Times New Roman" pitchFamily="18" charset="0"/>
                <a:cs typeface="Times New Roman" pitchFamily="18" charset="0"/>
              </a:rPr>
              <a:t>precedent</a:t>
            </a:r>
            <a:r>
              <a:rPr lang="fr-FR" sz="1600" dirty="0">
                <a:latin typeface="Times New Roman" pitchFamily="18" charset="0"/>
                <a:ea typeface="Times New Roman" pitchFamily="18" charset="0"/>
                <a:cs typeface="Times New Roman" pitchFamily="18" charset="0"/>
              </a:rPr>
              <a:t> de la cellule qui précède celle que l’on veut supprimer : c’est-à-dire l’adresse de la k-1</a:t>
            </a:r>
            <a:r>
              <a:rPr lang="fr-FR" sz="1600" baseline="30000" dirty="0">
                <a:latin typeface="Times New Roman" pitchFamily="18" charset="0"/>
                <a:ea typeface="Times New Roman" pitchFamily="18" charset="0"/>
                <a:cs typeface="Times New Roman" pitchFamily="18" charset="0"/>
              </a:rPr>
              <a:t>ième</a:t>
            </a:r>
            <a:r>
              <a:rPr lang="fr-FR" sz="1600" dirty="0">
                <a:latin typeface="Times New Roman" pitchFamily="18" charset="0"/>
                <a:ea typeface="Times New Roman" pitchFamily="18" charset="0"/>
                <a:cs typeface="Times New Roman" pitchFamily="18" charset="0"/>
              </a:rPr>
              <a:t> cellule qui sera obtenue par la fonction </a:t>
            </a:r>
            <a:r>
              <a:rPr lang="fr-FR" sz="1600" b="1" dirty="0" err="1">
                <a:latin typeface="Times New Roman" pitchFamily="18" charset="0"/>
                <a:ea typeface="Times New Roman" pitchFamily="18" charset="0"/>
                <a:cs typeface="Times New Roman" pitchFamily="18" charset="0"/>
              </a:rPr>
              <a:t>pointk</a:t>
            </a:r>
            <a:r>
              <a:rPr lang="fr-FR" sz="1600" dirty="0">
                <a:latin typeface="Times New Roman" pitchFamily="18" charset="0"/>
                <a:ea typeface="Times New Roman" pitchFamily="18" charset="0"/>
                <a:cs typeface="Times New Roman" pitchFamily="18" charset="0"/>
              </a:rPr>
              <a:t>. Ensuite si le </a:t>
            </a:r>
            <a:r>
              <a:rPr lang="fr-FR" sz="1600" dirty="0" err="1">
                <a:latin typeface="Times New Roman" pitchFamily="18" charset="0"/>
                <a:ea typeface="Times New Roman" pitchFamily="18" charset="0"/>
                <a:cs typeface="Times New Roman" pitchFamily="18" charset="0"/>
              </a:rPr>
              <a:t>k</a:t>
            </a:r>
            <a:r>
              <a:rPr lang="fr-FR" sz="1600" baseline="30000" dirty="0" err="1">
                <a:latin typeface="Times New Roman" pitchFamily="18" charset="0"/>
                <a:ea typeface="Times New Roman" pitchFamily="18" charset="0"/>
                <a:cs typeface="Times New Roman" pitchFamily="18" charset="0"/>
              </a:rPr>
              <a:t>ième</a:t>
            </a:r>
            <a:r>
              <a:rPr lang="fr-FR" sz="1600" dirty="0">
                <a:latin typeface="Times New Roman" pitchFamily="18" charset="0"/>
                <a:ea typeface="Times New Roman" pitchFamily="18" charset="0"/>
                <a:cs typeface="Times New Roman" pitchFamily="18" charset="0"/>
              </a:rPr>
              <a:t> cellule existe, on modifie la valeur d’adresse </a:t>
            </a:r>
            <a:r>
              <a:rPr lang="fr-FR" sz="1600" b="1" dirty="0" err="1">
                <a:latin typeface="Times New Roman" pitchFamily="18" charset="0"/>
                <a:ea typeface="Times New Roman" pitchFamily="18" charset="0"/>
                <a:cs typeface="Times New Roman" pitchFamily="18" charset="0"/>
              </a:rPr>
              <a:t>precedent</a:t>
            </a:r>
            <a:r>
              <a:rPr lang="fr-FR" sz="1600" b="1" dirty="0">
                <a:latin typeface="Times New Roman" pitchFamily="18" charset="0"/>
                <a:ea typeface="Times New Roman" pitchFamily="18" charset="0"/>
                <a:cs typeface="Times New Roman" pitchFamily="18" charset="0"/>
              </a:rPr>
              <a:t>.</a:t>
            </a:r>
            <a:r>
              <a:rPr lang="fr-FR" sz="1600" dirty="0">
                <a:latin typeface="Times New Roman" pitchFamily="18" charset="0"/>
                <a:ea typeface="Times New Roman" pitchFamily="18" charset="0"/>
                <a:cs typeface="Times New Roman" pitchFamily="18" charset="0"/>
              </a:rPr>
              <a:t> Au préalable, traitez le cas particulier du </a:t>
            </a:r>
            <a:r>
              <a:rPr lang="fr-FR" sz="1600" b="1" dirty="0">
                <a:latin typeface="Times New Roman" pitchFamily="18" charset="0"/>
                <a:ea typeface="Times New Roman" pitchFamily="18" charset="0"/>
                <a:cs typeface="Times New Roman" pitchFamily="18" charset="0"/>
              </a:rPr>
              <a:t>premier élément</a:t>
            </a:r>
            <a:r>
              <a:rPr lang="fr-FR" sz="1600" dirty="0">
                <a:latin typeface="Times New Roman" pitchFamily="18" charset="0"/>
                <a:ea typeface="Times New Roman" pitchFamily="18" charset="0"/>
                <a:cs typeface="Times New Roman" pitchFamily="18" charset="0"/>
              </a:rPr>
              <a:t>.</a:t>
            </a:r>
          </a:p>
          <a:p>
            <a:r>
              <a:rPr lang="fr-FR" sz="1600" b="1" dirty="0" smtClean="0">
                <a:latin typeface="Times New Roman" pitchFamily="18" charset="0"/>
                <a:cs typeface="Times New Roman" pitchFamily="18" charset="0"/>
              </a:rPr>
              <a:t>vide </a:t>
            </a:r>
            <a:r>
              <a:rPr lang="fr-FR" sz="1600" dirty="0" err="1">
                <a:latin typeface="Times New Roman" pitchFamily="18" charset="0"/>
                <a:cs typeface="Times New Roman" pitchFamily="18" charset="0"/>
              </a:rPr>
              <a:t>supprimek</a:t>
            </a:r>
            <a:r>
              <a:rPr lang="fr-FR" sz="1600" b="1" dirty="0">
                <a:latin typeface="Times New Roman" pitchFamily="18" charset="0"/>
                <a:cs typeface="Times New Roman" pitchFamily="18" charset="0"/>
              </a:rPr>
              <a:t>(</a:t>
            </a:r>
            <a:r>
              <a:rPr lang="fr-FR" sz="1600" b="1" dirty="0" err="1">
                <a:latin typeface="Times New Roman" pitchFamily="18" charset="0"/>
                <a:cs typeface="Times New Roman" pitchFamily="18" charset="0"/>
              </a:rPr>
              <a:t>dr</a:t>
            </a:r>
            <a:r>
              <a:rPr lang="fr-FR" sz="1600" b="1" dirty="0">
                <a:latin typeface="Times New Roman" pitchFamily="18" charset="0"/>
                <a:cs typeface="Times New Roman" pitchFamily="18" charset="0"/>
              </a:rPr>
              <a:t> pointeur </a:t>
            </a:r>
            <a:r>
              <a:rPr lang="fr-FR" sz="1600" dirty="0">
                <a:latin typeface="Times New Roman" pitchFamily="18" charset="0"/>
                <a:cs typeface="Times New Roman" pitchFamily="18" charset="0"/>
              </a:rPr>
              <a:t>l,</a:t>
            </a:r>
            <a:r>
              <a:rPr lang="fr-FR" sz="1600" b="1" dirty="0">
                <a:latin typeface="Times New Roman" pitchFamily="18" charset="0"/>
                <a:cs typeface="Times New Roman" pitchFamily="18" charset="0"/>
              </a:rPr>
              <a:t> d entier </a:t>
            </a:r>
            <a:r>
              <a:rPr lang="fr-FR" sz="1600" dirty="0">
                <a:latin typeface="Times New Roman" pitchFamily="18" charset="0"/>
                <a:cs typeface="Times New Roman" pitchFamily="18" charset="0"/>
              </a:rPr>
              <a:t>k, r booléen possible</a:t>
            </a:r>
            <a:r>
              <a:rPr lang="fr-FR" sz="1600" b="1" dirty="0">
                <a:latin typeface="Times New Roman" pitchFamily="18" charset="0"/>
                <a:cs typeface="Times New Roman" pitchFamily="18" charset="0"/>
              </a:rPr>
              <a:t>)</a:t>
            </a:r>
          </a:p>
          <a:p>
            <a:r>
              <a:rPr lang="fr-FR" sz="1600" b="1" dirty="0" err="1" smtClean="0">
                <a:latin typeface="Times New Roman" pitchFamily="18" charset="0"/>
                <a:cs typeface="Times New Roman" pitchFamily="18" charset="0"/>
              </a:rPr>
              <a:t>debfonc</a:t>
            </a:r>
            <a:r>
              <a:rPr lang="fr-FR" sz="1600" b="1" dirty="0" smtClean="0">
                <a:latin typeface="Times New Roman" pitchFamily="18" charset="0"/>
                <a:cs typeface="Times New Roman" pitchFamily="18" charset="0"/>
              </a:rPr>
              <a:t>   </a:t>
            </a:r>
            <a:r>
              <a:rPr lang="fr-FR" sz="1600" b="1" dirty="0">
                <a:latin typeface="Times New Roman" pitchFamily="18" charset="0"/>
                <a:cs typeface="Times New Roman" pitchFamily="18" charset="0"/>
              </a:rPr>
              <a:t>pointeur </a:t>
            </a:r>
            <a:r>
              <a:rPr lang="fr-FR" sz="1600" dirty="0" err="1">
                <a:latin typeface="Times New Roman" pitchFamily="18" charset="0"/>
                <a:cs typeface="Times New Roman" pitchFamily="18" charset="0"/>
              </a:rPr>
              <a:t>ptk</a:t>
            </a:r>
            <a:r>
              <a:rPr lang="fr-FR" sz="1600" dirty="0">
                <a:latin typeface="Times New Roman" pitchFamily="18" charset="0"/>
                <a:cs typeface="Times New Roman" pitchFamily="18" charset="0"/>
              </a:rPr>
              <a:t>, </a:t>
            </a:r>
            <a:r>
              <a:rPr lang="fr-FR" sz="1600" dirty="0" err="1">
                <a:latin typeface="Times New Roman" pitchFamily="18" charset="0"/>
                <a:cs typeface="Times New Roman" pitchFamily="18" charset="0"/>
              </a:rPr>
              <a:t>precedent</a:t>
            </a:r>
            <a:r>
              <a:rPr lang="fr-FR" sz="1600" dirty="0">
                <a:latin typeface="Times New Roman" pitchFamily="18" charset="0"/>
                <a:cs typeface="Times New Roman" pitchFamily="18" charset="0"/>
              </a:rPr>
              <a:t>;</a:t>
            </a:r>
          </a:p>
          <a:p>
            <a:r>
              <a:rPr lang="fr-FR" sz="1600" b="1" dirty="0">
                <a:latin typeface="Times New Roman" pitchFamily="18" charset="0"/>
                <a:cs typeface="Times New Roman" pitchFamily="18" charset="0"/>
              </a:rPr>
              <a:t>     si </a:t>
            </a:r>
            <a:r>
              <a:rPr lang="fr-FR" sz="1600" dirty="0" err="1">
                <a:latin typeface="Times New Roman" pitchFamily="18" charset="0"/>
                <a:cs typeface="Times New Roman" pitchFamily="18" charset="0"/>
              </a:rPr>
              <a:t>l≠nil</a:t>
            </a:r>
            <a:r>
              <a:rPr lang="fr-FR" sz="1600" dirty="0">
                <a:latin typeface="Times New Roman" pitchFamily="18" charset="0"/>
                <a:cs typeface="Times New Roman" pitchFamily="18" charset="0"/>
              </a:rPr>
              <a:t> et k=1 alors</a:t>
            </a:r>
            <a:endParaRPr lang="fr-FR" sz="1600" b="1" dirty="0">
              <a:latin typeface="Times New Roman" pitchFamily="18" charset="0"/>
              <a:cs typeface="Times New Roman" pitchFamily="18" charset="0"/>
            </a:endParaRPr>
          </a:p>
          <a:p>
            <a:r>
              <a:rPr lang="fr-FR" sz="1600" b="1" dirty="0">
                <a:latin typeface="Times New Roman" pitchFamily="18" charset="0"/>
                <a:cs typeface="Times New Roman" pitchFamily="18" charset="0"/>
              </a:rPr>
              <a:t>        </a:t>
            </a:r>
            <a:r>
              <a:rPr lang="fr-FR" sz="1600" dirty="0" smtClean="0">
                <a:latin typeface="Times New Roman" pitchFamily="18" charset="0"/>
                <a:cs typeface="Times New Roman" pitchFamily="18" charset="0"/>
              </a:rPr>
              <a:t>possible:=</a:t>
            </a:r>
            <a:r>
              <a:rPr lang="fr-FR" sz="1600" b="1" dirty="0" smtClean="0">
                <a:latin typeface="Times New Roman" pitchFamily="18" charset="0"/>
                <a:cs typeface="Times New Roman" pitchFamily="18" charset="0"/>
              </a:rPr>
              <a:t>vrai</a:t>
            </a:r>
            <a:r>
              <a:rPr lang="fr-FR" sz="1600" b="1" dirty="0">
                <a:latin typeface="Times New Roman" pitchFamily="18" charset="0"/>
                <a:cs typeface="Times New Roman" pitchFamily="18" charset="0"/>
              </a:rPr>
              <a:t>; </a:t>
            </a:r>
            <a:r>
              <a:rPr lang="fr-FR" sz="1600" b="1" dirty="0" err="1">
                <a:latin typeface="Times New Roman" pitchFamily="18" charset="0"/>
                <a:cs typeface="Times New Roman" pitchFamily="18" charset="0"/>
              </a:rPr>
              <a:t>supptete</a:t>
            </a:r>
            <a:r>
              <a:rPr lang="fr-FR" sz="1600" b="1" dirty="0">
                <a:latin typeface="Times New Roman" pitchFamily="18" charset="0"/>
                <a:cs typeface="Times New Roman" pitchFamily="18" charset="0"/>
              </a:rPr>
              <a:t>(</a:t>
            </a:r>
            <a:r>
              <a:rPr lang="fr-FR" sz="1600" dirty="0">
                <a:latin typeface="Times New Roman" pitchFamily="18" charset="0"/>
                <a:cs typeface="Times New Roman" pitchFamily="18" charset="0"/>
              </a:rPr>
              <a:t>l</a:t>
            </a:r>
            <a:r>
              <a:rPr lang="fr-FR" sz="1600" b="1" dirty="0">
                <a:latin typeface="Times New Roman" pitchFamily="18" charset="0"/>
                <a:cs typeface="Times New Roman" pitchFamily="18" charset="0"/>
              </a:rPr>
              <a:t>); </a:t>
            </a:r>
          </a:p>
          <a:p>
            <a:r>
              <a:rPr lang="fr-FR" sz="1600" b="1" dirty="0">
                <a:latin typeface="Times New Roman" pitchFamily="18" charset="0"/>
                <a:cs typeface="Times New Roman" pitchFamily="18" charset="0"/>
              </a:rPr>
              <a:t>      sinon  </a:t>
            </a:r>
            <a:r>
              <a:rPr lang="fr-FR" sz="1600" dirty="0" smtClean="0">
                <a:latin typeface="Times New Roman" pitchFamily="18" charset="0"/>
                <a:cs typeface="Times New Roman" pitchFamily="18" charset="0"/>
              </a:rPr>
              <a:t>possible:=</a:t>
            </a:r>
            <a:r>
              <a:rPr lang="fr-FR" sz="1600" b="1" dirty="0" smtClean="0">
                <a:latin typeface="Times New Roman" pitchFamily="18" charset="0"/>
                <a:cs typeface="Times New Roman" pitchFamily="18" charset="0"/>
              </a:rPr>
              <a:t>faux</a:t>
            </a:r>
            <a:r>
              <a:rPr lang="fr-FR" sz="1600" b="1" dirty="0">
                <a:latin typeface="Times New Roman" pitchFamily="18" charset="0"/>
                <a:cs typeface="Times New Roman" pitchFamily="18" charset="0"/>
              </a:rPr>
              <a:t>; </a:t>
            </a:r>
            <a:r>
              <a:rPr lang="fr-FR" sz="1600" dirty="0" err="1" smtClean="0">
                <a:latin typeface="Times New Roman" pitchFamily="18" charset="0"/>
                <a:cs typeface="Times New Roman" pitchFamily="18" charset="0"/>
              </a:rPr>
              <a:t>precedent</a:t>
            </a:r>
            <a:r>
              <a:rPr lang="fr-FR" sz="1600" dirty="0" smtClean="0">
                <a:latin typeface="Times New Roman" pitchFamily="18" charset="0"/>
                <a:cs typeface="Times New Roman" pitchFamily="18" charset="0"/>
              </a:rPr>
              <a:t>:=</a:t>
            </a:r>
            <a:r>
              <a:rPr lang="fr-FR" sz="1600" b="1" dirty="0" err="1" smtClean="0">
                <a:latin typeface="Times New Roman" pitchFamily="18" charset="0"/>
                <a:cs typeface="Times New Roman" pitchFamily="18" charset="0"/>
              </a:rPr>
              <a:t>pointk</a:t>
            </a:r>
            <a:r>
              <a:rPr lang="fr-FR" sz="1600" b="1" dirty="0" smtClean="0">
                <a:latin typeface="Times New Roman" pitchFamily="18" charset="0"/>
                <a:cs typeface="Times New Roman" pitchFamily="18" charset="0"/>
              </a:rPr>
              <a:t>(</a:t>
            </a:r>
            <a:r>
              <a:rPr lang="fr-FR" sz="1600" dirty="0" smtClean="0">
                <a:latin typeface="Times New Roman" pitchFamily="18" charset="0"/>
                <a:cs typeface="Times New Roman" pitchFamily="18" charset="0"/>
              </a:rPr>
              <a:t>l</a:t>
            </a:r>
            <a:r>
              <a:rPr lang="fr-FR" sz="1600" dirty="0">
                <a:latin typeface="Times New Roman" pitchFamily="18" charset="0"/>
                <a:cs typeface="Times New Roman" pitchFamily="18" charset="0"/>
              </a:rPr>
              <a:t>, k-1</a:t>
            </a:r>
            <a:r>
              <a:rPr lang="fr-FR" sz="1600" b="1" dirty="0">
                <a:latin typeface="Times New Roman" pitchFamily="18" charset="0"/>
                <a:cs typeface="Times New Roman" pitchFamily="18" charset="0"/>
              </a:rPr>
              <a:t>) ; </a:t>
            </a:r>
            <a:r>
              <a:rPr lang="fr-FR" sz="1600" dirty="0">
                <a:latin typeface="Times New Roman" pitchFamily="18" charset="0"/>
                <a:cs typeface="Times New Roman" pitchFamily="18" charset="0"/>
              </a:rPr>
              <a:t>//</a:t>
            </a:r>
            <a:r>
              <a:rPr lang="fr-FR" sz="1600" b="1" dirty="0" err="1">
                <a:latin typeface="Times New Roman" pitchFamily="18" charset="0"/>
                <a:cs typeface="Times New Roman" pitchFamily="18" charset="0"/>
              </a:rPr>
              <a:t>precedent</a:t>
            </a:r>
            <a:r>
              <a:rPr lang="fr-FR" sz="1600" b="1" dirty="0">
                <a:latin typeface="Times New Roman" pitchFamily="18" charset="0"/>
                <a:cs typeface="Times New Roman" pitchFamily="18" charset="0"/>
              </a:rPr>
              <a:t> </a:t>
            </a:r>
            <a:r>
              <a:rPr lang="fr-FR" sz="1600" dirty="0">
                <a:latin typeface="Times New Roman" pitchFamily="18" charset="0"/>
                <a:cs typeface="Times New Roman" pitchFamily="18" charset="0"/>
              </a:rPr>
              <a:t>= adresse de la cellule précédente.</a:t>
            </a:r>
          </a:p>
          <a:p>
            <a:r>
              <a:rPr lang="fr-FR" sz="1600" b="1" dirty="0">
                <a:latin typeface="Times New Roman" pitchFamily="18" charset="0"/>
                <a:cs typeface="Times New Roman" pitchFamily="18" charset="0"/>
              </a:rPr>
              <a:t>                  si </a:t>
            </a:r>
            <a:r>
              <a:rPr lang="fr-FR" sz="1600" dirty="0" err="1">
                <a:latin typeface="Times New Roman" pitchFamily="18" charset="0"/>
                <a:cs typeface="Times New Roman" pitchFamily="18" charset="0"/>
              </a:rPr>
              <a:t>precedent≠nil</a:t>
            </a:r>
            <a:r>
              <a:rPr lang="fr-FR" sz="1600" dirty="0">
                <a:latin typeface="Times New Roman" pitchFamily="18" charset="0"/>
                <a:cs typeface="Times New Roman" pitchFamily="18" charset="0"/>
              </a:rPr>
              <a:t> alors</a:t>
            </a:r>
            <a:endParaRPr lang="fr-FR" sz="1600" b="1" dirty="0">
              <a:latin typeface="Times New Roman" pitchFamily="18" charset="0"/>
              <a:cs typeface="Times New Roman" pitchFamily="18" charset="0"/>
            </a:endParaRPr>
          </a:p>
          <a:p>
            <a:r>
              <a:rPr lang="fr-FR" sz="1600" b="1" dirty="0">
                <a:latin typeface="Times New Roman" pitchFamily="18" charset="0"/>
                <a:cs typeface="Times New Roman" pitchFamily="18" charset="0"/>
              </a:rPr>
              <a:t>                    </a:t>
            </a:r>
            <a:r>
              <a:rPr lang="fr-FR" sz="1600" dirty="0" err="1" smtClean="0">
                <a:latin typeface="Times New Roman" pitchFamily="18" charset="0"/>
                <a:cs typeface="Times New Roman" pitchFamily="18" charset="0"/>
              </a:rPr>
              <a:t>ptk</a:t>
            </a:r>
            <a:r>
              <a:rPr lang="fr-FR" sz="1600" dirty="0" smtClean="0">
                <a:latin typeface="Times New Roman" pitchFamily="18" charset="0"/>
                <a:cs typeface="Times New Roman" pitchFamily="18" charset="0"/>
              </a:rPr>
              <a:t>:=</a:t>
            </a:r>
            <a:r>
              <a:rPr lang="fr-FR" sz="1600" dirty="0" err="1" smtClean="0">
                <a:latin typeface="Times New Roman" pitchFamily="18" charset="0"/>
                <a:cs typeface="Times New Roman" pitchFamily="18" charset="0"/>
              </a:rPr>
              <a:t>precedent</a:t>
            </a:r>
            <a:r>
              <a:rPr lang="fr-FR" sz="1600" dirty="0" smtClean="0">
                <a:latin typeface="Times New Roman" pitchFamily="18" charset="0"/>
                <a:cs typeface="Times New Roman" pitchFamily="18" charset="0"/>
              </a:rPr>
              <a:t>-</a:t>
            </a:r>
            <a:r>
              <a:rPr lang="fr-FR" sz="1600" dirty="0">
                <a:latin typeface="Times New Roman" pitchFamily="18" charset="0"/>
                <a:cs typeface="Times New Roman" pitchFamily="18" charset="0"/>
              </a:rPr>
              <a:t>&gt;</a:t>
            </a:r>
            <a:r>
              <a:rPr lang="fr-FR" sz="1600" dirty="0" smtClean="0">
                <a:latin typeface="Times New Roman" pitchFamily="18" charset="0"/>
                <a:cs typeface="Times New Roman" pitchFamily="18" charset="0"/>
              </a:rPr>
              <a:t>suivant</a:t>
            </a:r>
            <a:r>
              <a:rPr lang="fr-FR" sz="1600" dirty="0">
                <a:latin typeface="Times New Roman" pitchFamily="18" charset="0"/>
                <a:cs typeface="Times New Roman" pitchFamily="18" charset="0"/>
              </a:rPr>
              <a:t>;</a:t>
            </a:r>
          </a:p>
          <a:p>
            <a:r>
              <a:rPr lang="fr-FR" sz="1600" b="1" dirty="0">
                <a:latin typeface="Times New Roman" pitchFamily="18" charset="0"/>
                <a:cs typeface="Times New Roman" pitchFamily="18" charset="0"/>
              </a:rPr>
              <a:t>                    si </a:t>
            </a:r>
            <a:r>
              <a:rPr lang="fr-FR" sz="1600" dirty="0" err="1">
                <a:latin typeface="Times New Roman" pitchFamily="18" charset="0"/>
                <a:cs typeface="Times New Roman" pitchFamily="18" charset="0"/>
              </a:rPr>
              <a:t>ptk</a:t>
            </a:r>
            <a:r>
              <a:rPr lang="fr-FR" sz="1600" dirty="0" err="1">
                <a:latin typeface="Times New Roman" pitchFamily="18" charset="0"/>
                <a:cs typeface="Times New Roman" pitchFamily="18" charset="0"/>
                <a:sym typeface="Symbol"/>
              </a:rPr>
              <a:t>≠</a:t>
            </a:r>
            <a:r>
              <a:rPr lang="fr-FR" sz="1600" b="1" dirty="0" err="1" smtClean="0">
                <a:latin typeface="Times New Roman" pitchFamily="18" charset="0"/>
                <a:cs typeface="Times New Roman" pitchFamily="18" charset="0"/>
                <a:sym typeface="Symbol"/>
              </a:rPr>
              <a:t>nil</a:t>
            </a:r>
            <a:r>
              <a:rPr lang="fr-FR" sz="1600" b="1" dirty="0" smtClean="0">
                <a:latin typeface="Times New Roman" pitchFamily="18" charset="0"/>
                <a:cs typeface="Times New Roman" pitchFamily="18" charset="0"/>
                <a:sym typeface="Symbol"/>
              </a:rPr>
              <a:t> alors  </a:t>
            </a:r>
            <a:r>
              <a:rPr lang="fr-FR" sz="1600" b="1" dirty="0" smtClean="0">
                <a:latin typeface="Times New Roman" pitchFamily="18" charset="0"/>
                <a:cs typeface="Times New Roman" pitchFamily="18" charset="0"/>
              </a:rPr>
              <a:t> </a:t>
            </a:r>
            <a:r>
              <a:rPr lang="fr-FR" sz="1600" dirty="0">
                <a:latin typeface="Times New Roman" pitchFamily="18" charset="0"/>
                <a:cs typeface="Times New Roman" pitchFamily="18" charset="0"/>
              </a:rPr>
              <a:t>//</a:t>
            </a:r>
            <a:r>
              <a:rPr lang="fr-FR" sz="1600" dirty="0" err="1">
                <a:latin typeface="Times New Roman" pitchFamily="18" charset="0"/>
                <a:cs typeface="Times New Roman" pitchFamily="18" charset="0"/>
              </a:rPr>
              <a:t>ptk</a:t>
            </a:r>
            <a:r>
              <a:rPr lang="fr-FR" sz="1600" dirty="0">
                <a:latin typeface="Times New Roman" pitchFamily="18" charset="0"/>
                <a:cs typeface="Times New Roman" pitchFamily="18" charset="0"/>
              </a:rPr>
              <a:t> = adresse de la </a:t>
            </a:r>
            <a:r>
              <a:rPr lang="fr-FR" sz="1600" dirty="0" err="1">
                <a:latin typeface="Times New Roman" pitchFamily="18" charset="0"/>
                <a:cs typeface="Times New Roman" pitchFamily="18" charset="0"/>
              </a:rPr>
              <a:t>k</a:t>
            </a:r>
            <a:r>
              <a:rPr lang="fr-FR" sz="1600" baseline="30000" dirty="0" err="1">
                <a:latin typeface="Times New Roman" pitchFamily="18" charset="0"/>
                <a:cs typeface="Times New Roman" pitchFamily="18" charset="0"/>
              </a:rPr>
              <a:t>ième</a:t>
            </a:r>
            <a:r>
              <a:rPr lang="fr-FR" sz="1600" dirty="0">
                <a:latin typeface="Times New Roman" pitchFamily="18" charset="0"/>
                <a:cs typeface="Times New Roman" pitchFamily="18" charset="0"/>
              </a:rPr>
              <a:t> cellule,</a:t>
            </a:r>
            <a:r>
              <a:rPr lang="fr-FR" sz="1600" b="1" dirty="0">
                <a:latin typeface="Times New Roman" pitchFamily="18" charset="0"/>
                <a:cs typeface="Times New Roman" pitchFamily="18" charset="0"/>
              </a:rPr>
              <a:t> </a:t>
            </a:r>
          </a:p>
          <a:p>
            <a:r>
              <a:rPr lang="fr-FR" sz="1600" b="1" dirty="0">
                <a:latin typeface="Times New Roman" pitchFamily="18" charset="0"/>
                <a:cs typeface="Times New Roman" pitchFamily="18" charset="0"/>
              </a:rPr>
              <a:t>                      </a:t>
            </a:r>
            <a:r>
              <a:rPr lang="fr-FR" sz="1600" dirty="0" smtClean="0">
                <a:latin typeface="Times New Roman" pitchFamily="18" charset="0"/>
                <a:cs typeface="Times New Roman" pitchFamily="18" charset="0"/>
              </a:rPr>
              <a:t>possible:=</a:t>
            </a:r>
            <a:r>
              <a:rPr lang="fr-FR" sz="1600" b="1" dirty="0" smtClean="0">
                <a:latin typeface="Times New Roman" pitchFamily="18" charset="0"/>
                <a:cs typeface="Times New Roman" pitchFamily="18" charset="0"/>
              </a:rPr>
              <a:t>vrai</a:t>
            </a:r>
            <a:r>
              <a:rPr lang="fr-FR" sz="1600" dirty="0">
                <a:latin typeface="Times New Roman" pitchFamily="18" charset="0"/>
                <a:cs typeface="Times New Roman" pitchFamily="18" charset="0"/>
              </a:rPr>
              <a:t>;</a:t>
            </a:r>
          </a:p>
          <a:p>
            <a:r>
              <a:rPr lang="fr-FR" sz="1600" dirty="0">
                <a:latin typeface="Times New Roman" pitchFamily="18" charset="0"/>
                <a:cs typeface="Times New Roman" pitchFamily="18" charset="0"/>
              </a:rPr>
              <a:t>                      </a:t>
            </a:r>
            <a:r>
              <a:rPr lang="fr-FR" sz="1600" dirty="0" err="1">
                <a:latin typeface="Times New Roman" pitchFamily="18" charset="0"/>
                <a:cs typeface="Times New Roman" pitchFamily="18" charset="0"/>
              </a:rPr>
              <a:t>precedent</a:t>
            </a:r>
            <a:r>
              <a:rPr lang="fr-FR" sz="1600" dirty="0">
                <a:latin typeface="Times New Roman" pitchFamily="18" charset="0"/>
                <a:cs typeface="Times New Roman" pitchFamily="18" charset="0"/>
              </a:rPr>
              <a:t>-&gt;</a:t>
            </a:r>
            <a:r>
              <a:rPr lang="fr-FR" sz="1600" dirty="0" smtClean="0">
                <a:latin typeface="Times New Roman" pitchFamily="18" charset="0"/>
                <a:cs typeface="Times New Roman" pitchFamily="18" charset="0"/>
              </a:rPr>
              <a:t>suivant:=</a:t>
            </a:r>
            <a:r>
              <a:rPr lang="fr-FR" sz="1600" dirty="0" err="1" smtClean="0">
                <a:latin typeface="Times New Roman" pitchFamily="18" charset="0"/>
                <a:cs typeface="Times New Roman" pitchFamily="18" charset="0"/>
              </a:rPr>
              <a:t>ptk</a:t>
            </a:r>
            <a:r>
              <a:rPr lang="fr-FR" sz="1600" dirty="0" smtClean="0">
                <a:latin typeface="Times New Roman" pitchFamily="18" charset="0"/>
                <a:cs typeface="Times New Roman" pitchFamily="18" charset="0"/>
              </a:rPr>
              <a:t>-</a:t>
            </a:r>
            <a:r>
              <a:rPr lang="fr-FR" sz="1600" dirty="0">
                <a:latin typeface="Times New Roman" pitchFamily="18" charset="0"/>
                <a:cs typeface="Times New Roman" pitchFamily="18" charset="0"/>
              </a:rPr>
              <a:t>&gt;suivant;</a:t>
            </a:r>
          </a:p>
          <a:p>
            <a:r>
              <a:rPr lang="fr-FR" sz="1600" b="1" dirty="0">
                <a:latin typeface="Times New Roman" pitchFamily="18" charset="0"/>
                <a:cs typeface="Times New Roman" pitchFamily="18" charset="0"/>
              </a:rPr>
              <a:t>                      laisser(</a:t>
            </a:r>
            <a:r>
              <a:rPr lang="fr-FR" sz="1600" dirty="0" err="1">
                <a:latin typeface="Times New Roman" pitchFamily="18" charset="0"/>
                <a:cs typeface="Times New Roman" pitchFamily="18" charset="0"/>
              </a:rPr>
              <a:t>ptk</a:t>
            </a:r>
            <a:r>
              <a:rPr lang="fr-FR" sz="1600" b="1" dirty="0">
                <a:latin typeface="Times New Roman" pitchFamily="18" charset="0"/>
                <a:cs typeface="Times New Roman" pitchFamily="18" charset="0"/>
              </a:rPr>
              <a:t>);</a:t>
            </a:r>
          </a:p>
          <a:p>
            <a:r>
              <a:rPr lang="fr-FR" sz="1600" b="1" dirty="0">
                <a:latin typeface="Times New Roman" pitchFamily="18" charset="0"/>
                <a:cs typeface="Times New Roman" pitchFamily="18" charset="0"/>
              </a:rPr>
              <a:t>                    </a:t>
            </a:r>
            <a:r>
              <a:rPr lang="fr-FR" sz="1600" b="1" dirty="0" err="1">
                <a:latin typeface="Times New Roman" pitchFamily="18" charset="0"/>
                <a:cs typeface="Times New Roman" pitchFamily="18" charset="0"/>
              </a:rPr>
              <a:t>finsi</a:t>
            </a:r>
            <a:r>
              <a:rPr lang="fr-FR" sz="1600" b="1" dirty="0">
                <a:latin typeface="Times New Roman" pitchFamily="18" charset="0"/>
                <a:cs typeface="Times New Roman" pitchFamily="18" charset="0"/>
              </a:rPr>
              <a:t>: </a:t>
            </a:r>
            <a:r>
              <a:rPr lang="fr-FR" sz="1600" b="1" dirty="0" err="1">
                <a:latin typeface="Times New Roman" pitchFamily="18" charset="0"/>
                <a:cs typeface="Times New Roman" pitchFamily="18" charset="0"/>
              </a:rPr>
              <a:t>finsi</a:t>
            </a:r>
            <a:r>
              <a:rPr lang="fr-FR" sz="1600" b="1" dirty="0">
                <a:latin typeface="Times New Roman" pitchFamily="18" charset="0"/>
                <a:cs typeface="Times New Roman" pitchFamily="18" charset="0"/>
              </a:rPr>
              <a:t>; </a:t>
            </a:r>
            <a:r>
              <a:rPr lang="fr-FR" sz="1600" b="1" dirty="0" err="1">
                <a:latin typeface="Times New Roman" pitchFamily="18" charset="0"/>
                <a:cs typeface="Times New Roman" pitchFamily="18" charset="0"/>
              </a:rPr>
              <a:t>finsi</a:t>
            </a:r>
            <a:r>
              <a:rPr lang="fr-FR" sz="1600" b="1" dirty="0">
                <a:latin typeface="Times New Roman" pitchFamily="18" charset="0"/>
                <a:cs typeface="Times New Roman" pitchFamily="18" charset="0"/>
              </a:rPr>
              <a:t>;</a:t>
            </a:r>
          </a:p>
          <a:p>
            <a:r>
              <a:rPr lang="fr-FR" sz="1600" b="1" dirty="0">
                <a:latin typeface="Times New Roman" pitchFamily="18" charset="0"/>
                <a:cs typeface="Times New Roman" pitchFamily="18" charset="0"/>
              </a:rPr>
              <a:t>       </a:t>
            </a:r>
            <a:r>
              <a:rPr lang="fr-FR" sz="1600" b="1" dirty="0" err="1">
                <a:latin typeface="Times New Roman" pitchFamily="18" charset="0"/>
                <a:cs typeface="Times New Roman" pitchFamily="18" charset="0"/>
              </a:rPr>
              <a:t>finfaire</a:t>
            </a:r>
            <a:r>
              <a:rPr lang="fr-FR" sz="1600" b="1" dirty="0">
                <a:latin typeface="Times New Roman" pitchFamily="18" charset="0"/>
                <a:cs typeface="Times New Roman" pitchFamily="18" charset="0"/>
              </a:rPr>
              <a:t>;</a:t>
            </a:r>
          </a:p>
          <a:p>
            <a:r>
              <a:rPr lang="fr-FR" sz="1600" b="1" dirty="0">
                <a:latin typeface="Times New Roman" pitchFamily="18" charset="0"/>
                <a:cs typeface="Times New Roman" pitchFamily="18" charset="0"/>
              </a:rPr>
              <a:t>      retourner </a:t>
            </a:r>
            <a:r>
              <a:rPr lang="fr-FR" sz="1600" dirty="0">
                <a:latin typeface="Times New Roman" pitchFamily="18" charset="0"/>
                <a:cs typeface="Times New Roman" pitchFamily="18" charset="0"/>
              </a:rPr>
              <a:t>possible;</a:t>
            </a:r>
          </a:p>
          <a:p>
            <a:r>
              <a:rPr lang="fr-FR" sz="1600" b="1" dirty="0">
                <a:latin typeface="Times New Roman" pitchFamily="18" charset="0"/>
                <a:cs typeface="Times New Roman" pitchFamily="18" charset="0"/>
              </a:rPr>
              <a:t>  </a:t>
            </a:r>
            <a:r>
              <a:rPr lang="fr-FR" sz="1600" b="1" dirty="0" err="1">
                <a:latin typeface="Times New Roman" pitchFamily="18" charset="0"/>
                <a:cs typeface="Times New Roman" pitchFamily="18" charset="0"/>
              </a:rPr>
              <a:t>finproc</a:t>
            </a:r>
            <a:r>
              <a:rPr lang="fr-FR" sz="1600" b="1" dirty="0">
                <a:latin typeface="Times New Roman" pitchFamily="18" charset="0"/>
                <a:cs typeface="Times New Roman" pitchFamily="18" charset="0"/>
              </a:rPr>
              <a:t>;</a:t>
            </a:r>
          </a:p>
        </p:txBody>
      </p:sp>
    </p:spTree>
    <p:extLst>
      <p:ext uri="{BB962C8B-B14F-4D97-AF65-F5344CB8AC3E}">
        <p14:creationId xmlns:p14="http://schemas.microsoft.com/office/powerpoint/2010/main" val="28751430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5120" y="557243"/>
            <a:ext cx="11673840" cy="5262979"/>
          </a:xfrm>
          <a:prstGeom prst="rect">
            <a:avLst/>
          </a:prstGeom>
        </p:spPr>
        <p:txBody>
          <a:bodyPr wrap="square">
            <a:spAutoFit/>
          </a:bodyPr>
          <a:lstStyle/>
          <a:p>
            <a:pPr lvl="0" indent="180975" algn="just" eaLnBrk="0" fontAlgn="base" hangingPunct="0">
              <a:spcBef>
                <a:spcPct val="0"/>
              </a:spcBef>
              <a:spcAft>
                <a:spcPct val="0"/>
              </a:spcAft>
            </a:pPr>
            <a:r>
              <a:rPr lang="fr-FR" sz="2400" dirty="0">
                <a:latin typeface="Times New Roman" pitchFamily="18" charset="0"/>
                <a:ea typeface="Times New Roman" pitchFamily="18" charset="0"/>
                <a:cs typeface="Times New Roman" pitchFamily="18" charset="0"/>
              </a:rPr>
              <a:t>- </a:t>
            </a:r>
            <a:r>
              <a:rPr lang="fr-FR" sz="2400" u="sng" dirty="0">
                <a:latin typeface="Times New Roman" pitchFamily="18" charset="0"/>
                <a:ea typeface="Times New Roman" pitchFamily="18" charset="0"/>
                <a:cs typeface="Times New Roman" pitchFamily="18" charset="0"/>
              </a:rPr>
              <a:t>Schéma récursif</a:t>
            </a:r>
            <a:r>
              <a:rPr lang="fr-FR" sz="2400" dirty="0">
                <a:latin typeface="Times New Roman" pitchFamily="18" charset="0"/>
                <a:ea typeface="Times New Roman" pitchFamily="18" charset="0"/>
                <a:cs typeface="Times New Roman" pitchFamily="18" charset="0"/>
              </a:rPr>
              <a:t> </a:t>
            </a:r>
            <a:endParaRPr lang="fr-FR" sz="2400" dirty="0">
              <a:latin typeface="Times New Roman" pitchFamily="18" charset="0"/>
              <a:cs typeface="Times New Roman" pitchFamily="18" charset="0"/>
            </a:endParaRPr>
          </a:p>
          <a:p>
            <a:pPr lvl="0" indent="180975" algn="just" eaLnBrk="0" fontAlgn="base" hangingPunct="0">
              <a:spcBef>
                <a:spcPct val="0"/>
              </a:spcBef>
              <a:spcAft>
                <a:spcPct val="0"/>
              </a:spcAft>
            </a:pPr>
            <a:r>
              <a:rPr lang="fr-FR" sz="2400" dirty="0">
                <a:latin typeface="Times New Roman" pitchFamily="18" charset="0"/>
                <a:ea typeface="Times New Roman" pitchFamily="18" charset="0"/>
                <a:cs typeface="Times New Roman" pitchFamily="18" charset="0"/>
              </a:rPr>
              <a:t>Si </a:t>
            </a:r>
            <a:r>
              <a:rPr lang="fr-FR" sz="2400" b="1" dirty="0">
                <a:latin typeface="Times New Roman" pitchFamily="18" charset="0"/>
                <a:ea typeface="Times New Roman" pitchFamily="18" charset="0"/>
                <a:cs typeface="Times New Roman" pitchFamily="18" charset="0"/>
              </a:rPr>
              <a:t>k</a:t>
            </a:r>
            <a:r>
              <a:rPr lang="fr-FR" sz="2400" dirty="0">
                <a:latin typeface="Times New Roman" pitchFamily="18" charset="0"/>
                <a:ea typeface="Times New Roman" pitchFamily="18" charset="0"/>
                <a:cs typeface="Times New Roman" pitchFamily="18" charset="0"/>
              </a:rPr>
              <a:t> a une valeur négative ou nulle, l’algorithme est correct mais demande un parcours complet de la liste. Il est alors souhaitable à l’appel de s’assurer que </a:t>
            </a:r>
            <a:r>
              <a:rPr lang="fr-FR" sz="2400" b="1" dirty="0">
                <a:latin typeface="Times New Roman" pitchFamily="18" charset="0"/>
                <a:ea typeface="Times New Roman" pitchFamily="18" charset="0"/>
                <a:cs typeface="Times New Roman" pitchFamily="18" charset="0"/>
              </a:rPr>
              <a:t>k</a:t>
            </a:r>
            <a:r>
              <a:rPr lang="fr-FR" sz="2400" dirty="0">
                <a:latin typeface="Times New Roman" pitchFamily="18" charset="0"/>
                <a:ea typeface="Times New Roman" pitchFamily="18" charset="0"/>
                <a:cs typeface="Times New Roman" pitchFamily="18" charset="0"/>
              </a:rPr>
              <a:t> est positif afin d’éviter ce parcours inutile.</a:t>
            </a:r>
          </a:p>
          <a:p>
            <a:pPr lvl="0" indent="180975" algn="just" eaLnBrk="0" fontAlgn="base" hangingPunct="0">
              <a:spcBef>
                <a:spcPct val="0"/>
              </a:spcBef>
              <a:spcAft>
                <a:spcPct val="0"/>
              </a:spcAft>
            </a:pPr>
            <a:endParaRPr lang="fr-FR" sz="2400" dirty="0">
              <a:latin typeface="Times New Roman" pitchFamily="18" charset="0"/>
              <a:ea typeface="Times New Roman" pitchFamily="18" charset="0"/>
              <a:cs typeface="Times New Roman" pitchFamily="18" charset="0"/>
            </a:endParaRPr>
          </a:p>
          <a:p>
            <a:r>
              <a:rPr lang="fr-FR" sz="2400" b="1" dirty="0" smtClean="0">
                <a:latin typeface="Times New Roman" pitchFamily="18" charset="0"/>
                <a:cs typeface="Times New Roman" pitchFamily="18" charset="0"/>
              </a:rPr>
              <a:t>vide </a:t>
            </a:r>
            <a:r>
              <a:rPr lang="fr-FR" sz="2400" dirty="0" err="1">
                <a:latin typeface="Times New Roman" pitchFamily="18" charset="0"/>
                <a:cs typeface="Times New Roman" pitchFamily="18" charset="0"/>
              </a:rPr>
              <a:t>supprimek</a:t>
            </a:r>
            <a:r>
              <a:rPr lang="fr-FR" sz="2400" b="1" dirty="0">
                <a:latin typeface="Times New Roman" pitchFamily="18" charset="0"/>
                <a:cs typeface="Times New Roman" pitchFamily="18" charset="0"/>
              </a:rPr>
              <a:t>(</a:t>
            </a:r>
            <a:r>
              <a:rPr lang="fr-FR" sz="2400" b="1" dirty="0" err="1">
                <a:latin typeface="Times New Roman" pitchFamily="18" charset="0"/>
                <a:cs typeface="Times New Roman" pitchFamily="18" charset="0"/>
              </a:rPr>
              <a:t>dr</a:t>
            </a:r>
            <a:r>
              <a:rPr lang="fr-FR" sz="2400" b="1" dirty="0">
                <a:latin typeface="Times New Roman" pitchFamily="18" charset="0"/>
                <a:cs typeface="Times New Roman" pitchFamily="18" charset="0"/>
              </a:rPr>
              <a:t> pointeur </a:t>
            </a:r>
            <a:r>
              <a:rPr lang="fr-FR" sz="2400" dirty="0">
                <a:latin typeface="Times New Roman" pitchFamily="18" charset="0"/>
                <a:cs typeface="Times New Roman" pitchFamily="18" charset="0"/>
              </a:rPr>
              <a:t>l,</a:t>
            </a:r>
            <a:r>
              <a:rPr lang="fr-FR" sz="2400" b="1" dirty="0">
                <a:latin typeface="Times New Roman" pitchFamily="18" charset="0"/>
                <a:cs typeface="Times New Roman" pitchFamily="18" charset="0"/>
              </a:rPr>
              <a:t> d entier </a:t>
            </a:r>
            <a:r>
              <a:rPr lang="fr-FR" sz="2400" dirty="0">
                <a:latin typeface="Times New Roman" pitchFamily="18" charset="0"/>
                <a:cs typeface="Times New Roman" pitchFamily="18" charset="0"/>
              </a:rPr>
              <a:t>k,</a:t>
            </a:r>
            <a:r>
              <a:rPr lang="fr-FR" sz="2400" b="1" dirty="0">
                <a:latin typeface="Times New Roman" pitchFamily="18" charset="0"/>
                <a:cs typeface="Times New Roman" pitchFamily="18" charset="0"/>
              </a:rPr>
              <a:t> r booléen </a:t>
            </a:r>
            <a:r>
              <a:rPr lang="fr-FR" sz="2400" dirty="0">
                <a:latin typeface="Times New Roman" pitchFamily="18" charset="0"/>
                <a:cs typeface="Times New Roman" pitchFamily="18" charset="0"/>
              </a:rPr>
              <a:t>possible</a:t>
            </a:r>
            <a:r>
              <a:rPr lang="fr-FR" sz="2400" b="1" dirty="0">
                <a:latin typeface="Times New Roman" pitchFamily="18" charset="0"/>
                <a:cs typeface="Times New Roman" pitchFamily="18" charset="0"/>
              </a:rPr>
              <a:t>)</a:t>
            </a:r>
          </a:p>
          <a:p>
            <a:r>
              <a:rPr lang="fr-FR" sz="2400" b="1" dirty="0" err="1" smtClean="0">
                <a:latin typeface="Times New Roman" pitchFamily="18" charset="0"/>
                <a:cs typeface="Times New Roman" pitchFamily="18" charset="0"/>
              </a:rPr>
              <a:t>debfonc</a:t>
            </a:r>
            <a:endParaRPr lang="fr-FR" sz="2400" b="1" dirty="0">
              <a:latin typeface="Times New Roman" pitchFamily="18" charset="0"/>
              <a:cs typeface="Times New Roman" pitchFamily="18" charset="0"/>
            </a:endParaRPr>
          </a:p>
          <a:p>
            <a:r>
              <a:rPr lang="fr-FR" sz="2400" b="1" dirty="0">
                <a:latin typeface="Times New Roman" pitchFamily="18" charset="0"/>
                <a:cs typeface="Times New Roman" pitchFamily="18" charset="0"/>
              </a:rPr>
              <a:t>  si </a:t>
            </a:r>
            <a:r>
              <a:rPr lang="fr-FR" sz="2400" dirty="0">
                <a:latin typeface="Times New Roman" pitchFamily="18" charset="0"/>
                <a:cs typeface="Times New Roman" pitchFamily="18" charset="0"/>
              </a:rPr>
              <a:t>l=</a:t>
            </a:r>
            <a:r>
              <a:rPr lang="fr-FR" sz="2400" dirty="0" err="1">
                <a:latin typeface="Times New Roman" pitchFamily="18" charset="0"/>
                <a:cs typeface="Times New Roman" pitchFamily="18" charset="0"/>
              </a:rPr>
              <a:t>nil</a:t>
            </a:r>
            <a:r>
              <a:rPr lang="fr-FR" sz="2400" b="1" dirty="0">
                <a:latin typeface="Times New Roman" pitchFamily="18" charset="0"/>
                <a:cs typeface="Times New Roman" pitchFamily="18" charset="0"/>
              </a:rPr>
              <a:t> alors </a:t>
            </a:r>
            <a:r>
              <a:rPr lang="fr-FR" sz="2400" dirty="0" smtClean="0">
                <a:latin typeface="Times New Roman" pitchFamily="18" charset="0"/>
                <a:cs typeface="Times New Roman" pitchFamily="18" charset="0"/>
              </a:rPr>
              <a:t>possible:=</a:t>
            </a:r>
            <a:r>
              <a:rPr lang="fr-FR" sz="2400" b="1" dirty="0" smtClean="0">
                <a:latin typeface="Times New Roman" pitchFamily="18" charset="0"/>
                <a:cs typeface="Times New Roman" pitchFamily="18" charset="0"/>
              </a:rPr>
              <a:t>faux</a:t>
            </a:r>
            <a:r>
              <a:rPr lang="fr-FR" sz="2400" b="1" dirty="0">
                <a:latin typeface="Times New Roman" pitchFamily="18" charset="0"/>
                <a:cs typeface="Times New Roman" pitchFamily="18" charset="0"/>
              </a:rPr>
              <a:t>;</a:t>
            </a:r>
          </a:p>
          <a:p>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sinonsi</a:t>
            </a:r>
            <a:r>
              <a:rPr lang="fr-FR" sz="2400" b="1" dirty="0">
                <a:latin typeface="Times New Roman" pitchFamily="18" charset="0"/>
                <a:cs typeface="Times New Roman" pitchFamily="18" charset="0"/>
              </a:rPr>
              <a:t> </a:t>
            </a:r>
            <a:r>
              <a:rPr lang="fr-FR" sz="2400" dirty="0">
                <a:latin typeface="Times New Roman" pitchFamily="18" charset="0"/>
                <a:cs typeface="Times New Roman" pitchFamily="18" charset="0"/>
              </a:rPr>
              <a:t>k=1 </a:t>
            </a:r>
            <a:r>
              <a:rPr lang="fr-FR" sz="2400" b="1" dirty="0">
                <a:latin typeface="Times New Roman" pitchFamily="18" charset="0"/>
                <a:cs typeface="Times New Roman" pitchFamily="18" charset="0"/>
              </a:rPr>
              <a:t>alors</a:t>
            </a:r>
          </a:p>
          <a:p>
            <a:r>
              <a:rPr lang="fr-FR" sz="2400" b="1" dirty="0">
                <a:latin typeface="Times New Roman" pitchFamily="18" charset="0"/>
                <a:cs typeface="Times New Roman" pitchFamily="18" charset="0"/>
              </a:rPr>
              <a:t>               </a:t>
            </a:r>
            <a:r>
              <a:rPr lang="fr-FR" sz="2400" dirty="0" smtClean="0">
                <a:latin typeface="Times New Roman" pitchFamily="18" charset="0"/>
                <a:cs typeface="Times New Roman" pitchFamily="18" charset="0"/>
              </a:rPr>
              <a:t>possible:=</a:t>
            </a:r>
            <a:r>
              <a:rPr lang="fr-FR" sz="2400" b="1" dirty="0" smtClean="0">
                <a:latin typeface="Times New Roman" pitchFamily="18" charset="0"/>
                <a:cs typeface="Times New Roman" pitchFamily="18" charset="0"/>
              </a:rPr>
              <a:t>vrai</a:t>
            </a:r>
            <a:r>
              <a:rPr lang="fr-FR" sz="2400" b="1" dirty="0">
                <a:latin typeface="Times New Roman" pitchFamily="18" charset="0"/>
                <a:cs typeface="Times New Roman" pitchFamily="18" charset="0"/>
              </a:rPr>
              <a:t>; </a:t>
            </a:r>
          </a:p>
          <a:p>
            <a:r>
              <a:rPr lang="fr-FR" sz="2400" b="1" dirty="0">
                <a:latin typeface="Times New Roman" pitchFamily="18" charset="0"/>
                <a:cs typeface="Times New Roman" pitchFamily="18" charset="0"/>
              </a:rPr>
              <a:t>               </a:t>
            </a:r>
            <a:r>
              <a:rPr lang="fr-FR" sz="2400" dirty="0" err="1">
                <a:latin typeface="Times New Roman" pitchFamily="18" charset="0"/>
                <a:cs typeface="Times New Roman" pitchFamily="18" charset="0"/>
              </a:rPr>
              <a:t>supptete</a:t>
            </a:r>
            <a:r>
              <a:rPr lang="fr-FR" sz="2400" dirty="0">
                <a:latin typeface="Times New Roman" pitchFamily="18" charset="0"/>
                <a:cs typeface="Times New Roman" pitchFamily="18" charset="0"/>
              </a:rPr>
              <a:t>(l)</a:t>
            </a:r>
            <a:r>
              <a:rPr lang="fr-FR" sz="2400" b="1" dirty="0">
                <a:latin typeface="Times New Roman" pitchFamily="18" charset="0"/>
                <a:cs typeface="Times New Roman" pitchFamily="18" charset="0"/>
              </a:rPr>
              <a:t>;</a:t>
            </a:r>
          </a:p>
          <a:p>
            <a:r>
              <a:rPr lang="fr-FR" sz="2400" b="1" dirty="0">
                <a:latin typeface="Times New Roman" pitchFamily="18" charset="0"/>
                <a:cs typeface="Times New Roman" pitchFamily="18" charset="0"/>
              </a:rPr>
              <a:t>           sinon </a:t>
            </a:r>
            <a:r>
              <a:rPr lang="fr-FR" sz="2400" dirty="0" err="1">
                <a:latin typeface="Times New Roman" pitchFamily="18" charset="0"/>
                <a:cs typeface="Times New Roman" pitchFamily="18" charset="0"/>
              </a:rPr>
              <a:t>supprimek</a:t>
            </a:r>
            <a:r>
              <a:rPr lang="fr-FR" sz="2400" dirty="0">
                <a:latin typeface="Times New Roman" pitchFamily="18" charset="0"/>
                <a:cs typeface="Times New Roman" pitchFamily="18" charset="0"/>
              </a:rPr>
              <a:t>(l-&gt;suivant, k-1, possible</a:t>
            </a:r>
            <a:r>
              <a:rPr lang="fr-FR" sz="2400" b="1" dirty="0">
                <a:latin typeface="Times New Roman" pitchFamily="18" charset="0"/>
                <a:cs typeface="Times New Roman" pitchFamily="18" charset="0"/>
              </a:rPr>
              <a:t>); </a:t>
            </a:r>
          </a:p>
          <a:p>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finsi</a:t>
            </a:r>
            <a:r>
              <a:rPr lang="fr-FR" sz="2400" b="1" dirty="0">
                <a:latin typeface="Times New Roman" pitchFamily="18" charset="0"/>
                <a:cs typeface="Times New Roman" pitchFamily="18" charset="0"/>
              </a:rPr>
              <a:t>;</a:t>
            </a:r>
          </a:p>
          <a:p>
            <a:r>
              <a:rPr lang="fr-FR" sz="2400" b="1" dirty="0" err="1" smtClean="0">
                <a:latin typeface="Times New Roman" pitchFamily="18" charset="0"/>
                <a:cs typeface="Times New Roman" pitchFamily="18" charset="0"/>
              </a:rPr>
              <a:t>finfonc</a:t>
            </a:r>
            <a:r>
              <a:rPr lang="fr-FR" sz="2400" b="1" dirty="0">
                <a:latin typeface="Times New Roman" pitchFamily="18" charset="0"/>
                <a:cs typeface="Times New Roman" pitchFamily="18" charset="0"/>
              </a:rPr>
              <a:t>;</a:t>
            </a:r>
          </a:p>
        </p:txBody>
      </p:sp>
    </p:spTree>
    <p:extLst>
      <p:ext uri="{BB962C8B-B14F-4D97-AF65-F5344CB8AC3E}">
        <p14:creationId xmlns:p14="http://schemas.microsoft.com/office/powerpoint/2010/main" val="41568900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3520" y="678607"/>
            <a:ext cx="11714480" cy="5262979"/>
          </a:xfrm>
          <a:prstGeom prst="rect">
            <a:avLst/>
          </a:prstGeom>
        </p:spPr>
        <p:txBody>
          <a:bodyPr wrap="square">
            <a:spAutoFit/>
          </a:bodyPr>
          <a:lstStyle/>
          <a:p>
            <a:pPr lvl="0" algn="just"/>
            <a:r>
              <a:rPr lang="fr-FR" sz="2400" u="sng" dirty="0" smtClean="0">
                <a:latin typeface="Times New Roman" pitchFamily="18" charset="0"/>
                <a:cs typeface="Times New Roman" pitchFamily="18" charset="0"/>
              </a:rPr>
              <a:t>Exercice 11.</a:t>
            </a:r>
            <a:r>
              <a:rPr lang="fr-FR" sz="2400" dirty="0" smtClean="0">
                <a:latin typeface="Times New Roman" pitchFamily="18" charset="0"/>
                <a:cs typeface="Times New Roman" pitchFamily="18" charset="0"/>
              </a:rPr>
              <a:t> </a:t>
            </a:r>
            <a:r>
              <a:rPr lang="fr-FR" sz="2400" dirty="0">
                <a:latin typeface="Times New Roman" pitchFamily="18" charset="0"/>
                <a:cs typeface="Times New Roman" pitchFamily="18" charset="0"/>
              </a:rPr>
              <a:t>Ecrire la déclaration d’une cellule dont  la partie information est composée : nom de l’étudiant, prénom de l’étudiant, son numéro téléphone portable et sa moyenne.</a:t>
            </a:r>
          </a:p>
          <a:p>
            <a:pPr lvl="0" algn="just"/>
            <a:r>
              <a:rPr lang="fr-FR" sz="2400" dirty="0">
                <a:latin typeface="Times New Roman" pitchFamily="18" charset="0"/>
                <a:cs typeface="Times New Roman" pitchFamily="18" charset="0"/>
              </a:rPr>
              <a:t>Définir le type pointeur synonyme du type défini précédemment.</a:t>
            </a:r>
          </a:p>
          <a:p>
            <a:pPr lvl="0"/>
            <a:endParaRPr lang="fr-FR" sz="2400" dirty="0">
              <a:latin typeface="Times New Roman" pitchFamily="18" charset="0"/>
              <a:cs typeface="Times New Roman" pitchFamily="18" charset="0"/>
            </a:endParaRPr>
          </a:p>
          <a:p>
            <a:pPr lvl="0" algn="just"/>
            <a:r>
              <a:rPr lang="fr-FR" sz="2400" u="sng" dirty="0" smtClean="0">
                <a:latin typeface="Times New Roman" pitchFamily="18" charset="0"/>
                <a:cs typeface="Times New Roman" pitchFamily="18" charset="0"/>
              </a:rPr>
              <a:t>Exercice 12.</a:t>
            </a:r>
            <a:r>
              <a:rPr lang="fr-FR" sz="2400" dirty="0" smtClean="0">
                <a:latin typeface="Times New Roman" pitchFamily="18" charset="0"/>
                <a:cs typeface="Times New Roman" pitchFamily="18" charset="0"/>
              </a:rPr>
              <a:t> </a:t>
            </a:r>
            <a:r>
              <a:rPr lang="fr-FR" sz="2400" dirty="0">
                <a:latin typeface="Times New Roman" pitchFamily="18" charset="0"/>
                <a:cs typeface="Times New Roman" pitchFamily="18" charset="0"/>
              </a:rPr>
              <a:t>Ecrire un algorithme qui crée à l’envers, une liste chaînée composée de nombres entiers. Chaque nombre est saisi au clavier. La taille de la liste est donnée de l’algorithme. Puis une procédure qui affiche  la liste chaînée ainsi créée pour vérification.</a:t>
            </a:r>
          </a:p>
          <a:p>
            <a:pPr lvl="0"/>
            <a:endParaRPr lang="fr-FR" sz="2400" dirty="0">
              <a:latin typeface="Times New Roman" pitchFamily="18" charset="0"/>
              <a:cs typeface="Times New Roman" pitchFamily="18" charset="0"/>
            </a:endParaRPr>
          </a:p>
          <a:p>
            <a:pPr lvl="0"/>
            <a:r>
              <a:rPr lang="fr-FR" sz="2400" u="sng" dirty="0" smtClean="0">
                <a:latin typeface="Times New Roman" pitchFamily="18" charset="0"/>
                <a:cs typeface="Times New Roman" pitchFamily="18" charset="0"/>
              </a:rPr>
              <a:t>Exercice 13</a:t>
            </a:r>
            <a:r>
              <a:rPr lang="fr-FR" sz="2400" dirty="0" smtClean="0">
                <a:latin typeface="Times New Roman" pitchFamily="18" charset="0"/>
                <a:cs typeface="Times New Roman" pitchFamily="18" charset="0"/>
              </a:rPr>
              <a:t>. </a:t>
            </a:r>
            <a:r>
              <a:rPr lang="fr-FR" sz="2400" dirty="0">
                <a:latin typeface="Times New Roman" pitchFamily="18" charset="0"/>
                <a:cs typeface="Times New Roman" pitchFamily="18" charset="0"/>
              </a:rPr>
              <a:t>Ecrire les algorithmes suivants :</a:t>
            </a:r>
          </a:p>
          <a:p>
            <a:pPr lvl="0" algn="just"/>
            <a:r>
              <a:rPr lang="fr-FR" sz="2400" dirty="0">
                <a:latin typeface="Times New Roman" pitchFamily="18" charset="0"/>
                <a:cs typeface="Times New Roman" pitchFamily="18" charset="0"/>
              </a:rPr>
              <a:t>- une fonction qui crée à l’endroit, une liste chainée composée de nombres entiers.</a:t>
            </a:r>
          </a:p>
          <a:p>
            <a:pPr lvl="0"/>
            <a:r>
              <a:rPr lang="fr-FR" sz="2400" dirty="0">
                <a:latin typeface="Times New Roman" pitchFamily="18" charset="0"/>
                <a:cs typeface="Times New Roman" pitchFamily="18" charset="0"/>
              </a:rPr>
              <a:t>- une procédure qui affiche la liste chaînée ainsi créée pour vérification.</a:t>
            </a:r>
          </a:p>
          <a:p>
            <a:pPr lvl="0"/>
            <a:r>
              <a:rPr lang="fr-FR" sz="2400" dirty="0">
                <a:latin typeface="Times New Roman" pitchFamily="18" charset="0"/>
                <a:cs typeface="Times New Roman" pitchFamily="18" charset="0"/>
              </a:rPr>
              <a:t>- une procédure qui insère un élément donné à la tête de cette liste chaînée,</a:t>
            </a:r>
          </a:p>
          <a:p>
            <a:pPr lvl="0"/>
            <a:r>
              <a:rPr lang="fr-FR" sz="2400" dirty="0">
                <a:latin typeface="Times New Roman" pitchFamily="18" charset="0"/>
                <a:cs typeface="Times New Roman" pitchFamily="18" charset="0"/>
              </a:rPr>
              <a:t>- une procédure qui affiche la liste chaînée ainsi obtenue pour vérification,</a:t>
            </a:r>
          </a:p>
          <a:p>
            <a:pPr lvl="0"/>
            <a:r>
              <a:rPr lang="fr-FR" sz="2400" dirty="0">
                <a:latin typeface="Times New Roman" pitchFamily="18" charset="0"/>
                <a:cs typeface="Times New Roman" pitchFamily="18" charset="0"/>
              </a:rPr>
              <a:t>- une procédure qui supprime l’élément à la tête de cette liste chainée,</a:t>
            </a:r>
          </a:p>
        </p:txBody>
      </p:sp>
    </p:spTree>
    <p:extLst>
      <p:ext uri="{BB962C8B-B14F-4D97-AF65-F5344CB8AC3E}">
        <p14:creationId xmlns:p14="http://schemas.microsoft.com/office/powerpoint/2010/main" val="41959349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760" y="176471"/>
            <a:ext cx="11968480" cy="6463308"/>
          </a:xfrm>
          <a:prstGeom prst="rect">
            <a:avLst/>
          </a:prstGeom>
        </p:spPr>
        <p:txBody>
          <a:bodyPr wrap="square">
            <a:spAutoFit/>
          </a:bodyPr>
          <a:lstStyle/>
          <a:p>
            <a:r>
              <a:rPr lang="en-GB" b="1" dirty="0" err="1" smtClean="0">
                <a:latin typeface="Times New Roman" pitchFamily="18" charset="0"/>
                <a:cs typeface="Times New Roman" pitchFamily="18" charset="0"/>
              </a:rPr>
              <a:t>Chapitre</a:t>
            </a:r>
            <a:r>
              <a:rPr lang="en-GB" b="1" dirty="0" smtClean="0">
                <a:latin typeface="Times New Roman" pitchFamily="18" charset="0"/>
                <a:cs typeface="Times New Roman" pitchFamily="18" charset="0"/>
              </a:rPr>
              <a:t> 3. </a:t>
            </a:r>
            <a:r>
              <a:rPr lang="en-GB" b="1" dirty="0">
                <a:latin typeface="Times New Roman" pitchFamily="18" charset="0"/>
                <a:cs typeface="Times New Roman" pitchFamily="18" charset="0"/>
              </a:rPr>
              <a:t>Structures de </a:t>
            </a:r>
            <a:r>
              <a:rPr lang="en-GB" b="1" dirty="0" err="1">
                <a:latin typeface="Times New Roman" pitchFamily="18" charset="0"/>
                <a:cs typeface="Times New Roman" pitchFamily="18" charset="0"/>
              </a:rPr>
              <a:t>données</a:t>
            </a:r>
            <a:r>
              <a:rPr lang="en-GB" b="1" dirty="0">
                <a:latin typeface="Times New Roman" pitchFamily="18" charset="0"/>
                <a:cs typeface="Times New Roman" pitchFamily="18" charset="0"/>
              </a:rPr>
              <a:t> </a:t>
            </a:r>
            <a:r>
              <a:rPr lang="en-GB" b="1" dirty="0" err="1">
                <a:latin typeface="Times New Roman" pitchFamily="18" charset="0"/>
                <a:cs typeface="Times New Roman" pitchFamily="18" charset="0"/>
              </a:rPr>
              <a:t>particulières</a:t>
            </a:r>
            <a:endParaRPr lang="en-GB" b="1" dirty="0">
              <a:latin typeface="Times New Roman" pitchFamily="18" charset="0"/>
              <a:cs typeface="Times New Roman" pitchFamily="18" charset="0"/>
            </a:endParaRPr>
          </a:p>
          <a:p>
            <a:r>
              <a:rPr lang="fr-FR" dirty="0" smtClean="0">
                <a:latin typeface="Times New Roman" pitchFamily="18" charset="0"/>
                <a:cs typeface="Times New Roman" pitchFamily="18" charset="0"/>
              </a:rPr>
              <a:t>3.1. Piles</a:t>
            </a:r>
          </a:p>
          <a:p>
            <a:r>
              <a:rPr lang="fr-FR" dirty="0" smtClean="0">
                <a:latin typeface="Times New Roman" pitchFamily="18" charset="0"/>
                <a:cs typeface="Times New Roman" pitchFamily="18" charset="0"/>
              </a:rPr>
              <a:t>3.2. Files d’attente</a:t>
            </a:r>
            <a:endParaRPr lang="fr-FR" dirty="0">
              <a:latin typeface="Times New Roman" pitchFamily="18" charset="0"/>
              <a:cs typeface="Times New Roman" pitchFamily="18" charset="0"/>
            </a:endParaRPr>
          </a:p>
          <a:p>
            <a:r>
              <a:rPr lang="fr-FR" b="1" dirty="0">
                <a:latin typeface="Times New Roman" pitchFamily="18" charset="0"/>
                <a:cs typeface="Times New Roman" pitchFamily="18" charset="0"/>
              </a:rPr>
              <a:t>3</a:t>
            </a:r>
            <a:r>
              <a:rPr lang="fr-FR" b="1" dirty="0" smtClean="0">
                <a:latin typeface="Times New Roman" pitchFamily="18" charset="0"/>
                <a:cs typeface="Times New Roman" pitchFamily="18" charset="0"/>
              </a:rPr>
              <a:t>.1</a:t>
            </a:r>
            <a:r>
              <a:rPr lang="fr-FR" b="1" dirty="0">
                <a:latin typeface="Times New Roman" pitchFamily="18" charset="0"/>
                <a:cs typeface="Times New Roman" pitchFamily="18" charset="0"/>
              </a:rPr>
              <a:t>. Piles</a:t>
            </a:r>
            <a:endParaRPr lang="fr-FR" dirty="0">
              <a:latin typeface="Times New Roman" pitchFamily="18" charset="0"/>
              <a:cs typeface="Times New Roman" pitchFamily="18" charset="0"/>
            </a:endParaRPr>
          </a:p>
          <a:p>
            <a:r>
              <a:rPr lang="fr-FR" dirty="0">
                <a:latin typeface="Times New Roman" pitchFamily="18" charset="0"/>
                <a:cs typeface="Times New Roman" pitchFamily="18" charset="0"/>
              </a:rPr>
              <a:t>La structure de pile s’intéresse à la </a:t>
            </a:r>
            <a:r>
              <a:rPr lang="fr-FR" b="1" dirty="0">
                <a:latin typeface="Times New Roman" pitchFamily="18" charset="0"/>
                <a:cs typeface="Times New Roman" pitchFamily="18" charset="0"/>
              </a:rPr>
              <a:t>suite</a:t>
            </a:r>
            <a:r>
              <a:rPr lang="fr-FR" dirty="0">
                <a:latin typeface="Times New Roman" pitchFamily="18" charset="0"/>
                <a:cs typeface="Times New Roman" pitchFamily="18" charset="0"/>
              </a:rPr>
              <a:t> des </a:t>
            </a:r>
            <a:r>
              <a:rPr lang="fr-FR" b="1" dirty="0">
                <a:latin typeface="Times New Roman" pitchFamily="18" charset="0"/>
                <a:cs typeface="Times New Roman" pitchFamily="18" charset="0"/>
              </a:rPr>
              <a:t>états</a:t>
            </a:r>
            <a:r>
              <a:rPr lang="fr-FR" dirty="0">
                <a:latin typeface="Times New Roman" pitchFamily="18" charset="0"/>
                <a:cs typeface="Times New Roman" pitchFamily="18" charset="0"/>
              </a:rPr>
              <a:t> de la pile. Le </a:t>
            </a:r>
            <a:r>
              <a:rPr lang="fr-FR" b="1" dirty="0">
                <a:latin typeface="Times New Roman" pitchFamily="18" charset="0"/>
                <a:cs typeface="Times New Roman" pitchFamily="18" charset="0"/>
              </a:rPr>
              <a:t>dernier</a:t>
            </a:r>
            <a:r>
              <a:rPr lang="fr-FR" dirty="0">
                <a:latin typeface="Times New Roman" pitchFamily="18" charset="0"/>
                <a:cs typeface="Times New Roman" pitchFamily="18" charset="0"/>
              </a:rPr>
              <a:t> élément ajouté se trouve au </a:t>
            </a:r>
            <a:r>
              <a:rPr lang="fr-FR" b="1" dirty="0">
                <a:latin typeface="Times New Roman" pitchFamily="18" charset="0"/>
                <a:cs typeface="Times New Roman" pitchFamily="18" charset="0"/>
              </a:rPr>
              <a:t>sommet</a:t>
            </a:r>
            <a:r>
              <a:rPr lang="fr-FR" dirty="0">
                <a:latin typeface="Times New Roman" pitchFamily="18" charset="0"/>
                <a:cs typeface="Times New Roman" pitchFamily="18" charset="0"/>
              </a:rPr>
              <a:t> de la pile, afin de pouvoir être </a:t>
            </a:r>
            <a:r>
              <a:rPr lang="fr-FR" b="1" dirty="0">
                <a:latin typeface="Times New Roman" pitchFamily="18" charset="0"/>
                <a:cs typeface="Times New Roman" pitchFamily="18" charset="0"/>
              </a:rPr>
              <a:t>atteint </a:t>
            </a:r>
            <a:r>
              <a:rPr lang="fr-FR" dirty="0">
                <a:latin typeface="Times New Roman" pitchFamily="18" charset="0"/>
                <a:cs typeface="Times New Roman" pitchFamily="18" charset="0"/>
              </a:rPr>
              <a:t>en </a:t>
            </a:r>
            <a:r>
              <a:rPr lang="fr-FR" b="1" dirty="0">
                <a:latin typeface="Times New Roman" pitchFamily="18" charset="0"/>
                <a:cs typeface="Times New Roman" pitchFamily="18" charset="0"/>
              </a:rPr>
              <a:t>premier</a:t>
            </a:r>
            <a:r>
              <a:rPr lang="fr-FR" dirty="0">
                <a:latin typeface="Times New Roman" pitchFamily="18" charset="0"/>
                <a:cs typeface="Times New Roman" pitchFamily="18" charset="0"/>
              </a:rPr>
              <a:t>.</a:t>
            </a:r>
          </a:p>
          <a:p>
            <a:r>
              <a:rPr lang="fr-FR" dirty="0">
                <a:latin typeface="Times New Roman" pitchFamily="18" charset="0"/>
                <a:cs typeface="Times New Roman" pitchFamily="18" charset="0"/>
              </a:rPr>
              <a:t>Une pile d’</a:t>
            </a:r>
            <a:r>
              <a:rPr lang="fr-FR" b="1" dirty="0">
                <a:latin typeface="Times New Roman" pitchFamily="18" charset="0"/>
                <a:cs typeface="Times New Roman" pitchFamily="18" charset="0"/>
              </a:rPr>
              <a:t>assiettes </a:t>
            </a:r>
            <a:r>
              <a:rPr lang="fr-FR" dirty="0">
                <a:latin typeface="Times New Roman" pitchFamily="18" charset="0"/>
                <a:cs typeface="Times New Roman" pitchFamily="18" charset="0"/>
              </a:rPr>
              <a:t>: on peut </a:t>
            </a:r>
            <a:r>
              <a:rPr lang="fr-FR" b="1" dirty="0">
                <a:latin typeface="Times New Roman" pitchFamily="18" charset="0"/>
                <a:cs typeface="Times New Roman" pitchFamily="18" charset="0"/>
              </a:rPr>
              <a:t>ajouter et enlever au sommet de la pile</a:t>
            </a:r>
            <a:r>
              <a:rPr lang="fr-FR" dirty="0">
                <a:latin typeface="Times New Roman" pitchFamily="18" charset="0"/>
                <a:cs typeface="Times New Roman" pitchFamily="18" charset="0"/>
              </a:rPr>
              <a:t> ; toute insertion ou retrait d’une assiette en milieu de pile est une opération qui comporte des risques.</a:t>
            </a:r>
          </a:p>
          <a:p>
            <a:r>
              <a:rPr lang="fr-FR" dirty="0">
                <a:latin typeface="Times New Roman" pitchFamily="18" charset="0"/>
                <a:cs typeface="Times New Roman" pitchFamily="18" charset="0"/>
              </a:rPr>
              <a:t>La stratégie de gestion d’une pile est </a:t>
            </a:r>
            <a:r>
              <a:rPr lang="fr-FR" b="1" dirty="0">
                <a:latin typeface="Times New Roman" pitchFamily="18" charset="0"/>
                <a:cs typeface="Times New Roman" pitchFamily="18" charset="0"/>
              </a:rPr>
              <a:t>dernier arrivé</a:t>
            </a:r>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premier servi</a:t>
            </a:r>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Last In First Out :</a:t>
            </a:r>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LIFO)</a:t>
            </a:r>
            <a:r>
              <a:rPr lang="fr-FR" dirty="0">
                <a:latin typeface="Times New Roman" pitchFamily="18" charset="0"/>
                <a:cs typeface="Times New Roman" pitchFamily="18" charset="0"/>
              </a:rPr>
              <a:t>. </a:t>
            </a:r>
          </a:p>
          <a:p>
            <a:r>
              <a:rPr lang="fr-FR" dirty="0">
                <a:latin typeface="Times New Roman" pitchFamily="18" charset="0"/>
                <a:cs typeface="Times New Roman" pitchFamily="18" charset="0"/>
              </a:rPr>
              <a:t>La structure de pile est utilisée pour </a:t>
            </a:r>
            <a:r>
              <a:rPr lang="fr-FR" b="1" dirty="0">
                <a:latin typeface="Times New Roman" pitchFamily="18" charset="0"/>
                <a:cs typeface="Times New Roman" pitchFamily="18" charset="0"/>
              </a:rPr>
              <a:t>sauvegarder temporairement des informations</a:t>
            </a:r>
            <a:r>
              <a:rPr lang="fr-FR" dirty="0">
                <a:latin typeface="Times New Roman" pitchFamily="18" charset="0"/>
                <a:cs typeface="Times New Roman" pitchFamily="18" charset="0"/>
              </a:rPr>
              <a:t> en </a:t>
            </a:r>
            <a:r>
              <a:rPr lang="fr-FR" dirty="0" smtClean="0">
                <a:latin typeface="Times New Roman" pitchFamily="18" charset="0"/>
                <a:cs typeface="Times New Roman" pitchFamily="18" charset="0"/>
              </a:rPr>
              <a:t>respectant </a:t>
            </a:r>
            <a:r>
              <a:rPr lang="fr-FR" dirty="0">
                <a:latin typeface="Times New Roman" pitchFamily="18" charset="0"/>
                <a:cs typeface="Times New Roman" pitchFamily="18" charset="0"/>
              </a:rPr>
              <a:t>leur ordre d’entrée, et le réutiliser en ordre inverse.</a:t>
            </a:r>
          </a:p>
          <a:p>
            <a:r>
              <a:rPr lang="en-GB" b="1" dirty="0" smtClean="0">
                <a:latin typeface="Times New Roman" panose="02020603050405020304" pitchFamily="18" charset="0"/>
                <a:cs typeface="Times New Roman" panose="02020603050405020304" pitchFamily="18" charset="0"/>
              </a:rPr>
              <a:t>3.1.1. </a:t>
            </a:r>
            <a:r>
              <a:rPr lang="en-GB" b="1" dirty="0" err="1" smtClean="0">
                <a:latin typeface="Times New Roman" panose="02020603050405020304" pitchFamily="18" charset="0"/>
                <a:cs typeface="Times New Roman" panose="02020603050405020304" pitchFamily="18" charset="0"/>
              </a:rPr>
              <a:t>Définition</a:t>
            </a:r>
            <a:endParaRPr lang="fr-FR" b="1" dirty="0">
              <a:latin typeface="Times New Roman" panose="02020603050405020304" pitchFamily="18" charset="0"/>
              <a:cs typeface="Times New Roman" panose="02020603050405020304" pitchFamily="18" charset="0"/>
            </a:endParaRPr>
          </a:p>
          <a:p>
            <a:r>
              <a:rPr lang="fr-FR" dirty="0">
                <a:latin typeface="Times New Roman" pitchFamily="18" charset="0"/>
                <a:cs typeface="Times New Roman" pitchFamily="18" charset="0"/>
              </a:rPr>
              <a:t>Une pile est une </a:t>
            </a:r>
            <a:r>
              <a:rPr lang="fr-FR" b="1" dirty="0">
                <a:latin typeface="Times New Roman" pitchFamily="18" charset="0"/>
                <a:cs typeface="Times New Roman" pitchFamily="18" charset="0"/>
              </a:rPr>
              <a:t>liste linéaire</a:t>
            </a:r>
            <a:r>
              <a:rPr lang="fr-FR" dirty="0">
                <a:latin typeface="Times New Roman" pitchFamily="18" charset="0"/>
                <a:cs typeface="Times New Roman" pitchFamily="18" charset="0"/>
              </a:rPr>
              <a:t>, telle que l’on passe d’ un état de la pile au suivant par </a:t>
            </a:r>
            <a:r>
              <a:rPr lang="fr-FR" b="1" dirty="0">
                <a:latin typeface="Times New Roman" pitchFamily="18" charset="0"/>
                <a:cs typeface="Times New Roman" pitchFamily="18" charset="0"/>
              </a:rPr>
              <a:t>adjonction</a:t>
            </a:r>
            <a:r>
              <a:rPr lang="fr-FR" dirty="0">
                <a:latin typeface="Times New Roman" pitchFamily="18" charset="0"/>
                <a:cs typeface="Times New Roman" pitchFamily="18" charset="0"/>
              </a:rPr>
              <a:t> ou </a:t>
            </a:r>
            <a:r>
              <a:rPr lang="fr-FR" b="1" dirty="0">
                <a:latin typeface="Times New Roman" pitchFamily="18" charset="0"/>
                <a:cs typeface="Times New Roman" pitchFamily="18" charset="0"/>
              </a:rPr>
              <a:t>suppression</a:t>
            </a:r>
            <a:r>
              <a:rPr lang="fr-FR" dirty="0">
                <a:latin typeface="Times New Roman" pitchFamily="18" charset="0"/>
                <a:cs typeface="Times New Roman" pitchFamily="18" charset="0"/>
              </a:rPr>
              <a:t> d’un élément en </a:t>
            </a:r>
            <a:r>
              <a:rPr lang="fr-FR" b="1" dirty="0">
                <a:latin typeface="Times New Roman" pitchFamily="18" charset="0"/>
                <a:cs typeface="Times New Roman" pitchFamily="18" charset="0"/>
              </a:rPr>
              <a:t>tête</a:t>
            </a:r>
            <a:r>
              <a:rPr lang="fr-FR" dirty="0">
                <a:latin typeface="Times New Roman" pitchFamily="18" charset="0"/>
                <a:cs typeface="Times New Roman" pitchFamily="18" charset="0"/>
              </a:rPr>
              <a:t>.</a:t>
            </a:r>
          </a:p>
          <a:p>
            <a:r>
              <a:rPr lang="fr-FR" dirty="0">
                <a:latin typeface="Times New Roman" pitchFamily="18" charset="0"/>
                <a:cs typeface="Times New Roman" pitchFamily="18" charset="0"/>
              </a:rPr>
              <a:t>f</a:t>
            </a:r>
            <a:r>
              <a:rPr lang="fr-FR" dirty="0" smtClean="0">
                <a:latin typeface="Times New Roman" pitchFamily="18" charset="0"/>
                <a:cs typeface="Times New Roman" pitchFamily="18" charset="0"/>
              </a:rPr>
              <a:t>igure 1</a:t>
            </a:r>
            <a:r>
              <a:rPr lang="fr-FR" dirty="0">
                <a:latin typeface="Times New Roman" pitchFamily="18" charset="0"/>
                <a:cs typeface="Times New Roman" pitchFamily="18" charset="0"/>
              </a:rPr>
              <a:t>.</a:t>
            </a:r>
            <a:r>
              <a:rPr lang="fr-FR" dirty="0" smtClean="0">
                <a:latin typeface="Times New Roman" pitchFamily="18" charset="0"/>
                <a:cs typeface="Times New Roman" pitchFamily="18" charset="0"/>
              </a:rPr>
              <a:t> </a:t>
            </a:r>
            <a:r>
              <a:rPr lang="fr-FR" dirty="0">
                <a:latin typeface="Times New Roman" pitchFamily="18" charset="0"/>
                <a:cs typeface="Times New Roman" pitchFamily="18" charset="0"/>
              </a:rPr>
              <a:t>Etats d’une pile.</a:t>
            </a:r>
          </a:p>
          <a:p>
            <a:r>
              <a:rPr lang="en-GB" dirty="0" smtClean="0">
                <a:latin typeface="Times New Roman" pitchFamily="18" charset="0"/>
                <a:cs typeface="Times New Roman" pitchFamily="18" charset="0"/>
              </a:rPr>
              <a:t>     </a:t>
            </a:r>
            <a:r>
              <a:rPr lang="en-GB" dirty="0" err="1" smtClean="0">
                <a:latin typeface="Times New Roman" pitchFamily="18" charset="0"/>
                <a:cs typeface="Times New Roman" pitchFamily="18" charset="0"/>
              </a:rPr>
              <a:t>sommet</a:t>
            </a:r>
            <a:r>
              <a:rPr lang="en-GB" dirty="0" smtClean="0">
                <a:latin typeface="Times New Roman" pitchFamily="18" charset="0"/>
                <a:cs typeface="Times New Roman" pitchFamily="18" charset="0"/>
              </a:rPr>
              <a:t>                                                                        </a:t>
            </a:r>
            <a:r>
              <a:rPr lang="en-GB" dirty="0" err="1" smtClean="0">
                <a:latin typeface="Times New Roman" pitchFamily="18" charset="0"/>
                <a:cs typeface="Times New Roman" pitchFamily="18" charset="0"/>
              </a:rPr>
              <a:t>sommet</a:t>
            </a: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t>
            </a:r>
            <a:r>
              <a:rPr lang="en-GB" dirty="0" smtClean="0">
                <a:latin typeface="Times New Roman" pitchFamily="18" charset="0"/>
                <a:cs typeface="Times New Roman" pitchFamily="18" charset="0"/>
              </a:rPr>
              <a:t>                                </a:t>
            </a:r>
            <a:r>
              <a:rPr lang="en-GB" dirty="0" err="1" smtClean="0">
                <a:latin typeface="Times New Roman" pitchFamily="18" charset="0"/>
                <a:cs typeface="Times New Roman" pitchFamily="18" charset="0"/>
              </a:rPr>
              <a:t>sommet</a:t>
            </a:r>
            <a:r>
              <a:rPr lang="en-GB" dirty="0">
                <a:latin typeface="Times New Roman" pitchFamily="18" charset="0"/>
                <a:cs typeface="Times New Roman" pitchFamily="18" charset="0"/>
              </a:rPr>
              <a:t>			</a:t>
            </a:r>
            <a:r>
              <a:rPr lang="en-GB" dirty="0" smtClean="0">
                <a:latin typeface="Times New Roman" pitchFamily="18" charset="0"/>
                <a:cs typeface="Times New Roman" pitchFamily="18" charset="0"/>
              </a:rPr>
              <a:t>         </a:t>
            </a:r>
            <a:r>
              <a:rPr lang="en-GB" dirty="0" err="1" smtClean="0">
                <a:latin typeface="Times New Roman" pitchFamily="18" charset="0"/>
                <a:cs typeface="Times New Roman" pitchFamily="18" charset="0"/>
              </a:rPr>
              <a:t>sommet</a:t>
            </a: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                    </a:t>
            </a:r>
            <a:endParaRPr lang="en-GB" dirty="0" smtClean="0">
              <a:latin typeface="Times New Roman" pitchFamily="18" charset="0"/>
              <a:cs typeface="Times New Roman" pitchFamily="18" charset="0"/>
            </a:endParaRPr>
          </a:p>
          <a:p>
            <a:r>
              <a:rPr lang="en-GB" dirty="0" smtClean="0">
                <a:latin typeface="Times New Roman" pitchFamily="18" charset="0"/>
                <a:cs typeface="Times New Roman" pitchFamily="18" charset="0"/>
              </a:rPr>
              <a:t>           base                                    </a:t>
            </a:r>
            <a:r>
              <a:rPr lang="en-GB" dirty="0" err="1" smtClean="0">
                <a:latin typeface="Times New Roman" pitchFamily="18" charset="0"/>
                <a:cs typeface="Times New Roman" pitchFamily="18" charset="0"/>
              </a:rPr>
              <a:t>base</a:t>
            </a:r>
            <a:r>
              <a:rPr lang="en-GB" dirty="0" smtClean="0">
                <a:latin typeface="Times New Roman" pitchFamily="18" charset="0"/>
                <a:cs typeface="Times New Roman" pitchFamily="18" charset="0"/>
              </a:rPr>
              <a:t>                                  </a:t>
            </a:r>
            <a:r>
              <a:rPr lang="en-GB" dirty="0" err="1" smtClean="0">
                <a:latin typeface="Times New Roman" pitchFamily="18" charset="0"/>
                <a:cs typeface="Times New Roman" pitchFamily="18" charset="0"/>
              </a:rPr>
              <a:t>base</a:t>
            </a: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t>
            </a:r>
            <a:r>
              <a:rPr lang="en-GB" dirty="0" smtClean="0">
                <a:latin typeface="Times New Roman" pitchFamily="18" charset="0"/>
                <a:cs typeface="Times New Roman" pitchFamily="18" charset="0"/>
              </a:rPr>
              <a:t> </a:t>
            </a:r>
            <a:r>
              <a:rPr lang="en-GB" dirty="0">
                <a:latin typeface="Times New Roman" pitchFamily="18" charset="0"/>
                <a:cs typeface="Times New Roman" pitchFamily="18" charset="0"/>
              </a:rPr>
              <a:t>		      </a:t>
            </a:r>
            <a:endParaRPr lang="fr-FR" dirty="0" smtClean="0">
              <a:latin typeface="Times New Roman" pitchFamily="18" charset="0"/>
              <a:cs typeface="Times New Roman" pitchFamily="18" charset="0"/>
            </a:endParaRPr>
          </a:p>
          <a:p>
            <a:r>
              <a:rPr lang="fr-FR" dirty="0" smtClean="0">
                <a:latin typeface="Times New Roman" pitchFamily="18" charset="0"/>
                <a:cs typeface="Times New Roman" pitchFamily="18" charset="0"/>
              </a:rPr>
              <a:t>le dernier élément de chaque liste est la </a:t>
            </a:r>
            <a:r>
              <a:rPr lang="fr-FR" b="1" dirty="0" smtClean="0">
                <a:latin typeface="Times New Roman" pitchFamily="18" charset="0"/>
                <a:cs typeface="Times New Roman" pitchFamily="18" charset="0"/>
              </a:rPr>
              <a:t>base</a:t>
            </a:r>
            <a:r>
              <a:rPr lang="fr-FR" dirty="0" smtClean="0">
                <a:latin typeface="Times New Roman" pitchFamily="18" charset="0"/>
                <a:cs typeface="Times New Roman" pitchFamily="18" charset="0"/>
              </a:rPr>
              <a:t> de la pile ; le premier élément  est  le </a:t>
            </a:r>
            <a:r>
              <a:rPr lang="fr-FR" b="1" dirty="0" smtClean="0">
                <a:latin typeface="Times New Roman" pitchFamily="18" charset="0"/>
                <a:cs typeface="Times New Roman" pitchFamily="18" charset="0"/>
              </a:rPr>
              <a:t>sommet</a:t>
            </a:r>
            <a:r>
              <a:rPr lang="fr-FR" dirty="0" smtClean="0">
                <a:latin typeface="Times New Roman" pitchFamily="18" charset="0"/>
                <a:cs typeface="Times New Roman" pitchFamily="18" charset="0"/>
              </a:rPr>
              <a:t> de la pile. Les </a:t>
            </a:r>
            <a:r>
              <a:rPr lang="fr-FR" b="1" dirty="0" smtClean="0">
                <a:latin typeface="Times New Roman" pitchFamily="18" charset="0"/>
                <a:cs typeface="Times New Roman" pitchFamily="18" charset="0"/>
              </a:rPr>
              <a:t>mises à jour </a:t>
            </a:r>
            <a:r>
              <a:rPr lang="fr-FR" dirty="0" smtClean="0">
                <a:latin typeface="Times New Roman" pitchFamily="18" charset="0"/>
                <a:cs typeface="Times New Roman" pitchFamily="18" charset="0"/>
              </a:rPr>
              <a:t>se font à partir du </a:t>
            </a:r>
            <a:r>
              <a:rPr lang="fr-FR" b="1" dirty="0" smtClean="0">
                <a:latin typeface="Times New Roman" pitchFamily="18" charset="0"/>
                <a:cs typeface="Times New Roman" pitchFamily="18" charset="0"/>
              </a:rPr>
              <a:t>sommet</a:t>
            </a:r>
            <a:r>
              <a:rPr lang="fr-FR" dirty="0" smtClean="0">
                <a:latin typeface="Times New Roman" pitchFamily="18" charset="0"/>
                <a:cs typeface="Times New Roman" pitchFamily="18" charset="0"/>
              </a:rPr>
              <a:t>.</a:t>
            </a:r>
            <a:endParaRPr lang="fr-FR" dirty="0">
              <a:latin typeface="Times New Roman" pitchFamily="18" charset="0"/>
              <a:cs typeface="Times New Roman" pitchFamily="18" charset="0"/>
            </a:endParaRPr>
          </a:p>
        </p:txBody>
      </p:sp>
      <p:sp>
        <p:nvSpPr>
          <p:cNvPr id="3" name="Rectangle 2"/>
          <p:cNvSpPr/>
          <p:nvPr/>
        </p:nvSpPr>
        <p:spPr>
          <a:xfrm>
            <a:off x="1341120" y="4399280"/>
            <a:ext cx="914400" cy="1290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smtClean="0"/>
              <a:t>……..</a:t>
            </a:r>
            <a:endParaRPr lang="fr-FR" dirty="0"/>
          </a:p>
        </p:txBody>
      </p:sp>
      <p:sp>
        <p:nvSpPr>
          <p:cNvPr id="4" name="Rectangle 3"/>
          <p:cNvSpPr/>
          <p:nvPr/>
        </p:nvSpPr>
        <p:spPr>
          <a:xfrm>
            <a:off x="3789680" y="4551680"/>
            <a:ext cx="894080" cy="11277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smtClean="0"/>
              <a:t>……..</a:t>
            </a:r>
            <a:endParaRPr lang="fr-FR" dirty="0"/>
          </a:p>
        </p:txBody>
      </p:sp>
      <p:sp>
        <p:nvSpPr>
          <p:cNvPr id="5" name="Rectangle 4"/>
          <p:cNvSpPr/>
          <p:nvPr/>
        </p:nvSpPr>
        <p:spPr>
          <a:xfrm>
            <a:off x="6136640" y="4114800"/>
            <a:ext cx="914400" cy="154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smtClean="0"/>
              <a:t>……….</a:t>
            </a:r>
            <a:endParaRPr lang="fr-FR" dirty="0"/>
          </a:p>
        </p:txBody>
      </p:sp>
      <p:cxnSp>
        <p:nvCxnSpPr>
          <p:cNvPr id="11" name="Connecteur droit 10"/>
          <p:cNvCxnSpPr/>
          <p:nvPr/>
        </p:nvCxnSpPr>
        <p:spPr>
          <a:xfrm flipV="1">
            <a:off x="1341120" y="4632960"/>
            <a:ext cx="914400" cy="10160"/>
          </a:xfrm>
          <a:prstGeom prst="line">
            <a:avLst/>
          </a:prstGeom>
        </p:spPr>
        <p:style>
          <a:lnRef idx="1">
            <a:schemeClr val="dk1"/>
          </a:lnRef>
          <a:fillRef idx="0">
            <a:schemeClr val="dk1"/>
          </a:fillRef>
          <a:effectRef idx="0">
            <a:schemeClr val="dk1"/>
          </a:effectRef>
          <a:fontRef idx="minor">
            <a:schemeClr val="tx1"/>
          </a:fontRef>
        </p:style>
      </p:cxnSp>
      <p:cxnSp>
        <p:nvCxnSpPr>
          <p:cNvPr id="12" name="Connecteur droit 11"/>
          <p:cNvCxnSpPr/>
          <p:nvPr/>
        </p:nvCxnSpPr>
        <p:spPr>
          <a:xfrm flipV="1">
            <a:off x="1341120" y="4846320"/>
            <a:ext cx="914400" cy="10160"/>
          </a:xfrm>
          <a:prstGeom prst="line">
            <a:avLst/>
          </a:prstGeom>
        </p:spPr>
        <p:style>
          <a:lnRef idx="1">
            <a:schemeClr val="dk1"/>
          </a:lnRef>
          <a:fillRef idx="0">
            <a:schemeClr val="dk1"/>
          </a:fillRef>
          <a:effectRef idx="0">
            <a:schemeClr val="dk1"/>
          </a:effectRef>
          <a:fontRef idx="minor">
            <a:schemeClr val="tx1"/>
          </a:fontRef>
        </p:style>
      </p:cxnSp>
      <p:cxnSp>
        <p:nvCxnSpPr>
          <p:cNvPr id="13" name="Connecteur droit 12"/>
          <p:cNvCxnSpPr/>
          <p:nvPr/>
        </p:nvCxnSpPr>
        <p:spPr>
          <a:xfrm flipV="1">
            <a:off x="1341120" y="5486400"/>
            <a:ext cx="914400" cy="10160"/>
          </a:xfrm>
          <a:prstGeom prst="line">
            <a:avLst/>
          </a:prstGeom>
        </p:spPr>
        <p:style>
          <a:lnRef idx="1">
            <a:schemeClr val="dk1"/>
          </a:lnRef>
          <a:fillRef idx="0">
            <a:schemeClr val="dk1"/>
          </a:fillRef>
          <a:effectRef idx="0">
            <a:schemeClr val="dk1"/>
          </a:effectRef>
          <a:fontRef idx="minor">
            <a:schemeClr val="tx1"/>
          </a:fontRef>
        </p:style>
      </p:cxnSp>
      <p:cxnSp>
        <p:nvCxnSpPr>
          <p:cNvPr id="14" name="Connecteur droit 13"/>
          <p:cNvCxnSpPr/>
          <p:nvPr/>
        </p:nvCxnSpPr>
        <p:spPr>
          <a:xfrm flipV="1">
            <a:off x="3759200" y="4785360"/>
            <a:ext cx="914400" cy="10160"/>
          </a:xfrm>
          <a:prstGeom prst="line">
            <a:avLst/>
          </a:prstGeom>
        </p:spPr>
        <p:style>
          <a:lnRef idx="1">
            <a:schemeClr val="dk1"/>
          </a:lnRef>
          <a:fillRef idx="0">
            <a:schemeClr val="dk1"/>
          </a:fillRef>
          <a:effectRef idx="0">
            <a:schemeClr val="dk1"/>
          </a:effectRef>
          <a:fontRef idx="minor">
            <a:schemeClr val="tx1"/>
          </a:fontRef>
        </p:style>
      </p:cxnSp>
      <p:cxnSp>
        <p:nvCxnSpPr>
          <p:cNvPr id="15" name="Connecteur droit 14"/>
          <p:cNvCxnSpPr/>
          <p:nvPr/>
        </p:nvCxnSpPr>
        <p:spPr>
          <a:xfrm flipV="1">
            <a:off x="3789680" y="5435600"/>
            <a:ext cx="914400" cy="10160"/>
          </a:xfrm>
          <a:prstGeom prst="line">
            <a:avLst/>
          </a:prstGeom>
        </p:spPr>
        <p:style>
          <a:lnRef idx="1">
            <a:schemeClr val="dk1"/>
          </a:lnRef>
          <a:fillRef idx="0">
            <a:schemeClr val="dk1"/>
          </a:fillRef>
          <a:effectRef idx="0">
            <a:schemeClr val="dk1"/>
          </a:effectRef>
          <a:fontRef idx="minor">
            <a:schemeClr val="tx1"/>
          </a:fontRef>
        </p:style>
      </p:cxnSp>
      <p:cxnSp>
        <p:nvCxnSpPr>
          <p:cNvPr id="17" name="Connecteur droit 16"/>
          <p:cNvCxnSpPr/>
          <p:nvPr/>
        </p:nvCxnSpPr>
        <p:spPr>
          <a:xfrm flipV="1">
            <a:off x="6136640" y="4561840"/>
            <a:ext cx="914400" cy="10160"/>
          </a:xfrm>
          <a:prstGeom prst="line">
            <a:avLst/>
          </a:prstGeom>
        </p:spPr>
        <p:style>
          <a:lnRef idx="1">
            <a:schemeClr val="dk1"/>
          </a:lnRef>
          <a:fillRef idx="0">
            <a:schemeClr val="dk1"/>
          </a:fillRef>
          <a:effectRef idx="0">
            <a:schemeClr val="dk1"/>
          </a:effectRef>
          <a:fontRef idx="minor">
            <a:schemeClr val="tx1"/>
          </a:fontRef>
        </p:style>
      </p:cxnSp>
      <p:cxnSp>
        <p:nvCxnSpPr>
          <p:cNvPr id="18" name="Connecteur droit 17"/>
          <p:cNvCxnSpPr/>
          <p:nvPr/>
        </p:nvCxnSpPr>
        <p:spPr>
          <a:xfrm flipV="1">
            <a:off x="6146800" y="5435600"/>
            <a:ext cx="914400" cy="10160"/>
          </a:xfrm>
          <a:prstGeom prst="line">
            <a:avLst/>
          </a:prstGeom>
        </p:spPr>
        <p:style>
          <a:lnRef idx="1">
            <a:schemeClr val="dk1"/>
          </a:lnRef>
          <a:fillRef idx="0">
            <a:schemeClr val="dk1"/>
          </a:fillRef>
          <a:effectRef idx="0">
            <a:schemeClr val="dk1"/>
          </a:effectRef>
          <a:fontRef idx="minor">
            <a:schemeClr val="tx1"/>
          </a:fontRef>
        </p:style>
      </p:cxnSp>
      <p:cxnSp>
        <p:nvCxnSpPr>
          <p:cNvPr id="19" name="Connecteur droit 18"/>
          <p:cNvCxnSpPr/>
          <p:nvPr/>
        </p:nvCxnSpPr>
        <p:spPr>
          <a:xfrm flipV="1">
            <a:off x="6136640" y="4785360"/>
            <a:ext cx="914400" cy="10160"/>
          </a:xfrm>
          <a:prstGeom prst="line">
            <a:avLst/>
          </a:prstGeom>
        </p:spPr>
        <p:style>
          <a:lnRef idx="1">
            <a:schemeClr val="dk1"/>
          </a:lnRef>
          <a:fillRef idx="0">
            <a:schemeClr val="dk1"/>
          </a:fillRef>
          <a:effectRef idx="0">
            <a:schemeClr val="dk1"/>
          </a:effectRef>
          <a:fontRef idx="minor">
            <a:schemeClr val="tx1"/>
          </a:fontRef>
        </p:style>
      </p:cxnSp>
      <p:cxnSp>
        <p:nvCxnSpPr>
          <p:cNvPr id="16" name="Connecteur droit 15"/>
          <p:cNvCxnSpPr/>
          <p:nvPr/>
        </p:nvCxnSpPr>
        <p:spPr>
          <a:xfrm flipV="1">
            <a:off x="6136640" y="4338320"/>
            <a:ext cx="914400" cy="1016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870315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3680" y="240110"/>
            <a:ext cx="11734800" cy="6555641"/>
          </a:xfrm>
          <a:prstGeom prst="rect">
            <a:avLst/>
          </a:prstGeom>
        </p:spPr>
        <p:txBody>
          <a:bodyPr wrap="square">
            <a:spAutoFit/>
          </a:bodyPr>
          <a:lstStyle/>
          <a:p>
            <a:pPr lvl="0" algn="just" fontAlgn="base">
              <a:spcBef>
                <a:spcPct val="0"/>
              </a:spcBef>
              <a:spcAft>
                <a:spcPct val="0"/>
              </a:spcAft>
            </a:pPr>
            <a:r>
              <a:rPr lang="fr-FR" sz="2000" dirty="0">
                <a:latin typeface="Times New Roman" pitchFamily="18" charset="0"/>
                <a:ea typeface="Times New Roman" pitchFamily="18" charset="0"/>
                <a:cs typeface="Times New Roman" pitchFamily="18" charset="0"/>
              </a:rPr>
              <a:t>Une liste est toujours formée d’un </a:t>
            </a:r>
            <a:r>
              <a:rPr lang="fr-FR" sz="2000" b="1" dirty="0">
                <a:latin typeface="Times New Roman" pitchFamily="18" charset="0"/>
                <a:ea typeface="Times New Roman" pitchFamily="18" charset="0"/>
                <a:cs typeface="Times New Roman" pitchFamily="18" charset="0"/>
              </a:rPr>
              <a:t>nombre fini</a:t>
            </a:r>
            <a:r>
              <a:rPr lang="fr-FR" sz="2000" dirty="0">
                <a:latin typeface="Times New Roman" pitchFamily="18" charset="0"/>
                <a:ea typeface="Times New Roman" pitchFamily="18" charset="0"/>
                <a:cs typeface="Times New Roman" pitchFamily="18" charset="0"/>
              </a:rPr>
              <a:t> d’éléments (</a:t>
            </a:r>
            <a:r>
              <a:rPr lang="fr-FR" sz="2000" b="1" dirty="0">
                <a:latin typeface="Times New Roman" pitchFamily="18" charset="0"/>
                <a:ea typeface="Times New Roman" pitchFamily="18" charset="0"/>
                <a:cs typeface="Times New Roman" pitchFamily="18" charset="0"/>
              </a:rPr>
              <a:t>taille</a:t>
            </a:r>
            <a:r>
              <a:rPr lang="fr-FR" sz="2000" dirty="0">
                <a:latin typeface="Times New Roman" pitchFamily="18" charset="0"/>
                <a:ea typeface="Times New Roman" pitchFamily="18" charset="0"/>
                <a:cs typeface="Times New Roman" pitchFamily="18" charset="0"/>
              </a:rPr>
              <a:t> maximale de la pile). </a:t>
            </a:r>
          </a:p>
          <a:p>
            <a:pPr lvl="0" algn="just" fontAlgn="base">
              <a:spcBef>
                <a:spcPct val="0"/>
              </a:spcBef>
              <a:spcAft>
                <a:spcPct val="0"/>
              </a:spcAft>
            </a:pPr>
            <a:r>
              <a:rPr lang="fr-FR" sz="2000" dirty="0">
                <a:latin typeface="Times New Roman" pitchFamily="18" charset="0"/>
                <a:ea typeface="Times New Roman" pitchFamily="18" charset="0"/>
                <a:cs typeface="Times New Roman" pitchFamily="18" charset="0"/>
              </a:rPr>
              <a:t>Les adjonctions s’arrête lorsque la </a:t>
            </a:r>
            <a:r>
              <a:rPr lang="fr-FR" sz="2000" b="1" dirty="0">
                <a:latin typeface="Times New Roman" pitchFamily="18" charset="0"/>
                <a:ea typeface="Times New Roman" pitchFamily="18" charset="0"/>
                <a:cs typeface="Times New Roman" pitchFamily="18" charset="0"/>
              </a:rPr>
              <a:t>taille</a:t>
            </a:r>
            <a:r>
              <a:rPr lang="fr-FR" sz="2000" dirty="0">
                <a:latin typeface="Times New Roman" pitchFamily="18" charset="0"/>
                <a:ea typeface="Times New Roman" pitchFamily="18" charset="0"/>
                <a:cs typeface="Times New Roman" pitchFamily="18" charset="0"/>
              </a:rPr>
              <a:t> maximale est atteinte (</a:t>
            </a:r>
            <a:r>
              <a:rPr lang="fr-FR" sz="2000" b="1" dirty="0">
                <a:latin typeface="Times New Roman" pitchFamily="18" charset="0"/>
                <a:ea typeface="Times New Roman" pitchFamily="18" charset="0"/>
                <a:cs typeface="Times New Roman" pitchFamily="18" charset="0"/>
              </a:rPr>
              <a:t>débordement</a:t>
            </a:r>
            <a:r>
              <a:rPr lang="fr-FR" sz="2000" dirty="0">
                <a:latin typeface="Times New Roman" pitchFamily="18" charset="0"/>
                <a:ea typeface="Times New Roman" pitchFamily="18" charset="0"/>
                <a:cs typeface="Times New Roman" pitchFamily="18" charset="0"/>
              </a:rPr>
              <a:t>).</a:t>
            </a:r>
          </a:p>
          <a:p>
            <a:pPr lvl="0" algn="just" fontAlgn="base">
              <a:spcBef>
                <a:spcPct val="0"/>
              </a:spcBef>
              <a:spcAft>
                <a:spcPct val="0"/>
              </a:spcAft>
            </a:pPr>
            <a:r>
              <a:rPr lang="fr-FR" sz="2000" dirty="0">
                <a:latin typeface="Times New Roman" pitchFamily="18" charset="0"/>
                <a:ea typeface="Times New Roman" pitchFamily="18" charset="0"/>
                <a:cs typeface="Times New Roman" pitchFamily="18" charset="0"/>
              </a:rPr>
              <a:t>Les suppressions s’arrêtent lorsque la pile devient </a:t>
            </a:r>
            <a:r>
              <a:rPr lang="fr-FR" sz="2000" b="1" dirty="0">
                <a:latin typeface="Times New Roman" pitchFamily="18" charset="0"/>
                <a:ea typeface="Times New Roman" pitchFamily="18" charset="0"/>
                <a:cs typeface="Times New Roman" pitchFamily="18" charset="0"/>
              </a:rPr>
              <a:t>vide</a:t>
            </a:r>
            <a:r>
              <a:rPr lang="fr-FR" sz="2000" dirty="0">
                <a:latin typeface="Times New Roman" pitchFamily="18" charset="0"/>
                <a:ea typeface="Times New Roman" pitchFamily="18" charset="0"/>
                <a:cs typeface="Times New Roman" pitchFamily="18" charset="0"/>
              </a:rPr>
              <a:t> (</a:t>
            </a:r>
            <a:r>
              <a:rPr lang="fr-FR" sz="2000" b="1" dirty="0">
                <a:latin typeface="Times New Roman" pitchFamily="18" charset="0"/>
                <a:ea typeface="Times New Roman" pitchFamily="18" charset="0"/>
                <a:cs typeface="Times New Roman" pitchFamily="18" charset="0"/>
              </a:rPr>
              <a:t>sous-dépassement</a:t>
            </a:r>
            <a:r>
              <a:rPr lang="fr-FR" sz="2000" i="1" dirty="0">
                <a:latin typeface="Times New Roman" pitchFamily="18" charset="0"/>
                <a:ea typeface="Times New Roman" pitchFamily="18" charset="0"/>
                <a:cs typeface="Times New Roman" pitchFamily="18" charset="0"/>
              </a:rPr>
              <a:t>).</a:t>
            </a:r>
            <a:endParaRPr lang="fr-FR" sz="2000" dirty="0">
              <a:latin typeface="Times New Roman" pitchFamily="18" charset="0"/>
              <a:cs typeface="Times New Roman" pitchFamily="18" charset="0"/>
            </a:endParaRPr>
          </a:p>
          <a:p>
            <a:pPr lvl="0" algn="just" eaLnBrk="0" fontAlgn="base" hangingPunct="0">
              <a:spcBef>
                <a:spcPct val="0"/>
              </a:spcBef>
              <a:spcAft>
                <a:spcPct val="0"/>
              </a:spcAft>
            </a:pPr>
            <a:endParaRPr lang="fr-FR" sz="2000" dirty="0">
              <a:latin typeface="Times New Roman" pitchFamily="18" charset="0"/>
              <a:ea typeface="Times New Roman" pitchFamily="18" charset="0"/>
              <a:cs typeface="Times New Roman" pitchFamily="18" charset="0"/>
            </a:endParaRPr>
          </a:p>
          <a:p>
            <a:pPr lvl="0" algn="just" eaLnBrk="0" fontAlgn="base" hangingPunct="0">
              <a:spcBef>
                <a:spcPct val="0"/>
              </a:spcBef>
              <a:spcAft>
                <a:spcPct val="0"/>
              </a:spcAft>
            </a:pPr>
            <a:r>
              <a:rPr lang="fr-FR" sz="2000" dirty="0">
                <a:latin typeface="Times New Roman" pitchFamily="18" charset="0"/>
                <a:ea typeface="Times New Roman" pitchFamily="18" charset="0"/>
                <a:cs typeface="Times New Roman" pitchFamily="18" charset="0"/>
              </a:rPr>
              <a:t>On définit habituellement les 2 primitives :</a:t>
            </a:r>
            <a:endParaRPr lang="fr-FR" sz="2000" dirty="0">
              <a:latin typeface="Times New Roman" pitchFamily="18" charset="0"/>
              <a:cs typeface="Times New Roman" pitchFamily="18" charset="0"/>
            </a:endParaRPr>
          </a:p>
          <a:p>
            <a:pPr lvl="0" algn="just" eaLnBrk="0" fontAlgn="base" hangingPunct="0">
              <a:spcBef>
                <a:spcPct val="0"/>
              </a:spcBef>
              <a:spcAft>
                <a:spcPct val="0"/>
              </a:spcAft>
            </a:pPr>
            <a:r>
              <a:rPr lang="fr-FR" sz="2000" i="1" dirty="0">
                <a:latin typeface="Times New Roman" pitchFamily="18" charset="0"/>
                <a:ea typeface="Times New Roman" pitchFamily="18" charset="0"/>
                <a:cs typeface="Times New Roman" pitchFamily="18" charset="0"/>
              </a:rPr>
              <a:t>- </a:t>
            </a:r>
            <a:r>
              <a:rPr lang="fr-FR" sz="2000" b="1" dirty="0">
                <a:latin typeface="Times New Roman" pitchFamily="18" charset="0"/>
                <a:ea typeface="Times New Roman" pitchFamily="18" charset="0"/>
                <a:cs typeface="Times New Roman" pitchFamily="18" charset="0"/>
              </a:rPr>
              <a:t>empiler(val)</a:t>
            </a:r>
            <a:r>
              <a:rPr lang="fr-FR" sz="2000" dirty="0">
                <a:latin typeface="Times New Roman" pitchFamily="18" charset="0"/>
                <a:ea typeface="Times New Roman" pitchFamily="18" charset="0"/>
                <a:cs typeface="Times New Roman" pitchFamily="18" charset="0"/>
              </a:rPr>
              <a:t> : </a:t>
            </a:r>
            <a:r>
              <a:rPr lang="fr-FR" sz="2000" b="1" dirty="0">
                <a:latin typeface="Times New Roman" pitchFamily="18" charset="0"/>
                <a:ea typeface="Times New Roman" pitchFamily="18" charset="0"/>
                <a:cs typeface="Times New Roman" pitchFamily="18" charset="0"/>
              </a:rPr>
              <a:t>ajoute</a:t>
            </a:r>
            <a:r>
              <a:rPr lang="fr-FR" sz="2000" dirty="0">
                <a:latin typeface="Times New Roman" pitchFamily="18" charset="0"/>
                <a:ea typeface="Times New Roman" pitchFamily="18" charset="0"/>
                <a:cs typeface="Times New Roman" pitchFamily="18" charset="0"/>
              </a:rPr>
              <a:t> un nouvel élément </a:t>
            </a:r>
            <a:r>
              <a:rPr lang="fr-FR" sz="2000" b="1" dirty="0">
                <a:latin typeface="Times New Roman" pitchFamily="18" charset="0"/>
                <a:ea typeface="Times New Roman" pitchFamily="18" charset="0"/>
                <a:cs typeface="Times New Roman" pitchFamily="18" charset="0"/>
              </a:rPr>
              <a:t>val</a:t>
            </a:r>
            <a:r>
              <a:rPr lang="fr-FR" sz="2000" dirty="0">
                <a:latin typeface="Times New Roman" pitchFamily="18" charset="0"/>
                <a:ea typeface="Times New Roman" pitchFamily="18" charset="0"/>
                <a:cs typeface="Times New Roman" pitchFamily="18" charset="0"/>
              </a:rPr>
              <a:t> au sommet de la pile.</a:t>
            </a:r>
            <a:endParaRPr lang="fr-FR" sz="2000" dirty="0">
              <a:latin typeface="Times New Roman" pitchFamily="18" charset="0"/>
              <a:cs typeface="Times New Roman" pitchFamily="18" charset="0"/>
            </a:endParaRPr>
          </a:p>
          <a:p>
            <a:pPr lvl="0" algn="just" eaLnBrk="0" fontAlgn="base" hangingPunct="0">
              <a:spcBef>
                <a:spcPct val="0"/>
              </a:spcBef>
              <a:spcAft>
                <a:spcPct val="0"/>
              </a:spcAft>
              <a:buFontTx/>
              <a:buChar char="-"/>
            </a:pPr>
            <a:r>
              <a:rPr lang="fr-FR" sz="2000" b="1" dirty="0">
                <a:latin typeface="Times New Roman" pitchFamily="18" charset="0"/>
                <a:ea typeface="Times New Roman" pitchFamily="18" charset="0"/>
                <a:cs typeface="Times New Roman" pitchFamily="18" charset="0"/>
              </a:rPr>
              <a:t> dépiler(val</a:t>
            </a:r>
            <a:r>
              <a:rPr lang="fr-FR" sz="2000" i="1" dirty="0">
                <a:latin typeface="Times New Roman" pitchFamily="18" charset="0"/>
                <a:ea typeface="Times New Roman" pitchFamily="18" charset="0"/>
                <a:cs typeface="Times New Roman" pitchFamily="18" charset="0"/>
              </a:rPr>
              <a:t>)</a:t>
            </a:r>
            <a:r>
              <a:rPr lang="fr-FR" sz="2000" dirty="0">
                <a:latin typeface="Times New Roman" pitchFamily="18" charset="0"/>
                <a:ea typeface="Times New Roman" pitchFamily="18" charset="0"/>
                <a:cs typeface="Times New Roman" pitchFamily="18" charset="0"/>
              </a:rPr>
              <a:t> : </a:t>
            </a:r>
            <a:r>
              <a:rPr lang="fr-FR" sz="2000" b="1" dirty="0">
                <a:latin typeface="Times New Roman" pitchFamily="18" charset="0"/>
                <a:ea typeface="Times New Roman" pitchFamily="18" charset="0"/>
                <a:cs typeface="Times New Roman" pitchFamily="18" charset="0"/>
              </a:rPr>
              <a:t>supprime</a:t>
            </a:r>
            <a:r>
              <a:rPr lang="fr-FR" sz="2000" dirty="0">
                <a:latin typeface="Times New Roman" pitchFamily="18" charset="0"/>
                <a:ea typeface="Times New Roman" pitchFamily="18" charset="0"/>
                <a:cs typeface="Times New Roman" pitchFamily="18" charset="0"/>
              </a:rPr>
              <a:t> l’élément sommet de la pile et range sa valeur dans </a:t>
            </a:r>
            <a:r>
              <a:rPr lang="fr-FR" sz="2000" b="1" dirty="0">
                <a:latin typeface="Times New Roman" pitchFamily="18" charset="0"/>
                <a:ea typeface="Times New Roman" pitchFamily="18" charset="0"/>
                <a:cs typeface="Times New Roman" pitchFamily="18" charset="0"/>
              </a:rPr>
              <a:t>val</a:t>
            </a:r>
            <a:r>
              <a:rPr lang="fr-FR" sz="2000" dirty="0">
                <a:latin typeface="Times New Roman" pitchFamily="18" charset="0"/>
                <a:ea typeface="Times New Roman" pitchFamily="18" charset="0"/>
                <a:cs typeface="Times New Roman" pitchFamily="18" charset="0"/>
              </a:rPr>
              <a:t>.</a:t>
            </a:r>
          </a:p>
          <a:p>
            <a:r>
              <a:rPr lang="fr-FR" sz="2000" dirty="0">
                <a:latin typeface="Times New Roman" panose="02020603050405020304" pitchFamily="18" charset="0"/>
                <a:cs typeface="Times New Roman" panose="02020603050405020304" pitchFamily="18" charset="0"/>
              </a:rPr>
              <a:t>Figure 2 : pile source en (1), </a:t>
            </a:r>
            <a:r>
              <a:rPr lang="fr-FR" sz="2000" b="1" dirty="0">
                <a:latin typeface="Times New Roman" panose="02020603050405020304" pitchFamily="18" charset="0"/>
                <a:cs typeface="Times New Roman" panose="02020603050405020304" pitchFamily="18" charset="0"/>
              </a:rPr>
              <a:t>val </a:t>
            </a:r>
            <a:r>
              <a:rPr lang="fr-FR" sz="2000" dirty="0">
                <a:latin typeface="Times New Roman" panose="02020603050405020304" pitchFamily="18" charset="0"/>
                <a:cs typeface="Times New Roman" panose="02020603050405020304" pitchFamily="18" charset="0"/>
              </a:rPr>
              <a:t>contient </a:t>
            </a:r>
            <a:r>
              <a:rPr lang="fr-FR" sz="2000" b="1" dirty="0">
                <a:latin typeface="Times New Roman" panose="02020603050405020304" pitchFamily="18" charset="0"/>
                <a:cs typeface="Times New Roman" panose="02020603050405020304" pitchFamily="18" charset="0"/>
              </a:rPr>
              <a:t>z</a:t>
            </a:r>
            <a:r>
              <a:rPr lang="fr-FR" sz="2000" dirty="0">
                <a:latin typeface="Times New Roman" panose="02020603050405020304" pitchFamily="18" charset="0"/>
                <a:cs typeface="Times New Roman" panose="02020603050405020304" pitchFamily="18" charset="0"/>
              </a:rPr>
              <a:t>. En exécutant </a:t>
            </a:r>
            <a:r>
              <a:rPr lang="fr-FR" sz="2000" b="1" dirty="0">
                <a:latin typeface="Times New Roman" panose="02020603050405020304" pitchFamily="18" charset="0"/>
                <a:cs typeface="Times New Roman" panose="02020603050405020304" pitchFamily="18" charset="0"/>
              </a:rPr>
              <a:t>empiler(val)</a:t>
            </a:r>
            <a:r>
              <a:rPr lang="fr-FR" sz="2000" dirty="0">
                <a:latin typeface="Times New Roman" panose="02020603050405020304" pitchFamily="18" charset="0"/>
                <a:cs typeface="Times New Roman" panose="02020603050405020304" pitchFamily="18" charset="0"/>
              </a:rPr>
              <a:t>, la pile devient (2).</a:t>
            </a:r>
          </a:p>
          <a:p>
            <a:r>
              <a:rPr lang="en-GB" sz="2000" dirty="0">
                <a:latin typeface="Times New Roman" panose="02020603050405020304" pitchFamily="18" charset="0"/>
                <a:cs typeface="Times New Roman" panose="02020603050405020304" pitchFamily="18" charset="0"/>
              </a:rPr>
              <a:t>				z</a:t>
            </a:r>
          </a:p>
          <a:p>
            <a:r>
              <a:rPr lang="en-GB" sz="2000" dirty="0">
                <a:latin typeface="Times New Roman" panose="02020603050405020304" pitchFamily="18" charset="0"/>
                <a:cs typeface="Times New Roman" panose="02020603050405020304" pitchFamily="18" charset="0"/>
              </a:rPr>
              <a:t>	c	</a:t>
            </a:r>
            <a:r>
              <a:rPr lang="en-GB" sz="2000" dirty="0" err="1">
                <a:latin typeface="Times New Roman" panose="02020603050405020304" pitchFamily="18" charset="0"/>
                <a:cs typeface="Times New Roman" panose="02020603050405020304" pitchFamily="18" charset="0"/>
              </a:rPr>
              <a:t>empiler</a:t>
            </a:r>
            <a:r>
              <a:rPr lang="en-GB" sz="2000" dirty="0">
                <a:latin typeface="Times New Roman" panose="02020603050405020304" pitchFamily="18" charset="0"/>
                <a:cs typeface="Times New Roman" panose="02020603050405020304" pitchFamily="18" charset="0"/>
              </a:rPr>
              <a:t>(</a:t>
            </a:r>
            <a:r>
              <a:rPr lang="en-GB" sz="2000" dirty="0" err="1">
                <a:latin typeface="Times New Roman" panose="02020603050405020304" pitchFamily="18" charset="0"/>
                <a:cs typeface="Times New Roman" panose="02020603050405020304" pitchFamily="18" charset="0"/>
              </a:rPr>
              <a:t>val</a:t>
            </a:r>
            <a:r>
              <a:rPr lang="en-GB" sz="2000" dirty="0">
                <a:latin typeface="Times New Roman" panose="02020603050405020304" pitchFamily="18" charset="0"/>
                <a:cs typeface="Times New Roman" panose="02020603050405020304" pitchFamily="18" charset="0"/>
              </a:rPr>
              <a:t>)	c</a:t>
            </a:r>
          </a:p>
          <a:p>
            <a:r>
              <a:rPr lang="en-GB" sz="2000" dirty="0">
                <a:latin typeface="Times New Roman" panose="02020603050405020304" pitchFamily="18" charset="0"/>
                <a:cs typeface="Times New Roman" panose="02020603050405020304" pitchFamily="18" charset="0"/>
              </a:rPr>
              <a:t>	b			b</a:t>
            </a:r>
          </a:p>
          <a:p>
            <a:r>
              <a:rPr lang="en-GB" sz="2000" dirty="0">
                <a:latin typeface="Times New Roman" panose="02020603050405020304" pitchFamily="18" charset="0"/>
                <a:cs typeface="Times New Roman" panose="02020603050405020304" pitchFamily="18" charset="0"/>
              </a:rPr>
              <a:t>	a			a</a:t>
            </a:r>
          </a:p>
          <a:p>
            <a:r>
              <a:rPr lang="en-GB" sz="2000" dirty="0">
                <a:latin typeface="Times New Roman" panose="02020603050405020304" pitchFamily="18" charset="0"/>
                <a:cs typeface="Times New Roman" panose="02020603050405020304" pitchFamily="18" charset="0"/>
              </a:rPr>
              <a:t>                 </a:t>
            </a:r>
            <a:r>
              <a:rPr lang="en-GB" sz="2000" dirty="0" smtClean="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1)			</a:t>
            </a:r>
            <a:r>
              <a:rPr lang="en-GB" sz="2000" dirty="0" smtClean="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2)</a:t>
            </a:r>
          </a:p>
          <a:p>
            <a:r>
              <a:rPr lang="fr-FR" sz="2000" dirty="0">
                <a:latin typeface="Times New Roman" panose="02020603050405020304" pitchFamily="18" charset="0"/>
                <a:cs typeface="Times New Roman" panose="02020603050405020304" pitchFamily="18" charset="0"/>
              </a:rPr>
              <a:t>si l’on exécute l’action </a:t>
            </a:r>
            <a:r>
              <a:rPr lang="fr-FR" sz="2000" b="1" dirty="0">
                <a:latin typeface="Times New Roman" panose="02020603050405020304" pitchFamily="18" charset="0"/>
                <a:cs typeface="Times New Roman" panose="02020603050405020304" pitchFamily="18" charset="0"/>
              </a:rPr>
              <a:t>dépiler(val),</a:t>
            </a:r>
            <a:r>
              <a:rPr lang="fr-FR" sz="2000" dirty="0">
                <a:latin typeface="Times New Roman" panose="02020603050405020304" pitchFamily="18" charset="0"/>
                <a:cs typeface="Times New Roman" panose="02020603050405020304" pitchFamily="18" charset="0"/>
              </a:rPr>
              <a:t> le nouvel état de la pile est (3).</a:t>
            </a:r>
          </a:p>
          <a:p>
            <a:r>
              <a:rPr lang="en-GB" sz="2000" dirty="0">
                <a:latin typeface="Times New Roman" panose="02020603050405020304" pitchFamily="18" charset="0"/>
                <a:cs typeface="Times New Roman" panose="02020603050405020304" pitchFamily="18" charset="0"/>
              </a:rPr>
              <a:t>	c</a:t>
            </a:r>
          </a:p>
          <a:p>
            <a:r>
              <a:rPr lang="en-GB" sz="2000" dirty="0">
                <a:latin typeface="Times New Roman" panose="02020603050405020304" pitchFamily="18" charset="0"/>
                <a:cs typeface="Times New Roman" panose="02020603050405020304" pitchFamily="18" charset="0"/>
              </a:rPr>
              <a:t>	b	</a:t>
            </a:r>
            <a:r>
              <a:rPr lang="en-GB" sz="2000" dirty="0" err="1">
                <a:latin typeface="Times New Roman" panose="02020603050405020304" pitchFamily="18" charset="0"/>
                <a:cs typeface="Times New Roman" panose="02020603050405020304" pitchFamily="18" charset="0"/>
              </a:rPr>
              <a:t>depiler</a:t>
            </a:r>
            <a:r>
              <a:rPr lang="en-GB" sz="2000" dirty="0">
                <a:latin typeface="Times New Roman" panose="02020603050405020304" pitchFamily="18" charset="0"/>
                <a:cs typeface="Times New Roman" panose="02020603050405020304" pitchFamily="18" charset="0"/>
              </a:rPr>
              <a:t>(</a:t>
            </a:r>
            <a:r>
              <a:rPr lang="en-GB" sz="2000" dirty="0" err="1">
                <a:latin typeface="Times New Roman" panose="02020603050405020304" pitchFamily="18" charset="0"/>
                <a:cs typeface="Times New Roman" panose="02020603050405020304" pitchFamily="18" charset="0"/>
              </a:rPr>
              <a:t>val</a:t>
            </a:r>
            <a:r>
              <a:rPr lang="en-GB" sz="2000" dirty="0">
                <a:latin typeface="Times New Roman" panose="02020603050405020304" pitchFamily="18" charset="0"/>
                <a:cs typeface="Times New Roman" panose="02020603050405020304" pitchFamily="18" charset="0"/>
              </a:rPr>
              <a:t>)	b</a:t>
            </a:r>
          </a:p>
          <a:p>
            <a:r>
              <a:rPr lang="en-GB" sz="2000" dirty="0">
                <a:latin typeface="Times New Roman" panose="02020603050405020304" pitchFamily="18" charset="0"/>
                <a:cs typeface="Times New Roman" panose="02020603050405020304" pitchFamily="18" charset="0"/>
              </a:rPr>
              <a:t>	a			</a:t>
            </a:r>
            <a:r>
              <a:rPr lang="en-GB" sz="2000" dirty="0" smtClean="0">
                <a:latin typeface="Times New Roman" panose="02020603050405020304" pitchFamily="18" charset="0"/>
                <a:cs typeface="Times New Roman" panose="02020603050405020304" pitchFamily="18" charset="0"/>
              </a:rPr>
              <a:t>a	</a:t>
            </a:r>
            <a:r>
              <a:rPr lang="en-GB" sz="2000" dirty="0" err="1" smtClean="0">
                <a:latin typeface="Times New Roman" panose="02020603050405020304" pitchFamily="18" charset="0"/>
                <a:cs typeface="Times New Roman" panose="02020603050405020304" pitchFamily="18" charset="0"/>
              </a:rPr>
              <a:t>val</a:t>
            </a:r>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	</a:t>
            </a:r>
            <a:r>
              <a:rPr lang="en-GB" sz="2000" dirty="0" smtClean="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1)			</a:t>
            </a:r>
            <a:r>
              <a:rPr lang="en-GB" sz="2000" dirty="0" smtClean="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3)	</a:t>
            </a:r>
            <a:r>
              <a:rPr lang="en-GB" sz="2000" dirty="0" smtClean="0">
                <a:latin typeface="Times New Roman" panose="02020603050405020304" pitchFamily="18" charset="0"/>
                <a:cs typeface="Times New Roman" panose="02020603050405020304" pitchFamily="18" charset="0"/>
              </a:rPr>
              <a:t>  c</a:t>
            </a:r>
            <a:endParaRPr lang="fr-FR" sz="2000" dirty="0">
              <a:latin typeface="Times New Roman" panose="02020603050405020304" pitchFamily="18" charset="0"/>
              <a:cs typeface="Times New Roman" panose="02020603050405020304" pitchFamily="18" charset="0"/>
            </a:endParaRPr>
          </a:p>
          <a:p>
            <a:endParaRPr lang="fr-FR"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Autres primitives </a:t>
            </a:r>
          </a:p>
          <a:p>
            <a:r>
              <a:rPr lang="fr-FR" sz="2000" dirty="0">
                <a:latin typeface="Times New Roman" panose="02020603050405020304" pitchFamily="18" charset="0"/>
                <a:cs typeface="Times New Roman" panose="02020603050405020304" pitchFamily="18" charset="0"/>
              </a:rPr>
              <a:t>- Une fonction </a:t>
            </a:r>
            <a:r>
              <a:rPr lang="fr-FR" sz="2000" b="1" dirty="0" err="1">
                <a:latin typeface="Times New Roman" panose="02020603050405020304" pitchFamily="18" charset="0"/>
                <a:cs typeface="Times New Roman" panose="02020603050405020304" pitchFamily="18" charset="0"/>
              </a:rPr>
              <a:t>sommetpile</a:t>
            </a:r>
            <a:r>
              <a:rPr lang="fr-FR" sz="2000" dirty="0">
                <a:latin typeface="Times New Roman" pitchFamily="18" charset="0"/>
                <a:cs typeface="Times New Roman" pitchFamily="18" charset="0"/>
              </a:rPr>
              <a:t> : délivre la valeur de l’élément du sommet de la pile.</a:t>
            </a:r>
          </a:p>
        </p:txBody>
      </p:sp>
      <p:graphicFrame>
        <p:nvGraphicFramePr>
          <p:cNvPr id="4" name="Tableau 3"/>
          <p:cNvGraphicFramePr>
            <a:graphicFrameLocks noGrp="1"/>
          </p:cNvGraphicFramePr>
          <p:nvPr>
            <p:extLst>
              <p:ext uri="{D42A27DB-BD31-4B8C-83A1-F6EECF244321}">
                <p14:modId xmlns:p14="http://schemas.microsoft.com/office/powerpoint/2010/main" val="179409101"/>
              </p:ext>
            </p:extLst>
          </p:nvPr>
        </p:nvGraphicFramePr>
        <p:xfrm>
          <a:off x="1107440" y="2914226"/>
          <a:ext cx="345440" cy="1112520"/>
        </p:xfrm>
        <a:graphic>
          <a:graphicData uri="http://schemas.openxmlformats.org/drawingml/2006/table">
            <a:tbl>
              <a:tblPr firstRow="1" bandRow="1">
                <a:tableStyleId>{2D5ABB26-0587-4C30-8999-92F81FD0307C}</a:tableStyleId>
              </a:tblPr>
              <a:tblGrid>
                <a:gridCol w="345440">
                  <a:extLst>
                    <a:ext uri="{9D8B030D-6E8A-4147-A177-3AD203B41FA5}">
                      <a16:colId xmlns:a16="http://schemas.microsoft.com/office/drawing/2014/main" val="3192737784"/>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0470749"/>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6448893"/>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4357452"/>
                  </a:ext>
                </a:extLst>
              </a:tr>
            </a:tbl>
          </a:graphicData>
        </a:graphic>
      </p:graphicFrame>
      <p:graphicFrame>
        <p:nvGraphicFramePr>
          <p:cNvPr id="5" name="Tableau 4"/>
          <p:cNvGraphicFramePr>
            <a:graphicFrameLocks noGrp="1"/>
          </p:cNvGraphicFramePr>
          <p:nvPr>
            <p:extLst>
              <p:ext uri="{D42A27DB-BD31-4B8C-83A1-F6EECF244321}">
                <p14:modId xmlns:p14="http://schemas.microsoft.com/office/powerpoint/2010/main" val="648946034"/>
              </p:ext>
            </p:extLst>
          </p:nvPr>
        </p:nvGraphicFramePr>
        <p:xfrm>
          <a:off x="3870960" y="2651760"/>
          <a:ext cx="355600" cy="1463040"/>
        </p:xfrm>
        <a:graphic>
          <a:graphicData uri="http://schemas.openxmlformats.org/drawingml/2006/table">
            <a:tbl>
              <a:tblPr firstRow="1" bandRow="1">
                <a:tableStyleId>{2D5ABB26-0587-4C30-8999-92F81FD0307C}</a:tableStyleId>
              </a:tblPr>
              <a:tblGrid>
                <a:gridCol w="355600">
                  <a:extLst>
                    <a:ext uri="{9D8B030D-6E8A-4147-A177-3AD203B41FA5}">
                      <a16:colId xmlns:a16="http://schemas.microsoft.com/office/drawing/2014/main" val="2261911675"/>
                    </a:ext>
                  </a:extLst>
                </a:gridCol>
              </a:tblGrid>
              <a:tr h="334857">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5411711"/>
                  </a:ext>
                </a:extLst>
              </a:tr>
              <a:tr h="334857">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4526148"/>
                  </a:ext>
                </a:extLst>
              </a:tr>
              <a:tr h="334857">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0693694"/>
                  </a:ext>
                </a:extLst>
              </a:tr>
              <a:tr h="334857">
                <a:tc>
                  <a:txBody>
                    <a:bodyPr/>
                    <a:lstStyle/>
                    <a:p>
                      <a:r>
                        <a:rPr lang="fr-FR" dirty="0" smtClean="0"/>
                        <a:t> </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1916914"/>
                  </a:ext>
                </a:extLst>
              </a:tr>
            </a:tbl>
          </a:graphicData>
        </a:graphic>
      </p:graphicFrame>
      <p:graphicFrame>
        <p:nvGraphicFramePr>
          <p:cNvPr id="6" name="Tableau 5"/>
          <p:cNvGraphicFramePr>
            <a:graphicFrameLocks noGrp="1"/>
          </p:cNvGraphicFramePr>
          <p:nvPr>
            <p:extLst>
              <p:ext uri="{D42A27DB-BD31-4B8C-83A1-F6EECF244321}">
                <p14:modId xmlns:p14="http://schemas.microsoft.com/office/powerpoint/2010/main" val="789941076"/>
              </p:ext>
            </p:extLst>
          </p:nvPr>
        </p:nvGraphicFramePr>
        <p:xfrm>
          <a:off x="1127760" y="4489026"/>
          <a:ext cx="345440" cy="1112520"/>
        </p:xfrm>
        <a:graphic>
          <a:graphicData uri="http://schemas.openxmlformats.org/drawingml/2006/table">
            <a:tbl>
              <a:tblPr firstRow="1" bandRow="1">
                <a:tableStyleId>{2D5ABB26-0587-4C30-8999-92F81FD0307C}</a:tableStyleId>
              </a:tblPr>
              <a:tblGrid>
                <a:gridCol w="345440">
                  <a:extLst>
                    <a:ext uri="{9D8B030D-6E8A-4147-A177-3AD203B41FA5}">
                      <a16:colId xmlns:a16="http://schemas.microsoft.com/office/drawing/2014/main" val="3192737784"/>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0470749"/>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6448893"/>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4357452"/>
                  </a:ext>
                </a:extLst>
              </a:tr>
            </a:tbl>
          </a:graphicData>
        </a:graphic>
      </p:graphicFrame>
      <p:graphicFrame>
        <p:nvGraphicFramePr>
          <p:cNvPr id="7" name="Tableau 6"/>
          <p:cNvGraphicFramePr>
            <a:graphicFrameLocks noGrp="1"/>
          </p:cNvGraphicFramePr>
          <p:nvPr>
            <p:extLst>
              <p:ext uri="{D42A27DB-BD31-4B8C-83A1-F6EECF244321}">
                <p14:modId xmlns:p14="http://schemas.microsoft.com/office/powerpoint/2010/main" val="3872704351"/>
              </p:ext>
            </p:extLst>
          </p:nvPr>
        </p:nvGraphicFramePr>
        <p:xfrm>
          <a:off x="3870960" y="4793826"/>
          <a:ext cx="325120" cy="741680"/>
        </p:xfrm>
        <a:graphic>
          <a:graphicData uri="http://schemas.openxmlformats.org/drawingml/2006/table">
            <a:tbl>
              <a:tblPr firstRow="1" bandRow="1">
                <a:tableStyleId>{2D5ABB26-0587-4C30-8999-92F81FD0307C}</a:tableStyleId>
              </a:tblPr>
              <a:tblGrid>
                <a:gridCol w="325120">
                  <a:extLst>
                    <a:ext uri="{9D8B030D-6E8A-4147-A177-3AD203B41FA5}">
                      <a16:colId xmlns:a16="http://schemas.microsoft.com/office/drawing/2014/main" val="2874601314"/>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0426083"/>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85920"/>
                  </a:ext>
                </a:extLst>
              </a:tr>
            </a:tbl>
          </a:graphicData>
        </a:graphic>
      </p:graphicFrame>
      <p:graphicFrame>
        <p:nvGraphicFramePr>
          <p:cNvPr id="8" name="Tableau 7"/>
          <p:cNvGraphicFramePr>
            <a:graphicFrameLocks noGrp="1"/>
          </p:cNvGraphicFramePr>
          <p:nvPr>
            <p:extLst>
              <p:ext uri="{D42A27DB-BD31-4B8C-83A1-F6EECF244321}">
                <p14:modId xmlns:p14="http://schemas.microsoft.com/office/powerpoint/2010/main" val="3417563632"/>
              </p:ext>
            </p:extLst>
          </p:nvPr>
        </p:nvGraphicFramePr>
        <p:xfrm>
          <a:off x="4876800" y="5454226"/>
          <a:ext cx="345440" cy="367454"/>
        </p:xfrm>
        <a:graphic>
          <a:graphicData uri="http://schemas.openxmlformats.org/drawingml/2006/table">
            <a:tbl>
              <a:tblPr firstRow="1" bandRow="1">
                <a:tableStyleId>{2D5ABB26-0587-4C30-8999-92F81FD0307C}</a:tableStyleId>
              </a:tblPr>
              <a:tblGrid>
                <a:gridCol w="345440">
                  <a:extLst>
                    <a:ext uri="{9D8B030D-6E8A-4147-A177-3AD203B41FA5}">
                      <a16:colId xmlns:a16="http://schemas.microsoft.com/office/drawing/2014/main" val="344961707"/>
                    </a:ext>
                  </a:extLst>
                </a:gridCol>
              </a:tblGrid>
              <a:tr h="367454">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8076347"/>
                  </a:ext>
                </a:extLst>
              </a:tr>
            </a:tbl>
          </a:graphicData>
        </a:graphic>
      </p:graphicFrame>
      <p:cxnSp>
        <p:nvCxnSpPr>
          <p:cNvPr id="10" name="Connecteur droit avec flèche 9"/>
          <p:cNvCxnSpPr/>
          <p:nvPr/>
        </p:nvCxnSpPr>
        <p:spPr>
          <a:xfrm>
            <a:off x="711200" y="3046306"/>
            <a:ext cx="3962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Connecteur droit avec flèche 10"/>
          <p:cNvCxnSpPr/>
          <p:nvPr/>
        </p:nvCxnSpPr>
        <p:spPr>
          <a:xfrm>
            <a:off x="3464560" y="2822786"/>
            <a:ext cx="3962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Connecteur droit avec flèche 11"/>
          <p:cNvCxnSpPr/>
          <p:nvPr/>
        </p:nvCxnSpPr>
        <p:spPr>
          <a:xfrm>
            <a:off x="731520" y="4631266"/>
            <a:ext cx="3962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Connecteur droit avec flèche 12"/>
          <p:cNvCxnSpPr/>
          <p:nvPr/>
        </p:nvCxnSpPr>
        <p:spPr>
          <a:xfrm>
            <a:off x="3484880" y="4885266"/>
            <a:ext cx="3962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491664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3360" y="303749"/>
            <a:ext cx="11795760" cy="6186309"/>
          </a:xfrm>
          <a:prstGeom prst="rect">
            <a:avLst/>
          </a:prstGeom>
        </p:spPr>
        <p:txBody>
          <a:bodyPr wrap="square">
            <a:spAutoFit/>
          </a:bodyPr>
          <a:lstStyle/>
          <a:p>
            <a:r>
              <a:rPr lang="en-GB" dirty="0">
                <a:latin typeface="Times New Roman" pitchFamily="18" charset="0"/>
                <a:cs typeface="Times New Roman" pitchFamily="18" charset="0"/>
              </a:rPr>
              <a:t> </a:t>
            </a:r>
            <a:r>
              <a:rPr lang="en-GB" dirty="0" smtClean="0">
                <a:latin typeface="Times New Roman" pitchFamily="18" charset="0"/>
                <a:cs typeface="Times New Roman" pitchFamily="18" charset="0"/>
              </a:rPr>
              <a:t>         c</a:t>
            </a: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b	</a:t>
            </a:r>
            <a:r>
              <a:rPr lang="en-GB" b="1" dirty="0" err="1">
                <a:latin typeface="Times New Roman" pitchFamily="18" charset="0"/>
                <a:cs typeface="Times New Roman" pitchFamily="18" charset="0"/>
              </a:rPr>
              <a:t>sommetpile</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délivre</a:t>
            </a:r>
            <a:r>
              <a:rPr lang="en-GB" dirty="0">
                <a:latin typeface="Times New Roman" pitchFamily="18" charset="0"/>
                <a:cs typeface="Times New Roman" pitchFamily="18" charset="0"/>
              </a:rPr>
              <a:t> la </a:t>
            </a:r>
            <a:r>
              <a:rPr lang="en-GB" dirty="0" err="1">
                <a:latin typeface="Times New Roman" pitchFamily="18" charset="0"/>
                <a:cs typeface="Times New Roman" pitchFamily="18" charset="0"/>
              </a:rPr>
              <a:t>valeur</a:t>
            </a:r>
            <a:r>
              <a:rPr lang="en-GB" dirty="0">
                <a:latin typeface="Times New Roman" pitchFamily="18" charset="0"/>
                <a:cs typeface="Times New Roman" pitchFamily="18" charset="0"/>
              </a:rPr>
              <a:t> </a:t>
            </a:r>
            <a:r>
              <a:rPr lang="en-GB" b="1" dirty="0" err="1">
                <a:latin typeface="Times New Roman" pitchFamily="18" charset="0"/>
                <a:cs typeface="Times New Roman" pitchFamily="18" charset="0"/>
              </a:rPr>
              <a:t>sommet</a:t>
            </a:r>
            <a:r>
              <a:rPr lang="en-GB" dirty="0">
                <a:latin typeface="Times New Roman" pitchFamily="18" charset="0"/>
                <a:cs typeface="Times New Roman" pitchFamily="18" charset="0"/>
              </a:rPr>
              <a:t> de la pile (</a:t>
            </a:r>
            <a:r>
              <a:rPr lang="en-GB" b="1" dirty="0">
                <a:latin typeface="Times New Roman" pitchFamily="18" charset="0"/>
                <a:cs typeface="Times New Roman" pitchFamily="18" charset="0"/>
              </a:rPr>
              <a:t>c</a:t>
            </a:r>
            <a:r>
              <a:rPr lang="en-GB" dirty="0">
                <a:latin typeface="Times New Roman" pitchFamily="18" charset="0"/>
                <a:cs typeface="Times New Roman" pitchFamily="18" charset="0"/>
              </a:rPr>
              <a:t>), sans modification de la pile.</a:t>
            </a:r>
          </a:p>
          <a:p>
            <a:r>
              <a:rPr lang="en-GB" dirty="0">
                <a:latin typeface="Times New Roman" pitchFamily="18" charset="0"/>
                <a:cs typeface="Times New Roman" pitchFamily="18" charset="0"/>
              </a:rPr>
              <a:t>          a</a:t>
            </a:r>
          </a:p>
          <a:p>
            <a:endParaRPr lang="fr-FR" dirty="0">
              <a:latin typeface="Times New Roman" pitchFamily="18" charset="0"/>
              <a:cs typeface="Times New Roman" pitchFamily="18" charset="0"/>
            </a:endParaRPr>
          </a:p>
          <a:p>
            <a:r>
              <a:rPr lang="fr-FR" dirty="0">
                <a:latin typeface="Times New Roman" pitchFamily="18" charset="0"/>
                <a:cs typeface="Times New Roman" pitchFamily="18" charset="0"/>
              </a:rPr>
              <a:t>- 2 prédicats qui  testent  les sur- et sous-dépassements de la pile : </a:t>
            </a:r>
            <a:r>
              <a:rPr lang="fr-FR" b="1" dirty="0" err="1">
                <a:latin typeface="Times New Roman" pitchFamily="18" charset="0"/>
                <a:cs typeface="Times New Roman" pitchFamily="18" charset="0"/>
              </a:rPr>
              <a:t>pilepleine</a:t>
            </a:r>
            <a:r>
              <a:rPr lang="fr-FR" dirty="0">
                <a:latin typeface="Times New Roman" pitchFamily="18" charset="0"/>
                <a:cs typeface="Times New Roman" pitchFamily="18" charset="0"/>
              </a:rPr>
              <a:t> et </a:t>
            </a:r>
            <a:r>
              <a:rPr lang="fr-FR" b="1" dirty="0" err="1">
                <a:latin typeface="Times New Roman" pitchFamily="18" charset="0"/>
                <a:cs typeface="Times New Roman" pitchFamily="18" charset="0"/>
              </a:rPr>
              <a:t>pilevide</a:t>
            </a:r>
            <a:r>
              <a:rPr lang="fr-FR" dirty="0">
                <a:latin typeface="Times New Roman" pitchFamily="18" charset="0"/>
                <a:cs typeface="Times New Roman" pitchFamily="18" charset="0"/>
              </a:rPr>
              <a:t> . </a:t>
            </a:r>
          </a:p>
          <a:p>
            <a:pPr>
              <a:buFontTx/>
              <a:buChar char="-"/>
            </a:pPr>
            <a:r>
              <a:rPr lang="fr-FR" dirty="0">
                <a:latin typeface="Times New Roman" pitchFamily="18" charset="0"/>
                <a:cs typeface="Times New Roman" pitchFamily="18" charset="0"/>
              </a:rPr>
              <a:t> Une primitive </a:t>
            </a:r>
            <a:r>
              <a:rPr lang="fr-FR" b="1" dirty="0" err="1">
                <a:latin typeface="Times New Roman" pitchFamily="18" charset="0"/>
                <a:cs typeface="Times New Roman" pitchFamily="18" charset="0"/>
              </a:rPr>
              <a:t>initpilevide</a:t>
            </a:r>
            <a:r>
              <a:rPr lang="fr-FR" dirty="0">
                <a:latin typeface="Times New Roman" pitchFamily="18" charset="0"/>
                <a:cs typeface="Times New Roman" pitchFamily="18" charset="0"/>
              </a:rPr>
              <a:t> permet d’initialiser une pile.</a:t>
            </a:r>
          </a:p>
          <a:p>
            <a:r>
              <a:rPr lang="fr-FR" dirty="0">
                <a:latin typeface="Times New Roman" pitchFamily="18" charset="0"/>
                <a:cs typeface="Times New Roman" pitchFamily="18" charset="0"/>
              </a:rPr>
              <a:t>Une pile est une liste  linéaire, donc elle peut être représentée de manière </a:t>
            </a:r>
            <a:r>
              <a:rPr lang="fr-FR" b="1" dirty="0">
                <a:latin typeface="Times New Roman" pitchFamily="18" charset="0"/>
                <a:cs typeface="Times New Roman" pitchFamily="18" charset="0"/>
              </a:rPr>
              <a:t>contiguë</a:t>
            </a:r>
            <a:r>
              <a:rPr lang="fr-FR" dirty="0">
                <a:latin typeface="Times New Roman" pitchFamily="18" charset="0"/>
                <a:cs typeface="Times New Roman" pitchFamily="18" charset="0"/>
              </a:rPr>
              <a:t> ou </a:t>
            </a:r>
            <a:r>
              <a:rPr lang="fr-FR" b="1" dirty="0">
                <a:latin typeface="Times New Roman" pitchFamily="18" charset="0"/>
                <a:cs typeface="Times New Roman" pitchFamily="18" charset="0"/>
              </a:rPr>
              <a:t>chaînée</a:t>
            </a:r>
            <a:r>
              <a:rPr lang="fr-FR" dirty="0">
                <a:latin typeface="Times New Roman" pitchFamily="18" charset="0"/>
                <a:cs typeface="Times New Roman" pitchFamily="18" charset="0"/>
              </a:rPr>
              <a:t>.</a:t>
            </a:r>
          </a:p>
          <a:p>
            <a:endParaRPr lang="fr-FR" dirty="0">
              <a:latin typeface="Times New Roman" pitchFamily="18" charset="0"/>
              <a:cs typeface="Times New Roman" pitchFamily="18" charset="0"/>
            </a:endParaRPr>
          </a:p>
          <a:p>
            <a:r>
              <a:rPr lang="en-GB" b="1" dirty="0">
                <a:latin typeface="Times New Roman" pitchFamily="18" charset="0"/>
                <a:cs typeface="Times New Roman" pitchFamily="18" charset="0"/>
              </a:rPr>
              <a:t>3.1.2.</a:t>
            </a:r>
            <a:r>
              <a:rPr lang="fr-FR" b="1" dirty="0">
                <a:latin typeface="Times New Roman" pitchFamily="18" charset="0"/>
                <a:cs typeface="Times New Roman" pitchFamily="18" charset="0"/>
              </a:rPr>
              <a:t> Représentation contiguë d’une pile</a:t>
            </a:r>
            <a:endParaRPr lang="fr-FR" dirty="0">
              <a:latin typeface="Times New Roman" pitchFamily="18" charset="0"/>
              <a:cs typeface="Times New Roman" pitchFamily="18" charset="0"/>
            </a:endParaRPr>
          </a:p>
          <a:p>
            <a:r>
              <a:rPr lang="fr-FR" dirty="0">
                <a:latin typeface="Times New Roman" pitchFamily="18" charset="0"/>
                <a:cs typeface="Times New Roman" pitchFamily="18" charset="0"/>
              </a:rPr>
              <a:t>Une pile utilisant une représentation contiguë est un vecteur </a:t>
            </a:r>
            <a:r>
              <a:rPr lang="fr-FR" b="1" dirty="0">
                <a:latin typeface="Times New Roman" pitchFamily="18" charset="0"/>
                <a:cs typeface="Times New Roman" pitchFamily="18" charset="0"/>
              </a:rPr>
              <a:t>pile</a:t>
            </a:r>
            <a:r>
              <a:rPr lang="fr-FR" dirty="0">
                <a:latin typeface="Times New Roman" pitchFamily="18" charset="0"/>
                <a:cs typeface="Times New Roman" pitchFamily="18" charset="0"/>
              </a:rPr>
              <a:t> dont on donne à priori la taille maximale </a:t>
            </a:r>
            <a:r>
              <a:rPr lang="fr-FR" b="1" dirty="0" err="1">
                <a:latin typeface="Times New Roman" pitchFamily="18" charset="0"/>
                <a:cs typeface="Times New Roman" pitchFamily="18" charset="0"/>
              </a:rPr>
              <a:t>dimpile</a:t>
            </a:r>
            <a:r>
              <a:rPr lang="fr-FR" dirty="0">
                <a:latin typeface="Times New Roman" pitchFamily="18" charset="0"/>
                <a:cs typeface="Times New Roman" pitchFamily="18" charset="0"/>
              </a:rPr>
              <a:t>. </a:t>
            </a:r>
          </a:p>
          <a:p>
            <a:r>
              <a:rPr lang="fr-FR" dirty="0">
                <a:latin typeface="Times New Roman" pitchFamily="18" charset="0"/>
                <a:cs typeface="Times New Roman" pitchFamily="18" charset="0"/>
              </a:rPr>
              <a:t>Algorithme : primitives </a:t>
            </a:r>
            <a:r>
              <a:rPr lang="fr-FR" b="1" dirty="0">
                <a:latin typeface="Times New Roman" pitchFamily="18" charset="0"/>
                <a:cs typeface="Times New Roman" pitchFamily="18" charset="0"/>
              </a:rPr>
              <a:t>empiler</a:t>
            </a:r>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dépiler</a:t>
            </a:r>
            <a:r>
              <a:rPr lang="fr-FR" dirty="0">
                <a:latin typeface="Times New Roman" pitchFamily="18" charset="0"/>
                <a:cs typeface="Times New Roman" pitchFamily="18" charset="0"/>
              </a:rPr>
              <a:t>.  Les variables </a:t>
            </a:r>
            <a:r>
              <a:rPr lang="fr-FR" b="1" dirty="0">
                <a:latin typeface="Times New Roman" pitchFamily="18" charset="0"/>
                <a:cs typeface="Times New Roman" pitchFamily="18" charset="0"/>
              </a:rPr>
              <a:t>pile, sommet</a:t>
            </a:r>
            <a:r>
              <a:rPr lang="fr-FR" dirty="0">
                <a:latin typeface="Times New Roman" pitchFamily="18" charset="0"/>
                <a:cs typeface="Times New Roman" pitchFamily="18" charset="0"/>
              </a:rPr>
              <a:t> et </a:t>
            </a:r>
            <a:r>
              <a:rPr lang="fr-FR" b="1" dirty="0" err="1">
                <a:latin typeface="Times New Roman" pitchFamily="18" charset="0"/>
                <a:cs typeface="Times New Roman" pitchFamily="18" charset="0"/>
              </a:rPr>
              <a:t>dimpile</a:t>
            </a:r>
            <a:r>
              <a:rPr lang="fr-FR" i="1" dirty="0">
                <a:latin typeface="Times New Roman" pitchFamily="18" charset="0"/>
                <a:cs typeface="Times New Roman" pitchFamily="18" charset="0"/>
              </a:rPr>
              <a:t> </a:t>
            </a:r>
            <a:r>
              <a:rPr lang="fr-FR" dirty="0">
                <a:latin typeface="Times New Roman" pitchFamily="18" charset="0"/>
                <a:cs typeface="Times New Roman" pitchFamily="18" charset="0"/>
              </a:rPr>
              <a:t> sont globales, </a:t>
            </a:r>
            <a:r>
              <a:rPr lang="fr-FR" b="1" dirty="0" err="1">
                <a:latin typeface="Times New Roman" pitchFamily="18" charset="0"/>
                <a:cs typeface="Times New Roman" pitchFamily="18" charset="0"/>
              </a:rPr>
              <a:t>pilevide</a:t>
            </a:r>
            <a:r>
              <a:rPr lang="fr-FR" b="1" dirty="0">
                <a:latin typeface="Times New Roman" pitchFamily="18" charset="0"/>
                <a:cs typeface="Times New Roman" pitchFamily="18" charset="0"/>
              </a:rPr>
              <a:t>() </a:t>
            </a:r>
            <a:r>
              <a:rPr lang="fr-FR" dirty="0">
                <a:latin typeface="Times New Roman" pitchFamily="18" charset="0"/>
                <a:cs typeface="Times New Roman" pitchFamily="18" charset="0"/>
              </a:rPr>
              <a:t>et </a:t>
            </a:r>
            <a:r>
              <a:rPr lang="fr-FR" b="1" dirty="0" err="1">
                <a:latin typeface="Times New Roman" pitchFamily="18" charset="0"/>
                <a:cs typeface="Times New Roman" pitchFamily="18" charset="0"/>
              </a:rPr>
              <a:t>pilepleine</a:t>
            </a:r>
            <a:r>
              <a:rPr lang="fr-FR" b="1" dirty="0">
                <a:latin typeface="Times New Roman" pitchFamily="18" charset="0"/>
                <a:cs typeface="Times New Roman" pitchFamily="18" charset="0"/>
              </a:rPr>
              <a:t>() </a:t>
            </a:r>
            <a:r>
              <a:rPr lang="fr-FR" dirty="0">
                <a:latin typeface="Times New Roman" pitchFamily="18" charset="0"/>
                <a:cs typeface="Times New Roman" pitchFamily="18" charset="0"/>
              </a:rPr>
              <a:t>sont des prédicats.</a:t>
            </a:r>
          </a:p>
          <a:p>
            <a:endParaRPr lang="fr-FR" dirty="0">
              <a:latin typeface="Times New Roman" pitchFamily="18" charset="0"/>
              <a:cs typeface="Times New Roman" pitchFamily="18" charset="0"/>
            </a:endParaRPr>
          </a:p>
          <a:p>
            <a:r>
              <a:rPr lang="fr-FR" b="1" dirty="0" smtClean="0">
                <a:latin typeface="Times New Roman" pitchFamily="18" charset="0"/>
                <a:cs typeface="Times New Roman" pitchFamily="18" charset="0"/>
              </a:rPr>
              <a:t>vide </a:t>
            </a:r>
            <a:r>
              <a:rPr lang="fr-FR" dirty="0">
                <a:latin typeface="Times New Roman" pitchFamily="18" charset="0"/>
                <a:cs typeface="Times New Roman" pitchFamily="18" charset="0"/>
              </a:rPr>
              <a:t>empiler</a:t>
            </a:r>
            <a:r>
              <a:rPr lang="fr-FR" b="1" dirty="0">
                <a:latin typeface="Times New Roman" pitchFamily="18" charset="0"/>
                <a:cs typeface="Times New Roman" pitchFamily="18" charset="0"/>
              </a:rPr>
              <a:t>(d t </a:t>
            </a:r>
            <a:r>
              <a:rPr lang="fr-FR" dirty="0">
                <a:latin typeface="Times New Roman" pitchFamily="18" charset="0"/>
                <a:cs typeface="Times New Roman" pitchFamily="18" charset="0"/>
              </a:rPr>
              <a:t>val</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debfonc</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si </a:t>
            </a:r>
            <a:r>
              <a:rPr lang="fr-FR" b="1" dirty="0" err="1">
                <a:latin typeface="Times New Roman" pitchFamily="18" charset="0"/>
                <a:cs typeface="Times New Roman" pitchFamily="18" charset="0"/>
              </a:rPr>
              <a:t>pilepleine</a:t>
            </a:r>
            <a:r>
              <a:rPr lang="fr-FR" b="1" dirty="0">
                <a:latin typeface="Times New Roman" pitchFamily="18" charset="0"/>
                <a:cs typeface="Times New Roman" pitchFamily="18" charset="0"/>
              </a:rPr>
              <a:t>() alors</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écire</a:t>
            </a:r>
            <a:r>
              <a:rPr lang="fr-FR" b="1" dirty="0">
                <a:latin typeface="Times New Roman" pitchFamily="18" charset="0"/>
                <a:cs typeface="Times New Roman" pitchFamily="18" charset="0"/>
              </a:rPr>
              <a:t>(</a:t>
            </a:r>
            <a:r>
              <a:rPr lang="fr-FR" b="1"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erreur : la pile est pleine.</a:t>
            </a:r>
            <a:r>
              <a:rPr lang="fr-FR" b="1" dirty="0">
                <a:latin typeface="Times New Roman" pitchFamily="18" charset="0"/>
                <a:cs typeface="Times New Roman" pitchFamily="18" charset="0"/>
                <a:sym typeface="Symbol"/>
              </a:rPr>
              <a: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smtClean="0">
                <a:latin typeface="Times New Roman" pitchFamily="18" charset="0"/>
                <a:cs typeface="Times New Roman" pitchFamily="18" charset="0"/>
              </a:rPr>
              <a:t>arrêt;</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finsi</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smtClean="0">
                <a:latin typeface="Times New Roman" pitchFamily="18" charset="0"/>
                <a:cs typeface="Times New Roman" pitchFamily="18" charset="0"/>
              </a:rPr>
              <a:t>sommet:=sommet+1</a:t>
            </a:r>
            <a:r>
              <a:rPr lang="fr-FR"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smtClean="0">
                <a:latin typeface="Times New Roman" pitchFamily="18" charset="0"/>
                <a:cs typeface="Times New Roman" pitchFamily="18" charset="0"/>
              </a:rPr>
              <a:t>pile[sommet]:=val</a:t>
            </a:r>
            <a:r>
              <a:rPr lang="fr-FR"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finfonc</a:t>
            </a:r>
            <a:r>
              <a:rPr lang="fr-FR" b="1" dirty="0">
                <a:latin typeface="Times New Roman" pitchFamily="18" charset="0"/>
                <a:cs typeface="Times New Roman" pitchFamily="18" charset="0"/>
              </a:rPr>
              <a:t>;</a:t>
            </a:r>
            <a:endParaRPr lang="fr-FR" dirty="0"/>
          </a:p>
        </p:txBody>
      </p:sp>
      <p:graphicFrame>
        <p:nvGraphicFramePr>
          <p:cNvPr id="3" name="Tableau 2"/>
          <p:cNvGraphicFramePr>
            <a:graphicFrameLocks noGrp="1"/>
          </p:cNvGraphicFramePr>
          <p:nvPr>
            <p:extLst>
              <p:ext uri="{D42A27DB-BD31-4B8C-83A1-F6EECF244321}">
                <p14:modId xmlns:p14="http://schemas.microsoft.com/office/powerpoint/2010/main" val="4045263904"/>
              </p:ext>
            </p:extLst>
          </p:nvPr>
        </p:nvGraphicFramePr>
        <p:xfrm>
          <a:off x="762000" y="232628"/>
          <a:ext cx="304800" cy="1097280"/>
        </p:xfrm>
        <a:graphic>
          <a:graphicData uri="http://schemas.openxmlformats.org/drawingml/2006/table">
            <a:tbl>
              <a:tblPr firstRow="1" bandRow="1">
                <a:tableStyleId>{2D5ABB26-0587-4C30-8999-92F81FD0307C}</a:tableStyleId>
              </a:tblPr>
              <a:tblGrid>
                <a:gridCol w="304800">
                  <a:extLst>
                    <a:ext uri="{9D8B030D-6E8A-4147-A177-3AD203B41FA5}">
                      <a16:colId xmlns:a16="http://schemas.microsoft.com/office/drawing/2014/main" val="3209306675"/>
                    </a:ext>
                  </a:extLst>
                </a:gridCol>
              </a:tblGrid>
              <a:tr h="328857">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6924149"/>
                  </a:ext>
                </a:extLst>
              </a:tr>
              <a:tr h="328857">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925808"/>
                  </a:ext>
                </a:extLst>
              </a:tr>
              <a:tr h="328857">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618581"/>
                  </a:ext>
                </a:extLst>
              </a:tr>
            </a:tbl>
          </a:graphicData>
        </a:graphic>
      </p:graphicFrame>
      <p:cxnSp>
        <p:nvCxnSpPr>
          <p:cNvPr id="5" name="Connecteur droit avec flèche 4"/>
          <p:cNvCxnSpPr/>
          <p:nvPr/>
        </p:nvCxnSpPr>
        <p:spPr>
          <a:xfrm>
            <a:off x="416560" y="436880"/>
            <a:ext cx="3454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861176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320" y="376486"/>
            <a:ext cx="11694160" cy="6186309"/>
          </a:xfrm>
          <a:prstGeom prst="rect">
            <a:avLst/>
          </a:prstGeom>
        </p:spPr>
        <p:txBody>
          <a:bodyPr wrap="square">
            <a:spAutoFit/>
          </a:bodyPr>
          <a:lstStyle/>
          <a:p>
            <a:r>
              <a:rPr lang="fr-FR" b="1" dirty="0" smtClean="0">
                <a:latin typeface="Times New Roman" pitchFamily="18" charset="0"/>
                <a:cs typeface="Times New Roman" pitchFamily="18" charset="0"/>
              </a:rPr>
              <a:t>vide </a:t>
            </a:r>
            <a:r>
              <a:rPr lang="fr-FR" dirty="0" err="1">
                <a:latin typeface="Times New Roman" pitchFamily="18" charset="0"/>
                <a:cs typeface="Times New Roman" pitchFamily="18" charset="0"/>
              </a:rPr>
              <a:t>depiler</a:t>
            </a:r>
            <a:r>
              <a:rPr lang="fr-FR" b="1" dirty="0">
                <a:latin typeface="Times New Roman" pitchFamily="18" charset="0"/>
                <a:cs typeface="Times New Roman" pitchFamily="18" charset="0"/>
              </a:rPr>
              <a:t>(r t </a:t>
            </a:r>
            <a:r>
              <a:rPr lang="fr-FR" dirty="0">
                <a:latin typeface="Times New Roman" pitchFamily="18" charset="0"/>
                <a:cs typeface="Times New Roman" pitchFamily="18" charset="0"/>
              </a:rPr>
              <a:t>val</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debfonc</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si </a:t>
            </a:r>
            <a:r>
              <a:rPr lang="fr-FR" b="1" dirty="0" err="1">
                <a:latin typeface="Times New Roman" pitchFamily="18" charset="0"/>
                <a:cs typeface="Times New Roman" pitchFamily="18" charset="0"/>
              </a:rPr>
              <a:t>pilevide</a:t>
            </a:r>
            <a:r>
              <a:rPr lang="fr-FR" b="1" dirty="0">
                <a:latin typeface="Times New Roman" pitchFamily="18" charset="0"/>
                <a:cs typeface="Times New Roman" pitchFamily="18" charset="0"/>
              </a:rPr>
              <a:t>() alors</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écire</a:t>
            </a:r>
            <a:r>
              <a:rPr lang="fr-FR" b="1" dirty="0">
                <a:latin typeface="Times New Roman" pitchFamily="18" charset="0"/>
                <a:cs typeface="Times New Roman" pitchFamily="18" charset="0"/>
              </a:rPr>
              <a:t>(</a:t>
            </a:r>
            <a:r>
              <a:rPr lang="fr-FR" b="1"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erreur : la pile est vide.\n</a:t>
            </a:r>
            <a:r>
              <a:rPr lang="fr-FR" b="1" dirty="0">
                <a:latin typeface="Times New Roman" pitchFamily="18" charset="0"/>
                <a:cs typeface="Times New Roman" pitchFamily="18" charset="0"/>
                <a:sym typeface="Symbol"/>
              </a:rPr>
              <a: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smtClean="0">
                <a:latin typeface="Times New Roman" pitchFamily="18" charset="0"/>
                <a:cs typeface="Times New Roman" pitchFamily="18" charset="0"/>
              </a:rPr>
              <a:t>arrêt;</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sinon</a:t>
            </a:r>
          </a:p>
          <a:p>
            <a:r>
              <a:rPr lang="fr-FR" b="1" dirty="0">
                <a:latin typeface="Times New Roman" pitchFamily="18" charset="0"/>
                <a:cs typeface="Times New Roman" pitchFamily="18" charset="0"/>
              </a:rPr>
              <a:t>        </a:t>
            </a:r>
            <a:r>
              <a:rPr lang="fr-FR" dirty="0" smtClean="0">
                <a:latin typeface="Times New Roman" pitchFamily="18" charset="0"/>
                <a:cs typeface="Times New Roman" pitchFamily="18" charset="0"/>
              </a:rPr>
              <a:t>val:=pile[sommet</a:t>
            </a:r>
            <a:r>
              <a:rPr lang="fr-FR" dirty="0">
                <a:latin typeface="Times New Roman" pitchFamily="18" charset="0"/>
                <a:cs typeface="Times New Roman" pitchFamily="18" charset="0"/>
              </a:rPr>
              <a:t>];</a:t>
            </a:r>
          </a:p>
          <a:p>
            <a:r>
              <a:rPr lang="fr-FR" dirty="0">
                <a:latin typeface="Times New Roman" pitchFamily="18" charset="0"/>
                <a:cs typeface="Times New Roman" pitchFamily="18" charset="0"/>
              </a:rPr>
              <a:t>        </a:t>
            </a:r>
            <a:r>
              <a:rPr lang="fr-FR" dirty="0" smtClean="0">
                <a:latin typeface="Times New Roman" pitchFamily="18" charset="0"/>
                <a:cs typeface="Times New Roman" pitchFamily="18" charset="0"/>
              </a:rPr>
              <a:t>sommet:=sommet-1</a:t>
            </a:r>
            <a:r>
              <a:rPr lang="fr-FR"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finsi</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finfonc</a:t>
            </a:r>
            <a:r>
              <a:rPr lang="fr-FR" b="1" dirty="0">
                <a:latin typeface="Times New Roman" pitchFamily="18" charset="0"/>
                <a:cs typeface="Times New Roman" pitchFamily="18" charset="0"/>
              </a:rPr>
              <a:t>;</a:t>
            </a:r>
          </a:p>
          <a:p>
            <a:r>
              <a:rPr lang="fr-FR" b="1" dirty="0" smtClean="0">
                <a:latin typeface="Times New Roman" pitchFamily="18" charset="0"/>
                <a:cs typeface="Times New Roman" pitchFamily="18" charset="0"/>
              </a:rPr>
              <a:t>t </a:t>
            </a:r>
            <a:r>
              <a:rPr lang="fr-FR" dirty="0" err="1" smtClean="0">
                <a:latin typeface="Times New Roman" pitchFamily="18" charset="0"/>
                <a:cs typeface="Times New Roman" pitchFamily="18" charset="0"/>
              </a:rPr>
              <a:t>sommetpile</a:t>
            </a:r>
            <a:r>
              <a:rPr lang="fr-FR" b="1" dirty="0" smtClean="0">
                <a:latin typeface="Times New Roman" pitchFamily="18" charset="0"/>
                <a:cs typeface="Times New Roman" pitchFamily="18" charset="0"/>
              </a:rPr>
              <a:t>(vide)</a:t>
            </a:r>
            <a:endParaRPr lang="fr-FR" b="1" dirty="0">
              <a:latin typeface="Times New Roman" pitchFamily="18" charset="0"/>
              <a:cs typeface="Times New Roman" pitchFamily="18" charset="0"/>
            </a:endParaRPr>
          </a:p>
          <a:p>
            <a:r>
              <a:rPr lang="fr-FR" b="1" dirty="0" err="1">
                <a:latin typeface="Times New Roman" pitchFamily="18" charset="0"/>
                <a:cs typeface="Times New Roman" pitchFamily="18" charset="0"/>
              </a:rPr>
              <a:t>debfonc</a:t>
            </a:r>
            <a:r>
              <a:rPr lang="fr-FR" b="1" dirty="0">
                <a:latin typeface="Times New Roman" pitchFamily="18" charset="0"/>
                <a:cs typeface="Times New Roman" pitchFamily="18" charset="0"/>
              </a:rPr>
              <a:t>   retourner </a:t>
            </a:r>
            <a:r>
              <a:rPr lang="fr-FR" dirty="0">
                <a:latin typeface="Times New Roman" pitchFamily="18" charset="0"/>
                <a:cs typeface="Times New Roman" pitchFamily="18" charset="0"/>
              </a:rPr>
              <a:t>pile[sommet];</a:t>
            </a:r>
          </a:p>
          <a:p>
            <a:r>
              <a:rPr lang="fr-FR" b="1" dirty="0" err="1">
                <a:latin typeface="Times New Roman" pitchFamily="18" charset="0"/>
                <a:cs typeface="Times New Roman" pitchFamily="18" charset="0"/>
              </a:rPr>
              <a:t>finfonc</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booléen </a:t>
            </a:r>
            <a:r>
              <a:rPr lang="fr-FR" dirty="0" err="1" smtClean="0">
                <a:latin typeface="Times New Roman" pitchFamily="18" charset="0"/>
                <a:cs typeface="Times New Roman" pitchFamily="18" charset="0"/>
              </a:rPr>
              <a:t>pilevide</a:t>
            </a:r>
            <a:r>
              <a:rPr lang="fr-FR" b="1" dirty="0" smtClean="0">
                <a:latin typeface="Times New Roman" pitchFamily="18" charset="0"/>
                <a:cs typeface="Times New Roman" pitchFamily="18" charset="0"/>
              </a:rPr>
              <a:t>(vide)</a:t>
            </a:r>
            <a:endParaRPr lang="fr-FR" b="1" dirty="0">
              <a:latin typeface="Times New Roman" pitchFamily="18" charset="0"/>
              <a:cs typeface="Times New Roman" pitchFamily="18" charset="0"/>
            </a:endParaRPr>
          </a:p>
          <a:p>
            <a:r>
              <a:rPr lang="fr-FR" b="1" dirty="0" err="1">
                <a:latin typeface="Times New Roman" pitchFamily="18" charset="0"/>
                <a:cs typeface="Times New Roman" pitchFamily="18" charset="0"/>
              </a:rPr>
              <a:t>debfonc</a:t>
            </a:r>
            <a:r>
              <a:rPr lang="fr-FR" b="1" dirty="0">
                <a:latin typeface="Times New Roman" pitchFamily="18" charset="0"/>
                <a:cs typeface="Times New Roman" pitchFamily="18" charset="0"/>
              </a:rPr>
              <a:t> retourner </a:t>
            </a:r>
            <a:r>
              <a:rPr lang="fr-FR" dirty="0">
                <a:latin typeface="Times New Roman" pitchFamily="18" charset="0"/>
                <a:cs typeface="Times New Roman" pitchFamily="18" charset="0"/>
              </a:rPr>
              <a:t>sommet=0;</a:t>
            </a:r>
          </a:p>
          <a:p>
            <a:r>
              <a:rPr lang="fr-FR" b="1" dirty="0" err="1">
                <a:latin typeface="Times New Roman" pitchFamily="18" charset="0"/>
                <a:cs typeface="Times New Roman" pitchFamily="18" charset="0"/>
              </a:rPr>
              <a:t>finfonc</a:t>
            </a:r>
            <a:r>
              <a:rPr lang="fr-FR" b="1" dirty="0">
                <a:latin typeface="Times New Roman" pitchFamily="18" charset="0"/>
                <a:cs typeface="Times New Roman" pitchFamily="18" charset="0"/>
              </a:rPr>
              <a:t>;</a:t>
            </a:r>
          </a:p>
          <a:p>
            <a:r>
              <a:rPr lang="fr-FR" b="1" dirty="0" smtClean="0">
                <a:latin typeface="Times New Roman" pitchFamily="18" charset="0"/>
                <a:cs typeface="Times New Roman" pitchFamily="18" charset="0"/>
              </a:rPr>
              <a:t>booléen  </a:t>
            </a:r>
            <a:r>
              <a:rPr lang="fr-FR" dirty="0" err="1" smtClean="0">
                <a:latin typeface="Times New Roman" pitchFamily="18" charset="0"/>
                <a:cs typeface="Times New Roman" pitchFamily="18" charset="0"/>
              </a:rPr>
              <a:t>pilepleine</a:t>
            </a:r>
            <a:r>
              <a:rPr lang="fr-FR" b="1" dirty="0" smtClean="0">
                <a:latin typeface="Times New Roman" pitchFamily="18" charset="0"/>
                <a:cs typeface="Times New Roman" pitchFamily="18" charset="0"/>
              </a:rPr>
              <a:t>(vide)</a:t>
            </a:r>
            <a:endParaRPr lang="fr-FR" b="1" dirty="0">
              <a:latin typeface="Times New Roman" pitchFamily="18" charset="0"/>
              <a:cs typeface="Times New Roman" pitchFamily="18" charset="0"/>
            </a:endParaRPr>
          </a:p>
          <a:p>
            <a:r>
              <a:rPr lang="fr-FR" b="1" dirty="0" err="1">
                <a:latin typeface="Times New Roman" pitchFamily="18" charset="0"/>
                <a:cs typeface="Times New Roman" pitchFamily="18" charset="0"/>
              </a:rPr>
              <a:t>debfonc</a:t>
            </a:r>
            <a:r>
              <a:rPr lang="fr-FR" b="1" dirty="0">
                <a:latin typeface="Times New Roman" pitchFamily="18" charset="0"/>
                <a:cs typeface="Times New Roman" pitchFamily="18" charset="0"/>
              </a:rPr>
              <a:t> retourner </a:t>
            </a:r>
            <a:r>
              <a:rPr lang="fr-FR" dirty="0">
                <a:latin typeface="Times New Roman" pitchFamily="18" charset="0"/>
                <a:cs typeface="Times New Roman" pitchFamily="18" charset="0"/>
              </a:rPr>
              <a:t>sommet=</a:t>
            </a:r>
            <a:r>
              <a:rPr lang="fr-FR" dirty="0" err="1">
                <a:latin typeface="Times New Roman" pitchFamily="18" charset="0"/>
                <a:cs typeface="Times New Roman" pitchFamily="18" charset="0"/>
              </a:rPr>
              <a:t>dimpile</a:t>
            </a:r>
            <a:r>
              <a:rPr lang="fr-FR" dirty="0">
                <a:latin typeface="Times New Roman" pitchFamily="18" charset="0"/>
                <a:cs typeface="Times New Roman" pitchFamily="18" charset="0"/>
              </a:rPr>
              <a:t>;</a:t>
            </a:r>
          </a:p>
          <a:p>
            <a:r>
              <a:rPr lang="fr-FR" b="1" dirty="0" err="1">
                <a:latin typeface="Times New Roman" pitchFamily="18" charset="0"/>
                <a:cs typeface="Times New Roman" pitchFamily="18" charset="0"/>
              </a:rPr>
              <a:t>finfonc</a:t>
            </a:r>
            <a:r>
              <a:rPr lang="fr-FR" b="1" dirty="0">
                <a:latin typeface="Times New Roman" pitchFamily="18" charset="0"/>
                <a:cs typeface="Times New Roman" pitchFamily="18" charset="0"/>
              </a:rPr>
              <a:t>;</a:t>
            </a:r>
          </a:p>
          <a:p>
            <a:r>
              <a:rPr lang="fr-FR" b="1" dirty="0" smtClean="0">
                <a:latin typeface="Times New Roman" pitchFamily="18" charset="0"/>
                <a:cs typeface="Times New Roman" pitchFamily="18" charset="0"/>
              </a:rPr>
              <a:t>vide </a:t>
            </a:r>
            <a:r>
              <a:rPr lang="fr-FR" dirty="0" err="1" smtClean="0">
                <a:latin typeface="Times New Roman" pitchFamily="18" charset="0"/>
                <a:cs typeface="Times New Roman" pitchFamily="18" charset="0"/>
              </a:rPr>
              <a:t>initpilevide</a:t>
            </a:r>
            <a:r>
              <a:rPr lang="fr-FR" b="1" dirty="0" smtClean="0">
                <a:latin typeface="Times New Roman" pitchFamily="18" charset="0"/>
                <a:cs typeface="Times New Roman" pitchFamily="18" charset="0"/>
              </a:rPr>
              <a:t>(vide)</a:t>
            </a:r>
            <a:endParaRPr lang="fr-FR" b="1" dirty="0">
              <a:latin typeface="Times New Roman" pitchFamily="18" charset="0"/>
              <a:cs typeface="Times New Roman" pitchFamily="18" charset="0"/>
            </a:endParaRPr>
          </a:p>
          <a:p>
            <a:r>
              <a:rPr lang="fr-FR" b="1" dirty="0" err="1">
                <a:latin typeface="Times New Roman" pitchFamily="18" charset="0"/>
                <a:cs typeface="Times New Roman" pitchFamily="18" charset="0"/>
              </a:rPr>
              <a:t>debproc</a:t>
            </a:r>
            <a:r>
              <a:rPr lang="fr-FR" b="1" dirty="0">
                <a:latin typeface="Times New Roman" pitchFamily="18" charset="0"/>
                <a:cs typeface="Times New Roman" pitchFamily="18" charset="0"/>
              </a:rPr>
              <a:t> </a:t>
            </a:r>
            <a:r>
              <a:rPr lang="fr-FR" dirty="0" smtClean="0">
                <a:latin typeface="Times New Roman" pitchFamily="18" charset="0"/>
                <a:cs typeface="Times New Roman" pitchFamily="18" charset="0"/>
              </a:rPr>
              <a:t>sommet:=0</a:t>
            </a:r>
            <a:r>
              <a:rPr lang="fr-FR" dirty="0">
                <a:latin typeface="Times New Roman" pitchFamily="18" charset="0"/>
                <a:cs typeface="Times New Roman" pitchFamily="18" charset="0"/>
              </a:rPr>
              <a:t>;</a:t>
            </a:r>
          </a:p>
          <a:p>
            <a:r>
              <a:rPr lang="fr-FR" b="1" dirty="0" err="1">
                <a:latin typeface="Times New Roman" pitchFamily="18" charset="0"/>
                <a:cs typeface="Times New Roman" pitchFamily="18" charset="0"/>
              </a:rPr>
              <a:t>finproc</a:t>
            </a:r>
            <a:r>
              <a:rPr lang="fr-FR" b="1" dirty="0">
                <a:latin typeface="Times New Roman" pitchFamily="18" charset="0"/>
                <a:cs typeface="Times New Roman" pitchFamily="18" charset="0"/>
              </a:rPr>
              <a:t>;</a:t>
            </a:r>
          </a:p>
        </p:txBody>
      </p:sp>
    </p:spTree>
    <p:extLst>
      <p:ext uri="{BB962C8B-B14F-4D97-AF65-F5344CB8AC3E}">
        <p14:creationId xmlns:p14="http://schemas.microsoft.com/office/powerpoint/2010/main" val="29393650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6720" y="359906"/>
            <a:ext cx="11501120" cy="6186309"/>
          </a:xfrm>
          <a:prstGeom prst="rect">
            <a:avLst/>
          </a:prstGeom>
        </p:spPr>
        <p:txBody>
          <a:bodyPr wrap="square">
            <a:spAutoFit/>
          </a:bodyPr>
          <a:lstStyle/>
          <a:p>
            <a:pPr lvl="0" algn="just" fontAlgn="base">
              <a:spcBef>
                <a:spcPct val="0"/>
              </a:spcBef>
              <a:spcAft>
                <a:spcPct val="0"/>
              </a:spcAft>
            </a:pPr>
            <a:r>
              <a:rPr lang="fr-FR" b="1" dirty="0">
                <a:latin typeface="Times New Roman" pitchFamily="18" charset="0"/>
                <a:ea typeface="Times New Roman" pitchFamily="18" charset="0"/>
                <a:cs typeface="Times New Roman" pitchFamily="18" charset="0"/>
              </a:rPr>
              <a:t>3.1.3. Représentation chaînée d’une pile</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Une pile peut être représentée par une </a:t>
            </a:r>
            <a:r>
              <a:rPr lang="fr-FR" b="1" dirty="0">
                <a:latin typeface="Times New Roman" pitchFamily="18" charset="0"/>
                <a:ea typeface="Times New Roman" pitchFamily="18" charset="0"/>
                <a:cs typeface="Times New Roman" pitchFamily="18" charset="0"/>
              </a:rPr>
              <a:t>liste linéaire chaînée</a:t>
            </a:r>
            <a:r>
              <a:rPr lang="fr-FR" dirty="0">
                <a:latin typeface="Times New Roman" pitchFamily="18" charset="0"/>
                <a:ea typeface="Times New Roman" pitchFamily="18" charset="0"/>
                <a:cs typeface="Times New Roman" pitchFamily="18" charset="0"/>
              </a:rPr>
              <a:t> telle que les </a:t>
            </a:r>
            <a:r>
              <a:rPr lang="fr-FR" b="1" dirty="0">
                <a:latin typeface="Times New Roman" pitchFamily="18" charset="0"/>
                <a:ea typeface="Times New Roman" pitchFamily="18" charset="0"/>
                <a:cs typeface="Times New Roman" pitchFamily="18" charset="0"/>
              </a:rPr>
              <a:t>insertions</a:t>
            </a:r>
            <a:r>
              <a:rPr lang="fr-FR" dirty="0">
                <a:latin typeface="Times New Roman" pitchFamily="18" charset="0"/>
                <a:ea typeface="Times New Roman" pitchFamily="18" charset="0"/>
                <a:cs typeface="Times New Roman" pitchFamily="18" charset="0"/>
              </a:rPr>
              <a:t> ou les </a:t>
            </a:r>
            <a:r>
              <a:rPr lang="fr-FR" b="1" dirty="0">
                <a:latin typeface="Times New Roman" pitchFamily="18" charset="0"/>
                <a:ea typeface="Times New Roman" pitchFamily="18" charset="0"/>
                <a:cs typeface="Times New Roman" pitchFamily="18" charset="0"/>
              </a:rPr>
              <a:t>suppressions</a:t>
            </a:r>
            <a:r>
              <a:rPr lang="fr-FR" dirty="0">
                <a:latin typeface="Times New Roman" pitchFamily="18" charset="0"/>
                <a:ea typeface="Times New Roman" pitchFamily="18" charset="0"/>
                <a:cs typeface="Times New Roman" pitchFamily="18" charset="0"/>
              </a:rPr>
              <a:t> sont toujours effectuées en </a:t>
            </a:r>
            <a:r>
              <a:rPr lang="fr-FR" b="1" dirty="0">
                <a:latin typeface="Times New Roman" pitchFamily="18" charset="0"/>
                <a:ea typeface="Times New Roman" pitchFamily="18" charset="0"/>
                <a:cs typeface="Times New Roman" pitchFamily="18" charset="0"/>
              </a:rPr>
              <a:t>tête</a:t>
            </a:r>
            <a:r>
              <a:rPr lang="fr-FR" dirty="0">
                <a:latin typeface="Times New Roman" pitchFamily="18" charset="0"/>
                <a:ea typeface="Times New Roman" pitchFamily="18" charset="0"/>
                <a:cs typeface="Times New Roman" pitchFamily="18" charset="0"/>
              </a:rPr>
              <a:t> de liste.</a:t>
            </a:r>
          </a:p>
          <a:p>
            <a:pPr lvl="0" algn="just" eaLnBrk="0" fontAlgn="base" hangingPunct="0">
              <a:spcBef>
                <a:spcPct val="0"/>
              </a:spcBef>
              <a:spcAft>
                <a:spcPct val="0"/>
              </a:spcAft>
            </a:pPr>
            <a:r>
              <a:rPr lang="en-GB" dirty="0">
                <a:latin typeface="Times New Roman" pitchFamily="18" charset="0"/>
                <a:cs typeface="Times New Roman" pitchFamily="18" charset="0"/>
              </a:rPr>
              <a:t>pile</a:t>
            </a:r>
          </a:p>
          <a:p>
            <a:pPr lvl="0" algn="just" eaLnBrk="0" fontAlgn="base" hangingPunct="0">
              <a:spcBef>
                <a:spcPct val="0"/>
              </a:spcBef>
              <a:spcAft>
                <a:spcPct val="0"/>
              </a:spcAft>
            </a:pPr>
            <a:endParaRPr lang="en-GB" dirty="0">
              <a:latin typeface="Times New Roman" pitchFamily="18" charset="0"/>
              <a:cs typeface="Times New Roman" pitchFamily="18" charset="0"/>
            </a:endParaRPr>
          </a:p>
          <a:p>
            <a:pPr lvl="0" algn="just" eaLnBrk="0" fontAlgn="base" hangingPunct="0">
              <a:spcBef>
                <a:spcPct val="0"/>
              </a:spcBef>
              <a:spcAft>
                <a:spcPct val="0"/>
              </a:spcAft>
            </a:pPr>
            <a:endParaRPr lang="en-GB" dirty="0">
              <a:latin typeface="Times New Roman" pitchFamily="18" charset="0"/>
              <a:cs typeface="Times New Roman" pitchFamily="18" charset="0"/>
            </a:endParaRPr>
          </a:p>
          <a:p>
            <a:pPr lvl="0" algn="just" eaLnBrk="0" fontAlgn="base" hangingPunct="0">
              <a:spcBef>
                <a:spcPct val="0"/>
              </a:spcBef>
              <a:spcAft>
                <a:spcPct val="0"/>
              </a:spcAft>
            </a:pPr>
            <a:endParaRPr lang="en-GB" dirty="0">
              <a:latin typeface="Times New Roman" pitchFamily="18" charset="0"/>
              <a:cs typeface="Times New Roman" pitchFamily="18" charset="0"/>
            </a:endParaRPr>
          </a:p>
          <a:p>
            <a:r>
              <a:rPr lang="fr-FR" dirty="0">
                <a:latin typeface="Times New Roman" pitchFamily="18" charset="0"/>
                <a:cs typeface="Times New Roman" pitchFamily="18" charset="0"/>
              </a:rPr>
              <a:t>La variable </a:t>
            </a:r>
            <a:r>
              <a:rPr lang="fr-FR" b="1" dirty="0">
                <a:latin typeface="Times New Roman" pitchFamily="18" charset="0"/>
                <a:cs typeface="Times New Roman" pitchFamily="18" charset="0"/>
              </a:rPr>
              <a:t>pile</a:t>
            </a:r>
            <a:r>
              <a:rPr lang="fr-FR" dirty="0">
                <a:latin typeface="Times New Roman" pitchFamily="18" charset="0"/>
                <a:cs typeface="Times New Roman" pitchFamily="18" charset="0"/>
              </a:rPr>
              <a:t>, de type pointeur, est globale.</a:t>
            </a:r>
          </a:p>
          <a:p>
            <a:r>
              <a:rPr lang="fr-FR" b="1" dirty="0" smtClean="0">
                <a:latin typeface="Times New Roman" pitchFamily="18" charset="0"/>
                <a:cs typeface="Times New Roman" pitchFamily="18" charset="0"/>
              </a:rPr>
              <a:t>vide </a:t>
            </a:r>
            <a:r>
              <a:rPr lang="fr-FR" dirty="0">
                <a:latin typeface="Times New Roman" pitchFamily="18" charset="0"/>
                <a:cs typeface="Times New Roman" pitchFamily="18" charset="0"/>
              </a:rPr>
              <a:t>empiler</a:t>
            </a:r>
            <a:r>
              <a:rPr lang="fr-FR" b="1" dirty="0">
                <a:latin typeface="Times New Roman" pitchFamily="18" charset="0"/>
                <a:cs typeface="Times New Roman" pitchFamily="18" charset="0"/>
              </a:rPr>
              <a:t>(d t </a:t>
            </a:r>
            <a:r>
              <a:rPr lang="fr-FR" dirty="0" err="1">
                <a:latin typeface="Times New Roman" pitchFamily="18" charset="0"/>
                <a:cs typeface="Times New Roman" pitchFamily="18" charset="0"/>
              </a:rPr>
              <a:t>elem</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debfonc</a:t>
            </a:r>
            <a:r>
              <a:rPr lang="fr-FR" b="1" dirty="0" smtClean="0">
                <a:latin typeface="Times New Roman" pitchFamily="18" charset="0"/>
                <a:cs typeface="Times New Roman" pitchFamily="18" charset="0"/>
              </a:rPr>
              <a:t> </a:t>
            </a:r>
            <a:r>
              <a:rPr lang="fr-FR" dirty="0" err="1">
                <a:latin typeface="Times New Roman" pitchFamily="18" charset="0"/>
                <a:cs typeface="Times New Roman" pitchFamily="18" charset="0"/>
              </a:rPr>
              <a:t>insertete</a:t>
            </a:r>
            <a:r>
              <a:rPr lang="fr-FR" dirty="0">
                <a:latin typeface="Times New Roman" pitchFamily="18" charset="0"/>
                <a:cs typeface="Times New Roman" pitchFamily="18" charset="0"/>
              </a:rPr>
              <a:t>(pile, </a:t>
            </a:r>
            <a:r>
              <a:rPr lang="fr-FR" dirty="0" err="1">
                <a:latin typeface="Times New Roman" pitchFamily="18" charset="0"/>
                <a:cs typeface="Times New Roman" pitchFamily="18" charset="0"/>
              </a:rPr>
              <a:t>elem</a:t>
            </a:r>
            <a:r>
              <a:rPr lang="fr-FR"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finfonc</a:t>
            </a:r>
            <a:r>
              <a:rPr lang="fr-FR" b="1" dirty="0">
                <a:latin typeface="Times New Roman" pitchFamily="18" charset="0"/>
                <a:cs typeface="Times New Roman" pitchFamily="18" charset="0"/>
              </a:rPr>
              <a:t>;</a:t>
            </a:r>
          </a:p>
          <a:p>
            <a:endParaRPr lang="fr-FR" b="1" dirty="0">
              <a:latin typeface="Times New Roman" pitchFamily="18" charset="0"/>
              <a:cs typeface="Times New Roman" pitchFamily="18" charset="0"/>
            </a:endParaRPr>
          </a:p>
          <a:p>
            <a:r>
              <a:rPr lang="fr-FR" b="1" dirty="0" smtClean="0">
                <a:latin typeface="Times New Roman" pitchFamily="18" charset="0"/>
                <a:cs typeface="Times New Roman" pitchFamily="18" charset="0"/>
              </a:rPr>
              <a:t>vide </a:t>
            </a:r>
            <a:r>
              <a:rPr lang="fr-FR" dirty="0">
                <a:latin typeface="Times New Roman" pitchFamily="18" charset="0"/>
                <a:cs typeface="Times New Roman" pitchFamily="18" charset="0"/>
              </a:rPr>
              <a:t>dépiler</a:t>
            </a:r>
            <a:r>
              <a:rPr lang="fr-FR" b="1" dirty="0">
                <a:latin typeface="Times New Roman" pitchFamily="18" charset="0"/>
                <a:cs typeface="Times New Roman" pitchFamily="18" charset="0"/>
              </a:rPr>
              <a:t>(r t </a:t>
            </a:r>
            <a:r>
              <a:rPr lang="fr-FR" dirty="0" err="1">
                <a:latin typeface="Times New Roman" pitchFamily="18" charset="0"/>
                <a:cs typeface="Times New Roman" pitchFamily="18" charset="0"/>
              </a:rPr>
              <a:t>elem</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debfonc</a:t>
            </a:r>
            <a:r>
              <a:rPr lang="fr-FR" b="1" dirty="0" smtClean="0">
                <a:latin typeface="Times New Roman" pitchFamily="18" charset="0"/>
                <a:cs typeface="Times New Roman" pitchFamily="18" charset="0"/>
              </a:rPr>
              <a:t>  </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si </a:t>
            </a:r>
            <a:r>
              <a:rPr lang="fr-FR" b="1" dirty="0" err="1">
                <a:latin typeface="Times New Roman" pitchFamily="18" charset="0"/>
                <a:cs typeface="Times New Roman" pitchFamily="18" charset="0"/>
              </a:rPr>
              <a:t>pilevide</a:t>
            </a:r>
            <a:r>
              <a:rPr lang="fr-FR" b="1" dirty="0">
                <a:latin typeface="Times New Roman" pitchFamily="18" charset="0"/>
                <a:cs typeface="Times New Roman" pitchFamily="18" charset="0"/>
              </a:rPr>
              <a:t>() alors</a:t>
            </a:r>
          </a:p>
          <a:p>
            <a:r>
              <a:rPr lang="fr-FR" b="1" dirty="0">
                <a:latin typeface="Times New Roman" pitchFamily="18" charset="0"/>
                <a:cs typeface="Times New Roman" pitchFamily="18" charset="0"/>
              </a:rPr>
              <a:t>      écrire(</a:t>
            </a:r>
            <a:r>
              <a:rPr lang="fr-FR" b="1"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erreur : la pile est vide</a:t>
            </a:r>
            <a:r>
              <a:rPr lang="fr-FR" b="1" dirty="0">
                <a:latin typeface="Times New Roman" pitchFamily="18" charset="0"/>
                <a:cs typeface="Times New Roman" pitchFamily="18" charset="0"/>
              </a:rPr>
              <a:t> </a:t>
            </a:r>
            <a:r>
              <a:rPr lang="fr-FR" b="1" dirty="0">
                <a:latin typeface="Times New Roman" pitchFamily="18" charset="0"/>
                <a:cs typeface="Times New Roman" pitchFamily="18" charset="0"/>
                <a:sym typeface="Symbol"/>
              </a:rPr>
              <a: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smtClean="0">
                <a:latin typeface="Times New Roman" pitchFamily="18" charset="0"/>
                <a:cs typeface="Times New Roman" pitchFamily="18" charset="0"/>
              </a:rPr>
              <a:t>arrêt;     </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sinon</a:t>
            </a:r>
          </a:p>
          <a:p>
            <a:r>
              <a:rPr lang="fr-FR" b="1" dirty="0">
                <a:latin typeface="Times New Roman" pitchFamily="18" charset="0"/>
                <a:cs typeface="Times New Roman" pitchFamily="18" charset="0"/>
              </a:rPr>
              <a:t>       </a:t>
            </a:r>
            <a:r>
              <a:rPr lang="fr-FR" b="1" dirty="0" smtClean="0">
                <a:latin typeface="Times New Roman" pitchFamily="18" charset="0"/>
                <a:cs typeface="Times New Roman" pitchFamily="18" charset="0"/>
              </a:rPr>
              <a:t> </a:t>
            </a:r>
            <a:r>
              <a:rPr lang="fr-FR" dirty="0" err="1" smtClean="0">
                <a:latin typeface="Times New Roman" pitchFamily="18" charset="0"/>
                <a:cs typeface="Times New Roman" pitchFamily="18" charset="0"/>
              </a:rPr>
              <a:t>elem</a:t>
            </a:r>
            <a:r>
              <a:rPr lang="fr-FR" dirty="0" smtClean="0">
                <a:latin typeface="Times New Roman" pitchFamily="18" charset="0"/>
                <a:cs typeface="Times New Roman" pitchFamily="18" charset="0"/>
              </a:rPr>
              <a:t>:=</a:t>
            </a:r>
            <a:r>
              <a:rPr lang="fr-FR" dirty="0" smtClean="0">
                <a:latin typeface="Times New Roman" pitchFamily="18" charset="0"/>
                <a:cs typeface="Times New Roman" pitchFamily="18" charset="0"/>
              </a:rPr>
              <a:t>pile-</a:t>
            </a:r>
            <a:r>
              <a:rPr lang="fr-FR" dirty="0">
                <a:latin typeface="Times New Roman" pitchFamily="18" charset="0"/>
                <a:cs typeface="Times New Roman" pitchFamily="18" charset="0"/>
              </a:rPr>
              <a:t>&gt;info;  </a:t>
            </a:r>
          </a:p>
          <a:p>
            <a:r>
              <a:rPr lang="fr-FR" dirty="0">
                <a:latin typeface="Times New Roman" pitchFamily="18" charset="0"/>
                <a:cs typeface="Times New Roman" pitchFamily="18" charset="0"/>
              </a:rPr>
              <a:t>        </a:t>
            </a:r>
            <a:r>
              <a:rPr lang="fr-FR" dirty="0" err="1">
                <a:latin typeface="Times New Roman" pitchFamily="18" charset="0"/>
                <a:cs typeface="Times New Roman" pitchFamily="18" charset="0"/>
              </a:rPr>
              <a:t>supptete</a:t>
            </a:r>
            <a:r>
              <a:rPr lang="fr-FR" dirty="0">
                <a:latin typeface="Times New Roman" pitchFamily="18" charset="0"/>
                <a:cs typeface="Times New Roman" pitchFamily="18" charset="0"/>
              </a:rPr>
              <a:t>(pile); </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finfonc</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finproc</a:t>
            </a:r>
            <a:r>
              <a:rPr lang="fr-FR" b="1" dirty="0">
                <a:latin typeface="Times New Roman" pitchFamily="18" charset="0"/>
                <a:cs typeface="Times New Roman" pitchFamily="18" charset="0"/>
              </a:rPr>
              <a:t>;</a:t>
            </a:r>
          </a:p>
        </p:txBody>
      </p:sp>
      <p:sp>
        <p:nvSpPr>
          <p:cNvPr id="4" name="Rectangle 3"/>
          <p:cNvSpPr/>
          <p:nvPr/>
        </p:nvSpPr>
        <p:spPr>
          <a:xfrm>
            <a:off x="538480" y="1513840"/>
            <a:ext cx="619760" cy="26246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0" name="Connecteur droit 9"/>
          <p:cNvCxnSpPr>
            <a:stCxn id="4" idx="3"/>
          </p:cNvCxnSpPr>
          <p:nvPr/>
        </p:nvCxnSpPr>
        <p:spPr>
          <a:xfrm flipV="1">
            <a:off x="1158240" y="1635760"/>
            <a:ext cx="467360" cy="9313"/>
          </a:xfrm>
          <a:prstGeom prst="line">
            <a:avLst/>
          </a:prstGeom>
        </p:spPr>
        <p:style>
          <a:lnRef idx="1">
            <a:schemeClr val="dk1"/>
          </a:lnRef>
          <a:fillRef idx="0">
            <a:schemeClr val="dk1"/>
          </a:fillRef>
          <a:effectRef idx="0">
            <a:schemeClr val="dk1"/>
          </a:effectRef>
          <a:fontRef idx="minor">
            <a:schemeClr val="tx1"/>
          </a:fontRef>
        </p:style>
      </p:cxnSp>
      <p:cxnSp>
        <p:nvCxnSpPr>
          <p:cNvPr id="12" name="Connecteur droit avec flèche 11"/>
          <p:cNvCxnSpPr/>
          <p:nvPr/>
        </p:nvCxnSpPr>
        <p:spPr>
          <a:xfrm>
            <a:off x="1625600" y="1625600"/>
            <a:ext cx="0" cy="2438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3" name="Tableau 12"/>
          <p:cNvGraphicFramePr>
            <a:graphicFrameLocks noGrp="1"/>
          </p:cNvGraphicFramePr>
          <p:nvPr>
            <p:extLst>
              <p:ext uri="{D42A27DB-BD31-4B8C-83A1-F6EECF244321}">
                <p14:modId xmlns:p14="http://schemas.microsoft.com/office/powerpoint/2010/main" val="349795490"/>
              </p:ext>
            </p:extLst>
          </p:nvPr>
        </p:nvGraphicFramePr>
        <p:xfrm>
          <a:off x="1320800" y="1857586"/>
          <a:ext cx="8127999" cy="370840"/>
        </p:xfrm>
        <a:graphic>
          <a:graphicData uri="http://schemas.openxmlformats.org/drawingml/2006/table">
            <a:tbl>
              <a:tblPr firstRow="1" bandRow="1">
                <a:tableStyleId>{2D5ABB26-0587-4C30-8999-92F81FD0307C}</a:tableStyleId>
              </a:tblPr>
              <a:tblGrid>
                <a:gridCol w="738909">
                  <a:extLst>
                    <a:ext uri="{9D8B030D-6E8A-4147-A177-3AD203B41FA5}">
                      <a16:colId xmlns:a16="http://schemas.microsoft.com/office/drawing/2014/main" val="1684719962"/>
                    </a:ext>
                  </a:extLst>
                </a:gridCol>
                <a:gridCol w="738909">
                  <a:extLst>
                    <a:ext uri="{9D8B030D-6E8A-4147-A177-3AD203B41FA5}">
                      <a16:colId xmlns:a16="http://schemas.microsoft.com/office/drawing/2014/main" val="3728856246"/>
                    </a:ext>
                  </a:extLst>
                </a:gridCol>
                <a:gridCol w="738909">
                  <a:extLst>
                    <a:ext uri="{9D8B030D-6E8A-4147-A177-3AD203B41FA5}">
                      <a16:colId xmlns:a16="http://schemas.microsoft.com/office/drawing/2014/main" val="3721064369"/>
                    </a:ext>
                  </a:extLst>
                </a:gridCol>
                <a:gridCol w="738909">
                  <a:extLst>
                    <a:ext uri="{9D8B030D-6E8A-4147-A177-3AD203B41FA5}">
                      <a16:colId xmlns:a16="http://schemas.microsoft.com/office/drawing/2014/main" val="1998023251"/>
                    </a:ext>
                  </a:extLst>
                </a:gridCol>
                <a:gridCol w="738909">
                  <a:extLst>
                    <a:ext uri="{9D8B030D-6E8A-4147-A177-3AD203B41FA5}">
                      <a16:colId xmlns:a16="http://schemas.microsoft.com/office/drawing/2014/main" val="547685359"/>
                    </a:ext>
                  </a:extLst>
                </a:gridCol>
                <a:gridCol w="738909">
                  <a:extLst>
                    <a:ext uri="{9D8B030D-6E8A-4147-A177-3AD203B41FA5}">
                      <a16:colId xmlns:a16="http://schemas.microsoft.com/office/drawing/2014/main" val="1571832811"/>
                    </a:ext>
                  </a:extLst>
                </a:gridCol>
                <a:gridCol w="738909">
                  <a:extLst>
                    <a:ext uri="{9D8B030D-6E8A-4147-A177-3AD203B41FA5}">
                      <a16:colId xmlns:a16="http://schemas.microsoft.com/office/drawing/2014/main" val="2688745103"/>
                    </a:ext>
                  </a:extLst>
                </a:gridCol>
                <a:gridCol w="738909">
                  <a:extLst>
                    <a:ext uri="{9D8B030D-6E8A-4147-A177-3AD203B41FA5}">
                      <a16:colId xmlns:a16="http://schemas.microsoft.com/office/drawing/2014/main" val="3439404010"/>
                    </a:ext>
                  </a:extLst>
                </a:gridCol>
                <a:gridCol w="738909">
                  <a:extLst>
                    <a:ext uri="{9D8B030D-6E8A-4147-A177-3AD203B41FA5}">
                      <a16:colId xmlns:a16="http://schemas.microsoft.com/office/drawing/2014/main" val="1612490598"/>
                    </a:ext>
                  </a:extLst>
                </a:gridCol>
                <a:gridCol w="738909">
                  <a:extLst>
                    <a:ext uri="{9D8B030D-6E8A-4147-A177-3AD203B41FA5}">
                      <a16:colId xmlns:a16="http://schemas.microsoft.com/office/drawing/2014/main" val="4003649836"/>
                    </a:ext>
                  </a:extLst>
                </a:gridCol>
                <a:gridCol w="738909">
                  <a:extLst>
                    <a:ext uri="{9D8B030D-6E8A-4147-A177-3AD203B41FA5}">
                      <a16:colId xmlns:a16="http://schemas.microsoft.com/office/drawing/2014/main" val="3605443395"/>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5381558"/>
                  </a:ext>
                </a:extLst>
              </a:tr>
            </a:tbl>
          </a:graphicData>
        </a:graphic>
      </p:graphicFrame>
      <p:cxnSp>
        <p:nvCxnSpPr>
          <p:cNvPr id="15" name="Connecteur droit avec flèche 14"/>
          <p:cNvCxnSpPr/>
          <p:nvPr/>
        </p:nvCxnSpPr>
        <p:spPr>
          <a:xfrm>
            <a:off x="2560320" y="2043006"/>
            <a:ext cx="9753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a:off x="4795520" y="2043006"/>
            <a:ext cx="1422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p:cNvCxnSpPr/>
          <p:nvPr/>
        </p:nvCxnSpPr>
        <p:spPr>
          <a:xfrm>
            <a:off x="6329680" y="2043006"/>
            <a:ext cx="1625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Connecteur droit 20"/>
          <p:cNvCxnSpPr/>
          <p:nvPr/>
        </p:nvCxnSpPr>
        <p:spPr>
          <a:xfrm flipV="1">
            <a:off x="8696960" y="1857586"/>
            <a:ext cx="751839" cy="37084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736861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2720" y="372190"/>
            <a:ext cx="11836400" cy="6186309"/>
          </a:xfrm>
          <a:prstGeom prst="rect">
            <a:avLst/>
          </a:prstGeom>
        </p:spPr>
        <p:txBody>
          <a:bodyPr wrap="square">
            <a:spAutoFit/>
          </a:bodyPr>
          <a:lstStyle/>
          <a:p>
            <a:pPr lvl="0"/>
            <a:r>
              <a:rPr lang="fr-FR" b="1" dirty="0" smtClean="0">
                <a:latin typeface="Times New Roman" pitchFamily="18" charset="0"/>
                <a:cs typeface="Times New Roman" pitchFamily="18" charset="0"/>
              </a:rPr>
              <a:t>booléen </a:t>
            </a:r>
            <a:r>
              <a:rPr lang="fr-FR" dirty="0" err="1">
                <a:latin typeface="Times New Roman" pitchFamily="18" charset="0"/>
                <a:cs typeface="Times New Roman" pitchFamily="18" charset="0"/>
              </a:rPr>
              <a:t>pilevide</a:t>
            </a:r>
            <a:r>
              <a:rPr lang="fr-FR" b="1" dirty="0">
                <a:latin typeface="Times New Roman" pitchFamily="18" charset="0"/>
                <a:cs typeface="Times New Roman" pitchFamily="18" charset="0"/>
              </a:rPr>
              <a:t>(vide)</a:t>
            </a:r>
          </a:p>
          <a:p>
            <a:r>
              <a:rPr lang="fr-FR" b="1" dirty="0" err="1">
                <a:latin typeface="Times New Roman" pitchFamily="18" charset="0"/>
                <a:cs typeface="Times New Roman" pitchFamily="18" charset="0"/>
              </a:rPr>
              <a:t>debfonc</a:t>
            </a:r>
            <a:r>
              <a:rPr lang="fr-FR" b="1" dirty="0">
                <a:latin typeface="Times New Roman" pitchFamily="18" charset="0"/>
                <a:cs typeface="Times New Roman" pitchFamily="18" charset="0"/>
              </a:rPr>
              <a:t>   retourner (</a:t>
            </a:r>
            <a:r>
              <a:rPr lang="fr-FR" dirty="0">
                <a:latin typeface="Times New Roman" pitchFamily="18" charset="0"/>
                <a:cs typeface="Times New Roman" pitchFamily="18" charset="0"/>
              </a:rPr>
              <a:t>pile</a:t>
            </a:r>
            <a:r>
              <a:rPr lang="fr-FR" b="1" dirty="0">
                <a:latin typeface="Times New Roman" pitchFamily="18" charset="0"/>
                <a:cs typeface="Times New Roman" pitchFamily="18" charset="0"/>
              </a:rPr>
              <a:t>=</a:t>
            </a:r>
            <a:r>
              <a:rPr lang="fr-FR" b="1" dirty="0" err="1">
                <a:latin typeface="Times New Roman" pitchFamily="18" charset="0"/>
                <a:cs typeface="Times New Roman" pitchFamily="18" charset="0"/>
              </a:rPr>
              <a:t>nil</a:t>
            </a:r>
            <a:r>
              <a:rPr lang="fr-FR" b="1" dirty="0">
                <a:latin typeface="Times New Roman" pitchFamily="18" charset="0"/>
                <a:cs typeface="Times New Roman" pitchFamily="18" charset="0"/>
              </a:rPr>
              <a:t>);</a:t>
            </a:r>
          </a:p>
          <a:p>
            <a:r>
              <a:rPr lang="fr-FR" b="1" dirty="0" err="1">
                <a:latin typeface="Times New Roman" pitchFamily="18" charset="0"/>
                <a:cs typeface="Times New Roman" pitchFamily="18" charset="0"/>
              </a:rPr>
              <a:t>finfonc</a:t>
            </a:r>
            <a:r>
              <a:rPr lang="fr-FR" b="1" dirty="0">
                <a:latin typeface="Times New Roman" pitchFamily="18" charset="0"/>
                <a:cs typeface="Times New Roman" pitchFamily="18" charset="0"/>
              </a:rPr>
              <a:t>;</a:t>
            </a:r>
          </a:p>
          <a:p>
            <a:endParaRPr lang="fr-FR" b="1" dirty="0">
              <a:latin typeface="Times New Roman" pitchFamily="18" charset="0"/>
              <a:cs typeface="Times New Roman" pitchFamily="18" charset="0"/>
            </a:endParaRPr>
          </a:p>
          <a:p>
            <a:pPr lvl="0"/>
            <a:r>
              <a:rPr lang="fr-FR" b="1" dirty="0" smtClean="0">
                <a:latin typeface="Times New Roman" pitchFamily="18" charset="0"/>
                <a:cs typeface="Times New Roman" pitchFamily="18" charset="0"/>
              </a:rPr>
              <a:t>vide </a:t>
            </a:r>
            <a:r>
              <a:rPr lang="fr-FR" dirty="0" err="1">
                <a:latin typeface="Times New Roman" pitchFamily="18" charset="0"/>
                <a:cs typeface="Times New Roman" pitchFamily="18" charset="0"/>
              </a:rPr>
              <a:t>initpilevide</a:t>
            </a:r>
            <a:r>
              <a:rPr lang="fr-FR" b="1" dirty="0">
                <a:latin typeface="Times New Roman" pitchFamily="18" charset="0"/>
                <a:cs typeface="Times New Roman" pitchFamily="18" charset="0"/>
              </a:rPr>
              <a:t>(vide)</a:t>
            </a:r>
          </a:p>
          <a:p>
            <a:r>
              <a:rPr lang="fr-FR" b="1" dirty="0" err="1" smtClean="0">
                <a:latin typeface="Times New Roman" pitchFamily="18" charset="0"/>
                <a:cs typeface="Times New Roman" pitchFamily="18" charset="0"/>
              </a:rPr>
              <a:t>debfonc</a:t>
            </a:r>
            <a:r>
              <a:rPr lang="fr-FR" b="1" dirty="0" smtClean="0">
                <a:latin typeface="Times New Roman" pitchFamily="18" charset="0"/>
                <a:cs typeface="Times New Roman" pitchFamily="18" charset="0"/>
              </a:rPr>
              <a:t> </a:t>
            </a:r>
            <a:r>
              <a:rPr lang="fr-FR" dirty="0" smtClean="0">
                <a:latin typeface="Times New Roman" pitchFamily="18" charset="0"/>
                <a:cs typeface="Times New Roman" pitchFamily="18" charset="0"/>
              </a:rPr>
              <a:t>pile:=</a:t>
            </a:r>
            <a:r>
              <a:rPr lang="fr-FR" b="1" dirty="0" err="1" smtClean="0">
                <a:latin typeface="Times New Roman" pitchFamily="18" charset="0"/>
                <a:cs typeface="Times New Roman" pitchFamily="18" charset="0"/>
              </a:rPr>
              <a:t>nil</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finfonc</a:t>
            </a:r>
            <a:r>
              <a:rPr lang="fr-FR" b="1" dirty="0">
                <a:latin typeface="Times New Roman" pitchFamily="18" charset="0"/>
                <a:cs typeface="Times New Roman" pitchFamily="18" charset="0"/>
              </a:rPr>
              <a:t>;</a:t>
            </a:r>
          </a:p>
          <a:p>
            <a:endParaRPr lang="fr-FR" b="1" dirty="0">
              <a:latin typeface="Times New Roman" pitchFamily="18" charset="0"/>
              <a:cs typeface="Times New Roman" pitchFamily="18" charset="0"/>
            </a:endParaRPr>
          </a:p>
          <a:p>
            <a:r>
              <a:rPr lang="en-GB" b="1" dirty="0">
                <a:latin typeface="Times New Roman" pitchFamily="18" charset="0"/>
                <a:cs typeface="Times New Roman" pitchFamily="18" charset="0"/>
              </a:rPr>
              <a:t>t </a:t>
            </a:r>
            <a:r>
              <a:rPr lang="en-GB" dirty="0" err="1" smtClean="0">
                <a:latin typeface="Times New Roman" pitchFamily="18" charset="0"/>
                <a:cs typeface="Times New Roman" pitchFamily="18" charset="0"/>
              </a:rPr>
              <a:t>sommetpile</a:t>
            </a:r>
            <a:r>
              <a:rPr lang="en-GB" b="1" dirty="0" smtClean="0">
                <a:latin typeface="Times New Roman" pitchFamily="18" charset="0"/>
                <a:cs typeface="Times New Roman" pitchFamily="18" charset="0"/>
              </a:rPr>
              <a:t>(vide</a:t>
            </a:r>
            <a:r>
              <a:rPr lang="en-GB" b="1" dirty="0">
                <a:latin typeface="Times New Roman" pitchFamily="18" charset="0"/>
                <a:cs typeface="Times New Roman" pitchFamily="18" charset="0"/>
              </a:rPr>
              <a:t>)</a:t>
            </a:r>
          </a:p>
          <a:p>
            <a:r>
              <a:rPr lang="en-GB" b="1" dirty="0" err="1">
                <a:latin typeface="Times New Roman" pitchFamily="18" charset="0"/>
                <a:cs typeface="Times New Roman" pitchFamily="18" charset="0"/>
              </a:rPr>
              <a:t>debfonc</a:t>
            </a:r>
            <a:r>
              <a:rPr lang="en-GB" b="1" dirty="0">
                <a:latin typeface="Times New Roman" pitchFamily="18" charset="0"/>
                <a:cs typeface="Times New Roman" pitchFamily="18" charset="0"/>
              </a:rPr>
              <a:t> </a:t>
            </a:r>
            <a:r>
              <a:rPr lang="en-GB" b="1" dirty="0" err="1">
                <a:latin typeface="Times New Roman" pitchFamily="18" charset="0"/>
                <a:cs typeface="Times New Roman" pitchFamily="18" charset="0"/>
              </a:rPr>
              <a:t>retourner</a:t>
            </a:r>
            <a:r>
              <a:rPr lang="en-GB" b="1" dirty="0">
                <a:latin typeface="Times New Roman" pitchFamily="18" charset="0"/>
                <a:cs typeface="Times New Roman" pitchFamily="18" charset="0"/>
              </a:rPr>
              <a:t> </a:t>
            </a:r>
            <a:r>
              <a:rPr lang="en-GB" dirty="0">
                <a:latin typeface="Times New Roman" pitchFamily="18" charset="0"/>
                <a:cs typeface="Times New Roman" pitchFamily="18" charset="0"/>
              </a:rPr>
              <a:t>pile-&gt;info;</a:t>
            </a:r>
          </a:p>
          <a:p>
            <a:r>
              <a:rPr lang="en-GB" b="1" dirty="0" err="1">
                <a:latin typeface="Times New Roman" pitchFamily="18" charset="0"/>
                <a:cs typeface="Times New Roman" pitchFamily="18" charset="0"/>
              </a:rPr>
              <a:t>finfonc</a:t>
            </a:r>
            <a:r>
              <a:rPr lang="en-GB" b="1" dirty="0">
                <a:latin typeface="Times New Roman" pitchFamily="18" charset="0"/>
                <a:cs typeface="Times New Roman" pitchFamily="18" charset="0"/>
              </a:rPr>
              <a:t>;</a:t>
            </a:r>
          </a:p>
          <a:p>
            <a:endParaRPr lang="en-GB" b="1" dirty="0">
              <a:latin typeface="Times New Roman" pitchFamily="18" charset="0"/>
              <a:cs typeface="Times New Roman" pitchFamily="18" charset="0"/>
            </a:endParaRPr>
          </a:p>
          <a:p>
            <a:r>
              <a:rPr lang="en-GB" b="1" dirty="0">
                <a:latin typeface="Times New Roman" pitchFamily="18" charset="0"/>
                <a:cs typeface="Times New Roman" pitchFamily="18" charset="0"/>
              </a:rPr>
              <a:t>3.1.4. </a:t>
            </a:r>
            <a:r>
              <a:rPr lang="en-GB" b="1" dirty="0" err="1">
                <a:latin typeface="Times New Roman" pitchFamily="18" charset="0"/>
                <a:cs typeface="Times New Roman" pitchFamily="18" charset="0"/>
              </a:rPr>
              <a:t>Traitement</a:t>
            </a:r>
            <a:r>
              <a:rPr lang="en-GB" b="1" dirty="0">
                <a:latin typeface="Times New Roman" pitchFamily="18" charset="0"/>
                <a:cs typeface="Times New Roman" pitchFamily="18" charset="0"/>
              </a:rPr>
              <a:t> des expressions</a:t>
            </a:r>
          </a:p>
          <a:p>
            <a:r>
              <a:rPr lang="fr-FR" dirty="0">
                <a:latin typeface="Times New Roman" pitchFamily="18" charset="0"/>
                <a:cs typeface="Times New Roman" pitchFamily="18" charset="0"/>
              </a:rPr>
              <a:t>Les applications utilisant des piles : évaluation de fonctions récursives, parcours d’</a:t>
            </a:r>
            <a:r>
              <a:rPr lang="fr-FR" dirty="0" err="1">
                <a:latin typeface="Times New Roman" pitchFamily="18" charset="0"/>
                <a:cs typeface="Times New Roman" pitchFamily="18" charset="0"/>
              </a:rPr>
              <a:t>arbores-cences</a:t>
            </a:r>
            <a:r>
              <a:rPr lang="fr-FR" dirty="0">
                <a:latin typeface="Times New Roman" pitchFamily="18" charset="0"/>
                <a:cs typeface="Times New Roman" pitchFamily="18" charset="0"/>
              </a:rPr>
              <a:t>…</a:t>
            </a:r>
          </a:p>
          <a:p>
            <a:r>
              <a:rPr lang="fr-FR" dirty="0">
                <a:latin typeface="Times New Roman" pitchFamily="18" charset="0"/>
                <a:cs typeface="Times New Roman" pitchFamily="18" charset="0"/>
              </a:rPr>
              <a:t>Nous écrirons des algorithmes d’</a:t>
            </a:r>
            <a:r>
              <a:rPr lang="fr-FR" b="1" dirty="0">
                <a:latin typeface="Times New Roman" pitchFamily="18" charset="0"/>
                <a:cs typeface="Times New Roman" pitchFamily="18" charset="0"/>
              </a:rPr>
              <a:t>évaluation</a:t>
            </a:r>
            <a:r>
              <a:rPr lang="fr-FR" dirty="0">
                <a:latin typeface="Times New Roman" pitchFamily="18" charset="0"/>
                <a:cs typeface="Times New Roman" pitchFamily="18" charset="0"/>
              </a:rPr>
              <a:t> et de </a:t>
            </a:r>
            <a:r>
              <a:rPr lang="fr-FR" b="1" dirty="0">
                <a:latin typeface="Times New Roman" pitchFamily="18" charset="0"/>
                <a:cs typeface="Times New Roman" pitchFamily="18" charset="0"/>
              </a:rPr>
              <a:t>transformation</a:t>
            </a:r>
            <a:r>
              <a:rPr lang="fr-FR" dirty="0">
                <a:latin typeface="Times New Roman" pitchFamily="18" charset="0"/>
                <a:cs typeface="Times New Roman" pitchFamily="18" charset="0"/>
              </a:rPr>
              <a:t> d’écriture d’</a:t>
            </a:r>
            <a:r>
              <a:rPr lang="fr-FR" b="1" dirty="0">
                <a:latin typeface="Times New Roman" pitchFamily="18" charset="0"/>
                <a:cs typeface="Times New Roman" pitchFamily="18" charset="0"/>
              </a:rPr>
              <a:t>expressions</a:t>
            </a:r>
            <a:r>
              <a:rPr lang="fr-FR"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b="1" dirty="0">
                <a:latin typeface="Times New Roman" pitchFamily="18" charset="0"/>
                <a:cs typeface="Times New Roman" pitchFamily="18" charset="0"/>
              </a:rPr>
              <a:t>a) </a:t>
            </a:r>
            <a:r>
              <a:rPr lang="en-GB" b="1" dirty="0" err="1">
                <a:latin typeface="Times New Roman" pitchFamily="18" charset="0"/>
                <a:cs typeface="Times New Roman" pitchFamily="18" charset="0"/>
              </a:rPr>
              <a:t>Définitions</a:t>
            </a:r>
            <a:endParaRPr lang="fr-FR" b="1" dirty="0">
              <a:latin typeface="Times New Roman" pitchFamily="18" charset="0"/>
              <a:cs typeface="Times New Roman" pitchFamily="18" charset="0"/>
            </a:endParaRPr>
          </a:p>
          <a:p>
            <a:r>
              <a:rPr lang="fr-FR" dirty="0">
                <a:latin typeface="Times New Roman" pitchFamily="18" charset="0"/>
                <a:cs typeface="Times New Roman" pitchFamily="18" charset="0"/>
              </a:rPr>
              <a:t>- </a:t>
            </a:r>
            <a:r>
              <a:rPr lang="fr-FR" u="sng" dirty="0">
                <a:latin typeface="Times New Roman" pitchFamily="18" charset="0"/>
                <a:cs typeface="Times New Roman" pitchFamily="18" charset="0"/>
              </a:rPr>
              <a:t>expression écrite sous forme complètement </a:t>
            </a:r>
            <a:r>
              <a:rPr lang="fr-FR" u="sng" dirty="0" err="1">
                <a:latin typeface="Times New Roman" pitchFamily="18" charset="0"/>
                <a:cs typeface="Times New Roman" pitchFamily="18" charset="0"/>
              </a:rPr>
              <a:t>parenthésée</a:t>
            </a:r>
            <a:r>
              <a:rPr lang="fr-FR" dirty="0">
                <a:latin typeface="Times New Roman" pitchFamily="18" charset="0"/>
                <a:cs typeface="Times New Roman" pitchFamily="18" charset="0"/>
              </a:rPr>
              <a:t> est définie par les 4 règles suivantes :</a:t>
            </a:r>
          </a:p>
          <a:p>
            <a:r>
              <a:rPr lang="fr-FR" dirty="0">
                <a:latin typeface="Times New Roman" pitchFamily="18" charset="0"/>
                <a:cs typeface="Times New Roman" pitchFamily="18" charset="0"/>
              </a:rPr>
              <a:t>1) Une </a:t>
            </a:r>
            <a:r>
              <a:rPr lang="fr-FR" b="1" dirty="0">
                <a:latin typeface="Times New Roman" pitchFamily="18" charset="0"/>
                <a:cs typeface="Times New Roman" pitchFamily="18" charset="0"/>
              </a:rPr>
              <a:t>variable</a:t>
            </a:r>
            <a:r>
              <a:rPr lang="fr-FR" dirty="0">
                <a:latin typeface="Times New Roman" pitchFamily="18" charset="0"/>
                <a:cs typeface="Times New Roman" pitchFamily="18" charset="0"/>
              </a:rPr>
              <a:t> est une expression complètement </a:t>
            </a:r>
            <a:r>
              <a:rPr lang="fr-FR" dirty="0" err="1">
                <a:latin typeface="Times New Roman" pitchFamily="18" charset="0"/>
                <a:cs typeface="Times New Roman" pitchFamily="18" charset="0"/>
              </a:rPr>
              <a:t>parenthésée</a:t>
            </a:r>
            <a:r>
              <a:rPr lang="fr-FR" dirty="0">
                <a:latin typeface="Times New Roman" pitchFamily="18" charset="0"/>
                <a:cs typeface="Times New Roman" pitchFamily="18" charset="0"/>
              </a:rPr>
              <a:t> (</a:t>
            </a:r>
            <a:r>
              <a:rPr lang="fr-FR" dirty="0" err="1">
                <a:latin typeface="Times New Roman" pitchFamily="18" charset="0"/>
                <a:cs typeface="Times New Roman" pitchFamily="18" charset="0"/>
              </a:rPr>
              <a:t>excp</a:t>
            </a:r>
            <a:r>
              <a:rPr lang="fr-FR" dirty="0">
                <a:latin typeface="Times New Roman" pitchFamily="18" charset="0"/>
                <a:cs typeface="Times New Roman" pitchFamily="18" charset="0"/>
              </a:rPr>
              <a:t>).</a:t>
            </a:r>
          </a:p>
          <a:p>
            <a:r>
              <a:rPr lang="fr-FR" dirty="0">
                <a:latin typeface="Times New Roman" pitchFamily="18" charset="0"/>
                <a:cs typeface="Times New Roman" pitchFamily="18" charset="0"/>
              </a:rPr>
              <a:t>2) si x et y sont des </a:t>
            </a:r>
            <a:r>
              <a:rPr lang="fr-FR" dirty="0" err="1">
                <a:latin typeface="Times New Roman" pitchFamily="18" charset="0"/>
                <a:cs typeface="Times New Roman" pitchFamily="18" charset="0"/>
              </a:rPr>
              <a:t>excp</a:t>
            </a:r>
            <a:r>
              <a:rPr lang="fr-FR" dirty="0">
                <a:latin typeface="Times New Roman" pitchFamily="18" charset="0"/>
                <a:cs typeface="Times New Roman" pitchFamily="18" charset="0"/>
              </a:rPr>
              <a:t>, </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 un opérateur binaire, alors </a:t>
            </a:r>
            <a:r>
              <a:rPr lang="fr-FR" b="1" dirty="0">
                <a:latin typeface="Times New Roman" pitchFamily="18" charset="0"/>
                <a:cs typeface="Times New Roman" pitchFamily="18" charset="0"/>
              </a:rPr>
              <a:t>(x </a:t>
            </a:r>
            <a:r>
              <a:rPr lang="fr-FR" b="1" dirty="0">
                <a:latin typeface="Times New Roman" pitchFamily="18" charset="0"/>
                <a:cs typeface="Times New Roman" pitchFamily="18" charset="0"/>
                <a:sym typeface="Symbol"/>
              </a:rPr>
              <a:t></a:t>
            </a:r>
            <a:r>
              <a:rPr lang="fr-FR" b="1" dirty="0">
                <a:latin typeface="Times New Roman" pitchFamily="18" charset="0"/>
                <a:cs typeface="Times New Roman" pitchFamily="18" charset="0"/>
              </a:rPr>
              <a:t> y) </a:t>
            </a:r>
            <a:r>
              <a:rPr lang="fr-FR" dirty="0">
                <a:latin typeface="Times New Roman" pitchFamily="18" charset="0"/>
                <a:cs typeface="Times New Roman" pitchFamily="18" charset="0"/>
              </a:rPr>
              <a:t>est une </a:t>
            </a:r>
            <a:r>
              <a:rPr lang="fr-FR" dirty="0" err="1">
                <a:latin typeface="Times New Roman" pitchFamily="18" charset="0"/>
                <a:cs typeface="Times New Roman" pitchFamily="18" charset="0"/>
              </a:rPr>
              <a:t>excp</a:t>
            </a:r>
            <a:r>
              <a:rPr lang="fr-FR" dirty="0">
                <a:latin typeface="Times New Roman" pitchFamily="18" charset="0"/>
                <a:cs typeface="Times New Roman" pitchFamily="18" charset="0"/>
              </a:rPr>
              <a:t>.</a:t>
            </a:r>
          </a:p>
          <a:p>
            <a:r>
              <a:rPr lang="fr-FR" dirty="0">
                <a:latin typeface="Times New Roman" pitchFamily="18" charset="0"/>
                <a:cs typeface="Times New Roman" pitchFamily="18" charset="0"/>
              </a:rPr>
              <a:t>3) si x est une </a:t>
            </a:r>
            <a:r>
              <a:rPr lang="fr-FR" dirty="0" err="1">
                <a:latin typeface="Times New Roman" pitchFamily="18" charset="0"/>
                <a:cs typeface="Times New Roman" pitchFamily="18" charset="0"/>
              </a:rPr>
              <a:t>excp</a:t>
            </a:r>
            <a:r>
              <a:rPr lang="fr-FR" dirty="0">
                <a:latin typeface="Times New Roman" pitchFamily="18" charset="0"/>
                <a:cs typeface="Times New Roman" pitchFamily="18" charset="0"/>
              </a:rPr>
              <a:t>, </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 un opérateur unaire, alors </a:t>
            </a:r>
            <a:r>
              <a:rPr lang="fr-FR" b="1" dirty="0">
                <a:latin typeface="Times New Roman" pitchFamily="18" charset="0"/>
                <a:cs typeface="Times New Roman" pitchFamily="18" charset="0"/>
              </a:rPr>
              <a:t>(</a:t>
            </a:r>
            <a:r>
              <a:rPr lang="fr-FR" b="1" dirty="0">
                <a:latin typeface="Times New Roman" pitchFamily="18" charset="0"/>
                <a:cs typeface="Times New Roman" pitchFamily="18" charset="0"/>
                <a:sym typeface="Symbol"/>
              </a:rPr>
              <a:t></a:t>
            </a:r>
            <a:r>
              <a:rPr lang="fr-FR" b="1" dirty="0">
                <a:latin typeface="Times New Roman" pitchFamily="18" charset="0"/>
                <a:cs typeface="Times New Roman" pitchFamily="18" charset="0"/>
              </a:rPr>
              <a:t>x)</a:t>
            </a:r>
            <a:r>
              <a:rPr lang="fr-FR" dirty="0">
                <a:latin typeface="Times New Roman" pitchFamily="18" charset="0"/>
                <a:cs typeface="Times New Roman" pitchFamily="18" charset="0"/>
              </a:rPr>
              <a:t> est une </a:t>
            </a:r>
            <a:r>
              <a:rPr lang="fr-FR" dirty="0" err="1">
                <a:latin typeface="Times New Roman" pitchFamily="18" charset="0"/>
                <a:cs typeface="Times New Roman" pitchFamily="18" charset="0"/>
              </a:rPr>
              <a:t>excp</a:t>
            </a:r>
            <a:r>
              <a:rPr lang="fr-FR" dirty="0">
                <a:latin typeface="Times New Roman" pitchFamily="18" charset="0"/>
                <a:cs typeface="Times New Roman" pitchFamily="18" charset="0"/>
              </a:rPr>
              <a:t>.</a:t>
            </a:r>
          </a:p>
          <a:p>
            <a:r>
              <a:rPr lang="fr-FR" dirty="0">
                <a:latin typeface="Times New Roman" pitchFamily="18" charset="0"/>
                <a:cs typeface="Times New Roman" pitchFamily="18" charset="0"/>
              </a:rPr>
              <a:t>4) Il n’y a pas d’autres </a:t>
            </a:r>
            <a:r>
              <a:rPr lang="fr-FR" dirty="0" err="1">
                <a:latin typeface="Times New Roman" pitchFamily="18" charset="0"/>
                <a:cs typeface="Times New Roman" pitchFamily="18" charset="0"/>
              </a:rPr>
              <a:t>excp</a:t>
            </a:r>
            <a:r>
              <a:rPr lang="fr-FR" dirty="0">
                <a:latin typeface="Times New Roman" pitchFamily="18" charset="0"/>
                <a:cs typeface="Times New Roman" pitchFamily="18" charset="0"/>
              </a:rPr>
              <a:t> que celles formées à partir des règles précédentes.</a:t>
            </a:r>
          </a:p>
        </p:txBody>
      </p:sp>
    </p:spTree>
    <p:extLst>
      <p:ext uri="{BB962C8B-B14F-4D97-AF65-F5344CB8AC3E}">
        <p14:creationId xmlns:p14="http://schemas.microsoft.com/office/powerpoint/2010/main" val="6623789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080" y="382350"/>
            <a:ext cx="11917680" cy="6186309"/>
          </a:xfrm>
          <a:prstGeom prst="rect">
            <a:avLst/>
          </a:prstGeom>
        </p:spPr>
        <p:txBody>
          <a:bodyPr wrap="square">
            <a:spAutoFit/>
          </a:bodyPr>
          <a:lstStyle/>
          <a:p>
            <a:pPr lvl="0" algn="just" fontAlgn="base">
              <a:spcBef>
                <a:spcPct val="0"/>
              </a:spcBef>
              <a:spcAft>
                <a:spcPct val="0"/>
              </a:spcAft>
            </a:pPr>
            <a:r>
              <a:rPr lang="fr-FR" dirty="0">
                <a:latin typeface="Times New Roman" pitchFamily="18" charset="0"/>
                <a:ea typeface="Times New Roman" pitchFamily="18" charset="0"/>
                <a:cs typeface="Times New Roman" pitchFamily="18" charset="0"/>
              </a:rPr>
              <a:t>On peut donner la grammaire BNF (Backus-Naur </a:t>
            </a:r>
            <a:r>
              <a:rPr lang="fr-FR" dirty="0" err="1">
                <a:latin typeface="Times New Roman" pitchFamily="18" charset="0"/>
                <a:ea typeface="Times New Roman" pitchFamily="18" charset="0"/>
                <a:cs typeface="Times New Roman" pitchFamily="18" charset="0"/>
              </a:rPr>
              <a:t>Form</a:t>
            </a:r>
            <a:r>
              <a:rPr lang="fr-FR" dirty="0">
                <a:latin typeface="Times New Roman" pitchFamily="18" charset="0"/>
                <a:ea typeface="Times New Roman" pitchFamily="18" charset="0"/>
                <a:cs typeface="Times New Roman" pitchFamily="18" charset="0"/>
              </a:rPr>
              <a:t>) qui résume les définitions :</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&lt;</a:t>
            </a:r>
            <a:r>
              <a:rPr lang="fr-FR" dirty="0" err="1">
                <a:latin typeface="Times New Roman" pitchFamily="18" charset="0"/>
                <a:ea typeface="Times New Roman" pitchFamily="18" charset="0"/>
                <a:cs typeface="Times New Roman" pitchFamily="18" charset="0"/>
              </a:rPr>
              <a:t>excp</a:t>
            </a:r>
            <a:r>
              <a:rPr lang="fr-FR" dirty="0">
                <a:latin typeface="Times New Roman" pitchFamily="18" charset="0"/>
                <a:ea typeface="Times New Roman" pitchFamily="18" charset="0"/>
                <a:cs typeface="Times New Roman" pitchFamily="18" charset="0"/>
              </a:rPr>
              <a:t>&gt;::=(&lt;</a:t>
            </a:r>
            <a:r>
              <a:rPr lang="fr-FR" dirty="0" err="1">
                <a:latin typeface="Times New Roman" pitchFamily="18" charset="0"/>
                <a:ea typeface="Times New Roman" pitchFamily="18" charset="0"/>
                <a:cs typeface="Times New Roman" pitchFamily="18" charset="0"/>
              </a:rPr>
              <a:t>excp</a:t>
            </a:r>
            <a:r>
              <a:rPr lang="fr-FR" dirty="0">
                <a:latin typeface="Times New Roman" pitchFamily="18" charset="0"/>
                <a:ea typeface="Times New Roman" pitchFamily="18" charset="0"/>
                <a:cs typeface="Times New Roman" pitchFamily="18" charset="0"/>
              </a:rPr>
              <a:t>&gt;&lt;</a:t>
            </a:r>
            <a:r>
              <a:rPr lang="fr-FR" dirty="0" err="1">
                <a:latin typeface="Times New Roman" pitchFamily="18" charset="0"/>
                <a:ea typeface="Times New Roman" pitchFamily="18" charset="0"/>
                <a:cs typeface="Times New Roman" pitchFamily="18" charset="0"/>
              </a:rPr>
              <a:t>opbin</a:t>
            </a:r>
            <a:r>
              <a:rPr lang="fr-FR" dirty="0">
                <a:latin typeface="Times New Roman" pitchFamily="18" charset="0"/>
                <a:ea typeface="Times New Roman" pitchFamily="18" charset="0"/>
                <a:cs typeface="Times New Roman" pitchFamily="18" charset="0"/>
              </a:rPr>
              <a:t>&gt;&lt;</a:t>
            </a:r>
            <a:r>
              <a:rPr lang="fr-FR" dirty="0" err="1">
                <a:latin typeface="Times New Roman" pitchFamily="18" charset="0"/>
                <a:ea typeface="Times New Roman" pitchFamily="18" charset="0"/>
                <a:cs typeface="Times New Roman" pitchFamily="18" charset="0"/>
              </a:rPr>
              <a:t>excp</a:t>
            </a:r>
            <a:r>
              <a:rPr lang="fr-FR" dirty="0">
                <a:latin typeface="Times New Roman" pitchFamily="18" charset="0"/>
                <a:ea typeface="Times New Roman" pitchFamily="18" charset="0"/>
                <a:cs typeface="Times New Roman" pitchFamily="18" charset="0"/>
              </a:rPr>
              <a:t>&gt;)|(&lt;</a:t>
            </a:r>
            <a:r>
              <a:rPr lang="fr-FR" dirty="0" err="1">
                <a:latin typeface="Times New Roman" pitchFamily="18" charset="0"/>
                <a:ea typeface="Times New Roman" pitchFamily="18" charset="0"/>
                <a:cs typeface="Times New Roman" pitchFamily="18" charset="0"/>
              </a:rPr>
              <a:t>opun</a:t>
            </a:r>
            <a:r>
              <a:rPr lang="fr-FR" dirty="0">
                <a:latin typeface="Times New Roman" pitchFamily="18" charset="0"/>
                <a:ea typeface="Times New Roman" pitchFamily="18" charset="0"/>
                <a:cs typeface="Times New Roman" pitchFamily="18" charset="0"/>
              </a:rPr>
              <a:t>&gt;&lt;</a:t>
            </a:r>
            <a:r>
              <a:rPr lang="fr-FR" dirty="0" err="1">
                <a:latin typeface="Times New Roman" pitchFamily="18" charset="0"/>
                <a:ea typeface="Times New Roman" pitchFamily="18" charset="0"/>
                <a:cs typeface="Times New Roman" pitchFamily="18" charset="0"/>
              </a:rPr>
              <a:t>excp</a:t>
            </a:r>
            <a:r>
              <a:rPr lang="fr-FR" dirty="0">
                <a:latin typeface="Times New Roman" pitchFamily="18" charset="0"/>
                <a:ea typeface="Times New Roman" pitchFamily="18" charset="0"/>
                <a:cs typeface="Times New Roman" pitchFamily="18" charset="0"/>
              </a:rPr>
              <a:t>&gt;)|&lt;variable&gt;</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&lt;</a:t>
            </a:r>
            <a:r>
              <a:rPr lang="fr-FR" dirty="0" err="1">
                <a:latin typeface="Times New Roman" pitchFamily="18" charset="0"/>
                <a:ea typeface="Times New Roman" pitchFamily="18" charset="0"/>
                <a:cs typeface="Times New Roman" pitchFamily="18" charset="0"/>
              </a:rPr>
              <a:t>opbin</a:t>
            </a:r>
            <a:r>
              <a:rPr lang="fr-FR" dirty="0">
                <a:latin typeface="Times New Roman" pitchFamily="18" charset="0"/>
                <a:ea typeface="Times New Roman" pitchFamily="18" charset="0"/>
                <a:cs typeface="Times New Roman" pitchFamily="18" charset="0"/>
              </a:rPr>
              <a:t>&gt; ::= + | - | * | / | &lt; | </a:t>
            </a:r>
            <a:r>
              <a:rPr lang="fr-FR" dirty="0">
                <a:latin typeface="Times New Roman" pitchFamily="18" charset="0"/>
                <a:ea typeface="Times New Roman" pitchFamily="18" charset="0"/>
                <a:cs typeface="Times New Roman" pitchFamily="18" charset="0"/>
                <a:sym typeface="Symbol" pitchFamily="18" charset="2"/>
              </a:rPr>
              <a:t></a:t>
            </a:r>
            <a:r>
              <a:rPr lang="fr-FR" dirty="0">
                <a:latin typeface="Times New Roman" pitchFamily="18" charset="0"/>
                <a:ea typeface="Times New Roman" pitchFamily="18" charset="0"/>
                <a:cs typeface="Times New Roman" pitchFamily="18" charset="0"/>
              </a:rPr>
              <a:t> | = | </a:t>
            </a:r>
            <a:r>
              <a:rPr lang="fr-FR" dirty="0">
                <a:latin typeface="Times New Roman" pitchFamily="18" charset="0"/>
                <a:ea typeface="Times New Roman" pitchFamily="18" charset="0"/>
                <a:cs typeface="Times New Roman" pitchFamily="18" charset="0"/>
                <a:sym typeface="Symbol" pitchFamily="18" charset="2"/>
              </a:rPr>
              <a:t></a:t>
            </a:r>
            <a:r>
              <a:rPr lang="fr-FR" dirty="0">
                <a:latin typeface="Times New Roman" pitchFamily="18" charset="0"/>
                <a:ea typeface="Times New Roman" pitchFamily="18" charset="0"/>
                <a:cs typeface="Times New Roman" pitchFamily="18" charset="0"/>
              </a:rPr>
              <a:t> | &gt; | </a:t>
            </a:r>
            <a:r>
              <a:rPr lang="fr-FR" dirty="0">
                <a:latin typeface="Times New Roman" pitchFamily="18" charset="0"/>
                <a:ea typeface="Times New Roman" pitchFamily="18" charset="0"/>
                <a:cs typeface="Times New Roman" pitchFamily="18" charset="0"/>
                <a:sym typeface="Symbol" pitchFamily="18" charset="2"/>
              </a:rPr>
              <a:t></a:t>
            </a:r>
            <a:r>
              <a:rPr lang="fr-FR" dirty="0">
                <a:latin typeface="Times New Roman" pitchFamily="18" charset="0"/>
                <a:ea typeface="Times New Roman" pitchFamily="18" charset="0"/>
                <a:cs typeface="Times New Roman" pitchFamily="18" charset="0"/>
              </a:rPr>
              <a:t> | </a:t>
            </a:r>
            <a:r>
              <a:rPr lang="fr-FR" dirty="0">
                <a:latin typeface="Times New Roman" pitchFamily="18" charset="0"/>
                <a:ea typeface="Times New Roman" pitchFamily="18" charset="0"/>
                <a:cs typeface="Times New Roman" pitchFamily="18" charset="0"/>
                <a:sym typeface="Symbol" pitchFamily="18" charset="2"/>
              </a:rPr>
              <a:t></a:t>
            </a:r>
            <a:r>
              <a:rPr lang="fr-FR" dirty="0">
                <a:latin typeface="Times New Roman" pitchFamily="18" charset="0"/>
                <a:ea typeface="Times New Roman" pitchFamily="18" charset="0"/>
                <a:cs typeface="Times New Roman" pitchFamily="18" charset="0"/>
              </a:rPr>
              <a:t> | v</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Symbol" pitchFamily="18" charset="2"/>
              </a:rPr>
              <a:t>&lt;</a:t>
            </a:r>
            <a:r>
              <a:rPr lang="fr-FR" dirty="0" err="1">
                <a:latin typeface="Times New Roman" pitchFamily="18" charset="0"/>
                <a:ea typeface="Times New Roman" pitchFamily="18" charset="0"/>
                <a:cs typeface="Times New Roman" pitchFamily="18" charset="0"/>
                <a:sym typeface="Symbol" pitchFamily="18" charset="2"/>
              </a:rPr>
              <a:t>opun</a:t>
            </a:r>
            <a:r>
              <a:rPr lang="fr-FR" dirty="0">
                <a:latin typeface="Times New Roman" pitchFamily="18" charset="0"/>
                <a:ea typeface="Times New Roman" pitchFamily="18" charset="0"/>
                <a:cs typeface="Times New Roman" pitchFamily="18" charset="0"/>
                <a:sym typeface="Symbol" pitchFamily="18" charset="2"/>
              </a:rPr>
              <a:t>&gt; ::= </a:t>
            </a:r>
            <a:r>
              <a:rPr lang="fr-FR" dirty="0">
                <a:latin typeface="Times New Roman" pitchFamily="18" charset="0"/>
                <a:ea typeface="Times New Roman" pitchFamily="18" charset="0"/>
                <a:cs typeface="Times New Roman" pitchFamily="18" charset="0"/>
              </a:rPr>
              <a:t> | </a:t>
            </a:r>
            <a:r>
              <a:rPr lang="fr-FR" dirty="0">
                <a:latin typeface="Times New Roman" pitchFamily="18" charset="0"/>
                <a:ea typeface="Times New Roman" pitchFamily="18" charset="0"/>
                <a:cs typeface="Times New Roman" pitchFamily="18" charset="0"/>
                <a:sym typeface="Symbol" pitchFamily="18" charset="2"/>
              </a:rPr>
              <a:t></a:t>
            </a:r>
            <a:r>
              <a:rPr lang="fr-FR" dirty="0">
                <a:latin typeface="Times New Roman" pitchFamily="18" charset="0"/>
                <a:ea typeface="Times New Roman" pitchFamily="18" charset="0"/>
                <a:cs typeface="Times New Roman" pitchFamily="18" charset="0"/>
              </a:rPr>
              <a:t> | </a:t>
            </a:r>
            <a:r>
              <a:rPr lang="fr-FR" dirty="0">
                <a:latin typeface="Times New Roman" pitchFamily="18" charset="0"/>
                <a:ea typeface="Times New Roman" pitchFamily="18" charset="0"/>
                <a:cs typeface="Times New Roman" pitchFamily="18" charset="0"/>
                <a:sym typeface="Symbol" pitchFamily="18" charset="2"/>
              </a:rPr>
              <a:t>  (+ et – unaires, ! pour les opérateurs logiques).</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Symbol" pitchFamily="18" charset="2"/>
              </a:rPr>
              <a:t>&lt;variable&gt; ::= A | B | C…| Z</a:t>
            </a:r>
          </a:p>
          <a:p>
            <a:pPr lvl="0" algn="just" eaLnBrk="0" fontAlgn="base" hangingPunct="0">
              <a:spcBef>
                <a:spcPct val="0"/>
              </a:spcBef>
              <a:spcAft>
                <a:spcPct val="0"/>
              </a:spcAft>
            </a:pPr>
            <a:endParaRPr lang="en-GB" dirty="0">
              <a:latin typeface="Times New Roman" pitchFamily="18" charset="0"/>
              <a:ea typeface="Times New Roman" pitchFamily="18" charset="0"/>
              <a:cs typeface="Times New Roman" pitchFamily="18" charset="0"/>
              <a:sym typeface="Symbol" pitchFamily="18" charset="2"/>
            </a:endParaRPr>
          </a:p>
          <a:p>
            <a:r>
              <a:rPr lang="fr-FR" u="sng" dirty="0">
                <a:latin typeface="Times New Roman" pitchFamily="18" charset="0"/>
                <a:cs typeface="Times New Roman" pitchFamily="18" charset="0"/>
              </a:rPr>
              <a:t>Exemples</a:t>
            </a:r>
            <a:r>
              <a:rPr lang="fr-FR" dirty="0">
                <a:latin typeface="Times New Roman" pitchFamily="18" charset="0"/>
                <a:cs typeface="Times New Roman" pitchFamily="18" charset="0"/>
              </a:rPr>
              <a:t> des </a:t>
            </a:r>
            <a:r>
              <a:rPr lang="fr-FR" dirty="0" err="1">
                <a:latin typeface="Times New Roman" pitchFamily="18" charset="0"/>
                <a:cs typeface="Times New Roman" pitchFamily="18" charset="0"/>
              </a:rPr>
              <a:t>excp</a:t>
            </a:r>
            <a:r>
              <a:rPr lang="fr-FR" dirty="0">
                <a:latin typeface="Times New Roman" pitchFamily="18" charset="0"/>
                <a:cs typeface="Times New Roman" pitchFamily="18" charset="0"/>
              </a:rPr>
              <a:t> : ((A+B)*C); (((A/B)=C)</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(E&lt;F)); (</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A).</a:t>
            </a:r>
          </a:p>
          <a:p>
            <a:r>
              <a:rPr lang="fr-FR" dirty="0">
                <a:latin typeface="Times New Roman" pitchFamily="18" charset="0"/>
                <a:cs typeface="Times New Roman" pitchFamily="18" charset="0"/>
              </a:rPr>
              <a:t>Les expressions qui ne sont pas des </a:t>
            </a:r>
            <a:r>
              <a:rPr lang="fr-FR" dirty="0" err="1">
                <a:latin typeface="Times New Roman" pitchFamily="18" charset="0"/>
                <a:cs typeface="Times New Roman" pitchFamily="18" charset="0"/>
              </a:rPr>
              <a:t>excp</a:t>
            </a:r>
            <a:r>
              <a:rPr lang="fr-FR" dirty="0">
                <a:latin typeface="Times New Roman" pitchFamily="18" charset="0"/>
                <a:cs typeface="Times New Roman" pitchFamily="18" charset="0"/>
              </a:rPr>
              <a:t> : (A), ((A+B)), A</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 B.</a:t>
            </a:r>
          </a:p>
          <a:p>
            <a:pPr lvl="0" algn="just" eaLnBrk="0" fontAlgn="base" hangingPunct="0">
              <a:spcBef>
                <a:spcPct val="0"/>
              </a:spcBef>
              <a:spcAft>
                <a:spcPct val="0"/>
              </a:spcAft>
            </a:pPr>
            <a:endParaRPr lang="en-GB" dirty="0">
              <a:latin typeface="Times New Roman" pitchFamily="18" charset="0"/>
              <a:ea typeface="Times New Roman" pitchFamily="18" charset="0"/>
              <a:cs typeface="Times New Roman" pitchFamily="18" charset="0"/>
              <a:sym typeface="Symbol" pitchFamily="18" charset="2"/>
            </a:endParaRPr>
          </a:p>
          <a:p>
            <a:r>
              <a:rPr lang="fr-FR" dirty="0">
                <a:latin typeface="Times New Roman" pitchFamily="18" charset="0"/>
                <a:cs typeface="Times New Roman" pitchFamily="18" charset="0"/>
              </a:rPr>
              <a:t>- </a:t>
            </a:r>
            <a:r>
              <a:rPr lang="fr-FR" u="sng" dirty="0">
                <a:latin typeface="Times New Roman" pitchFamily="18" charset="0"/>
                <a:cs typeface="Times New Roman" pitchFamily="18" charset="0"/>
              </a:rPr>
              <a:t>Expression écrite sous forme préfixée</a:t>
            </a:r>
            <a:endParaRPr lang="fr-FR" dirty="0">
              <a:latin typeface="Times New Roman" pitchFamily="18" charset="0"/>
              <a:cs typeface="Times New Roman" pitchFamily="18" charset="0"/>
            </a:endParaRPr>
          </a:p>
          <a:p>
            <a:r>
              <a:rPr lang="fr-FR" dirty="0">
                <a:latin typeface="Times New Roman" pitchFamily="18" charset="0"/>
                <a:cs typeface="Times New Roman" pitchFamily="18" charset="0"/>
              </a:rPr>
              <a:t>On peut définir l’écriture préfixée d’une expression par les 4 règles :</a:t>
            </a:r>
          </a:p>
          <a:p>
            <a:r>
              <a:rPr lang="fr-FR" dirty="0">
                <a:latin typeface="Times New Roman" pitchFamily="18" charset="0"/>
                <a:cs typeface="Times New Roman" pitchFamily="18" charset="0"/>
              </a:rPr>
              <a:t>1) Une </a:t>
            </a:r>
            <a:r>
              <a:rPr lang="fr-FR" b="1" dirty="0">
                <a:latin typeface="Times New Roman" pitchFamily="18" charset="0"/>
                <a:cs typeface="Times New Roman" pitchFamily="18" charset="0"/>
              </a:rPr>
              <a:t>variable</a:t>
            </a:r>
            <a:r>
              <a:rPr lang="fr-FR" dirty="0">
                <a:latin typeface="Times New Roman" pitchFamily="18" charset="0"/>
                <a:cs typeface="Times New Roman" pitchFamily="18" charset="0"/>
              </a:rPr>
              <a:t> est une expression préfixée (</a:t>
            </a:r>
            <a:r>
              <a:rPr lang="fr-FR" dirty="0" err="1">
                <a:latin typeface="Times New Roman" pitchFamily="18" charset="0"/>
                <a:cs typeface="Times New Roman" pitchFamily="18" charset="0"/>
              </a:rPr>
              <a:t>expref</a:t>
            </a:r>
            <a:r>
              <a:rPr lang="fr-FR" dirty="0">
                <a:latin typeface="Times New Roman" pitchFamily="18" charset="0"/>
                <a:cs typeface="Times New Roman" pitchFamily="18" charset="0"/>
              </a:rPr>
              <a:t>).</a:t>
            </a:r>
          </a:p>
          <a:p>
            <a:r>
              <a:rPr lang="fr-FR" dirty="0">
                <a:latin typeface="Times New Roman" pitchFamily="18" charset="0"/>
                <a:cs typeface="Times New Roman" pitchFamily="18" charset="0"/>
              </a:rPr>
              <a:t>2) Si x et y sont des </a:t>
            </a:r>
            <a:r>
              <a:rPr lang="fr-FR" dirty="0" err="1">
                <a:latin typeface="Times New Roman" pitchFamily="18" charset="0"/>
                <a:cs typeface="Times New Roman" pitchFamily="18" charset="0"/>
              </a:rPr>
              <a:t>expref</a:t>
            </a:r>
            <a:r>
              <a:rPr lang="fr-FR" dirty="0">
                <a:latin typeface="Times New Roman" pitchFamily="18" charset="0"/>
                <a:cs typeface="Times New Roman" pitchFamily="18" charset="0"/>
              </a:rPr>
              <a:t>, </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 un opérateur binaire, alors </a:t>
            </a:r>
            <a:r>
              <a:rPr lang="fr-FR" b="1" dirty="0">
                <a:latin typeface="Times New Roman" pitchFamily="18" charset="0"/>
                <a:cs typeface="Times New Roman" pitchFamily="18" charset="0"/>
                <a:sym typeface="Symbol"/>
              </a:rPr>
              <a:t></a:t>
            </a:r>
            <a:r>
              <a:rPr lang="fr-FR" b="1" dirty="0" err="1">
                <a:latin typeface="Times New Roman" pitchFamily="18" charset="0"/>
                <a:cs typeface="Times New Roman" pitchFamily="18" charset="0"/>
              </a:rPr>
              <a:t>xy</a:t>
            </a:r>
            <a:r>
              <a:rPr lang="fr-FR" dirty="0">
                <a:latin typeface="Times New Roman" pitchFamily="18" charset="0"/>
                <a:cs typeface="Times New Roman" pitchFamily="18" charset="0"/>
              </a:rPr>
              <a:t> est une </a:t>
            </a:r>
            <a:r>
              <a:rPr lang="fr-FR" dirty="0" err="1">
                <a:latin typeface="Times New Roman" pitchFamily="18" charset="0"/>
                <a:cs typeface="Times New Roman" pitchFamily="18" charset="0"/>
              </a:rPr>
              <a:t>expref</a:t>
            </a:r>
            <a:r>
              <a:rPr lang="fr-FR" dirty="0">
                <a:latin typeface="Times New Roman" pitchFamily="18" charset="0"/>
                <a:cs typeface="Times New Roman" pitchFamily="18" charset="0"/>
              </a:rPr>
              <a:t>.</a:t>
            </a:r>
          </a:p>
          <a:p>
            <a:r>
              <a:rPr lang="fr-FR" dirty="0">
                <a:latin typeface="Times New Roman" pitchFamily="18" charset="0"/>
                <a:cs typeface="Times New Roman" pitchFamily="18" charset="0"/>
              </a:rPr>
              <a:t>3) si x est une </a:t>
            </a:r>
            <a:r>
              <a:rPr lang="fr-FR" dirty="0" err="1">
                <a:latin typeface="Times New Roman" pitchFamily="18" charset="0"/>
                <a:cs typeface="Times New Roman" pitchFamily="18" charset="0"/>
              </a:rPr>
              <a:t>expref</a:t>
            </a:r>
            <a:r>
              <a:rPr lang="fr-FR" dirty="0">
                <a:latin typeface="Times New Roman" pitchFamily="18" charset="0"/>
                <a:cs typeface="Times New Roman" pitchFamily="18" charset="0"/>
              </a:rPr>
              <a:t>, </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 un opérateur unaire, alors </a:t>
            </a:r>
            <a:r>
              <a:rPr lang="fr-FR" b="1" dirty="0">
                <a:latin typeface="Times New Roman" pitchFamily="18" charset="0"/>
                <a:cs typeface="Times New Roman" pitchFamily="18" charset="0"/>
                <a:sym typeface="Symbol"/>
              </a:rPr>
              <a:t></a:t>
            </a:r>
            <a:r>
              <a:rPr lang="fr-FR" b="1" dirty="0">
                <a:latin typeface="Times New Roman" pitchFamily="18" charset="0"/>
                <a:cs typeface="Times New Roman" pitchFamily="18" charset="0"/>
              </a:rPr>
              <a:t>x</a:t>
            </a:r>
            <a:r>
              <a:rPr lang="fr-FR" dirty="0">
                <a:latin typeface="Times New Roman" pitchFamily="18" charset="0"/>
                <a:cs typeface="Times New Roman" pitchFamily="18" charset="0"/>
              </a:rPr>
              <a:t> est une </a:t>
            </a:r>
            <a:r>
              <a:rPr lang="fr-FR" dirty="0" err="1">
                <a:latin typeface="Times New Roman" pitchFamily="18" charset="0"/>
                <a:cs typeface="Times New Roman" pitchFamily="18" charset="0"/>
              </a:rPr>
              <a:t>expref</a:t>
            </a:r>
            <a:r>
              <a:rPr lang="fr-FR" dirty="0">
                <a:latin typeface="Times New Roman" pitchFamily="18" charset="0"/>
                <a:cs typeface="Times New Roman" pitchFamily="18" charset="0"/>
              </a:rPr>
              <a:t>.</a:t>
            </a:r>
          </a:p>
          <a:p>
            <a:r>
              <a:rPr lang="fr-FR" dirty="0">
                <a:latin typeface="Times New Roman" pitchFamily="18" charset="0"/>
                <a:cs typeface="Times New Roman" pitchFamily="18" charset="0"/>
              </a:rPr>
              <a:t>4) Il n’y a pas d’autres </a:t>
            </a:r>
            <a:r>
              <a:rPr lang="fr-FR" dirty="0" err="1">
                <a:latin typeface="Times New Roman" pitchFamily="18" charset="0"/>
                <a:cs typeface="Times New Roman" pitchFamily="18" charset="0"/>
              </a:rPr>
              <a:t>expref</a:t>
            </a:r>
            <a:r>
              <a:rPr lang="fr-FR" dirty="0">
                <a:latin typeface="Times New Roman" pitchFamily="18" charset="0"/>
                <a:cs typeface="Times New Roman" pitchFamily="18" charset="0"/>
              </a:rPr>
              <a:t> que celles formées à partir des règles précédentes.</a:t>
            </a:r>
          </a:p>
          <a:p>
            <a:r>
              <a:rPr lang="fr-FR" dirty="0">
                <a:latin typeface="Times New Roman" pitchFamily="18" charset="0"/>
                <a:cs typeface="Times New Roman" pitchFamily="18" charset="0"/>
              </a:rPr>
              <a:t> </a:t>
            </a:r>
          </a:p>
          <a:p>
            <a:r>
              <a:rPr lang="fr-FR" dirty="0">
                <a:latin typeface="Times New Roman" pitchFamily="18" charset="0"/>
                <a:cs typeface="Times New Roman" pitchFamily="18" charset="0"/>
              </a:rPr>
              <a:t>Dans la grammaire BNF, les règles sont remplacées par :</a:t>
            </a:r>
          </a:p>
          <a:p>
            <a:r>
              <a:rPr lang="en-GB" dirty="0">
                <a:latin typeface="Times New Roman" pitchFamily="18" charset="0"/>
                <a:cs typeface="Times New Roman" pitchFamily="18" charset="0"/>
              </a:rPr>
              <a:t>&lt;</a:t>
            </a:r>
            <a:r>
              <a:rPr lang="en-GB" dirty="0" err="1">
                <a:latin typeface="Times New Roman" pitchFamily="18" charset="0"/>
                <a:cs typeface="Times New Roman" pitchFamily="18" charset="0"/>
              </a:rPr>
              <a:t>expref</a:t>
            </a:r>
            <a:r>
              <a:rPr lang="en-GB" dirty="0">
                <a:latin typeface="Times New Roman" pitchFamily="18" charset="0"/>
                <a:cs typeface="Times New Roman" pitchFamily="18" charset="0"/>
              </a:rPr>
              <a:t>&gt;::= (&lt;</a:t>
            </a:r>
            <a:r>
              <a:rPr lang="en-GB" dirty="0" err="1">
                <a:latin typeface="Times New Roman" pitchFamily="18" charset="0"/>
                <a:cs typeface="Times New Roman" pitchFamily="18" charset="0"/>
              </a:rPr>
              <a:t>opbin</a:t>
            </a:r>
            <a:r>
              <a:rPr lang="en-GB" dirty="0">
                <a:latin typeface="Times New Roman" pitchFamily="18" charset="0"/>
                <a:cs typeface="Times New Roman" pitchFamily="18" charset="0"/>
              </a:rPr>
              <a:t>&gt;&lt;</a:t>
            </a:r>
            <a:r>
              <a:rPr lang="en-GB" dirty="0" err="1">
                <a:latin typeface="Times New Roman" pitchFamily="18" charset="0"/>
                <a:cs typeface="Times New Roman" pitchFamily="18" charset="0"/>
              </a:rPr>
              <a:t>expref</a:t>
            </a:r>
            <a:r>
              <a:rPr lang="en-GB" dirty="0">
                <a:latin typeface="Times New Roman" pitchFamily="18" charset="0"/>
                <a:cs typeface="Times New Roman" pitchFamily="18" charset="0"/>
              </a:rPr>
              <a:t>&gt;&lt;</a:t>
            </a:r>
            <a:r>
              <a:rPr lang="en-GB" dirty="0" err="1">
                <a:latin typeface="Times New Roman" pitchFamily="18" charset="0"/>
                <a:cs typeface="Times New Roman" pitchFamily="18" charset="0"/>
              </a:rPr>
              <a:t>expref</a:t>
            </a:r>
            <a:r>
              <a:rPr lang="en-GB" dirty="0">
                <a:latin typeface="Times New Roman" pitchFamily="18" charset="0"/>
                <a:cs typeface="Times New Roman" pitchFamily="18" charset="0"/>
              </a:rPr>
              <a:t>&gt;)|&lt;</a:t>
            </a:r>
            <a:r>
              <a:rPr lang="en-GB" dirty="0" err="1">
                <a:latin typeface="Times New Roman" pitchFamily="18" charset="0"/>
                <a:cs typeface="Times New Roman" pitchFamily="18" charset="0"/>
              </a:rPr>
              <a:t>opun</a:t>
            </a:r>
            <a:r>
              <a:rPr lang="en-GB" dirty="0">
                <a:latin typeface="Times New Roman" pitchFamily="18" charset="0"/>
                <a:cs typeface="Times New Roman" pitchFamily="18" charset="0"/>
              </a:rPr>
              <a:t>&gt;&lt; &lt;</a:t>
            </a:r>
            <a:r>
              <a:rPr lang="en-GB" dirty="0" err="1">
                <a:latin typeface="Times New Roman" pitchFamily="18" charset="0"/>
                <a:cs typeface="Times New Roman" pitchFamily="18" charset="0"/>
              </a:rPr>
              <a:t>expref</a:t>
            </a:r>
            <a:r>
              <a:rPr lang="en-GB" dirty="0">
                <a:latin typeface="Times New Roman" pitchFamily="18" charset="0"/>
                <a:cs typeface="Times New Roman" pitchFamily="18" charset="0"/>
              </a:rPr>
              <a:t> &gt;|&lt;variable&gt;.</a:t>
            </a:r>
            <a:endParaRPr lang="fr-FR" dirty="0">
              <a:latin typeface="Times New Roman" pitchFamily="18" charset="0"/>
              <a:cs typeface="Times New Roman" pitchFamily="18" charset="0"/>
            </a:endParaRPr>
          </a:p>
          <a:p>
            <a:r>
              <a:rPr lang="fr-FR" dirty="0">
                <a:latin typeface="Times New Roman" pitchFamily="18" charset="0"/>
                <a:cs typeface="Times New Roman" pitchFamily="18" charset="0"/>
              </a:rPr>
              <a:t>Exemples : </a:t>
            </a:r>
          </a:p>
          <a:p>
            <a:r>
              <a:rPr lang="en-GB" dirty="0">
                <a:latin typeface="Times New Roman" pitchFamily="18" charset="0"/>
                <a:cs typeface="Times New Roman" pitchFamily="18" charset="0"/>
              </a:rPr>
              <a:t>+-ABC      </a:t>
            </a:r>
            <a:r>
              <a:rPr lang="en-GB" dirty="0">
                <a:latin typeface="Times New Roman" pitchFamily="18" charset="0"/>
                <a:cs typeface="Times New Roman" pitchFamily="18" charset="0"/>
                <a:sym typeface="Symbol"/>
              </a:rPr>
              <a:t></a:t>
            </a:r>
            <a:r>
              <a:rPr lang="en-GB" dirty="0">
                <a:latin typeface="Times New Roman" pitchFamily="18" charset="0"/>
                <a:cs typeface="Times New Roman" pitchFamily="18" charset="0"/>
              </a:rPr>
              <a:t> ((A-B)+C)</a:t>
            </a:r>
            <a:endParaRPr lang="fr-FR" dirty="0">
              <a:latin typeface="Times New Roman" pitchFamily="18" charset="0"/>
              <a:cs typeface="Times New Roman" pitchFamily="18" charset="0"/>
            </a:endParaRPr>
          </a:p>
          <a:p>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&lt; ABC </a:t>
            </a:r>
            <a:r>
              <a:rPr lang="en-GB"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 ((</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(A&lt;B))</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C) </a:t>
            </a:r>
          </a:p>
          <a:p>
            <a:r>
              <a:rPr lang="fr-FR" dirty="0">
                <a:latin typeface="Times New Roman" pitchFamily="18" charset="0"/>
                <a:cs typeface="Times New Roman" pitchFamily="18" charset="0"/>
              </a:rPr>
              <a:t>A-+BC n’est pas une expression préfixée.</a:t>
            </a:r>
          </a:p>
        </p:txBody>
      </p:sp>
    </p:spTree>
    <p:extLst>
      <p:ext uri="{BB962C8B-B14F-4D97-AF65-F5344CB8AC3E}">
        <p14:creationId xmlns:p14="http://schemas.microsoft.com/office/powerpoint/2010/main" val="23407847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040" y="27811"/>
            <a:ext cx="11755120" cy="6740307"/>
          </a:xfrm>
          <a:prstGeom prst="rect">
            <a:avLst/>
          </a:prstGeom>
        </p:spPr>
        <p:txBody>
          <a:bodyPr wrap="square">
            <a:spAutoFit/>
          </a:bodyPr>
          <a:lstStyle/>
          <a:p>
            <a:pPr lvl="0" algn="just" fontAlgn="base">
              <a:spcBef>
                <a:spcPct val="0"/>
              </a:spcBef>
              <a:spcAft>
                <a:spcPct val="0"/>
              </a:spcAft>
            </a:pPr>
            <a:r>
              <a:rPr lang="fr-FR" dirty="0">
                <a:latin typeface="Times New Roman" pitchFamily="18" charset="0"/>
                <a:ea typeface="Times New Roman" pitchFamily="18" charset="0"/>
                <a:cs typeface="Times New Roman" pitchFamily="18" charset="0"/>
              </a:rPr>
              <a:t>- </a:t>
            </a:r>
            <a:r>
              <a:rPr lang="fr-FR" u="sng" dirty="0">
                <a:latin typeface="Times New Roman" pitchFamily="18" charset="0"/>
                <a:ea typeface="Times New Roman" pitchFamily="18" charset="0"/>
                <a:cs typeface="Times New Roman" pitchFamily="18" charset="0"/>
              </a:rPr>
              <a:t>Expression écrite sous forme </a:t>
            </a:r>
            <a:r>
              <a:rPr lang="fr-FR" u="sng" dirty="0" err="1">
                <a:latin typeface="Times New Roman" pitchFamily="18" charset="0"/>
                <a:ea typeface="Times New Roman" pitchFamily="18" charset="0"/>
                <a:cs typeface="Times New Roman" pitchFamily="18" charset="0"/>
              </a:rPr>
              <a:t>postfixée</a:t>
            </a:r>
            <a:r>
              <a:rPr lang="fr-FR" dirty="0">
                <a:latin typeface="Times New Roman" pitchFamily="18" charset="0"/>
                <a:ea typeface="Times New Roman" pitchFamily="18" charset="0"/>
                <a:cs typeface="Times New Roman" pitchFamily="18" charset="0"/>
              </a:rPr>
              <a:t>.</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L’écriture </a:t>
            </a:r>
            <a:r>
              <a:rPr lang="fr-FR" dirty="0" err="1">
                <a:latin typeface="Times New Roman" pitchFamily="18" charset="0"/>
                <a:ea typeface="Times New Roman" pitchFamily="18" charset="0"/>
                <a:cs typeface="Times New Roman" pitchFamily="18" charset="0"/>
              </a:rPr>
              <a:t>postfixée</a:t>
            </a:r>
            <a:r>
              <a:rPr lang="fr-FR" dirty="0">
                <a:latin typeface="Times New Roman" pitchFamily="18" charset="0"/>
                <a:ea typeface="Times New Roman" pitchFamily="18" charset="0"/>
                <a:cs typeface="Times New Roman" pitchFamily="18" charset="0"/>
              </a:rPr>
              <a:t> d’une expression est définie par les 4 règles suivantes :</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1) Une </a:t>
            </a:r>
            <a:r>
              <a:rPr lang="fr-FR" b="1" dirty="0">
                <a:latin typeface="Times New Roman" pitchFamily="18" charset="0"/>
                <a:ea typeface="Times New Roman" pitchFamily="18" charset="0"/>
                <a:cs typeface="Times New Roman" pitchFamily="18" charset="0"/>
              </a:rPr>
              <a:t>variable</a:t>
            </a:r>
            <a:r>
              <a:rPr lang="fr-FR" dirty="0">
                <a:latin typeface="Times New Roman" pitchFamily="18" charset="0"/>
                <a:ea typeface="Times New Roman" pitchFamily="18" charset="0"/>
                <a:cs typeface="Times New Roman" pitchFamily="18" charset="0"/>
              </a:rPr>
              <a:t> est une expression </a:t>
            </a:r>
            <a:r>
              <a:rPr lang="fr-FR" dirty="0" err="1">
                <a:latin typeface="Times New Roman" pitchFamily="18" charset="0"/>
                <a:ea typeface="Times New Roman" pitchFamily="18" charset="0"/>
                <a:cs typeface="Times New Roman" pitchFamily="18" charset="0"/>
              </a:rPr>
              <a:t>postfixée</a:t>
            </a:r>
            <a:r>
              <a:rPr lang="fr-FR" dirty="0">
                <a:latin typeface="Times New Roman" pitchFamily="18" charset="0"/>
                <a:ea typeface="Times New Roman" pitchFamily="18" charset="0"/>
                <a:cs typeface="Times New Roman" pitchFamily="18" charset="0"/>
              </a:rPr>
              <a:t> (</a:t>
            </a:r>
            <a:r>
              <a:rPr lang="fr-FR" dirty="0" err="1">
                <a:latin typeface="Times New Roman" pitchFamily="18" charset="0"/>
                <a:ea typeface="Times New Roman" pitchFamily="18" charset="0"/>
                <a:cs typeface="Times New Roman" pitchFamily="18" charset="0"/>
              </a:rPr>
              <a:t>expost</a:t>
            </a:r>
            <a:r>
              <a:rPr lang="fr-FR" dirty="0">
                <a:latin typeface="Times New Roman" pitchFamily="18" charset="0"/>
                <a:ea typeface="Times New Roman" pitchFamily="18" charset="0"/>
                <a:cs typeface="Times New Roman" pitchFamily="18" charset="0"/>
              </a:rPr>
              <a:t>).</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2) Si x et y sont des </a:t>
            </a:r>
            <a:r>
              <a:rPr lang="fr-FR" dirty="0" err="1">
                <a:latin typeface="Times New Roman" pitchFamily="18" charset="0"/>
                <a:ea typeface="Times New Roman" pitchFamily="18" charset="0"/>
                <a:cs typeface="Times New Roman" pitchFamily="18" charset="0"/>
              </a:rPr>
              <a:t>expost</a:t>
            </a:r>
            <a:r>
              <a:rPr lang="fr-FR" dirty="0">
                <a:latin typeface="Times New Roman" pitchFamily="18" charset="0"/>
                <a:ea typeface="Times New Roman" pitchFamily="18" charset="0"/>
                <a:cs typeface="Times New Roman" pitchFamily="18" charset="0"/>
              </a:rPr>
              <a:t>, </a:t>
            </a:r>
            <a:r>
              <a:rPr lang="fr-FR" dirty="0">
                <a:latin typeface="Times New Roman" pitchFamily="18" charset="0"/>
                <a:ea typeface="Times New Roman" pitchFamily="18" charset="0"/>
                <a:cs typeface="Times New Roman" pitchFamily="18" charset="0"/>
                <a:sym typeface="Symbol" pitchFamily="18" charset="2"/>
              </a:rPr>
              <a:t></a:t>
            </a:r>
            <a:r>
              <a:rPr lang="fr-FR" dirty="0">
                <a:latin typeface="Times New Roman" pitchFamily="18" charset="0"/>
                <a:ea typeface="Times New Roman" pitchFamily="18" charset="0"/>
                <a:cs typeface="Times New Roman" pitchFamily="18" charset="0"/>
              </a:rPr>
              <a:t> un opérateur binaire, alors </a:t>
            </a:r>
            <a:r>
              <a:rPr lang="fr-FR" b="1" dirty="0" err="1">
                <a:latin typeface="Times New Roman" pitchFamily="18" charset="0"/>
                <a:ea typeface="Times New Roman" pitchFamily="18" charset="0"/>
                <a:cs typeface="Times New Roman" pitchFamily="18" charset="0"/>
              </a:rPr>
              <a:t>xy</a:t>
            </a:r>
            <a:r>
              <a:rPr lang="fr-FR" b="1" dirty="0">
                <a:latin typeface="Times New Roman" pitchFamily="18" charset="0"/>
                <a:ea typeface="Times New Roman" pitchFamily="18" charset="0"/>
                <a:cs typeface="Times New Roman" pitchFamily="18" charset="0"/>
                <a:sym typeface="Symbol" pitchFamily="18" charset="2"/>
              </a:rPr>
              <a:t></a:t>
            </a:r>
            <a:r>
              <a:rPr lang="fr-FR" dirty="0">
                <a:latin typeface="Times New Roman" pitchFamily="18" charset="0"/>
                <a:ea typeface="Times New Roman" pitchFamily="18" charset="0"/>
                <a:cs typeface="Times New Roman" pitchFamily="18" charset="0"/>
              </a:rPr>
              <a:t> est une </a:t>
            </a:r>
            <a:r>
              <a:rPr lang="fr-FR" dirty="0" err="1">
                <a:latin typeface="Times New Roman" pitchFamily="18" charset="0"/>
                <a:ea typeface="Times New Roman" pitchFamily="18" charset="0"/>
                <a:cs typeface="Times New Roman" pitchFamily="18" charset="0"/>
              </a:rPr>
              <a:t>expost</a:t>
            </a:r>
            <a:r>
              <a:rPr lang="fr-FR" dirty="0">
                <a:latin typeface="Times New Roman" pitchFamily="18" charset="0"/>
                <a:ea typeface="Times New Roman" pitchFamily="18" charset="0"/>
                <a:cs typeface="Times New Roman" pitchFamily="18" charset="0"/>
              </a:rPr>
              <a:t>.</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Symbol" pitchFamily="18" charset="2"/>
              </a:rPr>
              <a:t>3) si x est une </a:t>
            </a:r>
            <a:r>
              <a:rPr lang="fr-FR" dirty="0" err="1">
                <a:latin typeface="Times New Roman" pitchFamily="18" charset="0"/>
                <a:ea typeface="Times New Roman" pitchFamily="18" charset="0"/>
                <a:cs typeface="Times New Roman" pitchFamily="18" charset="0"/>
                <a:sym typeface="Symbol" pitchFamily="18" charset="2"/>
              </a:rPr>
              <a:t>expost</a:t>
            </a:r>
            <a:r>
              <a:rPr lang="fr-FR" dirty="0">
                <a:latin typeface="Times New Roman" pitchFamily="18" charset="0"/>
                <a:ea typeface="Times New Roman" pitchFamily="18" charset="0"/>
                <a:cs typeface="Times New Roman" pitchFamily="18" charset="0"/>
                <a:sym typeface="Symbol" pitchFamily="18" charset="2"/>
              </a:rPr>
              <a:t>, </a:t>
            </a:r>
            <a:r>
              <a:rPr lang="fr-FR" dirty="0">
                <a:latin typeface="Times New Roman" pitchFamily="18" charset="0"/>
                <a:ea typeface="Times New Roman" pitchFamily="18" charset="0"/>
                <a:cs typeface="Times New Roman" pitchFamily="18" charset="0"/>
              </a:rPr>
              <a:t> un opérateur unaire, alors </a:t>
            </a:r>
            <a:r>
              <a:rPr lang="fr-FR" b="1" dirty="0">
                <a:latin typeface="Times New Roman" pitchFamily="18" charset="0"/>
                <a:ea typeface="Times New Roman" pitchFamily="18" charset="0"/>
                <a:cs typeface="Times New Roman" pitchFamily="18" charset="0"/>
              </a:rPr>
              <a:t>x</a:t>
            </a:r>
            <a:r>
              <a:rPr lang="fr-FR" b="1" dirty="0">
                <a:latin typeface="Times New Roman" pitchFamily="18" charset="0"/>
                <a:ea typeface="Times New Roman" pitchFamily="18" charset="0"/>
                <a:cs typeface="Times New Roman" pitchFamily="18" charset="0"/>
                <a:sym typeface="Symbol" pitchFamily="18" charset="2"/>
              </a:rPr>
              <a:t></a:t>
            </a:r>
            <a:r>
              <a:rPr lang="fr-FR" dirty="0">
                <a:latin typeface="Times New Roman" pitchFamily="18" charset="0"/>
                <a:ea typeface="Times New Roman" pitchFamily="18" charset="0"/>
                <a:cs typeface="Times New Roman" pitchFamily="18" charset="0"/>
              </a:rPr>
              <a:t> est une </a:t>
            </a:r>
            <a:r>
              <a:rPr lang="fr-FR" dirty="0" err="1">
                <a:latin typeface="Times New Roman" pitchFamily="18" charset="0"/>
                <a:ea typeface="Times New Roman" pitchFamily="18" charset="0"/>
                <a:cs typeface="Times New Roman" pitchFamily="18" charset="0"/>
              </a:rPr>
              <a:t>expost</a:t>
            </a:r>
            <a:r>
              <a:rPr lang="fr-FR" dirty="0">
                <a:latin typeface="Times New Roman" pitchFamily="18" charset="0"/>
                <a:ea typeface="Times New Roman" pitchFamily="18" charset="0"/>
                <a:cs typeface="Times New Roman" pitchFamily="18" charset="0"/>
              </a:rPr>
              <a:t>.</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Symbol" pitchFamily="18" charset="2"/>
              </a:rPr>
              <a:t>4) Il n’y a pas d’autres </a:t>
            </a:r>
            <a:r>
              <a:rPr lang="fr-FR" dirty="0" err="1">
                <a:latin typeface="Times New Roman" pitchFamily="18" charset="0"/>
                <a:ea typeface="Times New Roman" pitchFamily="18" charset="0"/>
                <a:cs typeface="Times New Roman" pitchFamily="18" charset="0"/>
                <a:sym typeface="Symbol" pitchFamily="18" charset="2"/>
              </a:rPr>
              <a:t>expost</a:t>
            </a:r>
            <a:r>
              <a:rPr lang="fr-FR" dirty="0">
                <a:latin typeface="Times New Roman" pitchFamily="18" charset="0"/>
                <a:ea typeface="Times New Roman" pitchFamily="18" charset="0"/>
                <a:cs typeface="Times New Roman" pitchFamily="18" charset="0"/>
                <a:sym typeface="Symbol" pitchFamily="18" charset="2"/>
              </a:rPr>
              <a:t> que celles formées à partir des règles précédentes.</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Symbol" pitchFamily="18" charset="2"/>
              </a:rPr>
              <a:t>Dans la grammaire BNF,  ces règles sont remplacées par :</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Symbol" pitchFamily="18" charset="2"/>
              </a:rPr>
              <a:t>&lt;</a:t>
            </a:r>
            <a:r>
              <a:rPr lang="fr-FR" dirty="0" err="1">
                <a:latin typeface="Times New Roman" pitchFamily="18" charset="0"/>
                <a:ea typeface="Times New Roman" pitchFamily="18" charset="0"/>
                <a:cs typeface="Times New Roman" pitchFamily="18" charset="0"/>
                <a:sym typeface="Symbol" pitchFamily="18" charset="2"/>
              </a:rPr>
              <a:t>expost</a:t>
            </a:r>
            <a:r>
              <a:rPr lang="fr-FR" dirty="0">
                <a:latin typeface="Times New Roman" pitchFamily="18" charset="0"/>
                <a:ea typeface="Times New Roman" pitchFamily="18" charset="0"/>
                <a:cs typeface="Times New Roman" pitchFamily="18" charset="0"/>
                <a:sym typeface="Symbol" pitchFamily="18" charset="2"/>
              </a:rPr>
              <a:t>&gt;::= (&lt;</a:t>
            </a:r>
            <a:r>
              <a:rPr lang="fr-FR" dirty="0" err="1">
                <a:latin typeface="Times New Roman" pitchFamily="18" charset="0"/>
                <a:ea typeface="Times New Roman" pitchFamily="18" charset="0"/>
                <a:cs typeface="Times New Roman" pitchFamily="18" charset="0"/>
                <a:sym typeface="Symbol" pitchFamily="18" charset="2"/>
              </a:rPr>
              <a:t>expost</a:t>
            </a:r>
            <a:r>
              <a:rPr lang="fr-FR" dirty="0">
                <a:latin typeface="Times New Roman" pitchFamily="18" charset="0"/>
                <a:ea typeface="Times New Roman" pitchFamily="18" charset="0"/>
                <a:cs typeface="Times New Roman" pitchFamily="18" charset="0"/>
                <a:sym typeface="Symbol" pitchFamily="18" charset="2"/>
              </a:rPr>
              <a:t>&gt;&lt;</a:t>
            </a:r>
            <a:r>
              <a:rPr lang="fr-FR" dirty="0" err="1">
                <a:latin typeface="Times New Roman" pitchFamily="18" charset="0"/>
                <a:ea typeface="Times New Roman" pitchFamily="18" charset="0"/>
                <a:cs typeface="Times New Roman" pitchFamily="18" charset="0"/>
                <a:sym typeface="Symbol" pitchFamily="18" charset="2"/>
              </a:rPr>
              <a:t>expost</a:t>
            </a:r>
            <a:r>
              <a:rPr lang="fr-FR" dirty="0">
                <a:latin typeface="Times New Roman" pitchFamily="18" charset="0"/>
                <a:ea typeface="Times New Roman" pitchFamily="18" charset="0"/>
                <a:cs typeface="Times New Roman" pitchFamily="18" charset="0"/>
                <a:sym typeface="Symbol" pitchFamily="18" charset="2"/>
              </a:rPr>
              <a:t>&gt;&lt;</a:t>
            </a:r>
            <a:r>
              <a:rPr lang="fr-FR" dirty="0" err="1">
                <a:latin typeface="Times New Roman" pitchFamily="18" charset="0"/>
                <a:ea typeface="Times New Roman" pitchFamily="18" charset="0"/>
                <a:cs typeface="Times New Roman" pitchFamily="18" charset="0"/>
                <a:sym typeface="Symbol" pitchFamily="18" charset="2"/>
              </a:rPr>
              <a:t>opbin</a:t>
            </a:r>
            <a:r>
              <a:rPr lang="fr-FR" dirty="0">
                <a:latin typeface="Times New Roman" pitchFamily="18" charset="0"/>
                <a:ea typeface="Times New Roman" pitchFamily="18" charset="0"/>
                <a:cs typeface="Times New Roman" pitchFamily="18" charset="0"/>
                <a:sym typeface="Symbol" pitchFamily="18" charset="2"/>
              </a:rPr>
              <a:t>&gt;)|&lt;</a:t>
            </a:r>
            <a:r>
              <a:rPr lang="fr-FR" dirty="0" err="1">
                <a:latin typeface="Times New Roman" pitchFamily="18" charset="0"/>
                <a:ea typeface="Times New Roman" pitchFamily="18" charset="0"/>
                <a:cs typeface="Times New Roman" pitchFamily="18" charset="0"/>
                <a:sym typeface="Symbol" pitchFamily="18" charset="2"/>
              </a:rPr>
              <a:t>expost</a:t>
            </a:r>
            <a:r>
              <a:rPr lang="fr-FR" dirty="0">
                <a:latin typeface="Times New Roman" pitchFamily="18" charset="0"/>
                <a:ea typeface="Times New Roman" pitchFamily="18" charset="0"/>
                <a:cs typeface="Times New Roman" pitchFamily="18" charset="0"/>
                <a:sym typeface="Symbol" pitchFamily="18" charset="2"/>
              </a:rPr>
              <a:t>&gt; &lt;</a:t>
            </a:r>
            <a:r>
              <a:rPr lang="fr-FR" dirty="0" err="1">
                <a:latin typeface="Times New Roman" pitchFamily="18" charset="0"/>
                <a:ea typeface="Times New Roman" pitchFamily="18" charset="0"/>
                <a:cs typeface="Times New Roman" pitchFamily="18" charset="0"/>
                <a:sym typeface="Symbol" pitchFamily="18" charset="2"/>
              </a:rPr>
              <a:t>opun</a:t>
            </a:r>
            <a:r>
              <a:rPr lang="fr-FR" dirty="0">
                <a:latin typeface="Times New Roman" pitchFamily="18" charset="0"/>
                <a:ea typeface="Times New Roman" pitchFamily="18" charset="0"/>
                <a:cs typeface="Times New Roman" pitchFamily="18" charset="0"/>
                <a:sym typeface="Symbol" pitchFamily="18" charset="2"/>
              </a:rPr>
              <a:t> &gt;|&lt;variable&gt;.</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Symbol" pitchFamily="18" charset="2"/>
              </a:rPr>
              <a:t>Exemples :</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en-GB" dirty="0" err="1">
                <a:latin typeface="Times New Roman" pitchFamily="18" charset="0"/>
                <a:ea typeface="Times New Roman" pitchFamily="18" charset="0"/>
                <a:cs typeface="Times New Roman" pitchFamily="18" charset="0"/>
                <a:sym typeface="Symbol" pitchFamily="18" charset="2"/>
              </a:rPr>
              <a:t>Excp</a:t>
            </a:r>
            <a:r>
              <a:rPr lang="en-GB" dirty="0">
                <a:latin typeface="Times New Roman" pitchFamily="18" charset="0"/>
                <a:ea typeface="Times New Roman" pitchFamily="18" charset="0"/>
                <a:cs typeface="Times New Roman" pitchFamily="18" charset="0"/>
                <a:sym typeface="Symbol" pitchFamily="18" charset="2"/>
              </a:rPr>
              <a:t> :    ((A-B)+C)</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en-GB" dirty="0" err="1">
                <a:latin typeface="Times New Roman" pitchFamily="18" charset="0"/>
                <a:ea typeface="Times New Roman" pitchFamily="18" charset="0"/>
                <a:cs typeface="Times New Roman" pitchFamily="18" charset="0"/>
                <a:sym typeface="Symbol" pitchFamily="18" charset="2"/>
              </a:rPr>
              <a:t>Expref</a:t>
            </a:r>
            <a:r>
              <a:rPr lang="en-GB" dirty="0">
                <a:latin typeface="Times New Roman" pitchFamily="18" charset="0"/>
                <a:ea typeface="Times New Roman" pitchFamily="18" charset="0"/>
                <a:cs typeface="Times New Roman" pitchFamily="18" charset="0"/>
                <a:sym typeface="Symbol" pitchFamily="18" charset="2"/>
              </a:rPr>
              <a:t> : +-ABC</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en-GB" dirty="0" err="1">
                <a:latin typeface="Times New Roman" pitchFamily="18" charset="0"/>
                <a:ea typeface="Times New Roman" pitchFamily="18" charset="0"/>
                <a:cs typeface="Times New Roman" pitchFamily="18" charset="0"/>
                <a:sym typeface="Symbol" pitchFamily="18" charset="2"/>
              </a:rPr>
              <a:t>Expost</a:t>
            </a:r>
            <a:r>
              <a:rPr lang="en-GB" dirty="0">
                <a:latin typeface="Times New Roman" pitchFamily="18" charset="0"/>
                <a:ea typeface="Times New Roman" pitchFamily="18" charset="0"/>
                <a:cs typeface="Times New Roman" pitchFamily="18" charset="0"/>
                <a:sym typeface="Symbol" pitchFamily="18" charset="2"/>
              </a:rPr>
              <a:t> : AB–C+</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en-GB" dirty="0" err="1">
                <a:latin typeface="Times New Roman" pitchFamily="18" charset="0"/>
                <a:ea typeface="Times New Roman" pitchFamily="18" charset="0"/>
                <a:cs typeface="Times New Roman" pitchFamily="18" charset="0"/>
                <a:sym typeface="Symbol" pitchFamily="18" charset="2"/>
              </a:rPr>
              <a:t>Excp</a:t>
            </a:r>
            <a:r>
              <a:rPr lang="en-GB" dirty="0">
                <a:latin typeface="Times New Roman" pitchFamily="18" charset="0"/>
                <a:ea typeface="Times New Roman" pitchFamily="18" charset="0"/>
                <a:cs typeface="Times New Roman" pitchFamily="18" charset="0"/>
                <a:sym typeface="Symbol" pitchFamily="18" charset="2"/>
              </a:rPr>
              <a:t> :    (</a:t>
            </a:r>
            <a:r>
              <a:rPr lang="fr-FR" dirty="0">
                <a:latin typeface="Times New Roman" pitchFamily="18" charset="0"/>
                <a:ea typeface="Times New Roman" pitchFamily="18" charset="0"/>
                <a:cs typeface="Times New Roman" pitchFamily="18" charset="0"/>
                <a:sym typeface="Symbol" pitchFamily="18" charset="2"/>
              </a:rPr>
              <a:t></a:t>
            </a:r>
            <a:r>
              <a:rPr lang="en-GB" dirty="0">
                <a:latin typeface="Times New Roman" pitchFamily="18" charset="0"/>
                <a:ea typeface="Times New Roman" pitchFamily="18" charset="0"/>
                <a:cs typeface="Times New Roman" pitchFamily="18" charset="0"/>
              </a:rPr>
              <a:t>(A&lt;B)</a:t>
            </a:r>
            <a:r>
              <a:rPr lang="fr-FR" dirty="0">
                <a:latin typeface="Times New Roman" pitchFamily="18" charset="0"/>
                <a:ea typeface="Times New Roman" pitchFamily="18" charset="0"/>
                <a:cs typeface="Times New Roman" pitchFamily="18" charset="0"/>
                <a:sym typeface="Symbol" pitchFamily="18" charset="2"/>
              </a:rPr>
              <a:t></a:t>
            </a:r>
            <a:r>
              <a:rPr lang="en-GB" dirty="0">
                <a:latin typeface="Times New Roman" pitchFamily="18" charset="0"/>
                <a:ea typeface="Times New Roman" pitchFamily="18" charset="0"/>
                <a:cs typeface="Times New Roman" pitchFamily="18" charset="0"/>
              </a:rPr>
              <a:t>C)</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en-GB" dirty="0" err="1">
                <a:latin typeface="Times New Roman" pitchFamily="18" charset="0"/>
                <a:ea typeface="Times New Roman" pitchFamily="18" charset="0"/>
                <a:cs typeface="Times New Roman" pitchFamily="18" charset="0"/>
                <a:sym typeface="Symbol" pitchFamily="18" charset="2"/>
              </a:rPr>
              <a:t>Expref</a:t>
            </a:r>
            <a:r>
              <a:rPr lang="en-GB" dirty="0">
                <a:latin typeface="Times New Roman" pitchFamily="18" charset="0"/>
                <a:ea typeface="Times New Roman" pitchFamily="18" charset="0"/>
                <a:cs typeface="Times New Roman" pitchFamily="18" charset="0"/>
                <a:sym typeface="Symbol" pitchFamily="18" charset="2"/>
              </a:rPr>
              <a:t> : </a:t>
            </a:r>
            <a:r>
              <a:rPr lang="fr-FR" dirty="0">
                <a:latin typeface="Times New Roman" pitchFamily="18" charset="0"/>
                <a:ea typeface="Times New Roman" pitchFamily="18" charset="0"/>
                <a:cs typeface="Times New Roman" pitchFamily="18" charset="0"/>
                <a:sym typeface="Symbol" pitchFamily="18" charset="2"/>
              </a:rPr>
              <a:t></a:t>
            </a:r>
            <a:r>
              <a:rPr lang="en-GB" dirty="0">
                <a:latin typeface="Times New Roman" pitchFamily="18" charset="0"/>
                <a:ea typeface="Times New Roman" pitchFamily="18" charset="0"/>
                <a:cs typeface="Times New Roman" pitchFamily="18" charset="0"/>
                <a:sym typeface="Symbol" pitchFamily="18" charset="2"/>
              </a:rPr>
              <a:t>&lt;ABC</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en-GB" dirty="0" err="1">
                <a:latin typeface="Times New Roman" pitchFamily="18" charset="0"/>
                <a:ea typeface="Times New Roman" pitchFamily="18" charset="0"/>
                <a:cs typeface="Times New Roman" pitchFamily="18" charset="0"/>
                <a:sym typeface="Symbol" pitchFamily="18" charset="2"/>
              </a:rPr>
              <a:t>Expost</a:t>
            </a:r>
            <a:r>
              <a:rPr lang="en-GB" dirty="0">
                <a:latin typeface="Times New Roman" pitchFamily="18" charset="0"/>
                <a:ea typeface="Times New Roman" pitchFamily="18" charset="0"/>
                <a:cs typeface="Times New Roman" pitchFamily="18" charset="0"/>
                <a:sym typeface="Symbol" pitchFamily="18" charset="2"/>
              </a:rPr>
              <a:t> : AB&lt;</a:t>
            </a:r>
            <a:r>
              <a:rPr lang="fr-FR" dirty="0">
                <a:latin typeface="Times New Roman" pitchFamily="18" charset="0"/>
                <a:ea typeface="Times New Roman" pitchFamily="18" charset="0"/>
                <a:cs typeface="Times New Roman" pitchFamily="18" charset="0"/>
                <a:sym typeface="Symbol" pitchFamily="18" charset="2"/>
              </a:rPr>
              <a:t></a:t>
            </a:r>
            <a:r>
              <a:rPr lang="fr-FR" dirty="0">
                <a:latin typeface="Times New Roman" pitchFamily="18" charset="0"/>
                <a:ea typeface="Times New Roman" pitchFamily="18" charset="0"/>
                <a:cs typeface="Times New Roman" pitchFamily="18" charset="0"/>
              </a:rPr>
              <a:t>C</a:t>
            </a:r>
            <a:r>
              <a:rPr lang="fr-FR" dirty="0">
                <a:latin typeface="Times New Roman" pitchFamily="18" charset="0"/>
                <a:ea typeface="Times New Roman" pitchFamily="18" charset="0"/>
                <a:cs typeface="Times New Roman" pitchFamily="18" charset="0"/>
                <a:sym typeface="Symbol" pitchFamily="18" charset="2"/>
              </a:rPr>
              <a:t></a:t>
            </a:r>
          </a:p>
          <a:p>
            <a:pPr lvl="0" algn="just" eaLnBrk="0" fontAlgn="base" hangingPunct="0">
              <a:spcBef>
                <a:spcPct val="0"/>
              </a:spcBef>
              <a:spcAft>
                <a:spcPct val="0"/>
              </a:spcAft>
            </a:pPr>
            <a:endParaRPr lang="fr-FR" dirty="0">
              <a:latin typeface="Times New Roman" pitchFamily="18" charset="0"/>
              <a:ea typeface="Times New Roman" pitchFamily="18" charset="0"/>
              <a:cs typeface="Times New Roman" pitchFamily="18" charset="0"/>
              <a:sym typeface="Symbol" pitchFamily="18" charset="2"/>
            </a:endParaRPr>
          </a:p>
          <a:p>
            <a:r>
              <a:rPr lang="fr-FR" dirty="0">
                <a:latin typeface="Times New Roman" pitchFamily="18" charset="0"/>
                <a:cs typeface="Times New Roman" pitchFamily="18" charset="0"/>
              </a:rPr>
              <a:t>- </a:t>
            </a:r>
            <a:r>
              <a:rPr lang="fr-FR" u="sng" dirty="0">
                <a:latin typeface="Times New Roman" pitchFamily="18" charset="0"/>
                <a:cs typeface="Times New Roman" pitchFamily="18" charset="0"/>
              </a:rPr>
              <a:t>Expression écrite sous forme infixée</a:t>
            </a:r>
            <a:r>
              <a:rPr lang="fr-FR" dirty="0">
                <a:latin typeface="Times New Roman" pitchFamily="18" charset="0"/>
                <a:cs typeface="Times New Roman" pitchFamily="18" charset="0"/>
              </a:rPr>
              <a:t>.</a:t>
            </a:r>
          </a:p>
          <a:p>
            <a:pPr algn="just"/>
            <a:r>
              <a:rPr lang="fr-FR" dirty="0">
                <a:latin typeface="Times New Roman" pitchFamily="18" charset="0"/>
                <a:cs typeface="Times New Roman" pitchFamily="18" charset="0"/>
              </a:rPr>
              <a:t>Dans les expressions écrites sous forme complètement </a:t>
            </a:r>
            <a:r>
              <a:rPr lang="fr-FR" dirty="0" err="1">
                <a:latin typeface="Times New Roman" pitchFamily="18" charset="0"/>
                <a:cs typeface="Times New Roman" pitchFamily="18" charset="0"/>
              </a:rPr>
              <a:t>parenthésée</a:t>
            </a:r>
            <a:r>
              <a:rPr lang="fr-FR" dirty="0">
                <a:latin typeface="Times New Roman" pitchFamily="18" charset="0"/>
                <a:cs typeface="Times New Roman" pitchFamily="18" charset="0"/>
              </a:rPr>
              <a:t>, on peut </a:t>
            </a:r>
            <a:r>
              <a:rPr lang="fr-FR" b="1" dirty="0">
                <a:latin typeface="Times New Roman" pitchFamily="18" charset="0"/>
                <a:cs typeface="Times New Roman" pitchFamily="18" charset="0"/>
              </a:rPr>
              <a:t>supprimer</a:t>
            </a:r>
            <a:r>
              <a:rPr lang="fr-FR" dirty="0">
                <a:latin typeface="Times New Roman" pitchFamily="18" charset="0"/>
                <a:cs typeface="Times New Roman" pitchFamily="18" charset="0"/>
              </a:rPr>
              <a:t> certaines </a:t>
            </a:r>
            <a:r>
              <a:rPr lang="fr-FR" b="1" dirty="0">
                <a:latin typeface="Times New Roman" pitchFamily="18" charset="0"/>
                <a:cs typeface="Times New Roman" pitchFamily="18" charset="0"/>
              </a:rPr>
              <a:t>parenthèses</a:t>
            </a:r>
            <a:r>
              <a:rPr lang="fr-FR" dirty="0">
                <a:latin typeface="Times New Roman" pitchFamily="18" charset="0"/>
                <a:cs typeface="Times New Roman" pitchFamily="18" charset="0"/>
              </a:rPr>
              <a:t> si l’on admet l’</a:t>
            </a:r>
            <a:r>
              <a:rPr lang="fr-FR" b="1" dirty="0">
                <a:latin typeface="Times New Roman" pitchFamily="18" charset="0"/>
                <a:cs typeface="Times New Roman" pitchFamily="18" charset="0"/>
              </a:rPr>
              <a:t>ordre de priorité</a:t>
            </a:r>
            <a:r>
              <a:rPr lang="fr-FR" dirty="0">
                <a:latin typeface="Times New Roman" pitchFamily="18" charset="0"/>
                <a:cs typeface="Times New Roman" pitchFamily="18" charset="0"/>
              </a:rPr>
              <a:t> entre les opérateurs lors de l’évaluation. </a:t>
            </a:r>
          </a:p>
          <a:p>
            <a:pPr algn="just"/>
            <a:r>
              <a:rPr lang="fr-FR" dirty="0">
                <a:latin typeface="Times New Roman" pitchFamily="18" charset="0"/>
                <a:cs typeface="Times New Roman" pitchFamily="18" charset="0"/>
              </a:rPr>
              <a:t>Une expression représentée ainsi est dite sous forme </a:t>
            </a:r>
            <a:r>
              <a:rPr lang="fr-FR" b="1" dirty="0">
                <a:latin typeface="Times New Roman" pitchFamily="18" charset="0"/>
                <a:cs typeface="Times New Roman" pitchFamily="18" charset="0"/>
              </a:rPr>
              <a:t>infixée</a:t>
            </a:r>
            <a:r>
              <a:rPr lang="fr-FR" dirty="0">
                <a:latin typeface="Times New Roman" pitchFamily="18" charset="0"/>
                <a:cs typeface="Times New Roman" pitchFamily="18" charset="0"/>
              </a:rPr>
              <a:t>. C’est l’écriture habituellement utilisée dans les langages de programmation.</a:t>
            </a:r>
          </a:p>
          <a:p>
            <a:r>
              <a:rPr lang="fr-FR" dirty="0">
                <a:latin typeface="Times New Roman" pitchFamily="18" charset="0"/>
                <a:cs typeface="Times New Roman" pitchFamily="18" charset="0"/>
              </a:rPr>
              <a:t>Exemples : </a:t>
            </a:r>
            <a:r>
              <a:rPr lang="en-GB" dirty="0" err="1">
                <a:latin typeface="Times New Roman" pitchFamily="18" charset="0"/>
                <a:cs typeface="Times New Roman" pitchFamily="18" charset="0"/>
              </a:rPr>
              <a:t>Excp</a:t>
            </a:r>
            <a:r>
              <a:rPr lang="en-GB" dirty="0">
                <a:latin typeface="Times New Roman" pitchFamily="18" charset="0"/>
                <a:cs typeface="Times New Roman" pitchFamily="18" charset="0"/>
              </a:rPr>
              <a:t> : ((((A/B)*C)-(C/(D*E)))-(F-G))</a:t>
            </a:r>
            <a:endParaRPr lang="fr-FR" dirty="0">
              <a:latin typeface="Times New Roman" pitchFamily="18" charset="0"/>
              <a:cs typeface="Times New Roman" pitchFamily="18" charset="0"/>
            </a:endParaRPr>
          </a:p>
          <a:p>
            <a:r>
              <a:rPr lang="fr-FR" dirty="0" err="1">
                <a:latin typeface="Times New Roman" pitchFamily="18" charset="0"/>
                <a:cs typeface="Times New Roman" pitchFamily="18" charset="0"/>
              </a:rPr>
              <a:t>Infixeé</a:t>
            </a:r>
            <a:r>
              <a:rPr lang="fr-FR" dirty="0">
                <a:latin typeface="Times New Roman" pitchFamily="18" charset="0"/>
                <a:cs typeface="Times New Roman" pitchFamily="18" charset="0"/>
              </a:rPr>
              <a:t> :  </a:t>
            </a:r>
            <a:r>
              <a:rPr lang="fr-FR" dirty="0" smtClean="0">
                <a:latin typeface="Times New Roman" pitchFamily="18" charset="0"/>
                <a:cs typeface="Times New Roman" pitchFamily="18" charset="0"/>
              </a:rPr>
              <a:t>(A/B*C-C</a:t>
            </a:r>
            <a:r>
              <a:rPr lang="fr-FR" dirty="0">
                <a:latin typeface="Times New Roman" pitchFamily="18" charset="0"/>
                <a:cs typeface="Times New Roman" pitchFamily="18" charset="0"/>
              </a:rPr>
              <a:t>/(D*E</a:t>
            </a:r>
            <a:r>
              <a:rPr lang="fr-FR" dirty="0" smtClean="0">
                <a:latin typeface="Times New Roman" pitchFamily="18" charset="0"/>
                <a:cs typeface="Times New Roman" pitchFamily="18" charset="0"/>
              </a:rPr>
              <a:t>))-(</a:t>
            </a:r>
            <a:r>
              <a:rPr lang="fr-FR" dirty="0">
                <a:latin typeface="Times New Roman" pitchFamily="18" charset="0"/>
                <a:cs typeface="Times New Roman" pitchFamily="18" charset="0"/>
              </a:rPr>
              <a:t>F-G)</a:t>
            </a:r>
          </a:p>
          <a:p>
            <a:r>
              <a:rPr lang="fr-FR" dirty="0">
                <a:latin typeface="Times New Roman" pitchFamily="18" charset="0"/>
                <a:cs typeface="Times New Roman" pitchFamily="18" charset="0"/>
              </a:rPr>
              <a:t>Préfixé ? </a:t>
            </a:r>
            <a:r>
              <a:rPr lang="fr-FR" dirty="0" err="1">
                <a:latin typeface="Times New Roman" pitchFamily="18" charset="0"/>
                <a:cs typeface="Times New Roman" pitchFamily="18" charset="0"/>
              </a:rPr>
              <a:t>Postfixé</a:t>
            </a:r>
            <a:r>
              <a:rPr lang="fr-FR" dirty="0">
                <a:latin typeface="Times New Roman" pitchFamily="18" charset="0"/>
                <a:cs typeface="Times New Roman" pitchFamily="18" charset="0"/>
              </a:rPr>
              <a:t> ?</a:t>
            </a:r>
          </a:p>
        </p:txBody>
      </p:sp>
    </p:spTree>
    <p:extLst>
      <p:ext uri="{BB962C8B-B14F-4D97-AF65-F5344CB8AC3E}">
        <p14:creationId xmlns:p14="http://schemas.microsoft.com/office/powerpoint/2010/main" val="35024192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000" y="485567"/>
            <a:ext cx="11775440" cy="5909310"/>
          </a:xfrm>
          <a:prstGeom prst="rect">
            <a:avLst/>
          </a:prstGeom>
        </p:spPr>
        <p:txBody>
          <a:bodyPr wrap="square">
            <a:spAutoFit/>
          </a:bodyPr>
          <a:lstStyle/>
          <a:p>
            <a:pPr lvl="0" algn="just" fontAlgn="base">
              <a:spcBef>
                <a:spcPct val="0"/>
              </a:spcBef>
              <a:spcAft>
                <a:spcPct val="0"/>
              </a:spcAft>
            </a:pPr>
            <a:r>
              <a:rPr lang="fr-FR" dirty="0">
                <a:latin typeface="Times New Roman" pitchFamily="18" charset="0"/>
                <a:ea typeface="Times New Roman" pitchFamily="18" charset="0"/>
                <a:cs typeface="Times New Roman" pitchFamily="18" charset="0"/>
              </a:rPr>
              <a:t>Les grammaires BNF qui définissent les expressions infixées est la </a:t>
            </a:r>
            <a:r>
              <a:rPr lang="fr-FR" b="1" dirty="0">
                <a:latin typeface="Times New Roman" pitchFamily="18" charset="0"/>
                <a:ea typeface="Times New Roman" pitchFamily="18" charset="0"/>
                <a:cs typeface="Times New Roman" pitchFamily="18" charset="0"/>
              </a:rPr>
              <a:t>BNF étendue</a:t>
            </a:r>
            <a:r>
              <a:rPr lang="fr-FR" dirty="0">
                <a:latin typeface="Times New Roman" pitchFamily="18" charset="0"/>
                <a:ea typeface="Times New Roman" pitchFamily="18" charset="0"/>
                <a:cs typeface="Times New Roman" pitchFamily="18" charset="0"/>
              </a:rPr>
              <a:t>, où les symboles en accolades peuvent être omis ou bien répétés un nombre quelconque de fois.</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&lt;</a:t>
            </a:r>
            <a:r>
              <a:rPr lang="fr-FR" dirty="0" err="1">
                <a:latin typeface="Times New Roman" pitchFamily="18" charset="0"/>
                <a:ea typeface="Times New Roman" pitchFamily="18" charset="0"/>
                <a:cs typeface="Times New Roman" pitchFamily="18" charset="0"/>
              </a:rPr>
              <a:t>expinf</a:t>
            </a:r>
            <a:r>
              <a:rPr lang="fr-FR" dirty="0">
                <a:latin typeface="Times New Roman" pitchFamily="18" charset="0"/>
                <a:ea typeface="Times New Roman" pitchFamily="18" charset="0"/>
                <a:cs typeface="Times New Roman" pitchFamily="18" charset="0"/>
              </a:rPr>
              <a:t>&gt; ::= &lt;</a:t>
            </a:r>
            <a:r>
              <a:rPr lang="fr-FR" dirty="0" err="1">
                <a:latin typeface="Times New Roman" pitchFamily="18" charset="0"/>
                <a:ea typeface="Times New Roman" pitchFamily="18" charset="0"/>
                <a:cs typeface="Times New Roman" pitchFamily="18" charset="0"/>
              </a:rPr>
              <a:t>expsimple</a:t>
            </a:r>
            <a:r>
              <a:rPr lang="fr-FR" dirty="0">
                <a:latin typeface="Times New Roman" pitchFamily="18" charset="0"/>
                <a:ea typeface="Times New Roman" pitchFamily="18" charset="0"/>
                <a:cs typeface="Times New Roman" pitchFamily="18" charset="0"/>
              </a:rPr>
              <a:t>&gt; { &lt;</a:t>
            </a:r>
            <a:r>
              <a:rPr lang="fr-FR" dirty="0" err="1">
                <a:latin typeface="Times New Roman" pitchFamily="18" charset="0"/>
                <a:ea typeface="Times New Roman" pitchFamily="18" charset="0"/>
                <a:cs typeface="Times New Roman" pitchFamily="18" charset="0"/>
              </a:rPr>
              <a:t>oprel</a:t>
            </a:r>
            <a:r>
              <a:rPr lang="fr-FR" dirty="0">
                <a:latin typeface="Times New Roman" pitchFamily="18" charset="0"/>
                <a:ea typeface="Times New Roman" pitchFamily="18" charset="0"/>
                <a:cs typeface="Times New Roman" pitchFamily="18" charset="0"/>
              </a:rPr>
              <a:t>&gt;&lt;</a:t>
            </a:r>
            <a:r>
              <a:rPr lang="fr-FR" dirty="0" err="1">
                <a:latin typeface="Times New Roman" pitchFamily="18" charset="0"/>
                <a:ea typeface="Times New Roman" pitchFamily="18" charset="0"/>
                <a:cs typeface="Times New Roman" pitchFamily="18" charset="0"/>
              </a:rPr>
              <a:t>expsimple</a:t>
            </a:r>
            <a:r>
              <a:rPr lang="fr-FR" dirty="0">
                <a:latin typeface="Times New Roman" pitchFamily="18" charset="0"/>
                <a:ea typeface="Times New Roman" pitchFamily="18" charset="0"/>
                <a:cs typeface="Times New Roman" pitchFamily="18" charset="0"/>
              </a:rPr>
              <a:t>&gt;}</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&lt;</a:t>
            </a:r>
            <a:r>
              <a:rPr lang="fr-FR" dirty="0" err="1">
                <a:latin typeface="Times New Roman" pitchFamily="18" charset="0"/>
                <a:ea typeface="Times New Roman" pitchFamily="18" charset="0"/>
                <a:cs typeface="Times New Roman" pitchFamily="18" charset="0"/>
              </a:rPr>
              <a:t>expsimple</a:t>
            </a:r>
            <a:r>
              <a:rPr lang="fr-FR" dirty="0">
                <a:latin typeface="Times New Roman" pitchFamily="18" charset="0"/>
                <a:ea typeface="Times New Roman" pitchFamily="18" charset="0"/>
                <a:cs typeface="Times New Roman" pitchFamily="18" charset="0"/>
              </a:rPr>
              <a:t>&gt; ::= &lt;terme&gt; {&lt;</a:t>
            </a:r>
            <a:r>
              <a:rPr lang="fr-FR" dirty="0" err="1">
                <a:latin typeface="Times New Roman" pitchFamily="18" charset="0"/>
                <a:ea typeface="Times New Roman" pitchFamily="18" charset="0"/>
                <a:cs typeface="Times New Roman" pitchFamily="18" charset="0"/>
              </a:rPr>
              <a:t>opadd</a:t>
            </a:r>
            <a:r>
              <a:rPr lang="fr-FR" dirty="0">
                <a:latin typeface="Times New Roman" pitchFamily="18" charset="0"/>
                <a:ea typeface="Times New Roman" pitchFamily="18" charset="0"/>
                <a:cs typeface="Times New Roman" pitchFamily="18" charset="0"/>
              </a:rPr>
              <a:t>&gt;&lt;terme&gt;}</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&lt;terme&gt; ::= &lt;facteur&gt; {&lt;</a:t>
            </a:r>
            <a:r>
              <a:rPr lang="fr-FR" dirty="0" err="1">
                <a:latin typeface="Times New Roman" pitchFamily="18" charset="0"/>
                <a:ea typeface="Times New Roman" pitchFamily="18" charset="0"/>
                <a:cs typeface="Times New Roman" pitchFamily="18" charset="0"/>
              </a:rPr>
              <a:t>opmult</a:t>
            </a:r>
            <a:r>
              <a:rPr lang="fr-FR" dirty="0">
                <a:latin typeface="Times New Roman" pitchFamily="18" charset="0"/>
                <a:ea typeface="Times New Roman" pitchFamily="18" charset="0"/>
                <a:cs typeface="Times New Roman" pitchFamily="18" charset="0"/>
              </a:rPr>
              <a:t>&gt;&lt;facteur&gt;}</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&lt;facteur&gt;::=&lt;variable&gt;|-&lt;facteur&gt;|</a:t>
            </a:r>
            <a:r>
              <a:rPr lang="fr-FR" dirty="0">
                <a:latin typeface="Times New Roman" pitchFamily="18" charset="0"/>
                <a:ea typeface="Times New Roman" pitchFamily="18" charset="0"/>
                <a:cs typeface="Times New Roman" pitchFamily="18" charset="0"/>
                <a:sym typeface="Symbol" pitchFamily="18" charset="2"/>
              </a:rPr>
              <a:t></a:t>
            </a:r>
            <a:r>
              <a:rPr lang="fr-FR" dirty="0">
                <a:latin typeface="Times New Roman" pitchFamily="18" charset="0"/>
                <a:ea typeface="Times New Roman" pitchFamily="18" charset="0"/>
                <a:cs typeface="Times New Roman" pitchFamily="18" charset="0"/>
              </a:rPr>
              <a:t>&lt;facteur&gt;|</a:t>
            </a:r>
            <a:r>
              <a:rPr lang="fr-FR" dirty="0">
                <a:latin typeface="Times New Roman" pitchFamily="18" charset="0"/>
                <a:ea typeface="Times New Roman" pitchFamily="18" charset="0"/>
                <a:cs typeface="Times New Roman" pitchFamily="18" charset="0"/>
                <a:sym typeface="Symbol" pitchFamily="18" charset="2"/>
              </a:rPr>
              <a:t>(&lt;</a:t>
            </a:r>
            <a:r>
              <a:rPr lang="fr-FR" dirty="0" err="1">
                <a:latin typeface="Times New Roman" pitchFamily="18" charset="0"/>
                <a:ea typeface="Times New Roman" pitchFamily="18" charset="0"/>
                <a:cs typeface="Times New Roman" pitchFamily="18" charset="0"/>
                <a:sym typeface="Symbol" pitchFamily="18" charset="2"/>
              </a:rPr>
              <a:t>expinf</a:t>
            </a:r>
            <a:r>
              <a:rPr lang="fr-FR" dirty="0">
                <a:latin typeface="Times New Roman" pitchFamily="18" charset="0"/>
                <a:ea typeface="Times New Roman" pitchFamily="18" charset="0"/>
                <a:cs typeface="Times New Roman" pitchFamily="18" charset="0"/>
                <a:sym typeface="Symbol" pitchFamily="18" charset="2"/>
              </a:rPr>
              <a:t>&gt;)</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Symbol" pitchFamily="18" charset="2"/>
              </a:rPr>
              <a:t>&lt;</a:t>
            </a:r>
            <a:r>
              <a:rPr lang="fr-FR" dirty="0" err="1">
                <a:latin typeface="Times New Roman" pitchFamily="18" charset="0"/>
                <a:ea typeface="Times New Roman" pitchFamily="18" charset="0"/>
                <a:cs typeface="Times New Roman" pitchFamily="18" charset="0"/>
                <a:sym typeface="Symbol" pitchFamily="18" charset="2"/>
              </a:rPr>
              <a:t>oprel</a:t>
            </a:r>
            <a:r>
              <a:rPr lang="fr-FR" dirty="0">
                <a:latin typeface="Times New Roman" pitchFamily="18" charset="0"/>
                <a:ea typeface="Times New Roman" pitchFamily="18" charset="0"/>
                <a:cs typeface="Times New Roman" pitchFamily="18" charset="0"/>
                <a:sym typeface="Symbol" pitchFamily="18" charset="2"/>
              </a:rPr>
              <a:t>&gt; ::= &lt; | </a:t>
            </a:r>
            <a:r>
              <a:rPr lang="fr-FR" dirty="0">
                <a:latin typeface="Times New Roman" pitchFamily="18" charset="0"/>
                <a:ea typeface="Times New Roman" pitchFamily="18" charset="0"/>
                <a:cs typeface="Times New Roman" pitchFamily="18" charset="0"/>
              </a:rPr>
              <a:t> | = | </a:t>
            </a:r>
            <a:r>
              <a:rPr lang="fr-FR" dirty="0">
                <a:latin typeface="Times New Roman" pitchFamily="18" charset="0"/>
                <a:ea typeface="Times New Roman" pitchFamily="18" charset="0"/>
                <a:cs typeface="Times New Roman" pitchFamily="18" charset="0"/>
                <a:sym typeface="Symbol" pitchFamily="18" charset="2"/>
              </a:rPr>
              <a:t></a:t>
            </a:r>
            <a:r>
              <a:rPr lang="fr-FR" dirty="0">
                <a:latin typeface="Times New Roman" pitchFamily="18" charset="0"/>
                <a:ea typeface="Times New Roman" pitchFamily="18" charset="0"/>
                <a:cs typeface="Times New Roman" pitchFamily="18" charset="0"/>
              </a:rPr>
              <a:t> | &gt; | </a:t>
            </a:r>
            <a:r>
              <a:rPr lang="fr-FR" dirty="0">
                <a:latin typeface="Times New Roman" pitchFamily="18" charset="0"/>
                <a:ea typeface="Times New Roman" pitchFamily="18" charset="0"/>
                <a:cs typeface="Times New Roman" pitchFamily="18" charset="0"/>
                <a:sym typeface="Symbol" pitchFamily="18" charset="2"/>
              </a:rPr>
              <a:t></a:t>
            </a:r>
            <a:r>
              <a:rPr lang="fr-FR" dirty="0">
                <a:latin typeface="Times New Roman" pitchFamily="18" charset="0"/>
                <a:ea typeface="Times New Roman" pitchFamily="18" charset="0"/>
                <a:cs typeface="Times New Roman" pitchFamily="18" charset="0"/>
              </a:rPr>
              <a:t> </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Symbol" pitchFamily="18" charset="2"/>
              </a:rPr>
              <a:t>&lt;</a:t>
            </a:r>
            <a:r>
              <a:rPr lang="fr-FR" dirty="0" err="1">
                <a:latin typeface="Times New Roman" pitchFamily="18" charset="0"/>
                <a:ea typeface="Times New Roman" pitchFamily="18" charset="0"/>
                <a:cs typeface="Times New Roman" pitchFamily="18" charset="0"/>
                <a:sym typeface="Symbol" pitchFamily="18" charset="2"/>
              </a:rPr>
              <a:t>opadd</a:t>
            </a:r>
            <a:r>
              <a:rPr lang="fr-FR" dirty="0">
                <a:latin typeface="Times New Roman" pitchFamily="18" charset="0"/>
                <a:ea typeface="Times New Roman" pitchFamily="18" charset="0"/>
                <a:cs typeface="Times New Roman" pitchFamily="18" charset="0"/>
                <a:sym typeface="Symbol" pitchFamily="18" charset="2"/>
              </a:rPr>
              <a:t>&gt; ::= + | - | v</a:t>
            </a:r>
            <a:endParaRPr lang="fr-FR"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Symbol" pitchFamily="18" charset="2"/>
              </a:rPr>
              <a:t>&lt;</a:t>
            </a:r>
            <a:r>
              <a:rPr lang="fr-FR" dirty="0" err="1">
                <a:latin typeface="Times New Roman" pitchFamily="18" charset="0"/>
                <a:ea typeface="Times New Roman" pitchFamily="18" charset="0"/>
                <a:cs typeface="Times New Roman" pitchFamily="18" charset="0"/>
                <a:sym typeface="Symbol" pitchFamily="18" charset="2"/>
              </a:rPr>
              <a:t>opmult</a:t>
            </a:r>
            <a:r>
              <a:rPr lang="fr-FR" dirty="0">
                <a:latin typeface="Times New Roman" pitchFamily="18" charset="0"/>
                <a:ea typeface="Times New Roman" pitchFamily="18" charset="0"/>
                <a:cs typeface="Times New Roman" pitchFamily="18" charset="0"/>
                <a:sym typeface="Symbol" pitchFamily="18" charset="2"/>
              </a:rPr>
              <a:t>&gt; ::= * | / | </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en-GB" dirty="0">
                <a:latin typeface="Times New Roman" pitchFamily="18" charset="0"/>
                <a:ea typeface="Times New Roman" pitchFamily="18" charset="0"/>
                <a:cs typeface="Times New Roman" pitchFamily="18" charset="0"/>
                <a:sym typeface="Symbol" pitchFamily="18" charset="2"/>
              </a:rPr>
              <a:t>&lt;variable&gt; ::= A | B | …| </a:t>
            </a:r>
            <a:r>
              <a:rPr lang="fr-FR" dirty="0">
                <a:latin typeface="Times New Roman" pitchFamily="18" charset="0"/>
                <a:ea typeface="Times New Roman" pitchFamily="18" charset="0"/>
                <a:cs typeface="Times New Roman" pitchFamily="18" charset="0"/>
                <a:sym typeface="Symbol" pitchFamily="18" charset="2"/>
              </a:rPr>
              <a:t>Z</a:t>
            </a:r>
          </a:p>
          <a:p>
            <a:endParaRPr lang="fr-FR" dirty="0">
              <a:latin typeface="Times New Roman" pitchFamily="18" charset="0"/>
              <a:cs typeface="Times New Roman" pitchFamily="18" charset="0"/>
            </a:endParaRPr>
          </a:p>
          <a:p>
            <a:r>
              <a:rPr lang="fr-FR" dirty="0">
                <a:latin typeface="Times New Roman" pitchFamily="18" charset="0"/>
                <a:cs typeface="Times New Roman" pitchFamily="18" charset="0"/>
              </a:rPr>
              <a:t>En langage C, les opérateurs </a:t>
            </a:r>
            <a:r>
              <a:rPr lang="fr-FR" b="1"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 et </a:t>
            </a:r>
            <a:r>
              <a:rPr lang="fr-FR" b="1" dirty="0">
                <a:latin typeface="Times New Roman" pitchFamily="18" charset="0"/>
                <a:cs typeface="Times New Roman" pitchFamily="18" charset="0"/>
              </a:rPr>
              <a:t>v </a:t>
            </a:r>
            <a:r>
              <a:rPr lang="fr-FR" dirty="0">
                <a:latin typeface="Times New Roman" pitchFamily="18" charset="0"/>
                <a:cs typeface="Times New Roman" pitchFamily="18" charset="0"/>
              </a:rPr>
              <a:t>ont une priorité </a:t>
            </a:r>
            <a:r>
              <a:rPr lang="fr-FR" b="1" dirty="0">
                <a:latin typeface="Times New Roman" pitchFamily="18" charset="0"/>
                <a:cs typeface="Times New Roman" pitchFamily="18" charset="0"/>
              </a:rPr>
              <a:t>inférieure</a:t>
            </a:r>
            <a:r>
              <a:rPr lang="fr-FR" dirty="0">
                <a:latin typeface="Times New Roman" pitchFamily="18" charset="0"/>
                <a:cs typeface="Times New Roman" pitchFamily="18" charset="0"/>
              </a:rPr>
              <a:t> aux opérateurs de </a:t>
            </a:r>
            <a:r>
              <a:rPr lang="fr-FR" b="1" dirty="0">
                <a:latin typeface="Times New Roman" pitchFamily="18" charset="0"/>
                <a:cs typeface="Times New Roman" pitchFamily="18" charset="0"/>
              </a:rPr>
              <a:t>relation</a:t>
            </a:r>
            <a:r>
              <a:rPr lang="fr-FR" dirty="0">
                <a:latin typeface="Times New Roman" pitchFamily="18" charset="0"/>
                <a:cs typeface="Times New Roman" pitchFamily="18" charset="0"/>
              </a:rPr>
              <a:t>, ce qui conduit à ne pas </a:t>
            </a:r>
            <a:r>
              <a:rPr lang="fr-FR" dirty="0" err="1">
                <a:latin typeface="Times New Roman" pitchFamily="18" charset="0"/>
                <a:cs typeface="Times New Roman" pitchFamily="18" charset="0"/>
              </a:rPr>
              <a:t>parenthéser</a:t>
            </a:r>
            <a:r>
              <a:rPr lang="fr-FR" dirty="0">
                <a:latin typeface="Times New Roman" pitchFamily="18" charset="0"/>
                <a:cs typeface="Times New Roman" pitchFamily="18" charset="0"/>
              </a:rPr>
              <a:t> des expressions telle que : </a:t>
            </a:r>
            <a:r>
              <a:rPr lang="fr-FR" b="1" dirty="0">
                <a:latin typeface="Times New Roman" pitchFamily="18" charset="0"/>
                <a:cs typeface="Times New Roman" pitchFamily="18" charset="0"/>
              </a:rPr>
              <a:t>A=B</a:t>
            </a:r>
            <a:r>
              <a:rPr lang="fr-FR" dirty="0">
                <a:latin typeface="Times New Roman" pitchFamily="18" charset="0"/>
                <a:cs typeface="Times New Roman" pitchFamily="18" charset="0"/>
                <a:sym typeface="Symbol"/>
              </a:rPr>
              <a:t></a:t>
            </a:r>
            <a:r>
              <a:rPr lang="fr-FR" b="1" dirty="0">
                <a:latin typeface="Times New Roman" pitchFamily="18" charset="0"/>
                <a:cs typeface="Times New Roman" pitchFamily="18" charset="0"/>
              </a:rPr>
              <a:t>C&gt;D</a:t>
            </a:r>
            <a:r>
              <a:rPr lang="fr-FR" dirty="0">
                <a:latin typeface="Times New Roman" pitchFamily="18" charset="0"/>
                <a:cs typeface="Times New Roman" pitchFamily="18" charset="0"/>
              </a:rPr>
              <a:t>. En effet on a les équivalences :</a:t>
            </a:r>
          </a:p>
          <a:p>
            <a:r>
              <a:rPr lang="fr-FR" dirty="0">
                <a:latin typeface="Times New Roman" pitchFamily="18" charset="0"/>
                <a:cs typeface="Times New Roman" pitchFamily="18" charset="0"/>
              </a:rPr>
              <a:t>Infixé A=B</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C&gt;D</a:t>
            </a:r>
          </a:p>
          <a:p>
            <a:r>
              <a:rPr lang="fr-FR" dirty="0">
                <a:latin typeface="Times New Roman" pitchFamily="18" charset="0"/>
                <a:cs typeface="Times New Roman" pitchFamily="18" charset="0"/>
              </a:rPr>
              <a:t>Complètement </a:t>
            </a:r>
            <a:r>
              <a:rPr lang="fr-FR" dirty="0" err="1">
                <a:latin typeface="Times New Roman" pitchFamily="18" charset="0"/>
                <a:cs typeface="Times New Roman" pitchFamily="18" charset="0"/>
              </a:rPr>
              <a:t>parenthésée</a:t>
            </a:r>
            <a:r>
              <a:rPr lang="fr-FR" dirty="0">
                <a:latin typeface="Times New Roman" pitchFamily="18" charset="0"/>
                <a:cs typeface="Times New Roman" pitchFamily="18" charset="0"/>
              </a:rPr>
              <a:t> ((A=B)</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(C&gt;D))</a:t>
            </a:r>
          </a:p>
          <a:p>
            <a:r>
              <a:rPr lang="fr-FR" dirty="0" err="1">
                <a:latin typeface="Times New Roman" pitchFamily="18" charset="0"/>
                <a:cs typeface="Times New Roman" pitchFamily="18" charset="0"/>
              </a:rPr>
              <a:t>Postfixé</a:t>
            </a:r>
            <a:r>
              <a:rPr lang="fr-FR" dirty="0">
                <a:latin typeface="Times New Roman" pitchFamily="18" charset="0"/>
                <a:cs typeface="Times New Roman" pitchFamily="18" charset="0"/>
              </a:rPr>
              <a:t> AB=CD&gt;</a:t>
            </a:r>
            <a:r>
              <a:rPr lang="fr-FR" dirty="0">
                <a:latin typeface="Times New Roman" pitchFamily="18" charset="0"/>
                <a:cs typeface="Times New Roman" pitchFamily="18" charset="0"/>
                <a:sym typeface="Symbol"/>
              </a:rPr>
              <a:t></a:t>
            </a:r>
          </a:p>
          <a:p>
            <a:r>
              <a:rPr lang="en-GB" b="1" dirty="0" err="1">
                <a:latin typeface="Times New Roman" pitchFamily="18" charset="0"/>
                <a:cs typeface="Times New Roman" pitchFamily="18" charset="0"/>
              </a:rPr>
              <a:t>Préfixé</a:t>
            </a:r>
            <a:r>
              <a:rPr lang="en-GB" b="1" dirty="0">
                <a:latin typeface="Times New Roman" pitchFamily="18" charset="0"/>
                <a:cs typeface="Times New Roman" pitchFamily="18" charset="0"/>
              </a:rPr>
              <a:t> ?</a:t>
            </a:r>
            <a:endParaRPr lang="fr-FR" b="1" dirty="0">
              <a:latin typeface="Times New Roman" pitchFamily="18" charset="0"/>
              <a:cs typeface="Times New Roman" pitchFamily="18" charset="0"/>
            </a:endParaRPr>
          </a:p>
          <a:p>
            <a:r>
              <a:rPr lang="fr-FR" dirty="0">
                <a:latin typeface="Times New Roman" pitchFamily="18" charset="0"/>
                <a:cs typeface="Times New Roman" pitchFamily="18" charset="0"/>
              </a:rPr>
              <a:t>Infixé  A==(B</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C) &gt;D</a:t>
            </a:r>
          </a:p>
          <a:p>
            <a:r>
              <a:rPr lang="fr-FR" dirty="0">
                <a:latin typeface="Times New Roman" pitchFamily="18" charset="0"/>
                <a:cs typeface="Times New Roman" pitchFamily="18" charset="0"/>
              </a:rPr>
              <a:t>Complètement </a:t>
            </a:r>
            <a:r>
              <a:rPr lang="fr-FR" dirty="0" err="1">
                <a:latin typeface="Times New Roman" pitchFamily="18" charset="0"/>
                <a:cs typeface="Times New Roman" pitchFamily="18" charset="0"/>
              </a:rPr>
              <a:t>parenthéseé</a:t>
            </a:r>
            <a:r>
              <a:rPr lang="fr-FR" dirty="0">
                <a:latin typeface="Times New Roman" pitchFamily="18" charset="0"/>
                <a:cs typeface="Times New Roman" pitchFamily="18" charset="0"/>
              </a:rPr>
              <a:t> ((A=(B</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C))&gt;D)</a:t>
            </a:r>
          </a:p>
          <a:p>
            <a:r>
              <a:rPr lang="fr-FR" dirty="0" err="1">
                <a:latin typeface="Times New Roman" pitchFamily="18" charset="0"/>
                <a:cs typeface="Times New Roman" pitchFamily="18" charset="0"/>
              </a:rPr>
              <a:t>Postfixé</a:t>
            </a:r>
            <a:r>
              <a:rPr lang="fr-FR" dirty="0">
                <a:latin typeface="Times New Roman" pitchFamily="18" charset="0"/>
                <a:cs typeface="Times New Roman" pitchFamily="18" charset="0"/>
              </a:rPr>
              <a:t>  ABC</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D&gt;</a:t>
            </a:r>
          </a:p>
          <a:p>
            <a:pPr lvl="0" algn="just" eaLnBrk="0" fontAlgn="base" hangingPunct="0">
              <a:spcBef>
                <a:spcPct val="0"/>
              </a:spcBef>
              <a:spcAft>
                <a:spcPct val="0"/>
              </a:spcAft>
            </a:pPr>
            <a:r>
              <a:rPr lang="en-GB" b="1" dirty="0" err="1">
                <a:latin typeface="Times New Roman" pitchFamily="18" charset="0"/>
                <a:ea typeface="Times New Roman" pitchFamily="18" charset="0"/>
                <a:cs typeface="Times New Roman" pitchFamily="18" charset="0"/>
                <a:sym typeface="Symbol" pitchFamily="18" charset="2"/>
              </a:rPr>
              <a:t>Préfixé</a:t>
            </a:r>
            <a:r>
              <a:rPr lang="en-GB" b="1" dirty="0">
                <a:latin typeface="Times New Roman" pitchFamily="18" charset="0"/>
                <a:ea typeface="Times New Roman" pitchFamily="18" charset="0"/>
                <a:cs typeface="Times New Roman" pitchFamily="18" charset="0"/>
                <a:sym typeface="Symbol" pitchFamily="18" charset="2"/>
              </a:rPr>
              <a:t> ?</a:t>
            </a:r>
            <a:endParaRPr lang="fr-FR" b="1" dirty="0">
              <a:latin typeface="Times New Roman" pitchFamily="18" charset="0"/>
              <a:ea typeface="Times New Roman" pitchFamily="18" charset="0"/>
              <a:cs typeface="Times New Roman" pitchFamily="18" charset="0"/>
              <a:sym typeface="Symbol" pitchFamily="18" charset="2"/>
            </a:endParaRPr>
          </a:p>
        </p:txBody>
      </p:sp>
    </p:spTree>
    <p:extLst>
      <p:ext uri="{BB962C8B-B14F-4D97-AF65-F5344CB8AC3E}">
        <p14:creationId xmlns:p14="http://schemas.microsoft.com/office/powerpoint/2010/main" val="20099715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080" y="332611"/>
            <a:ext cx="11856720" cy="6247864"/>
          </a:xfrm>
          <a:prstGeom prst="rect">
            <a:avLst/>
          </a:prstGeom>
        </p:spPr>
        <p:txBody>
          <a:bodyPr wrap="square">
            <a:spAutoFit/>
          </a:bodyPr>
          <a:lstStyle/>
          <a:p>
            <a:pPr lvl="0" algn="just" fontAlgn="base">
              <a:spcBef>
                <a:spcPct val="0"/>
              </a:spcBef>
              <a:spcAft>
                <a:spcPct val="0"/>
              </a:spcAft>
            </a:pPr>
            <a:r>
              <a:rPr lang="fr-FR" sz="2000" dirty="0">
                <a:latin typeface="Times New Roman" panose="02020603050405020304" pitchFamily="18" charset="0"/>
                <a:ea typeface="Times New Roman" panose="02020603050405020304" pitchFamily="18" charset="0"/>
                <a:cs typeface="Times New Roman" panose="02020603050405020304" pitchFamily="18" charset="0"/>
              </a:rPr>
              <a:t>Le </a:t>
            </a:r>
            <a:r>
              <a:rPr lang="fr-FR" sz="2000" b="1" dirty="0">
                <a:latin typeface="Times New Roman" panose="02020603050405020304" pitchFamily="18" charset="0"/>
                <a:ea typeface="Times New Roman" panose="02020603050405020304" pitchFamily="18" charset="0"/>
                <a:cs typeface="Times New Roman" panose="02020603050405020304" pitchFamily="18" charset="0"/>
              </a:rPr>
              <a:t>traitement</a:t>
            </a:r>
            <a:r>
              <a:rPr lang="fr-FR" sz="2000" dirty="0">
                <a:latin typeface="Times New Roman" panose="02020603050405020304" pitchFamily="18" charset="0"/>
                <a:ea typeface="Times New Roman" panose="02020603050405020304" pitchFamily="18" charset="0"/>
                <a:cs typeface="Times New Roman" panose="02020603050405020304" pitchFamily="18" charset="0"/>
              </a:rPr>
              <a:t> d’une </a:t>
            </a:r>
            <a:r>
              <a:rPr lang="fr-FR" sz="2000" b="1" dirty="0">
                <a:latin typeface="Times New Roman" panose="02020603050405020304" pitchFamily="18" charset="0"/>
                <a:ea typeface="Times New Roman" panose="02020603050405020304" pitchFamily="18" charset="0"/>
                <a:cs typeface="Times New Roman" panose="02020603050405020304" pitchFamily="18" charset="0"/>
              </a:rPr>
              <a:t>expression</a:t>
            </a:r>
            <a:r>
              <a:rPr lang="fr-FR" sz="2000" dirty="0">
                <a:latin typeface="Times New Roman" panose="02020603050405020304" pitchFamily="18" charset="0"/>
                <a:ea typeface="Times New Roman" panose="02020603050405020304" pitchFamily="18" charset="0"/>
                <a:cs typeface="Times New Roman" panose="02020603050405020304" pitchFamily="18" charset="0"/>
              </a:rPr>
              <a:t> peut être assimilée  à un </a:t>
            </a:r>
            <a:r>
              <a:rPr lang="fr-FR" sz="2000" b="1" dirty="0">
                <a:latin typeface="Times New Roman" panose="02020603050405020304" pitchFamily="18" charset="0"/>
                <a:ea typeface="Times New Roman" panose="02020603050405020304" pitchFamily="18" charset="0"/>
                <a:cs typeface="Times New Roman" panose="02020603050405020304" pitchFamily="18" charset="0"/>
              </a:rPr>
              <a:t>vecteur parcouru</a:t>
            </a:r>
            <a:r>
              <a:rPr lang="fr-FR" sz="2000" dirty="0">
                <a:latin typeface="Times New Roman" pitchFamily="18" charset="0"/>
                <a:ea typeface="Times New Roman" pitchFamily="18" charset="0"/>
                <a:cs typeface="Times New Roman" pitchFamily="18" charset="0"/>
              </a:rPr>
              <a:t> séquentiellement. </a:t>
            </a:r>
          </a:p>
          <a:p>
            <a:pPr lvl="0" algn="just" fontAlgn="base">
              <a:spcBef>
                <a:spcPct val="0"/>
              </a:spcBef>
              <a:spcAft>
                <a:spcPct val="0"/>
              </a:spcAft>
            </a:pPr>
            <a:r>
              <a:rPr lang="fr-FR" sz="2000" dirty="0">
                <a:latin typeface="Times New Roman" pitchFamily="18" charset="0"/>
                <a:ea typeface="Times New Roman" pitchFamily="18" charset="0"/>
                <a:cs typeface="Times New Roman" pitchFamily="18" charset="0"/>
              </a:rPr>
              <a:t>Le schéma des algorithmes est toujours le même : on</a:t>
            </a:r>
            <a:r>
              <a:rPr lang="fr-FR" sz="2000" b="1" dirty="0">
                <a:latin typeface="Times New Roman" panose="02020603050405020304" pitchFamily="18" charset="0"/>
                <a:ea typeface="Times New Roman" panose="02020603050405020304" pitchFamily="18" charset="0"/>
                <a:cs typeface="Times New Roman" panose="02020603050405020304" pitchFamily="18" charset="0"/>
              </a:rPr>
              <a:t> énumère chacun</a:t>
            </a:r>
            <a:r>
              <a:rPr lang="fr-FR" sz="2000" dirty="0">
                <a:latin typeface="Times New Roman" panose="02020603050405020304" pitchFamily="18" charset="0"/>
                <a:ea typeface="Times New Roman" panose="02020603050405020304" pitchFamily="18" charset="0"/>
                <a:cs typeface="Times New Roman" panose="02020603050405020304" pitchFamily="18" charset="0"/>
              </a:rPr>
              <a:t> des </a:t>
            </a:r>
            <a:r>
              <a:rPr lang="fr-FR" sz="2000" b="1" dirty="0">
                <a:latin typeface="Times New Roman" panose="02020603050405020304" pitchFamily="18" charset="0"/>
                <a:ea typeface="Times New Roman" panose="02020603050405020304" pitchFamily="18" charset="0"/>
                <a:cs typeface="Times New Roman" panose="02020603050405020304" pitchFamily="18" charset="0"/>
              </a:rPr>
              <a:t>éléments</a:t>
            </a:r>
            <a:r>
              <a:rPr lang="fr-FR" sz="2000" dirty="0">
                <a:latin typeface="Times New Roman" panose="02020603050405020304" pitchFamily="18" charset="0"/>
                <a:ea typeface="Times New Roman" panose="02020603050405020304" pitchFamily="18" charset="0"/>
                <a:cs typeface="Times New Roman" panose="02020603050405020304" pitchFamily="18" charset="0"/>
              </a:rPr>
              <a:t> du vecteur,</a:t>
            </a:r>
            <a:r>
              <a:rPr lang="fr-FR" sz="2000" b="1" dirty="0">
                <a:latin typeface="Times New Roman" panose="02020603050405020304" pitchFamily="18" charset="0"/>
                <a:ea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ea typeface="Times New Roman" panose="02020603050405020304" pitchFamily="18" charset="0"/>
                <a:cs typeface="Times New Roman" panose="02020603050405020304" pitchFamily="18" charset="0"/>
              </a:rPr>
              <a:t>on </a:t>
            </a:r>
            <a:r>
              <a:rPr lang="fr-FR" sz="2000" b="1" dirty="0">
                <a:latin typeface="Times New Roman" panose="02020603050405020304" pitchFamily="18" charset="0"/>
                <a:ea typeface="Times New Roman" panose="02020603050405020304" pitchFamily="18" charset="0"/>
                <a:cs typeface="Times New Roman" panose="02020603050405020304" pitchFamily="18" charset="0"/>
              </a:rPr>
              <a:t>cherche </a:t>
            </a:r>
            <a:r>
              <a:rPr lang="fr-FR" sz="2000" dirty="0">
                <a:latin typeface="Times New Roman" panose="02020603050405020304" pitchFamily="18" charset="0"/>
                <a:ea typeface="Times New Roman" panose="02020603050405020304" pitchFamily="18" charset="0"/>
                <a:cs typeface="Times New Roman" panose="02020603050405020304" pitchFamily="18" charset="0"/>
              </a:rPr>
              <a:t>à quelle</a:t>
            </a:r>
            <a:r>
              <a:rPr lang="fr-FR" sz="2000" b="1" dirty="0">
                <a:latin typeface="Times New Roman" panose="02020603050405020304" pitchFamily="18" charset="0"/>
                <a:ea typeface="Times New Roman" panose="02020603050405020304" pitchFamily="18" charset="0"/>
                <a:cs typeface="Times New Roman" panose="02020603050405020304" pitchFamily="18" charset="0"/>
              </a:rPr>
              <a:t> classe </a:t>
            </a:r>
            <a:r>
              <a:rPr lang="fr-FR" sz="2000" dirty="0">
                <a:latin typeface="Times New Roman" panose="02020603050405020304" pitchFamily="18" charset="0"/>
                <a:ea typeface="Times New Roman" panose="02020603050405020304" pitchFamily="18" charset="0"/>
                <a:cs typeface="Times New Roman" panose="02020603050405020304" pitchFamily="18" charset="0"/>
              </a:rPr>
              <a:t>appartient </a:t>
            </a:r>
            <a:r>
              <a:rPr lang="fr-FR" sz="2000" b="1" dirty="0">
                <a:latin typeface="Times New Roman" panose="02020603050405020304" pitchFamily="18" charset="0"/>
                <a:ea typeface="Times New Roman" panose="02020603050405020304" pitchFamily="18" charset="0"/>
                <a:cs typeface="Times New Roman" panose="02020603050405020304" pitchFamily="18" charset="0"/>
              </a:rPr>
              <a:t>l’élément </a:t>
            </a:r>
            <a:r>
              <a:rPr lang="fr-FR" sz="2000" dirty="0">
                <a:latin typeface="Times New Roman" panose="02020603050405020304" pitchFamily="18" charset="0"/>
                <a:ea typeface="Times New Roman" panose="02020603050405020304" pitchFamily="18" charset="0"/>
                <a:cs typeface="Times New Roman" panose="02020603050405020304" pitchFamily="18" charset="0"/>
              </a:rPr>
              <a:t>(variable, opérateur, parenthèse), puis on</a:t>
            </a:r>
            <a:r>
              <a:rPr lang="fr-FR" sz="2000" b="1" dirty="0">
                <a:latin typeface="Times New Roman" panose="02020603050405020304" pitchFamily="18" charset="0"/>
                <a:ea typeface="Times New Roman" panose="02020603050405020304" pitchFamily="18" charset="0"/>
                <a:cs typeface="Times New Roman" panose="02020603050405020304" pitchFamily="18" charset="0"/>
              </a:rPr>
              <a:t> applique</a:t>
            </a:r>
            <a:r>
              <a:rPr lang="fr-FR" sz="2000" dirty="0">
                <a:latin typeface="Times New Roman" panose="02020603050405020304" pitchFamily="18" charset="0"/>
                <a:ea typeface="Times New Roman" panose="02020603050405020304" pitchFamily="18" charset="0"/>
                <a:cs typeface="Times New Roman" panose="02020603050405020304" pitchFamily="18" charset="0"/>
              </a:rPr>
              <a:t> le</a:t>
            </a:r>
            <a:r>
              <a:rPr lang="fr-FR" sz="2000" b="1" dirty="0">
                <a:latin typeface="Times New Roman" panose="02020603050405020304" pitchFamily="18" charset="0"/>
                <a:ea typeface="Times New Roman" panose="02020603050405020304" pitchFamily="18" charset="0"/>
                <a:cs typeface="Times New Roman" panose="02020603050405020304" pitchFamily="18" charset="0"/>
              </a:rPr>
              <a:t> traitement approprié </a:t>
            </a:r>
            <a:r>
              <a:rPr lang="fr-FR" sz="2000" dirty="0">
                <a:latin typeface="Times New Roman" panose="02020603050405020304" pitchFamily="18" charset="0"/>
                <a:ea typeface="Times New Roman" panose="02020603050405020304" pitchFamily="18" charset="0"/>
                <a:cs typeface="Times New Roman" panose="02020603050405020304" pitchFamily="18" charset="0"/>
              </a:rPr>
              <a:t>à la</a:t>
            </a:r>
            <a:r>
              <a:rPr lang="fr-FR" sz="2000" b="1" dirty="0">
                <a:latin typeface="Times New Roman" panose="02020603050405020304" pitchFamily="18" charset="0"/>
                <a:ea typeface="Times New Roman" panose="02020603050405020304" pitchFamily="18" charset="0"/>
                <a:cs typeface="Times New Roman" panose="02020603050405020304" pitchFamily="18" charset="0"/>
              </a:rPr>
              <a:t> classe </a:t>
            </a:r>
            <a:r>
              <a:rPr lang="fr-FR" sz="2000" dirty="0">
                <a:latin typeface="Times New Roman" panose="02020603050405020304" pitchFamily="18" charset="0"/>
                <a:ea typeface="Times New Roman" panose="02020603050405020304" pitchFamily="18" charset="0"/>
                <a:cs typeface="Times New Roman" panose="02020603050405020304" pitchFamily="18" charset="0"/>
              </a:rPr>
              <a:t>de l’</a:t>
            </a:r>
            <a:r>
              <a:rPr lang="fr-FR" sz="2000" b="1" dirty="0">
                <a:latin typeface="Times New Roman" panose="02020603050405020304" pitchFamily="18" charset="0"/>
                <a:ea typeface="Times New Roman" panose="02020603050405020304" pitchFamily="18" charset="0"/>
                <a:cs typeface="Times New Roman" panose="02020603050405020304" pitchFamily="18" charset="0"/>
              </a:rPr>
              <a:t>élément</a:t>
            </a:r>
            <a:r>
              <a:rPr lang="fr-FR" sz="2000" dirty="0">
                <a:latin typeface="Times New Roman" pitchFamily="18" charset="0"/>
                <a:ea typeface="Times New Roman" pitchFamily="18" charset="0"/>
                <a:cs typeface="Times New Roman" pitchFamily="18" charset="0"/>
              </a:rPr>
              <a:t>.</a:t>
            </a:r>
          </a:p>
          <a:p>
            <a:pPr lvl="0" algn="just" fontAlgn="base">
              <a:spcBef>
                <a:spcPct val="0"/>
              </a:spcBef>
              <a:spcAft>
                <a:spcPct val="0"/>
              </a:spcAft>
            </a:pPr>
            <a:endParaRPr lang="fr-FR" sz="2000" dirty="0">
              <a:latin typeface="Times New Roman" pitchFamily="18" charset="0"/>
              <a:ea typeface="Times New Roman" pitchFamily="18" charset="0"/>
              <a:cs typeface="Times New Roman" pitchFamily="18" charset="0"/>
            </a:endParaRPr>
          </a:p>
          <a:p>
            <a:r>
              <a:rPr lang="fr-FR" sz="2000" dirty="0">
                <a:latin typeface="Times New Roman" panose="02020603050405020304" pitchFamily="18" charset="0"/>
                <a:cs typeface="Times New Roman" pitchFamily="18" charset="0"/>
              </a:rPr>
              <a:t>b) </a:t>
            </a:r>
            <a:r>
              <a:rPr lang="fr-FR" sz="2000" u="sng" dirty="0">
                <a:latin typeface="Times New Roman" panose="02020603050405020304" pitchFamily="18" charset="0"/>
                <a:cs typeface="Times New Roman" pitchFamily="18" charset="0"/>
              </a:rPr>
              <a:t>Evaluation d’une expression</a:t>
            </a:r>
            <a:endParaRPr lang="fr-FR" sz="2000" dirty="0">
              <a:latin typeface="Times New Roman" pitchFamily="18" charset="0"/>
              <a:cs typeface="Times New Roman" pitchFamily="18" charset="0"/>
            </a:endParaRPr>
          </a:p>
          <a:p>
            <a:r>
              <a:rPr lang="fr-FR" sz="2000" dirty="0">
                <a:latin typeface="Times New Roman" pitchFamily="18" charset="0"/>
                <a:cs typeface="Times New Roman" pitchFamily="18" charset="0"/>
              </a:rPr>
              <a:t>Algorithmes d’évaluation d’une expression complétement </a:t>
            </a:r>
            <a:r>
              <a:rPr lang="fr-FR" sz="2000" dirty="0" err="1">
                <a:latin typeface="Times New Roman" pitchFamily="18" charset="0"/>
                <a:cs typeface="Times New Roman" pitchFamily="18" charset="0"/>
              </a:rPr>
              <a:t>parenthésée</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excp</a:t>
            </a:r>
            <a:r>
              <a:rPr lang="fr-FR" sz="2000" dirty="0">
                <a:latin typeface="Times New Roman" pitchFamily="18" charset="0"/>
                <a:cs typeface="Times New Roman" pitchFamily="18" charset="0"/>
              </a:rPr>
              <a:t>)</a:t>
            </a:r>
          </a:p>
          <a:p>
            <a:r>
              <a:rPr lang="fr-FR" sz="2000" dirty="0">
                <a:latin typeface="Times New Roman" pitchFamily="18" charset="0"/>
                <a:cs typeface="Times New Roman" pitchFamily="18" charset="0"/>
              </a:rPr>
              <a:t>Soit une expression </a:t>
            </a:r>
            <a:r>
              <a:rPr lang="fr-FR" sz="2000" b="1" dirty="0">
                <a:latin typeface="Times New Roman" panose="02020603050405020304" pitchFamily="18" charset="0"/>
                <a:cs typeface="Times New Roman" pitchFamily="18" charset="0"/>
              </a:rPr>
              <a:t>S (</a:t>
            </a:r>
            <a:r>
              <a:rPr lang="fr-FR" sz="2000" b="1" dirty="0">
                <a:latin typeface="Times New Roman" panose="02020603050405020304" pitchFamily="18" charset="0"/>
                <a:cs typeface="Times New Roman" pitchFamily="18" charset="0"/>
                <a:sym typeface="Symbol"/>
              </a:rPr>
              <a:t></a:t>
            </a:r>
            <a:r>
              <a:rPr lang="fr-FR" sz="2000" b="1" baseline="-25000" dirty="0">
                <a:latin typeface="Times New Roman" panose="02020603050405020304" pitchFamily="18" charset="0"/>
                <a:cs typeface="Times New Roman" pitchFamily="18" charset="0"/>
              </a:rPr>
              <a:t>1</a:t>
            </a:r>
            <a:r>
              <a:rPr lang="fr-FR" sz="2000" b="1" dirty="0">
                <a:latin typeface="Times New Roman" panose="02020603050405020304" pitchFamily="18" charset="0"/>
                <a:cs typeface="Times New Roman" pitchFamily="18" charset="0"/>
              </a:rPr>
              <a:t>,.., </a:t>
            </a:r>
            <a:r>
              <a:rPr lang="fr-FR" sz="2000" b="1" dirty="0">
                <a:latin typeface="Times New Roman" panose="02020603050405020304" pitchFamily="18" charset="0"/>
                <a:cs typeface="Times New Roman" pitchFamily="18" charset="0"/>
                <a:sym typeface="Symbol"/>
              </a:rPr>
              <a:t></a:t>
            </a:r>
            <a:r>
              <a:rPr lang="fr-FR" sz="2000" b="1" baseline="-25000" dirty="0">
                <a:latin typeface="Times New Roman" panose="02020603050405020304" pitchFamily="18" charset="0"/>
                <a:cs typeface="Times New Roman" pitchFamily="18" charset="0"/>
              </a:rPr>
              <a:t>p</a:t>
            </a:r>
            <a:r>
              <a:rPr lang="fr-FR" sz="2000" b="1" dirty="0">
                <a:latin typeface="Times New Roman" panose="02020603050405020304" pitchFamily="18" charset="0"/>
                <a:cs typeface="Times New Roman" pitchFamily="18" charset="0"/>
              </a:rPr>
              <a:t>, a</a:t>
            </a:r>
            <a:r>
              <a:rPr lang="fr-FR" sz="2000" b="1" baseline="-25000" dirty="0">
                <a:latin typeface="Times New Roman" panose="02020603050405020304" pitchFamily="18" charset="0"/>
                <a:cs typeface="Times New Roman" pitchFamily="18" charset="0"/>
              </a:rPr>
              <a:t>1</a:t>
            </a:r>
            <a:r>
              <a:rPr lang="fr-FR" sz="2000" b="1" dirty="0">
                <a:latin typeface="Times New Roman" panose="02020603050405020304" pitchFamily="18" charset="0"/>
                <a:cs typeface="Times New Roman" pitchFamily="18" charset="0"/>
              </a:rPr>
              <a:t>,.., a</a:t>
            </a:r>
            <a:r>
              <a:rPr lang="fr-FR" sz="2000" b="1" baseline="-25000" dirty="0">
                <a:latin typeface="Times New Roman" panose="02020603050405020304" pitchFamily="18" charset="0"/>
                <a:cs typeface="Times New Roman" pitchFamily="18" charset="0"/>
              </a:rPr>
              <a:t>n</a:t>
            </a:r>
            <a:r>
              <a:rPr lang="fr-FR" sz="2000" b="1" dirty="0">
                <a:latin typeface="Times New Roman" panose="02020603050405020304" pitchFamily="18" charset="0"/>
                <a:cs typeface="Times New Roman" pitchFamily="18" charset="0"/>
              </a:rPr>
              <a:t>)</a:t>
            </a:r>
            <a:r>
              <a:rPr lang="fr-FR" sz="2000" dirty="0">
                <a:latin typeface="Times New Roman" panose="02020603050405020304" pitchFamily="18" charset="0"/>
                <a:cs typeface="Times New Roman" pitchFamily="18" charset="0"/>
              </a:rPr>
              <a:t> où les </a:t>
            </a:r>
            <a:r>
              <a:rPr lang="fr-FR" sz="2000" b="1" dirty="0">
                <a:latin typeface="Times New Roman" panose="02020603050405020304" pitchFamily="18" charset="0"/>
                <a:cs typeface="Times New Roman" pitchFamily="18" charset="0"/>
                <a:sym typeface="Symbol"/>
              </a:rPr>
              <a:t></a:t>
            </a:r>
            <a:r>
              <a:rPr lang="fr-FR" sz="2000" b="1" baseline="-25000" dirty="0">
                <a:latin typeface="Times New Roman" panose="02020603050405020304" pitchFamily="18" charset="0"/>
                <a:cs typeface="Times New Roman" pitchFamily="18" charset="0"/>
              </a:rPr>
              <a:t>i</a:t>
            </a:r>
            <a:r>
              <a:rPr lang="fr-FR" sz="2000" dirty="0">
                <a:latin typeface="Times New Roman" panose="02020603050405020304" pitchFamily="18" charset="0"/>
                <a:cs typeface="Times New Roman" pitchFamily="18" charset="0"/>
              </a:rPr>
              <a:t> sont les </a:t>
            </a:r>
            <a:r>
              <a:rPr lang="fr-FR" sz="2000" b="1" dirty="0">
                <a:latin typeface="Times New Roman" panose="02020603050405020304" pitchFamily="18" charset="0"/>
                <a:cs typeface="Times New Roman" pitchFamily="18" charset="0"/>
              </a:rPr>
              <a:t>opérateurs</a:t>
            </a:r>
            <a:r>
              <a:rPr lang="fr-FR" sz="2000" dirty="0">
                <a:latin typeface="Times New Roman" panose="02020603050405020304" pitchFamily="18" charset="0"/>
                <a:cs typeface="Times New Roman" pitchFamily="18" charset="0"/>
              </a:rPr>
              <a:t> et les </a:t>
            </a:r>
            <a:r>
              <a:rPr lang="fr-FR" sz="2000" b="1" dirty="0">
                <a:latin typeface="Times New Roman" panose="02020603050405020304" pitchFamily="18" charset="0"/>
                <a:cs typeface="Times New Roman" pitchFamily="18" charset="0"/>
              </a:rPr>
              <a:t>a</a:t>
            </a:r>
            <a:r>
              <a:rPr lang="fr-FR" sz="2000" b="1" baseline="-25000" dirty="0">
                <a:latin typeface="Times New Roman" panose="02020603050405020304" pitchFamily="18" charset="0"/>
                <a:cs typeface="Times New Roman" pitchFamily="18" charset="0"/>
              </a:rPr>
              <a:t>i</a:t>
            </a:r>
            <a:r>
              <a:rPr lang="fr-FR" sz="2000" dirty="0">
                <a:latin typeface="Times New Roman" panose="02020603050405020304" pitchFamily="18" charset="0"/>
                <a:cs typeface="Times New Roman" pitchFamily="18" charset="0"/>
              </a:rPr>
              <a:t> sont les </a:t>
            </a:r>
            <a:r>
              <a:rPr lang="fr-FR" sz="2000" b="1" dirty="0">
                <a:latin typeface="Times New Roman" panose="02020603050405020304" pitchFamily="18" charset="0"/>
                <a:cs typeface="Times New Roman" pitchFamily="18" charset="0"/>
              </a:rPr>
              <a:t>variables</a:t>
            </a:r>
            <a:r>
              <a:rPr lang="fr-FR" sz="2000" dirty="0">
                <a:latin typeface="Times New Roman" pitchFamily="18" charset="0"/>
                <a:cs typeface="Times New Roman" pitchFamily="18" charset="0"/>
              </a:rPr>
              <a:t>.  </a:t>
            </a:r>
          </a:p>
          <a:p>
            <a:r>
              <a:rPr lang="fr-FR" sz="2000" dirty="0">
                <a:latin typeface="Times New Roman" pitchFamily="18" charset="0"/>
                <a:cs typeface="Times New Roman" pitchFamily="18" charset="0"/>
              </a:rPr>
              <a:t>Si on associe à chaque </a:t>
            </a:r>
            <a:r>
              <a:rPr lang="fr-FR" sz="2000" b="1" dirty="0">
                <a:latin typeface="Times New Roman" panose="02020603050405020304" pitchFamily="18" charset="0"/>
                <a:cs typeface="Times New Roman" pitchFamily="18" charset="0"/>
              </a:rPr>
              <a:t>a</a:t>
            </a:r>
            <a:r>
              <a:rPr lang="fr-FR" sz="2000" b="1" baseline="-25000" dirty="0">
                <a:latin typeface="Times New Roman" panose="02020603050405020304" pitchFamily="18" charset="0"/>
                <a:cs typeface="Times New Roman" pitchFamily="18" charset="0"/>
              </a:rPr>
              <a:t>i</a:t>
            </a:r>
            <a:r>
              <a:rPr lang="fr-FR" sz="2000" dirty="0">
                <a:latin typeface="Times New Roman" panose="02020603050405020304" pitchFamily="18" charset="0"/>
                <a:cs typeface="Times New Roman" pitchFamily="18" charset="0"/>
              </a:rPr>
              <a:t> une valeur </a:t>
            </a:r>
            <a:r>
              <a:rPr lang="fr-FR" sz="2000" b="1" dirty="0">
                <a:latin typeface="Times New Roman" panose="02020603050405020304" pitchFamily="18" charset="0"/>
                <a:cs typeface="Times New Roman" pitchFamily="18" charset="0"/>
              </a:rPr>
              <a:t>v</a:t>
            </a:r>
            <a:r>
              <a:rPr lang="fr-FR" sz="2000" b="1" baseline="-25000" dirty="0">
                <a:latin typeface="Times New Roman" panose="02020603050405020304" pitchFamily="18" charset="0"/>
                <a:cs typeface="Times New Roman" pitchFamily="18" charset="0"/>
              </a:rPr>
              <a:t>i</a:t>
            </a:r>
            <a:r>
              <a:rPr lang="fr-FR" sz="2000" dirty="0">
                <a:latin typeface="Times New Roman" panose="02020603050405020304" pitchFamily="18" charset="0"/>
                <a:cs typeface="Times New Roman" pitchFamily="18" charset="0"/>
              </a:rPr>
              <a:t>, la suite </a:t>
            </a:r>
            <a:r>
              <a:rPr lang="fr-FR" sz="2000" b="1" dirty="0">
                <a:latin typeface="Times New Roman" panose="02020603050405020304" pitchFamily="18" charset="0"/>
                <a:cs typeface="Times New Roman" pitchFamily="18" charset="0"/>
              </a:rPr>
              <a:t>E = (v</a:t>
            </a:r>
            <a:r>
              <a:rPr lang="fr-FR" sz="2000" b="1" baseline="-25000" dirty="0">
                <a:latin typeface="Times New Roman" panose="02020603050405020304" pitchFamily="18" charset="0"/>
                <a:cs typeface="Times New Roman" pitchFamily="18" charset="0"/>
              </a:rPr>
              <a:t>1</a:t>
            </a:r>
            <a:r>
              <a:rPr lang="fr-FR" sz="2000" b="1" dirty="0">
                <a:latin typeface="Times New Roman" panose="02020603050405020304" pitchFamily="18" charset="0"/>
                <a:cs typeface="Times New Roman" pitchFamily="18" charset="0"/>
              </a:rPr>
              <a:t>,.., </a:t>
            </a:r>
            <a:r>
              <a:rPr lang="fr-FR" sz="2000" b="1" dirty="0" err="1">
                <a:latin typeface="Times New Roman" panose="02020603050405020304" pitchFamily="18" charset="0"/>
                <a:cs typeface="Times New Roman" pitchFamily="18" charset="0"/>
              </a:rPr>
              <a:t>v</a:t>
            </a:r>
            <a:r>
              <a:rPr lang="fr-FR" sz="2000" b="1" baseline="-25000" dirty="0" err="1">
                <a:latin typeface="Times New Roman" panose="02020603050405020304" pitchFamily="18" charset="0"/>
                <a:cs typeface="Times New Roman" pitchFamily="18" charset="0"/>
              </a:rPr>
              <a:t>n</a:t>
            </a:r>
            <a:r>
              <a:rPr lang="fr-FR" sz="2000" b="1" dirty="0">
                <a:latin typeface="Times New Roman" panose="02020603050405020304" pitchFamily="18" charset="0"/>
                <a:cs typeface="Times New Roman" pitchFamily="18" charset="0"/>
              </a:rPr>
              <a:t>)</a:t>
            </a:r>
            <a:r>
              <a:rPr lang="fr-FR" sz="2000" dirty="0">
                <a:latin typeface="Times New Roman" panose="02020603050405020304" pitchFamily="18" charset="0"/>
                <a:cs typeface="Times New Roman" pitchFamily="18" charset="0"/>
              </a:rPr>
              <a:t> de ces valeurs est l’</a:t>
            </a:r>
            <a:r>
              <a:rPr lang="fr-FR" sz="2000" b="1" dirty="0">
                <a:latin typeface="Times New Roman" panose="02020603050405020304" pitchFamily="18" charset="0"/>
                <a:cs typeface="Times New Roman" pitchFamily="18" charset="0"/>
              </a:rPr>
              <a:t>environnement</a:t>
            </a:r>
            <a:r>
              <a:rPr lang="fr-FR" sz="2000" dirty="0">
                <a:latin typeface="Times New Roman" panose="02020603050405020304" pitchFamily="18" charset="0"/>
                <a:cs typeface="Times New Roman" pitchFamily="18" charset="0"/>
              </a:rPr>
              <a:t> de l’expression. </a:t>
            </a:r>
          </a:p>
          <a:p>
            <a:r>
              <a:rPr lang="fr-FR" sz="2000" b="1" dirty="0">
                <a:latin typeface="Times New Roman" panose="02020603050405020304" pitchFamily="18" charset="0"/>
                <a:cs typeface="Times New Roman" pitchFamily="18" charset="0"/>
              </a:rPr>
              <a:t>Evaluer</a:t>
            </a:r>
            <a:r>
              <a:rPr lang="fr-FR" sz="2000" dirty="0">
                <a:latin typeface="Times New Roman" panose="02020603050405020304" pitchFamily="18" charset="0"/>
                <a:cs typeface="Times New Roman" pitchFamily="18" charset="0"/>
              </a:rPr>
              <a:t> l’</a:t>
            </a:r>
            <a:r>
              <a:rPr lang="fr-FR" sz="2000" b="1" dirty="0">
                <a:latin typeface="Times New Roman" panose="02020603050405020304" pitchFamily="18" charset="0"/>
                <a:cs typeface="Times New Roman" pitchFamily="18" charset="0"/>
              </a:rPr>
              <a:t>expression</a:t>
            </a:r>
            <a:r>
              <a:rPr lang="fr-FR" sz="2000" dirty="0">
                <a:latin typeface="Times New Roman" panose="02020603050405020304" pitchFamily="18" charset="0"/>
                <a:cs typeface="Times New Roman" pitchFamily="18" charset="0"/>
              </a:rPr>
              <a:t> pour un environnement donné c’est </a:t>
            </a:r>
            <a:r>
              <a:rPr lang="fr-FR" sz="2000" b="1" dirty="0">
                <a:latin typeface="Times New Roman" panose="02020603050405020304" pitchFamily="18" charset="0"/>
                <a:cs typeface="Times New Roman" pitchFamily="18" charset="0"/>
              </a:rPr>
              <a:t>calculer</a:t>
            </a:r>
            <a:r>
              <a:rPr lang="fr-FR" sz="2000" dirty="0">
                <a:latin typeface="Times New Roman" panose="02020603050405020304" pitchFamily="18" charset="0"/>
                <a:cs typeface="Times New Roman" pitchFamily="18" charset="0"/>
              </a:rPr>
              <a:t> la </a:t>
            </a:r>
            <a:r>
              <a:rPr lang="fr-FR" sz="2000" b="1" dirty="0">
                <a:latin typeface="Times New Roman" panose="02020603050405020304" pitchFamily="18" charset="0"/>
                <a:cs typeface="Times New Roman" pitchFamily="18" charset="0"/>
              </a:rPr>
              <a:t>valeur</a:t>
            </a:r>
            <a:r>
              <a:rPr lang="fr-FR" sz="2000" dirty="0">
                <a:latin typeface="Times New Roman" panose="02020603050405020304" pitchFamily="18" charset="0"/>
                <a:cs typeface="Times New Roman" pitchFamily="18" charset="0"/>
              </a:rPr>
              <a:t> de l’expression pour les valeurs associées à chaque variable. Avant d’</a:t>
            </a:r>
            <a:r>
              <a:rPr lang="fr-FR" sz="2000" b="1" dirty="0">
                <a:latin typeface="Times New Roman" panose="02020603050405020304" pitchFamily="18" charset="0"/>
                <a:cs typeface="Times New Roman" pitchFamily="18" charset="0"/>
              </a:rPr>
              <a:t>évaluer </a:t>
            </a:r>
            <a:r>
              <a:rPr lang="fr-FR" sz="2000" dirty="0">
                <a:latin typeface="Times New Roman" panose="02020603050405020304" pitchFamily="18" charset="0"/>
                <a:cs typeface="Times New Roman" pitchFamily="18" charset="0"/>
              </a:rPr>
              <a:t>une </a:t>
            </a:r>
            <a:r>
              <a:rPr lang="fr-FR" sz="2000" b="1" dirty="0">
                <a:latin typeface="Times New Roman" panose="02020603050405020304" pitchFamily="18" charset="0"/>
                <a:cs typeface="Times New Roman" pitchFamily="18" charset="0"/>
              </a:rPr>
              <a:t>expression </a:t>
            </a:r>
            <a:r>
              <a:rPr lang="fr-FR" sz="2000" dirty="0">
                <a:latin typeface="Times New Roman" panose="02020603050405020304" pitchFamily="18" charset="0"/>
                <a:cs typeface="Times New Roman" pitchFamily="18" charset="0"/>
              </a:rPr>
              <a:t>ou une sous-</a:t>
            </a:r>
            <a:r>
              <a:rPr lang="fr-FR" sz="2000" b="1" dirty="0">
                <a:latin typeface="Times New Roman" panose="02020603050405020304" pitchFamily="18" charset="0"/>
                <a:cs typeface="Times New Roman" pitchFamily="18" charset="0"/>
              </a:rPr>
              <a:t>expression, </a:t>
            </a:r>
            <a:r>
              <a:rPr lang="fr-FR" sz="2000" dirty="0">
                <a:latin typeface="Times New Roman" panose="02020603050405020304" pitchFamily="18" charset="0"/>
                <a:cs typeface="Times New Roman" pitchFamily="18" charset="0"/>
              </a:rPr>
              <a:t>on doit</a:t>
            </a:r>
            <a:r>
              <a:rPr lang="fr-FR" sz="2000" b="1" dirty="0">
                <a:latin typeface="Times New Roman" panose="02020603050405020304" pitchFamily="18" charset="0"/>
                <a:cs typeface="Times New Roman" pitchFamily="18" charset="0"/>
              </a:rPr>
              <a:t> disposer </a:t>
            </a:r>
            <a:r>
              <a:rPr lang="fr-FR" sz="2000" dirty="0">
                <a:latin typeface="Times New Roman" panose="02020603050405020304" pitchFamily="18" charset="0"/>
                <a:cs typeface="Times New Roman" pitchFamily="18" charset="0"/>
              </a:rPr>
              <a:t>de son</a:t>
            </a:r>
            <a:r>
              <a:rPr lang="fr-FR" sz="2000" b="1" dirty="0">
                <a:latin typeface="Times New Roman" panose="02020603050405020304" pitchFamily="18" charset="0"/>
                <a:cs typeface="Times New Roman" pitchFamily="18" charset="0"/>
              </a:rPr>
              <a:t> environnement</a:t>
            </a:r>
            <a:r>
              <a:rPr lang="fr-FR" sz="2000" dirty="0">
                <a:latin typeface="Times New Roman" panose="02020603050405020304" pitchFamily="18" charset="0"/>
                <a:cs typeface="Times New Roman" pitchFamily="18" charset="0"/>
              </a:rPr>
              <a:t>.</a:t>
            </a:r>
          </a:p>
          <a:p>
            <a:r>
              <a:rPr lang="fr-FR" sz="2000" dirty="0">
                <a:latin typeface="Times New Roman" panose="02020603050405020304" pitchFamily="18" charset="0"/>
                <a:cs typeface="Times New Roman" pitchFamily="18" charset="0"/>
              </a:rPr>
              <a:t>Schéma formel de l’évaluation d’une expression </a:t>
            </a:r>
            <a:r>
              <a:rPr lang="fr-FR" sz="2000" b="1" dirty="0">
                <a:latin typeface="Times New Roman" panose="02020603050405020304" pitchFamily="18" charset="0"/>
                <a:cs typeface="Times New Roman" panose="02020603050405020304" pitchFamily="18" charset="0"/>
              </a:rPr>
              <a:t>S</a:t>
            </a:r>
            <a:r>
              <a:rPr lang="fr-FR" sz="2000" dirty="0">
                <a:latin typeface="Times New Roman" panose="02020603050405020304" pitchFamily="18" charset="0"/>
                <a:cs typeface="Times New Roman" panose="02020603050405020304" pitchFamily="18" charset="0"/>
              </a:rPr>
              <a:t> formée d’un opérateur  </a:t>
            </a:r>
            <a:r>
              <a:rPr lang="fr-FR" sz="2000" b="1" dirty="0">
                <a:latin typeface="Times New Roman" panose="02020603050405020304" pitchFamily="18" charset="0"/>
                <a:cs typeface="Times New Roman" panose="02020603050405020304" pitchFamily="18" charset="0"/>
                <a:sym typeface="Symbol"/>
              </a:rPr>
              <a:t></a:t>
            </a:r>
            <a:r>
              <a:rPr lang="fr-FR" sz="2000" dirty="0">
                <a:latin typeface="Times New Roman" panose="02020603050405020304" pitchFamily="18" charset="0"/>
                <a:cs typeface="Times New Roman" panose="02020603050405020304" pitchFamily="18" charset="0"/>
              </a:rPr>
              <a:t> et de 2 opérandes </a:t>
            </a:r>
            <a:r>
              <a:rPr lang="fr-FR" sz="2000" b="1" dirty="0">
                <a:latin typeface="Times New Roman" panose="02020603050405020304" pitchFamily="18" charset="0"/>
                <a:cs typeface="Times New Roman" panose="02020603050405020304" pitchFamily="18" charset="0"/>
              </a:rPr>
              <a:t>op1</a:t>
            </a:r>
            <a:r>
              <a:rPr lang="fr-FR" sz="2000" dirty="0">
                <a:latin typeface="Times New Roman" panose="02020603050405020304" pitchFamily="18" charset="0"/>
                <a:cs typeface="Times New Roman" panose="02020603050405020304" pitchFamily="18" charset="0"/>
              </a:rPr>
              <a:t> et </a:t>
            </a:r>
            <a:r>
              <a:rPr lang="fr-FR" sz="2000" b="1" dirty="0">
                <a:latin typeface="Times New Roman" panose="02020603050405020304" pitchFamily="18" charset="0"/>
                <a:cs typeface="Times New Roman" panose="02020603050405020304" pitchFamily="18" charset="0"/>
              </a:rPr>
              <a:t>op2</a:t>
            </a:r>
            <a:r>
              <a:rPr lang="fr-FR" sz="2000" dirty="0">
                <a:latin typeface="Times New Roman" panose="02020603050405020304" pitchFamily="18" charset="0"/>
                <a:cs typeface="Times New Roman" panose="02020603050405020304" pitchFamily="18" charset="0"/>
              </a:rPr>
              <a:t> :</a:t>
            </a:r>
          </a:p>
          <a:p>
            <a:r>
              <a:rPr lang="fr-FR" sz="2000" b="1" dirty="0">
                <a:latin typeface="Times New Roman" panose="02020603050405020304" pitchFamily="18" charset="0"/>
                <a:cs typeface="Times New Roman" panose="02020603050405020304" pitchFamily="18" charset="0"/>
              </a:rPr>
              <a:t>évaluation (S) = opération (</a:t>
            </a:r>
            <a:r>
              <a:rPr lang="fr-FR" sz="2000" b="1" dirty="0">
                <a:latin typeface="Times New Roman" panose="02020603050405020304" pitchFamily="18" charset="0"/>
                <a:cs typeface="Times New Roman" panose="02020603050405020304" pitchFamily="18" charset="0"/>
                <a:sym typeface="Symbol"/>
              </a:rPr>
              <a:t></a:t>
            </a:r>
            <a:r>
              <a:rPr lang="fr-FR" sz="2000" b="1" dirty="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b="1" dirty="0">
                <a:latin typeface="Times New Roman" panose="02020603050405020304" pitchFamily="18" charset="0"/>
                <a:cs typeface="Times New Roman" panose="02020603050405020304" pitchFamily="18" charset="0"/>
              </a:rPr>
              <a:t>	            si (variable(op1))valeur(op1)  sinon évaluation(op1),</a:t>
            </a:r>
            <a:endParaRPr lang="fr-FR" sz="2000" dirty="0">
              <a:latin typeface="Times New Roman" panose="02020603050405020304" pitchFamily="18" charset="0"/>
              <a:cs typeface="Times New Roman" panose="02020603050405020304" pitchFamily="18" charset="0"/>
            </a:endParaRPr>
          </a:p>
          <a:p>
            <a:r>
              <a:rPr lang="fr-FR" sz="2000" b="1" dirty="0">
                <a:latin typeface="Times New Roman" panose="02020603050405020304" pitchFamily="18" charset="0"/>
                <a:cs typeface="Times New Roman" panose="02020603050405020304" pitchFamily="18" charset="0"/>
              </a:rPr>
              <a:t>	            si (variable(op2))valeur(op2)  sinon évaluation(op2) )</a:t>
            </a:r>
            <a:endParaRPr lang="fr-FR"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Où  </a:t>
            </a:r>
            <a:r>
              <a:rPr lang="fr-FR" sz="2000" b="1" dirty="0">
                <a:latin typeface="Times New Roman" panose="02020603050405020304" pitchFamily="18" charset="0"/>
                <a:cs typeface="Times New Roman" pitchFamily="18" charset="0"/>
              </a:rPr>
              <a:t>valeur(a)</a:t>
            </a:r>
            <a:r>
              <a:rPr lang="fr-FR" sz="2000" dirty="0">
                <a:latin typeface="Times New Roman" panose="02020603050405020304" pitchFamily="18" charset="0"/>
                <a:cs typeface="Times New Roman" pitchFamily="18" charset="0"/>
              </a:rPr>
              <a:t> est une fonction qui délivre la valeur </a:t>
            </a:r>
            <a:r>
              <a:rPr lang="fr-FR" sz="2000" b="1" dirty="0">
                <a:latin typeface="Times New Roman" panose="02020603050405020304" pitchFamily="18" charset="0"/>
                <a:cs typeface="Times New Roman" pitchFamily="18" charset="0"/>
              </a:rPr>
              <a:t>v</a:t>
            </a:r>
            <a:r>
              <a:rPr lang="fr-FR" sz="2000" dirty="0">
                <a:latin typeface="Times New Roman" panose="02020603050405020304" pitchFamily="18" charset="0"/>
                <a:cs typeface="Times New Roman" pitchFamily="18" charset="0"/>
              </a:rPr>
              <a:t> qui est associée à la variable </a:t>
            </a:r>
            <a:r>
              <a:rPr lang="fr-FR" sz="2000" b="1" dirty="0">
                <a:latin typeface="Times New Roman" panose="02020603050405020304" pitchFamily="18" charset="0"/>
                <a:cs typeface="Times New Roman" pitchFamily="18" charset="0"/>
              </a:rPr>
              <a:t>a</a:t>
            </a:r>
            <a:r>
              <a:rPr lang="fr-FR" sz="2000" dirty="0">
                <a:latin typeface="Times New Roman" panose="02020603050405020304" pitchFamily="18" charset="0"/>
                <a:cs typeface="Times New Roman" pitchFamily="18" charset="0"/>
              </a:rPr>
              <a:t>,</a:t>
            </a:r>
          </a:p>
          <a:p>
            <a:r>
              <a:rPr lang="fr-FR" sz="2000" b="1" dirty="0">
                <a:latin typeface="Times New Roman" panose="02020603050405020304" pitchFamily="18" charset="0"/>
                <a:cs typeface="Times New Roman" pitchFamily="18" charset="0"/>
              </a:rPr>
              <a:t>       variable(a)</a:t>
            </a:r>
            <a:r>
              <a:rPr lang="fr-FR" sz="2000" dirty="0">
                <a:latin typeface="Times New Roman" panose="02020603050405020304" pitchFamily="18" charset="0"/>
                <a:cs typeface="Times New Roman" pitchFamily="18" charset="0"/>
              </a:rPr>
              <a:t> est un prédicat qui délivre </a:t>
            </a:r>
            <a:r>
              <a:rPr lang="fr-FR" sz="2000" b="1" dirty="0">
                <a:latin typeface="Times New Roman" panose="02020603050405020304" pitchFamily="18" charset="0"/>
                <a:cs typeface="Times New Roman" pitchFamily="18" charset="0"/>
              </a:rPr>
              <a:t>vrai</a:t>
            </a:r>
            <a:r>
              <a:rPr lang="fr-FR" sz="2000" dirty="0">
                <a:latin typeface="Times New Roman" panose="02020603050405020304" pitchFamily="18" charset="0"/>
                <a:cs typeface="Times New Roman" pitchFamily="18" charset="0"/>
              </a:rPr>
              <a:t> si et seulement si </a:t>
            </a:r>
            <a:r>
              <a:rPr lang="fr-FR" sz="2000" b="1" dirty="0">
                <a:latin typeface="Times New Roman" panose="02020603050405020304" pitchFamily="18" charset="0"/>
                <a:cs typeface="Times New Roman" pitchFamily="18" charset="0"/>
              </a:rPr>
              <a:t>a</a:t>
            </a:r>
            <a:r>
              <a:rPr lang="fr-FR" sz="2000" dirty="0">
                <a:latin typeface="Times New Roman" panose="02020603050405020304" pitchFamily="18" charset="0"/>
                <a:cs typeface="Times New Roman" pitchFamily="18" charset="0"/>
              </a:rPr>
              <a:t> est une variable,</a:t>
            </a:r>
          </a:p>
          <a:p>
            <a:r>
              <a:rPr lang="fr-FR" sz="2000" b="1" dirty="0">
                <a:latin typeface="Times New Roman" panose="02020603050405020304" pitchFamily="18" charset="0"/>
                <a:cs typeface="Times New Roman" pitchFamily="18" charset="0"/>
              </a:rPr>
              <a:t>       opération(</a:t>
            </a:r>
            <a:r>
              <a:rPr lang="fr-FR" sz="2000" b="1" dirty="0">
                <a:latin typeface="Times New Roman" panose="02020603050405020304" pitchFamily="18" charset="0"/>
                <a:cs typeface="Times New Roman" pitchFamily="18" charset="0"/>
                <a:sym typeface="Symbol"/>
              </a:rPr>
              <a:t></a:t>
            </a:r>
            <a:r>
              <a:rPr lang="fr-FR" sz="2000" b="1" dirty="0">
                <a:latin typeface="Times New Roman" panose="02020603050405020304" pitchFamily="18" charset="0"/>
                <a:cs typeface="Times New Roman" pitchFamily="18" charset="0"/>
              </a:rPr>
              <a:t>, v1, v2)</a:t>
            </a:r>
            <a:r>
              <a:rPr lang="fr-FR" sz="2000" dirty="0">
                <a:latin typeface="Times New Roman" panose="02020603050405020304" pitchFamily="18" charset="0"/>
                <a:cs typeface="Times New Roman" pitchFamily="18" charset="0"/>
              </a:rPr>
              <a:t> est une fonction évaluant l’opération binaire dont  </a:t>
            </a:r>
            <a:r>
              <a:rPr lang="fr-FR" sz="2000" b="1" dirty="0">
                <a:latin typeface="Times New Roman" panose="02020603050405020304" pitchFamily="18" charset="0"/>
                <a:cs typeface="Times New Roman" pitchFamily="18" charset="0"/>
                <a:sym typeface="Symbol"/>
              </a:rPr>
              <a:t></a:t>
            </a:r>
            <a:r>
              <a:rPr lang="fr-FR" sz="2000" dirty="0">
                <a:latin typeface="Times New Roman" panose="02020603050405020304" pitchFamily="18" charset="0"/>
                <a:cs typeface="Times New Roman" pitchFamily="18" charset="0"/>
              </a:rPr>
              <a:t> est l’opérateur et </a:t>
            </a:r>
            <a:r>
              <a:rPr lang="fr-FR" sz="2000" b="1" dirty="0">
                <a:latin typeface="Times New Roman" panose="02020603050405020304" pitchFamily="18" charset="0"/>
                <a:cs typeface="Times New Roman" pitchFamily="18" charset="0"/>
              </a:rPr>
              <a:t>v1</a:t>
            </a:r>
            <a:r>
              <a:rPr lang="fr-FR" sz="2000" dirty="0">
                <a:latin typeface="Times New Roman" panose="02020603050405020304" pitchFamily="18" charset="0"/>
                <a:cs typeface="Times New Roman" pitchFamily="18" charset="0"/>
              </a:rPr>
              <a:t> et </a:t>
            </a:r>
            <a:r>
              <a:rPr lang="fr-FR" sz="2000" b="1" dirty="0">
                <a:latin typeface="Times New Roman" panose="02020603050405020304" pitchFamily="18" charset="0"/>
                <a:cs typeface="Times New Roman" pitchFamily="18" charset="0"/>
              </a:rPr>
              <a:t>v2</a:t>
            </a:r>
            <a:r>
              <a:rPr lang="fr-FR" sz="2000" dirty="0">
                <a:latin typeface="Times New Roman" panose="02020603050405020304" pitchFamily="18" charset="0"/>
                <a:cs typeface="Times New Roman" pitchFamily="18" charset="0"/>
              </a:rPr>
              <a:t> les valeurs des opérandes.</a:t>
            </a:r>
          </a:p>
        </p:txBody>
      </p:sp>
    </p:spTree>
    <p:extLst>
      <p:ext uri="{BB962C8B-B14F-4D97-AF65-F5344CB8AC3E}">
        <p14:creationId xmlns:p14="http://schemas.microsoft.com/office/powerpoint/2010/main" val="40325111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3520" y="375930"/>
            <a:ext cx="11805920" cy="6186309"/>
          </a:xfrm>
          <a:prstGeom prst="rect">
            <a:avLst/>
          </a:prstGeom>
        </p:spPr>
        <p:txBody>
          <a:bodyPr wrap="square">
            <a:spAutoFit/>
          </a:bodyPr>
          <a:lstStyle/>
          <a:p>
            <a:pPr lvl="0" algn="just" fontAlgn="base">
              <a:spcBef>
                <a:spcPct val="0"/>
              </a:spcBef>
              <a:spcAft>
                <a:spcPct val="0"/>
              </a:spcAft>
            </a:pPr>
            <a:r>
              <a:rPr lang="fr-FR" u="sng" dirty="0">
                <a:latin typeface="Times New Roman" pitchFamily="18" charset="0"/>
                <a:ea typeface="Times New Roman" pitchFamily="18" charset="0"/>
                <a:cs typeface="Times New Roman" pitchFamily="18" charset="0"/>
              </a:rPr>
              <a:t>Exemple</a:t>
            </a:r>
            <a:r>
              <a:rPr lang="fr-FR" dirty="0">
                <a:latin typeface="Times New Roman" pitchFamily="18" charset="0"/>
                <a:ea typeface="Times New Roman" pitchFamily="18" charset="0"/>
                <a:cs typeface="Times New Roman" pitchFamily="18" charset="0"/>
              </a:rPr>
              <a:t> : évaluer (A+(C*D)) avec A=3, D=4, C=5.</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Evaluation ((A+(C*D)))=</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opération(+, 3, évaluation ((C*D))),</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opération(+, 3, opération (*, 4, 5)),</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opération(+, 3, 20),</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23.</a:t>
            </a:r>
          </a:p>
          <a:p>
            <a:pPr lvl="0" algn="just" eaLnBrk="0" fontAlgn="base" hangingPunct="0">
              <a:spcBef>
                <a:spcPct val="0"/>
              </a:spcBef>
              <a:spcAft>
                <a:spcPct val="0"/>
              </a:spcAft>
            </a:pPr>
            <a:endParaRPr lang="fr-FR" dirty="0">
              <a:latin typeface="Times New Roman" pitchFamily="18" charset="0"/>
              <a:ea typeface="Times New Roman" pitchFamily="18" charset="0"/>
              <a:cs typeface="Times New Roman" pitchFamily="18" charset="0"/>
            </a:endParaRPr>
          </a:p>
          <a:p>
            <a:pPr>
              <a:buFontTx/>
              <a:buChar char="-"/>
            </a:pPr>
            <a:r>
              <a:rPr lang="fr-FR" b="1" dirty="0">
                <a:latin typeface="Times New Roman" pitchFamily="18" charset="0"/>
                <a:cs typeface="Times New Roman" pitchFamily="18" charset="0"/>
              </a:rPr>
              <a:t>Evaluation d’une expression </a:t>
            </a:r>
            <a:r>
              <a:rPr lang="fr-FR" b="1" dirty="0" err="1">
                <a:latin typeface="Times New Roman" pitchFamily="18" charset="0"/>
                <a:cs typeface="Times New Roman" pitchFamily="18" charset="0"/>
              </a:rPr>
              <a:t>postfixée</a:t>
            </a:r>
            <a:r>
              <a:rPr lang="fr-FR" dirty="0">
                <a:latin typeface="Times New Roman" pitchFamily="18" charset="0"/>
                <a:cs typeface="Times New Roman" pitchFamily="18" charset="0"/>
              </a:rPr>
              <a:t>.</a:t>
            </a:r>
          </a:p>
          <a:p>
            <a:pPr algn="just"/>
            <a:r>
              <a:rPr lang="fr-FR" dirty="0">
                <a:latin typeface="Times New Roman" pitchFamily="18" charset="0"/>
                <a:cs typeface="Times New Roman" pitchFamily="18" charset="0"/>
              </a:rPr>
              <a:t>Parcourir une </a:t>
            </a:r>
            <a:r>
              <a:rPr lang="fr-FR" dirty="0" err="1">
                <a:latin typeface="Times New Roman" pitchFamily="18" charset="0"/>
                <a:cs typeface="Times New Roman" pitchFamily="18" charset="0"/>
              </a:rPr>
              <a:t>expost</a:t>
            </a:r>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AB-C+</a:t>
            </a:r>
            <a:r>
              <a:rPr lang="fr-FR" dirty="0">
                <a:latin typeface="Times New Roman" pitchFamily="18" charset="0"/>
                <a:cs typeface="Times New Roman" pitchFamily="18" charset="0"/>
              </a:rPr>
              <a:t>, on rencontre les </a:t>
            </a:r>
            <a:r>
              <a:rPr lang="fr-FR" b="1" dirty="0">
                <a:latin typeface="Times New Roman" pitchFamily="18" charset="0"/>
                <a:cs typeface="Times New Roman" pitchFamily="18" charset="0"/>
              </a:rPr>
              <a:t>opérandes</a:t>
            </a:r>
            <a:r>
              <a:rPr lang="fr-FR" dirty="0">
                <a:latin typeface="Times New Roman" pitchFamily="18" charset="0"/>
                <a:cs typeface="Times New Roman" pitchFamily="18" charset="0"/>
              </a:rPr>
              <a:t> avant les </a:t>
            </a:r>
            <a:r>
              <a:rPr lang="fr-FR" b="1" dirty="0">
                <a:latin typeface="Times New Roman" pitchFamily="18" charset="0"/>
                <a:cs typeface="Times New Roman" pitchFamily="18" charset="0"/>
              </a:rPr>
              <a:t>opérateurs.</a:t>
            </a:r>
            <a:r>
              <a:rPr lang="fr-FR" dirty="0">
                <a:latin typeface="Times New Roman" pitchFamily="18" charset="0"/>
                <a:cs typeface="Times New Roman" pitchFamily="18" charset="0"/>
              </a:rPr>
              <a:t> On doit </a:t>
            </a:r>
            <a:r>
              <a:rPr lang="fr-FR" b="1" dirty="0">
                <a:latin typeface="Times New Roman" pitchFamily="18" charset="0"/>
                <a:cs typeface="Times New Roman" pitchFamily="18" charset="0"/>
              </a:rPr>
              <a:t>se souvenir</a:t>
            </a:r>
            <a:r>
              <a:rPr lang="fr-FR" dirty="0">
                <a:latin typeface="Times New Roman" pitchFamily="18" charset="0"/>
                <a:cs typeface="Times New Roman" pitchFamily="18" charset="0"/>
              </a:rPr>
              <a:t> des valeurs des opérandes. Puis on compose, à l’aide de l’opérateur, le ou les opérandes dont on a gardé les valeurs. Le résultat de cette composition est une </a:t>
            </a:r>
            <a:r>
              <a:rPr lang="fr-FR" b="1" dirty="0">
                <a:latin typeface="Times New Roman" pitchFamily="18" charset="0"/>
                <a:cs typeface="Times New Roman" pitchFamily="18" charset="0"/>
              </a:rPr>
              <a:t>valeur</a:t>
            </a:r>
            <a:r>
              <a:rPr lang="fr-FR" dirty="0">
                <a:latin typeface="Times New Roman" pitchFamily="18" charset="0"/>
                <a:cs typeface="Times New Roman" pitchFamily="18" charset="0"/>
              </a:rPr>
              <a:t> qui est soit le </a:t>
            </a:r>
            <a:r>
              <a:rPr lang="fr-FR" b="1" dirty="0">
                <a:latin typeface="Times New Roman" pitchFamily="18" charset="0"/>
                <a:cs typeface="Times New Roman" pitchFamily="18" charset="0"/>
              </a:rPr>
              <a:t>résultat</a:t>
            </a:r>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final</a:t>
            </a:r>
            <a:r>
              <a:rPr lang="fr-FR" dirty="0">
                <a:latin typeface="Times New Roman" pitchFamily="18" charset="0"/>
                <a:cs typeface="Times New Roman" pitchFamily="18" charset="0"/>
              </a:rPr>
              <a:t>, soit la </a:t>
            </a:r>
            <a:r>
              <a:rPr lang="fr-FR" b="1" dirty="0">
                <a:latin typeface="Times New Roman" pitchFamily="18" charset="0"/>
                <a:cs typeface="Times New Roman" pitchFamily="18" charset="0"/>
              </a:rPr>
              <a:t>valeur d’une opérande</a:t>
            </a:r>
            <a:r>
              <a:rPr lang="fr-FR" dirty="0">
                <a:latin typeface="Times New Roman" pitchFamily="18" charset="0"/>
                <a:cs typeface="Times New Roman" pitchFamily="18" charset="0"/>
              </a:rPr>
              <a:t> dont il faut se </a:t>
            </a:r>
            <a:r>
              <a:rPr lang="fr-FR" b="1" dirty="0">
                <a:latin typeface="Times New Roman" pitchFamily="18" charset="0"/>
                <a:cs typeface="Times New Roman" pitchFamily="18" charset="0"/>
              </a:rPr>
              <a:t>souvenir</a:t>
            </a:r>
            <a:r>
              <a:rPr lang="fr-FR" dirty="0">
                <a:latin typeface="Times New Roman" pitchFamily="18" charset="0"/>
                <a:cs typeface="Times New Roman" pitchFamily="18" charset="0"/>
              </a:rPr>
              <a:t> pour la suite de l’évaluation.</a:t>
            </a:r>
          </a:p>
          <a:p>
            <a:pPr algn="just"/>
            <a:endParaRPr lang="fr-FR" dirty="0">
              <a:latin typeface="Times New Roman" pitchFamily="18" charset="0"/>
              <a:cs typeface="Times New Roman" pitchFamily="18" charset="0"/>
            </a:endParaRPr>
          </a:p>
          <a:p>
            <a:pPr algn="just"/>
            <a:r>
              <a:rPr lang="fr-FR" dirty="0">
                <a:latin typeface="Times New Roman" pitchFamily="18" charset="0"/>
                <a:cs typeface="Times New Roman" pitchFamily="18" charset="0"/>
              </a:rPr>
              <a:t>La structure de </a:t>
            </a:r>
            <a:r>
              <a:rPr lang="fr-FR" b="1" dirty="0">
                <a:latin typeface="Times New Roman" pitchFamily="18" charset="0"/>
                <a:cs typeface="Times New Roman" pitchFamily="18" charset="0"/>
              </a:rPr>
              <a:t>pile</a:t>
            </a:r>
            <a:r>
              <a:rPr lang="fr-FR" dirty="0">
                <a:latin typeface="Times New Roman" pitchFamily="18" charset="0"/>
                <a:cs typeface="Times New Roman" pitchFamily="18" charset="0"/>
              </a:rPr>
              <a:t> est adaptée pour </a:t>
            </a:r>
            <a:r>
              <a:rPr lang="fr-FR" b="1" dirty="0">
                <a:latin typeface="Times New Roman" pitchFamily="18" charset="0"/>
                <a:cs typeface="Times New Roman" pitchFamily="18" charset="0"/>
              </a:rPr>
              <a:t>sauvegarder temporairement ces valeurs</a:t>
            </a:r>
            <a:r>
              <a:rPr lang="fr-FR" dirty="0">
                <a:latin typeface="Times New Roman" pitchFamily="18" charset="0"/>
                <a:cs typeface="Times New Roman" pitchFamily="18" charset="0"/>
              </a:rPr>
              <a:t> et constituer en </a:t>
            </a:r>
            <a:r>
              <a:rPr lang="fr-FR" b="1" dirty="0">
                <a:latin typeface="Times New Roman" pitchFamily="18" charset="0"/>
                <a:cs typeface="Times New Roman" pitchFamily="18" charset="0"/>
              </a:rPr>
              <a:t>sommet</a:t>
            </a:r>
            <a:r>
              <a:rPr lang="fr-FR" dirty="0">
                <a:latin typeface="Times New Roman" pitchFamily="18" charset="0"/>
                <a:cs typeface="Times New Roman" pitchFamily="18" charset="0"/>
              </a:rPr>
              <a:t> de pile à chaque instant l’environnement de la sous-expression que l’on va évaluer.</a:t>
            </a:r>
          </a:p>
          <a:p>
            <a:pPr algn="just"/>
            <a:r>
              <a:rPr lang="fr-FR" dirty="0">
                <a:latin typeface="Times New Roman" pitchFamily="18" charset="0"/>
                <a:cs typeface="Times New Roman" pitchFamily="18" charset="0"/>
              </a:rPr>
              <a:t>La pile doit pouvoir contenir des valeurs de tous les types envisagés pour les expressions : </a:t>
            </a:r>
            <a:r>
              <a:rPr lang="fr-FR" b="1" dirty="0">
                <a:latin typeface="Times New Roman" pitchFamily="18" charset="0"/>
                <a:cs typeface="Times New Roman" pitchFamily="18" charset="0"/>
              </a:rPr>
              <a:t>numériques</a:t>
            </a:r>
            <a:r>
              <a:rPr lang="fr-FR" dirty="0">
                <a:latin typeface="Times New Roman" pitchFamily="18" charset="0"/>
                <a:cs typeface="Times New Roman" pitchFamily="18" charset="0"/>
              </a:rPr>
              <a:t> (entiers ou réels) ou </a:t>
            </a:r>
            <a:r>
              <a:rPr lang="fr-FR" b="1" dirty="0">
                <a:latin typeface="Times New Roman" pitchFamily="18" charset="0"/>
                <a:cs typeface="Times New Roman" pitchFamily="18" charset="0"/>
              </a:rPr>
              <a:t>logiques</a:t>
            </a:r>
            <a:r>
              <a:rPr lang="fr-FR" dirty="0">
                <a:latin typeface="Times New Roman" pitchFamily="18" charset="0"/>
                <a:cs typeface="Times New Roman" pitchFamily="18" charset="0"/>
              </a:rPr>
              <a:t>.</a:t>
            </a:r>
          </a:p>
          <a:p>
            <a:r>
              <a:rPr lang="fr-FR" dirty="0">
                <a:latin typeface="Times New Roman" pitchFamily="18" charset="0"/>
                <a:cs typeface="Times New Roman" pitchFamily="18" charset="0"/>
              </a:rPr>
              <a:t>En effet, l’évaluation d’une expression telle que :</a:t>
            </a:r>
          </a:p>
          <a:p>
            <a:pPr algn="just"/>
            <a:r>
              <a:rPr lang="fr-FR" b="1" dirty="0">
                <a:latin typeface="Times New Roman" pitchFamily="18" charset="0"/>
                <a:cs typeface="Times New Roman" pitchFamily="18" charset="0"/>
              </a:rPr>
              <a:t>AB+CD-&gt;</a:t>
            </a:r>
            <a:r>
              <a:rPr lang="fr-FR" dirty="0">
                <a:latin typeface="Times New Roman" pitchFamily="18" charset="0"/>
                <a:cs typeface="Times New Roman" pitchFamily="18" charset="0"/>
              </a:rPr>
              <a:t> ; nécessite l’évaluation de 2 sous-expressions </a:t>
            </a:r>
            <a:r>
              <a:rPr lang="fr-FR" b="1" dirty="0">
                <a:latin typeface="Times New Roman" pitchFamily="18" charset="0"/>
                <a:cs typeface="Times New Roman" pitchFamily="18" charset="0"/>
              </a:rPr>
              <a:t>arithmétiques</a:t>
            </a:r>
            <a:r>
              <a:rPr lang="fr-FR" dirty="0">
                <a:latin typeface="Times New Roman" pitchFamily="18" charset="0"/>
                <a:cs typeface="Times New Roman" pitchFamily="18" charset="0"/>
              </a:rPr>
              <a:t>, alors que le résultat est </a:t>
            </a:r>
            <a:r>
              <a:rPr lang="fr-FR" b="1" dirty="0">
                <a:latin typeface="Times New Roman" pitchFamily="18" charset="0"/>
                <a:cs typeface="Times New Roman" pitchFamily="18" charset="0"/>
              </a:rPr>
              <a:t>booléen</a:t>
            </a:r>
            <a:r>
              <a:rPr lang="fr-FR" dirty="0">
                <a:latin typeface="Times New Roman" pitchFamily="18" charset="0"/>
                <a:cs typeface="Times New Roman" pitchFamily="18" charset="0"/>
              </a:rPr>
              <a:t>. Nous créerons </a:t>
            </a:r>
            <a:r>
              <a:rPr lang="fr-FR" b="1" dirty="0" err="1">
                <a:latin typeface="Times New Roman" pitchFamily="18" charset="0"/>
                <a:cs typeface="Times New Roman" pitchFamily="18" charset="0"/>
              </a:rPr>
              <a:t>tind</a:t>
            </a:r>
            <a:r>
              <a:rPr lang="fr-FR" dirty="0">
                <a:latin typeface="Times New Roman" pitchFamily="18" charset="0"/>
                <a:cs typeface="Times New Roman" pitchFamily="18" charset="0"/>
              </a:rPr>
              <a:t>, le type </a:t>
            </a:r>
            <a:r>
              <a:rPr lang="fr-FR" b="1" dirty="0">
                <a:latin typeface="Times New Roman" pitchFamily="18" charset="0"/>
                <a:cs typeface="Times New Roman" pitchFamily="18" charset="0"/>
              </a:rPr>
              <a:t>indifférencié</a:t>
            </a:r>
            <a:r>
              <a:rPr lang="fr-FR" dirty="0">
                <a:latin typeface="Times New Roman" pitchFamily="18" charset="0"/>
                <a:cs typeface="Times New Roman" pitchFamily="18" charset="0"/>
              </a:rPr>
              <a:t>. Il pourrait être réalisé en codant les booléens </a:t>
            </a:r>
            <a:r>
              <a:rPr lang="fr-FR" b="1" dirty="0">
                <a:latin typeface="Times New Roman" pitchFamily="18" charset="0"/>
                <a:cs typeface="Times New Roman" pitchFamily="18" charset="0"/>
              </a:rPr>
              <a:t>vrai</a:t>
            </a:r>
            <a:r>
              <a:rPr lang="fr-FR" dirty="0">
                <a:latin typeface="Times New Roman" pitchFamily="18" charset="0"/>
                <a:cs typeface="Times New Roman" pitchFamily="18" charset="0"/>
              </a:rPr>
              <a:t>  et </a:t>
            </a:r>
            <a:r>
              <a:rPr lang="fr-FR" b="1" dirty="0">
                <a:latin typeface="Times New Roman" pitchFamily="18" charset="0"/>
                <a:cs typeface="Times New Roman" pitchFamily="18" charset="0"/>
              </a:rPr>
              <a:t>faux</a:t>
            </a:r>
            <a:r>
              <a:rPr lang="fr-FR" dirty="0">
                <a:latin typeface="Times New Roman" pitchFamily="18" charset="0"/>
                <a:cs typeface="Times New Roman" pitchFamily="18" charset="0"/>
              </a:rPr>
              <a:t> par des nombres tels que </a:t>
            </a:r>
            <a:r>
              <a:rPr lang="fr-FR" b="1" dirty="0">
                <a:latin typeface="Times New Roman" pitchFamily="18" charset="0"/>
                <a:cs typeface="Times New Roman" pitchFamily="18" charset="0"/>
              </a:rPr>
              <a:t>1</a:t>
            </a:r>
            <a:r>
              <a:rPr lang="fr-FR" dirty="0">
                <a:latin typeface="Times New Roman" pitchFamily="18" charset="0"/>
                <a:cs typeface="Times New Roman" pitchFamily="18" charset="0"/>
              </a:rPr>
              <a:t> et </a:t>
            </a:r>
            <a:r>
              <a:rPr lang="fr-FR" b="1" dirty="0">
                <a:latin typeface="Times New Roman" pitchFamily="18" charset="0"/>
                <a:cs typeface="Times New Roman" pitchFamily="18" charset="0"/>
              </a:rPr>
              <a:t>0</a:t>
            </a:r>
            <a:r>
              <a:rPr lang="fr-FR" dirty="0">
                <a:latin typeface="Times New Roman" pitchFamily="18" charset="0"/>
                <a:cs typeface="Times New Roman" pitchFamily="18" charset="0"/>
              </a:rPr>
              <a:t>. Il suffit alors d’associer à chaque valeur un indicateur de type : </a:t>
            </a:r>
            <a:r>
              <a:rPr lang="fr-FR" b="1" dirty="0">
                <a:latin typeface="Times New Roman" pitchFamily="18" charset="0"/>
                <a:cs typeface="Times New Roman" pitchFamily="18" charset="0"/>
              </a:rPr>
              <a:t>B</a:t>
            </a:r>
            <a:r>
              <a:rPr lang="fr-FR" dirty="0">
                <a:latin typeface="Times New Roman" pitchFamily="18" charset="0"/>
                <a:cs typeface="Times New Roman" pitchFamily="18" charset="0"/>
              </a:rPr>
              <a:t> pour un booléen, </a:t>
            </a:r>
            <a:r>
              <a:rPr lang="fr-FR" b="1" dirty="0">
                <a:latin typeface="Times New Roman" pitchFamily="18" charset="0"/>
                <a:cs typeface="Times New Roman" pitchFamily="18" charset="0"/>
              </a:rPr>
              <a:t>N</a:t>
            </a:r>
            <a:r>
              <a:rPr lang="fr-FR" dirty="0">
                <a:latin typeface="Times New Roman" pitchFamily="18" charset="0"/>
                <a:cs typeface="Times New Roman" pitchFamily="18" charset="0"/>
              </a:rPr>
              <a:t> pour un numérique. Ainsi, </a:t>
            </a:r>
            <a:r>
              <a:rPr lang="fr-FR" b="1" dirty="0">
                <a:latin typeface="Times New Roman" pitchFamily="18" charset="0"/>
                <a:cs typeface="Times New Roman" pitchFamily="18" charset="0"/>
              </a:rPr>
              <a:t>faux </a:t>
            </a:r>
            <a:r>
              <a:rPr lang="fr-FR" dirty="0">
                <a:latin typeface="Times New Roman" pitchFamily="18" charset="0"/>
                <a:cs typeface="Times New Roman" pitchFamily="18" charset="0"/>
              </a:rPr>
              <a:t>serait codé </a:t>
            </a:r>
            <a:r>
              <a:rPr lang="fr-FR" b="1" dirty="0">
                <a:latin typeface="Times New Roman" pitchFamily="18" charset="0"/>
                <a:cs typeface="Times New Roman" pitchFamily="18" charset="0"/>
              </a:rPr>
              <a:t>(B, 0)</a:t>
            </a:r>
            <a:r>
              <a:rPr lang="fr-FR" dirty="0">
                <a:latin typeface="Times New Roman" pitchFamily="18" charset="0"/>
                <a:cs typeface="Times New Roman" pitchFamily="18" charset="0"/>
              </a:rPr>
              <a:t> alors que le nombre 1 serait codé </a:t>
            </a:r>
            <a:r>
              <a:rPr lang="fr-FR" b="1" dirty="0">
                <a:latin typeface="Times New Roman" pitchFamily="18" charset="0"/>
                <a:cs typeface="Times New Roman" pitchFamily="18" charset="0"/>
              </a:rPr>
              <a:t>(N, 1)</a:t>
            </a:r>
            <a:r>
              <a:rPr lang="fr-FR" dirty="0">
                <a:latin typeface="Times New Roman" pitchFamily="18" charset="0"/>
                <a:cs typeface="Times New Roman" pitchFamily="18" charset="0"/>
              </a:rPr>
              <a:t>. </a:t>
            </a:r>
          </a:p>
        </p:txBody>
      </p:sp>
    </p:spTree>
    <p:extLst>
      <p:ext uri="{BB962C8B-B14F-4D97-AF65-F5344CB8AC3E}">
        <p14:creationId xmlns:p14="http://schemas.microsoft.com/office/powerpoint/2010/main" val="31254921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200" y="227271"/>
            <a:ext cx="11805920" cy="6740307"/>
          </a:xfrm>
          <a:prstGeom prst="rect">
            <a:avLst/>
          </a:prstGeom>
        </p:spPr>
        <p:txBody>
          <a:bodyPr wrap="square">
            <a:spAutoFit/>
          </a:bodyPr>
          <a:lstStyle/>
          <a:p>
            <a:pPr algn="just"/>
            <a:r>
              <a:rPr lang="fr-FR" dirty="0"/>
              <a:t>La déclaration de </a:t>
            </a:r>
            <a:r>
              <a:rPr lang="fr-FR" b="1" dirty="0" err="1"/>
              <a:t>tind</a:t>
            </a:r>
            <a:r>
              <a:rPr lang="fr-FR" dirty="0"/>
              <a:t> en C est :</a:t>
            </a:r>
          </a:p>
          <a:p>
            <a:r>
              <a:rPr lang="fr-FR" b="1" dirty="0"/>
              <a:t>type structure </a:t>
            </a:r>
            <a:r>
              <a:rPr lang="fr-FR" b="1" dirty="0" err="1"/>
              <a:t>tind</a:t>
            </a:r>
            <a:endParaRPr lang="fr-FR" b="1" dirty="0"/>
          </a:p>
          <a:p>
            <a:r>
              <a:rPr lang="fr-FR" b="1" dirty="0" smtClean="0"/>
              <a:t>    </a:t>
            </a:r>
            <a:r>
              <a:rPr lang="fr-FR" b="1" dirty="0"/>
              <a:t>caractère car;</a:t>
            </a:r>
          </a:p>
          <a:p>
            <a:r>
              <a:rPr lang="fr-FR" b="1" dirty="0"/>
              <a:t>    entier valeur;</a:t>
            </a:r>
          </a:p>
          <a:p>
            <a:r>
              <a:rPr lang="fr-FR" b="1" dirty="0" smtClean="0"/>
              <a:t>fin; </a:t>
            </a:r>
            <a:r>
              <a:rPr lang="fr-FR" dirty="0"/>
              <a:t>ou tout simplement</a:t>
            </a:r>
            <a:r>
              <a:rPr lang="fr-FR" b="1" dirty="0"/>
              <a:t> entier valeur ;</a:t>
            </a:r>
          </a:p>
          <a:p>
            <a:r>
              <a:rPr lang="fr-FR" dirty="0">
                <a:latin typeface="Times New Roman" pitchFamily="18" charset="0"/>
                <a:cs typeface="Times New Roman" pitchFamily="18" charset="0"/>
              </a:rPr>
              <a:t>Exemple d’évaluation d’une </a:t>
            </a:r>
            <a:r>
              <a:rPr lang="fr-FR" b="1" dirty="0" err="1">
                <a:latin typeface="Times New Roman" pitchFamily="18" charset="0"/>
                <a:cs typeface="Times New Roman" pitchFamily="18" charset="0"/>
              </a:rPr>
              <a:t>expost</a:t>
            </a:r>
            <a:r>
              <a:rPr lang="fr-FR" dirty="0">
                <a:latin typeface="Times New Roman" pitchFamily="18" charset="0"/>
                <a:cs typeface="Times New Roman" pitchFamily="18" charset="0"/>
              </a:rPr>
              <a:t> à l’aide d’une </a:t>
            </a:r>
            <a:r>
              <a:rPr lang="fr-FR" b="1" dirty="0">
                <a:latin typeface="Times New Roman" pitchFamily="18" charset="0"/>
                <a:cs typeface="Times New Roman" pitchFamily="18" charset="0"/>
              </a:rPr>
              <a:t>pile</a:t>
            </a:r>
            <a:r>
              <a:rPr lang="fr-FR" dirty="0">
                <a:latin typeface="Times New Roman" pitchFamily="18" charset="0"/>
                <a:cs typeface="Times New Roman" pitchFamily="18" charset="0"/>
              </a:rPr>
              <a:t>. </a:t>
            </a:r>
          </a:p>
          <a:p>
            <a:r>
              <a:rPr lang="fr-FR" dirty="0">
                <a:latin typeface="Times New Roman" pitchFamily="18" charset="0"/>
                <a:cs typeface="Times New Roman" pitchFamily="18" charset="0"/>
              </a:rPr>
              <a:t>Soit l’expression : </a:t>
            </a:r>
            <a:r>
              <a:rPr lang="fr-FR" b="1" dirty="0">
                <a:latin typeface="Times New Roman" pitchFamily="18" charset="0"/>
                <a:cs typeface="Times New Roman" pitchFamily="18" charset="0"/>
              </a:rPr>
              <a:t>AB*CD+/</a:t>
            </a:r>
            <a:r>
              <a:rPr lang="fr-FR" dirty="0">
                <a:latin typeface="Times New Roman" pitchFamily="18" charset="0"/>
                <a:cs typeface="Times New Roman" pitchFamily="18" charset="0"/>
              </a:rPr>
              <a:t>, avec l’environnement </a:t>
            </a:r>
            <a:r>
              <a:rPr lang="fr-FR" b="1" dirty="0">
                <a:latin typeface="Times New Roman" pitchFamily="18" charset="0"/>
                <a:cs typeface="Times New Roman" pitchFamily="18" charset="0"/>
              </a:rPr>
              <a:t>A=20, B=4, C=9, D=7.</a:t>
            </a:r>
          </a:p>
          <a:p>
            <a:r>
              <a:rPr lang="fr-FR" dirty="0">
                <a:latin typeface="Times New Roman" pitchFamily="18" charset="0"/>
                <a:cs typeface="Times New Roman" pitchFamily="18" charset="0"/>
              </a:rPr>
              <a:t>Parcourons l’expression et pour chaque symbole lu nous modifions l’état de la pile :</a:t>
            </a:r>
          </a:p>
          <a:p>
            <a:endParaRPr lang="en-GB" dirty="0"/>
          </a:p>
          <a:p>
            <a:r>
              <a:rPr lang="en-GB" dirty="0"/>
              <a:t>					</a:t>
            </a:r>
          </a:p>
          <a:p>
            <a:r>
              <a:rPr lang="en-GB" dirty="0"/>
              <a:t>     	     				     </a:t>
            </a:r>
          </a:p>
          <a:p>
            <a:r>
              <a:rPr lang="en-GB" dirty="0"/>
              <a:t>					     4	</a:t>
            </a:r>
          </a:p>
          <a:p>
            <a:r>
              <a:rPr lang="en-GB" dirty="0"/>
              <a:t>	     		      20		     20		     80</a:t>
            </a:r>
          </a:p>
          <a:p>
            <a:r>
              <a:rPr lang="en-GB" dirty="0"/>
              <a:t>	</a:t>
            </a:r>
            <a:r>
              <a:rPr lang="en-GB" dirty="0" err="1"/>
              <a:t>état</a:t>
            </a:r>
            <a:r>
              <a:rPr lang="en-GB" dirty="0"/>
              <a:t> initial	</a:t>
            </a:r>
            <a:r>
              <a:rPr lang="en-GB" dirty="0" err="1"/>
              <a:t>empiler</a:t>
            </a:r>
            <a:r>
              <a:rPr lang="en-GB" dirty="0"/>
              <a:t> 		</a:t>
            </a:r>
            <a:r>
              <a:rPr lang="en-GB" dirty="0" err="1"/>
              <a:t>empiler</a:t>
            </a:r>
            <a:r>
              <a:rPr lang="en-GB" dirty="0"/>
              <a:t>		</a:t>
            </a:r>
            <a:r>
              <a:rPr lang="en-GB" dirty="0" err="1"/>
              <a:t>évaluer</a:t>
            </a:r>
            <a:r>
              <a:rPr lang="en-GB" dirty="0"/>
              <a:t> *</a:t>
            </a:r>
          </a:p>
          <a:p>
            <a:r>
              <a:rPr lang="en-GB" dirty="0"/>
              <a:t>	pile vide		</a:t>
            </a:r>
            <a:r>
              <a:rPr lang="en-GB" dirty="0" err="1"/>
              <a:t>valeur</a:t>
            </a:r>
            <a:r>
              <a:rPr lang="en-GB" dirty="0"/>
              <a:t>  de A	</a:t>
            </a:r>
            <a:r>
              <a:rPr lang="en-GB" dirty="0" err="1"/>
              <a:t>valeur</a:t>
            </a:r>
            <a:r>
              <a:rPr lang="en-GB" dirty="0"/>
              <a:t> de B	</a:t>
            </a:r>
          </a:p>
          <a:p>
            <a:r>
              <a:rPr lang="en-GB" dirty="0"/>
              <a:t>	AB*CD+/#	 AB*CD+/#	 AB*CD+/#	 AB*CD+/#</a:t>
            </a:r>
          </a:p>
          <a:p>
            <a:endParaRPr lang="en-GB" dirty="0"/>
          </a:p>
          <a:p>
            <a:endParaRPr lang="en-GB" dirty="0"/>
          </a:p>
          <a:p>
            <a:r>
              <a:rPr lang="en-GB" dirty="0"/>
              <a:t>			        </a:t>
            </a:r>
          </a:p>
          <a:p>
            <a:r>
              <a:rPr lang="en-GB" dirty="0"/>
              <a:t>	       	 	        		      </a:t>
            </a:r>
          </a:p>
          <a:p>
            <a:r>
              <a:rPr lang="en-GB" dirty="0"/>
              <a:t>	       	        		      		      	</a:t>
            </a:r>
          </a:p>
          <a:p>
            <a:r>
              <a:rPr lang="en-GB" dirty="0"/>
              <a:t>	</a:t>
            </a:r>
            <a:endParaRPr lang="en-GB" dirty="0" smtClean="0"/>
          </a:p>
          <a:p>
            <a:r>
              <a:rPr lang="en-GB" dirty="0"/>
              <a:t> </a:t>
            </a:r>
            <a:r>
              <a:rPr lang="en-GB" dirty="0" smtClean="0"/>
              <a:t>              AB*CD</a:t>
            </a:r>
            <a:r>
              <a:rPr lang="en-GB" dirty="0"/>
              <a:t>+/#	 </a:t>
            </a:r>
            <a:r>
              <a:rPr lang="en-GB" dirty="0" smtClean="0"/>
              <a:t>                AB*CD+/#                    AB*CD</a:t>
            </a:r>
            <a:r>
              <a:rPr lang="en-GB" dirty="0"/>
              <a:t>+/#	 AB*CD+/#</a:t>
            </a:r>
          </a:p>
          <a:p>
            <a:endParaRPr lang="en-GB" dirty="0"/>
          </a:p>
        </p:txBody>
      </p:sp>
      <p:graphicFrame>
        <p:nvGraphicFramePr>
          <p:cNvPr id="3" name="Tableau 2"/>
          <p:cNvGraphicFramePr>
            <a:graphicFrameLocks noGrp="1"/>
          </p:cNvGraphicFramePr>
          <p:nvPr>
            <p:extLst>
              <p:ext uri="{D42A27DB-BD31-4B8C-83A1-F6EECF244321}">
                <p14:modId xmlns:p14="http://schemas.microsoft.com/office/powerpoint/2010/main" val="3892427026"/>
              </p:ext>
            </p:extLst>
          </p:nvPr>
        </p:nvGraphicFramePr>
        <p:xfrm>
          <a:off x="1442720" y="2670386"/>
          <a:ext cx="396240" cy="1112520"/>
        </p:xfrm>
        <a:graphic>
          <a:graphicData uri="http://schemas.openxmlformats.org/drawingml/2006/table">
            <a:tbl>
              <a:tblPr firstRow="1">
                <a:tableStyleId>{2D5ABB26-0587-4C30-8999-92F81FD0307C}</a:tableStyleId>
              </a:tblPr>
              <a:tblGrid>
                <a:gridCol w="396240">
                  <a:extLst>
                    <a:ext uri="{9D8B030D-6E8A-4147-A177-3AD203B41FA5}">
                      <a16:colId xmlns:a16="http://schemas.microsoft.com/office/drawing/2014/main" val="1228684353"/>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6303290"/>
                  </a:ext>
                </a:extLst>
              </a:tr>
              <a:tr h="370840">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016958792"/>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2230113"/>
                  </a:ext>
                </a:extLst>
              </a:tr>
            </a:tbl>
          </a:graphicData>
        </a:graphic>
      </p:graphicFrame>
      <p:graphicFrame>
        <p:nvGraphicFramePr>
          <p:cNvPr id="4" name="Tableau 3"/>
          <p:cNvGraphicFramePr>
            <a:graphicFrameLocks noGrp="1"/>
          </p:cNvGraphicFramePr>
          <p:nvPr>
            <p:extLst>
              <p:ext uri="{D42A27DB-BD31-4B8C-83A1-F6EECF244321}">
                <p14:modId xmlns:p14="http://schemas.microsoft.com/office/powerpoint/2010/main" val="4087487982"/>
              </p:ext>
            </p:extLst>
          </p:nvPr>
        </p:nvGraphicFramePr>
        <p:xfrm>
          <a:off x="3251200" y="2792306"/>
          <a:ext cx="396240" cy="1112520"/>
        </p:xfrm>
        <a:graphic>
          <a:graphicData uri="http://schemas.openxmlformats.org/drawingml/2006/table">
            <a:tbl>
              <a:tblPr firstRow="1">
                <a:tableStyleId>{2D5ABB26-0587-4C30-8999-92F81FD0307C}</a:tableStyleId>
              </a:tblPr>
              <a:tblGrid>
                <a:gridCol w="396240">
                  <a:extLst>
                    <a:ext uri="{9D8B030D-6E8A-4147-A177-3AD203B41FA5}">
                      <a16:colId xmlns:a16="http://schemas.microsoft.com/office/drawing/2014/main" val="1228684353"/>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6303290"/>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16958792"/>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2230113"/>
                  </a:ext>
                </a:extLst>
              </a:tr>
            </a:tbl>
          </a:graphicData>
        </a:graphic>
      </p:graphicFrame>
      <p:graphicFrame>
        <p:nvGraphicFramePr>
          <p:cNvPr id="5" name="Tableau 4"/>
          <p:cNvGraphicFramePr>
            <a:graphicFrameLocks noGrp="1"/>
          </p:cNvGraphicFramePr>
          <p:nvPr>
            <p:extLst>
              <p:ext uri="{D42A27DB-BD31-4B8C-83A1-F6EECF244321}">
                <p14:modId xmlns:p14="http://schemas.microsoft.com/office/powerpoint/2010/main" val="2254285764"/>
              </p:ext>
            </p:extLst>
          </p:nvPr>
        </p:nvGraphicFramePr>
        <p:xfrm>
          <a:off x="5008880" y="2771986"/>
          <a:ext cx="396240" cy="1112520"/>
        </p:xfrm>
        <a:graphic>
          <a:graphicData uri="http://schemas.openxmlformats.org/drawingml/2006/table">
            <a:tbl>
              <a:tblPr firstRow="1">
                <a:tableStyleId>{2D5ABB26-0587-4C30-8999-92F81FD0307C}</a:tableStyleId>
              </a:tblPr>
              <a:tblGrid>
                <a:gridCol w="396240">
                  <a:extLst>
                    <a:ext uri="{9D8B030D-6E8A-4147-A177-3AD203B41FA5}">
                      <a16:colId xmlns:a16="http://schemas.microsoft.com/office/drawing/2014/main" val="1228684353"/>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6303290"/>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6958792"/>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2230113"/>
                  </a:ext>
                </a:extLst>
              </a:tr>
            </a:tbl>
          </a:graphicData>
        </a:graphic>
      </p:graphicFrame>
      <p:graphicFrame>
        <p:nvGraphicFramePr>
          <p:cNvPr id="6" name="Tableau 5"/>
          <p:cNvGraphicFramePr>
            <a:graphicFrameLocks noGrp="1"/>
          </p:cNvGraphicFramePr>
          <p:nvPr>
            <p:extLst>
              <p:ext uri="{D42A27DB-BD31-4B8C-83A1-F6EECF244321}">
                <p14:modId xmlns:p14="http://schemas.microsoft.com/office/powerpoint/2010/main" val="724504346"/>
              </p:ext>
            </p:extLst>
          </p:nvPr>
        </p:nvGraphicFramePr>
        <p:xfrm>
          <a:off x="6858000" y="2721186"/>
          <a:ext cx="396240" cy="1112520"/>
        </p:xfrm>
        <a:graphic>
          <a:graphicData uri="http://schemas.openxmlformats.org/drawingml/2006/table">
            <a:tbl>
              <a:tblPr firstRow="1">
                <a:tableStyleId>{2D5ABB26-0587-4C30-8999-92F81FD0307C}</a:tableStyleId>
              </a:tblPr>
              <a:tblGrid>
                <a:gridCol w="396240">
                  <a:extLst>
                    <a:ext uri="{9D8B030D-6E8A-4147-A177-3AD203B41FA5}">
                      <a16:colId xmlns:a16="http://schemas.microsoft.com/office/drawing/2014/main" val="1228684353"/>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6303290"/>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16958792"/>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2230113"/>
                  </a:ext>
                </a:extLst>
              </a:tr>
            </a:tbl>
          </a:graphicData>
        </a:graphic>
      </p:graphicFrame>
      <p:cxnSp>
        <p:nvCxnSpPr>
          <p:cNvPr id="8" name="Connecteur droit avec flèche 7"/>
          <p:cNvCxnSpPr/>
          <p:nvPr/>
        </p:nvCxnSpPr>
        <p:spPr>
          <a:xfrm flipV="1">
            <a:off x="3017520" y="4551680"/>
            <a:ext cx="132080" cy="1727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Connecteur droit avec flèche 8"/>
          <p:cNvCxnSpPr/>
          <p:nvPr/>
        </p:nvCxnSpPr>
        <p:spPr>
          <a:xfrm flipV="1">
            <a:off x="4958080" y="4572000"/>
            <a:ext cx="132080" cy="1727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Connecteur droit avec flèche 9"/>
          <p:cNvCxnSpPr/>
          <p:nvPr/>
        </p:nvCxnSpPr>
        <p:spPr>
          <a:xfrm flipV="1">
            <a:off x="6929120" y="4531360"/>
            <a:ext cx="132080" cy="1727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2" name="Tableau 11"/>
          <p:cNvGraphicFramePr>
            <a:graphicFrameLocks noGrp="1"/>
          </p:cNvGraphicFramePr>
          <p:nvPr>
            <p:extLst>
              <p:ext uri="{D42A27DB-BD31-4B8C-83A1-F6EECF244321}">
                <p14:modId xmlns:p14="http://schemas.microsoft.com/office/powerpoint/2010/main" val="1833168706"/>
              </p:ext>
            </p:extLst>
          </p:nvPr>
        </p:nvGraphicFramePr>
        <p:xfrm>
          <a:off x="1422400" y="4753186"/>
          <a:ext cx="426720" cy="1483360"/>
        </p:xfrm>
        <a:graphic>
          <a:graphicData uri="http://schemas.openxmlformats.org/drawingml/2006/table">
            <a:tbl>
              <a:tblPr firstRow="1" bandRow="1">
                <a:tableStyleId>{2D5ABB26-0587-4C30-8999-92F81FD0307C}</a:tableStyleId>
              </a:tblPr>
              <a:tblGrid>
                <a:gridCol w="426720">
                  <a:extLst>
                    <a:ext uri="{9D8B030D-6E8A-4147-A177-3AD203B41FA5}">
                      <a16:colId xmlns:a16="http://schemas.microsoft.com/office/drawing/2014/main" val="1587076210"/>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0800156"/>
                  </a:ext>
                </a:extLst>
              </a:tr>
              <a:tr h="370840">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423851"/>
                  </a:ext>
                </a:extLst>
              </a:tr>
              <a:tr h="370840">
                <a:tc>
                  <a:txBody>
                    <a:bodyPr/>
                    <a:lstStyle/>
                    <a:p>
                      <a:r>
                        <a:rPr lang="fr-FR" dirty="0" smtClean="0"/>
                        <a:t>9</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3793898"/>
                  </a:ext>
                </a:extLst>
              </a:tr>
              <a:tr h="370840">
                <a:tc>
                  <a:txBody>
                    <a:bodyPr/>
                    <a:lstStyle/>
                    <a:p>
                      <a:r>
                        <a:rPr lang="fr-FR" dirty="0" smtClean="0"/>
                        <a:t>80</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6162120"/>
                  </a:ext>
                </a:extLst>
              </a:tr>
            </a:tbl>
          </a:graphicData>
        </a:graphic>
      </p:graphicFrame>
      <p:graphicFrame>
        <p:nvGraphicFramePr>
          <p:cNvPr id="13" name="Tableau 12"/>
          <p:cNvGraphicFramePr>
            <a:graphicFrameLocks noGrp="1"/>
          </p:cNvGraphicFramePr>
          <p:nvPr>
            <p:extLst>
              <p:ext uri="{D42A27DB-BD31-4B8C-83A1-F6EECF244321}">
                <p14:modId xmlns:p14="http://schemas.microsoft.com/office/powerpoint/2010/main" val="2714969460"/>
              </p:ext>
            </p:extLst>
          </p:nvPr>
        </p:nvGraphicFramePr>
        <p:xfrm>
          <a:off x="3271520" y="4743026"/>
          <a:ext cx="467360" cy="1483360"/>
        </p:xfrm>
        <a:graphic>
          <a:graphicData uri="http://schemas.openxmlformats.org/drawingml/2006/table">
            <a:tbl>
              <a:tblPr firstRow="1" bandRow="1">
                <a:tableStyleId>{2D5ABB26-0587-4C30-8999-92F81FD0307C}</a:tableStyleId>
              </a:tblPr>
              <a:tblGrid>
                <a:gridCol w="467360">
                  <a:extLst>
                    <a:ext uri="{9D8B030D-6E8A-4147-A177-3AD203B41FA5}">
                      <a16:colId xmlns:a16="http://schemas.microsoft.com/office/drawing/2014/main" val="1587076210"/>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0800156"/>
                  </a:ext>
                </a:extLst>
              </a:tr>
              <a:tr h="370840">
                <a:tc>
                  <a:txBody>
                    <a:bodyPr/>
                    <a:lstStyle/>
                    <a:p>
                      <a:r>
                        <a:rPr lang="fr-FR" dirty="0" smtClean="0"/>
                        <a:t>7</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423851"/>
                  </a:ext>
                </a:extLst>
              </a:tr>
              <a:tr h="370840">
                <a:tc>
                  <a:txBody>
                    <a:bodyPr/>
                    <a:lstStyle/>
                    <a:p>
                      <a:r>
                        <a:rPr lang="fr-FR" dirty="0" smtClean="0"/>
                        <a:t>9</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3793898"/>
                  </a:ext>
                </a:extLst>
              </a:tr>
              <a:tr h="370840">
                <a:tc>
                  <a:txBody>
                    <a:bodyPr/>
                    <a:lstStyle/>
                    <a:p>
                      <a:r>
                        <a:rPr lang="fr-FR" dirty="0" smtClean="0"/>
                        <a:t>80</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6162120"/>
                  </a:ext>
                </a:extLst>
              </a:tr>
            </a:tbl>
          </a:graphicData>
        </a:graphic>
      </p:graphicFrame>
      <p:graphicFrame>
        <p:nvGraphicFramePr>
          <p:cNvPr id="14" name="Tableau 13"/>
          <p:cNvGraphicFramePr>
            <a:graphicFrameLocks noGrp="1"/>
          </p:cNvGraphicFramePr>
          <p:nvPr>
            <p:extLst>
              <p:ext uri="{D42A27DB-BD31-4B8C-83A1-F6EECF244321}">
                <p14:modId xmlns:p14="http://schemas.microsoft.com/office/powerpoint/2010/main" val="1746093067"/>
              </p:ext>
            </p:extLst>
          </p:nvPr>
        </p:nvGraphicFramePr>
        <p:xfrm>
          <a:off x="5207000" y="4753186"/>
          <a:ext cx="431800" cy="1483360"/>
        </p:xfrm>
        <a:graphic>
          <a:graphicData uri="http://schemas.openxmlformats.org/drawingml/2006/table">
            <a:tbl>
              <a:tblPr firstRow="1" bandRow="1">
                <a:tableStyleId>{2D5ABB26-0587-4C30-8999-92F81FD0307C}</a:tableStyleId>
              </a:tblPr>
              <a:tblGrid>
                <a:gridCol w="431800">
                  <a:extLst>
                    <a:ext uri="{9D8B030D-6E8A-4147-A177-3AD203B41FA5}">
                      <a16:colId xmlns:a16="http://schemas.microsoft.com/office/drawing/2014/main" val="1587076210"/>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0800156"/>
                  </a:ext>
                </a:extLst>
              </a:tr>
              <a:tr h="370840">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423851"/>
                  </a:ext>
                </a:extLst>
              </a:tr>
              <a:tr h="370840">
                <a:tc>
                  <a:txBody>
                    <a:bodyPr/>
                    <a:lstStyle/>
                    <a:p>
                      <a:r>
                        <a:rPr lang="fr-FR" dirty="0" smtClean="0"/>
                        <a:t>16</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3793898"/>
                  </a:ext>
                </a:extLst>
              </a:tr>
              <a:tr h="370840">
                <a:tc>
                  <a:txBody>
                    <a:bodyPr/>
                    <a:lstStyle/>
                    <a:p>
                      <a:r>
                        <a:rPr lang="fr-FR" dirty="0" smtClean="0"/>
                        <a:t>80</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6162120"/>
                  </a:ext>
                </a:extLst>
              </a:tr>
            </a:tbl>
          </a:graphicData>
        </a:graphic>
      </p:graphicFrame>
      <p:graphicFrame>
        <p:nvGraphicFramePr>
          <p:cNvPr id="15" name="Tableau 14"/>
          <p:cNvGraphicFramePr>
            <a:graphicFrameLocks noGrp="1"/>
          </p:cNvGraphicFramePr>
          <p:nvPr>
            <p:extLst>
              <p:ext uri="{D42A27DB-BD31-4B8C-83A1-F6EECF244321}">
                <p14:modId xmlns:p14="http://schemas.microsoft.com/office/powerpoint/2010/main" val="2091765442"/>
              </p:ext>
            </p:extLst>
          </p:nvPr>
        </p:nvGraphicFramePr>
        <p:xfrm>
          <a:off x="6918960" y="4783666"/>
          <a:ext cx="406400" cy="1483360"/>
        </p:xfrm>
        <a:graphic>
          <a:graphicData uri="http://schemas.openxmlformats.org/drawingml/2006/table">
            <a:tbl>
              <a:tblPr firstRow="1" bandRow="1">
                <a:tableStyleId>{2D5ABB26-0587-4C30-8999-92F81FD0307C}</a:tableStyleId>
              </a:tblPr>
              <a:tblGrid>
                <a:gridCol w="406400">
                  <a:extLst>
                    <a:ext uri="{9D8B030D-6E8A-4147-A177-3AD203B41FA5}">
                      <a16:colId xmlns:a16="http://schemas.microsoft.com/office/drawing/2014/main" val="1587076210"/>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0800156"/>
                  </a:ext>
                </a:extLst>
              </a:tr>
              <a:tr h="370840">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604423851"/>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43793898"/>
                  </a:ext>
                </a:extLst>
              </a:tr>
              <a:tr h="370840">
                <a:tc>
                  <a:txBody>
                    <a:bodyPr/>
                    <a:lstStyle/>
                    <a:p>
                      <a:r>
                        <a:rPr lang="fr-FR" dirty="0" smtClean="0"/>
                        <a:t>5</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6162120"/>
                  </a:ext>
                </a:extLst>
              </a:tr>
            </a:tbl>
          </a:graphicData>
        </a:graphic>
      </p:graphicFrame>
      <p:cxnSp>
        <p:nvCxnSpPr>
          <p:cNvPr id="16" name="Connecteur droit avec flèche 15"/>
          <p:cNvCxnSpPr/>
          <p:nvPr/>
        </p:nvCxnSpPr>
        <p:spPr>
          <a:xfrm flipV="1">
            <a:off x="1361440" y="6522720"/>
            <a:ext cx="132080" cy="1727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V="1">
            <a:off x="3484880" y="6441440"/>
            <a:ext cx="132080" cy="1727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Connecteur droit avec flèche 17"/>
          <p:cNvCxnSpPr/>
          <p:nvPr/>
        </p:nvCxnSpPr>
        <p:spPr>
          <a:xfrm flipV="1">
            <a:off x="5608320" y="6471920"/>
            <a:ext cx="132080" cy="1727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p:cNvCxnSpPr/>
          <p:nvPr/>
        </p:nvCxnSpPr>
        <p:spPr>
          <a:xfrm flipV="1">
            <a:off x="7416800" y="6512560"/>
            <a:ext cx="132080" cy="1727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057082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160" y="420311"/>
            <a:ext cx="11775440" cy="5909310"/>
          </a:xfrm>
          <a:prstGeom prst="rect">
            <a:avLst/>
          </a:prstGeom>
        </p:spPr>
        <p:txBody>
          <a:bodyPr wrap="square">
            <a:spAutoFit/>
          </a:bodyPr>
          <a:lstStyle/>
          <a:p>
            <a:pPr lvl="0" algn="just" fontAlgn="base">
              <a:spcBef>
                <a:spcPct val="0"/>
              </a:spcBef>
              <a:spcAft>
                <a:spcPct val="0"/>
              </a:spcAft>
            </a:pPr>
            <a:r>
              <a:rPr lang="fr-FR" dirty="0">
                <a:latin typeface="Times New Roman" pitchFamily="18" charset="0"/>
                <a:ea typeface="Times New Roman" pitchFamily="18" charset="0"/>
                <a:cs typeface="Times New Roman" pitchFamily="18" charset="0"/>
              </a:rPr>
              <a:t>On déduit, à partir de cet exemple, les règles concernant les actions à prendre. Soit </a:t>
            </a:r>
            <a:r>
              <a:rPr lang="fr-FR" b="1" dirty="0" err="1">
                <a:latin typeface="Times New Roman" pitchFamily="18" charset="0"/>
                <a:ea typeface="Times New Roman" pitchFamily="18" charset="0"/>
                <a:cs typeface="Times New Roman" pitchFamily="18" charset="0"/>
              </a:rPr>
              <a:t>expost</a:t>
            </a:r>
            <a:r>
              <a:rPr lang="fr-FR" dirty="0">
                <a:latin typeface="Times New Roman" pitchFamily="18" charset="0"/>
                <a:ea typeface="Times New Roman" pitchFamily="18" charset="0"/>
                <a:cs typeface="Times New Roman" pitchFamily="18" charset="0"/>
              </a:rPr>
              <a:t> un vecteur  de caractères, contenant une </a:t>
            </a:r>
            <a:r>
              <a:rPr lang="fr-FR" b="1" dirty="0">
                <a:latin typeface="Times New Roman" pitchFamily="18" charset="0"/>
                <a:ea typeface="Times New Roman" pitchFamily="18" charset="0"/>
                <a:cs typeface="Times New Roman" pitchFamily="18" charset="0"/>
              </a:rPr>
              <a:t>expression </a:t>
            </a:r>
            <a:r>
              <a:rPr lang="fr-FR" b="1" dirty="0" err="1">
                <a:latin typeface="Times New Roman" pitchFamily="18" charset="0"/>
                <a:ea typeface="Times New Roman" pitchFamily="18" charset="0"/>
                <a:cs typeface="Times New Roman" pitchFamily="18" charset="0"/>
              </a:rPr>
              <a:t>postfixée</a:t>
            </a:r>
            <a:r>
              <a:rPr lang="fr-FR" dirty="0">
                <a:latin typeface="Times New Roman" pitchFamily="18" charset="0"/>
                <a:ea typeface="Times New Roman" pitchFamily="18" charset="0"/>
                <a:cs typeface="Times New Roman" pitchFamily="18" charset="0"/>
              </a:rPr>
              <a:t> cadrée à gauche, et terminée par le signe #. </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u="sng" dirty="0">
                <a:latin typeface="Times New Roman" pitchFamily="18" charset="0"/>
                <a:ea typeface="Times New Roman" pitchFamily="18" charset="0"/>
                <a:cs typeface="Times New Roman" pitchFamily="18" charset="0"/>
              </a:rPr>
              <a:t>Raisonnement par récurrence</a:t>
            </a:r>
            <a:r>
              <a:rPr lang="fr-FR" dirty="0">
                <a:latin typeface="Times New Roman" pitchFamily="18" charset="0"/>
                <a:ea typeface="Times New Roman" pitchFamily="18" charset="0"/>
                <a:cs typeface="Times New Roman" pitchFamily="18" charset="0"/>
              </a:rPr>
              <a:t> : supposons que l’on ait déjà parcouru les i-1 premiers caractères, et que l’on ait empilé les valeurs des sous-expressions contenues dans </a:t>
            </a:r>
            <a:r>
              <a:rPr lang="fr-FR" b="1" dirty="0" err="1">
                <a:latin typeface="Times New Roman" pitchFamily="18" charset="0"/>
                <a:ea typeface="Times New Roman" pitchFamily="18" charset="0"/>
                <a:cs typeface="Times New Roman" pitchFamily="18" charset="0"/>
              </a:rPr>
              <a:t>expost</a:t>
            </a:r>
            <a:r>
              <a:rPr lang="fr-FR" b="1" dirty="0">
                <a:latin typeface="Times New Roman" pitchFamily="18" charset="0"/>
                <a:ea typeface="Times New Roman" pitchFamily="18" charset="0"/>
                <a:cs typeface="Times New Roman" pitchFamily="18" charset="0"/>
              </a:rPr>
              <a:t>[1..i-1]</a:t>
            </a:r>
            <a:r>
              <a:rPr lang="fr-FR" i="1" dirty="0">
                <a:latin typeface="Times New Roman" pitchFamily="18" charset="0"/>
                <a:ea typeface="Times New Roman" pitchFamily="18" charset="0"/>
                <a:cs typeface="Times New Roman" pitchFamily="18" charset="0"/>
              </a:rPr>
              <a:t>.</a:t>
            </a:r>
          </a:p>
          <a:p>
            <a:pPr lvl="0"/>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expost</a:t>
            </a:r>
            <a:r>
              <a:rPr lang="fr-FR" b="1" dirty="0">
                <a:latin typeface="Times New Roman" pitchFamily="18" charset="0"/>
                <a:cs typeface="Times New Roman" pitchFamily="18" charset="0"/>
              </a:rPr>
              <a:t>[i] = ‘#’ </a:t>
            </a:r>
          </a:p>
          <a:p>
            <a:pPr lvl="1"/>
            <a:r>
              <a:rPr lang="fr-FR" dirty="0">
                <a:latin typeface="Times New Roman" pitchFamily="18" charset="0"/>
                <a:cs typeface="Times New Roman" pitchFamily="18" charset="0"/>
              </a:rPr>
              <a:t>parcours terminé, le résultat final est la valeur au sommet de la pile.       </a:t>
            </a:r>
            <a:r>
              <a:rPr lang="en-GB" dirty="0">
                <a:latin typeface="Times New Roman" pitchFamily="18" charset="0"/>
                <a:cs typeface="Times New Roman" pitchFamily="18" charset="0"/>
              </a:rPr>
              <a:t>*</a:t>
            </a:r>
            <a:endParaRPr lang="fr-FR" dirty="0">
              <a:latin typeface="Times New Roman" pitchFamily="18" charset="0"/>
              <a:cs typeface="Times New Roman" pitchFamily="18" charset="0"/>
            </a:endParaRPr>
          </a:p>
          <a:p>
            <a:pPr lvl="0"/>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expost</a:t>
            </a:r>
            <a:r>
              <a:rPr lang="fr-FR" b="1" dirty="0">
                <a:latin typeface="Times New Roman" pitchFamily="18" charset="0"/>
                <a:cs typeface="Times New Roman" pitchFamily="18" charset="0"/>
              </a:rPr>
              <a:t>[i] </a:t>
            </a:r>
            <a:r>
              <a:rPr lang="fr-FR" b="1" dirty="0">
                <a:latin typeface="Times New Roman" pitchFamily="18" charset="0"/>
                <a:cs typeface="Times New Roman" pitchFamily="18" charset="0"/>
                <a:sym typeface="Symbol"/>
              </a:rPr>
              <a:t></a:t>
            </a:r>
            <a:r>
              <a:rPr lang="fr-FR" b="1" dirty="0">
                <a:latin typeface="Times New Roman" pitchFamily="18" charset="0"/>
                <a:cs typeface="Times New Roman" pitchFamily="18" charset="0"/>
              </a:rPr>
              <a:t> ‘#’</a:t>
            </a:r>
          </a:p>
          <a:p>
            <a:r>
              <a:rPr lang="fr-FR" dirty="0">
                <a:latin typeface="Times New Roman" pitchFamily="18" charset="0"/>
                <a:cs typeface="Times New Roman" pitchFamily="18" charset="0"/>
              </a:rPr>
              <a:t>       ** </a:t>
            </a:r>
            <a:r>
              <a:rPr lang="fr-FR" dirty="0" err="1">
                <a:latin typeface="Times New Roman" pitchFamily="18" charset="0"/>
                <a:cs typeface="Times New Roman" pitchFamily="18" charset="0"/>
              </a:rPr>
              <a:t>expost</a:t>
            </a:r>
            <a:r>
              <a:rPr lang="fr-FR" dirty="0">
                <a:latin typeface="Times New Roman" pitchFamily="18" charset="0"/>
                <a:cs typeface="Times New Roman" pitchFamily="18" charset="0"/>
              </a:rPr>
              <a:t>[i] est une variable.</a:t>
            </a:r>
          </a:p>
          <a:p>
            <a:pPr lvl="1"/>
            <a:r>
              <a:rPr lang="fr-FR" dirty="0">
                <a:latin typeface="Times New Roman" pitchFamily="18" charset="0"/>
                <a:cs typeface="Times New Roman" pitchFamily="18" charset="0"/>
              </a:rPr>
              <a:t>	 il faut empiler sa valeur.</a:t>
            </a:r>
          </a:p>
          <a:p>
            <a:pPr lvl="1"/>
            <a:r>
              <a:rPr lang="fr-FR" dirty="0">
                <a:latin typeface="Times New Roman" pitchFamily="18" charset="0"/>
                <a:cs typeface="Times New Roman" pitchFamily="18" charset="0"/>
              </a:rPr>
              <a:t>	i++ ; </a:t>
            </a:r>
            <a:r>
              <a:rPr lang="fr-FR" dirty="0">
                <a:latin typeface="Times New Roman" pitchFamily="18" charset="0"/>
                <a:cs typeface="Times New Roman" pitchFamily="18" charset="0"/>
                <a:sym typeface="Wingdings"/>
              </a:rPr>
              <a:t></a:t>
            </a:r>
            <a:r>
              <a:rPr lang="fr-FR" dirty="0">
                <a:latin typeface="Times New Roman" pitchFamily="18" charset="0"/>
                <a:cs typeface="Times New Roman" pitchFamily="18" charset="0"/>
              </a:rPr>
              <a:t> H</a:t>
            </a:r>
          </a:p>
          <a:p>
            <a:pPr lvl="1"/>
            <a:r>
              <a:rPr lang="fr-FR" dirty="0">
                <a:latin typeface="Times New Roman" pitchFamily="18" charset="0"/>
                <a:cs typeface="Times New Roman" pitchFamily="18" charset="0"/>
              </a:rPr>
              <a:t>** </a:t>
            </a:r>
            <a:r>
              <a:rPr lang="fr-FR" dirty="0" err="1">
                <a:latin typeface="Times New Roman" pitchFamily="18" charset="0"/>
                <a:cs typeface="Times New Roman" pitchFamily="18" charset="0"/>
              </a:rPr>
              <a:t>expost</a:t>
            </a:r>
            <a:r>
              <a:rPr lang="fr-FR" dirty="0">
                <a:latin typeface="Times New Roman" pitchFamily="18" charset="0"/>
                <a:cs typeface="Times New Roman" pitchFamily="18" charset="0"/>
              </a:rPr>
              <a:t>[i] est un opérateur.</a:t>
            </a:r>
          </a:p>
          <a:p>
            <a:pPr lvl="1"/>
            <a:r>
              <a:rPr lang="fr-FR" dirty="0">
                <a:latin typeface="Times New Roman" pitchFamily="18" charset="0"/>
                <a:cs typeface="Times New Roman" pitchFamily="18" charset="0"/>
              </a:rPr>
              <a:t>	on dépile son opérande (ou ses 2 opérandes), puis on empile le résultat de l’opération.</a:t>
            </a:r>
          </a:p>
          <a:p>
            <a:pPr lvl="1"/>
            <a:r>
              <a:rPr lang="fr-FR" dirty="0">
                <a:latin typeface="Times New Roman" pitchFamily="18" charset="0"/>
                <a:cs typeface="Times New Roman" pitchFamily="18" charset="0"/>
              </a:rPr>
              <a:t>	i++ ; </a:t>
            </a:r>
            <a:r>
              <a:rPr lang="fr-FR" dirty="0">
                <a:latin typeface="Times New Roman" pitchFamily="18" charset="0"/>
                <a:cs typeface="Times New Roman" pitchFamily="18" charset="0"/>
                <a:sym typeface="Wingdings"/>
              </a:rPr>
              <a:t></a:t>
            </a:r>
            <a:r>
              <a:rPr lang="fr-FR" dirty="0">
                <a:latin typeface="Times New Roman" pitchFamily="18" charset="0"/>
                <a:cs typeface="Times New Roman" pitchFamily="18" charset="0"/>
              </a:rPr>
              <a:t> H</a:t>
            </a:r>
          </a:p>
          <a:p>
            <a:r>
              <a:rPr lang="fr-FR" dirty="0">
                <a:latin typeface="Times New Roman" pitchFamily="18" charset="0"/>
                <a:cs typeface="Times New Roman" pitchFamily="18" charset="0"/>
              </a:rPr>
              <a:t>Itération : </a:t>
            </a:r>
            <a:r>
              <a:rPr lang="fr-FR" dirty="0" err="1">
                <a:latin typeface="Times New Roman" pitchFamily="18" charset="0"/>
                <a:cs typeface="Times New Roman" pitchFamily="18" charset="0"/>
              </a:rPr>
              <a:t>tantque</a:t>
            </a:r>
            <a:r>
              <a:rPr lang="fr-FR" dirty="0">
                <a:latin typeface="Times New Roman" pitchFamily="18" charset="0"/>
                <a:cs typeface="Times New Roman" pitchFamily="18" charset="0"/>
              </a:rPr>
              <a:t>(</a:t>
            </a:r>
            <a:r>
              <a:rPr lang="fr-FR" dirty="0" err="1">
                <a:latin typeface="Times New Roman" pitchFamily="18" charset="0"/>
                <a:cs typeface="Times New Roman" pitchFamily="18" charset="0"/>
              </a:rPr>
              <a:t>expost</a:t>
            </a:r>
            <a:r>
              <a:rPr lang="fr-FR" dirty="0">
                <a:latin typeface="Times New Roman" pitchFamily="18" charset="0"/>
                <a:cs typeface="Times New Roman" pitchFamily="18" charset="0"/>
              </a:rPr>
              <a:t>[i] </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 ‘#’)…</a:t>
            </a:r>
          </a:p>
          <a:p>
            <a:r>
              <a:rPr lang="fr-FR" b="1" dirty="0">
                <a:latin typeface="Times New Roman" pitchFamily="18" charset="0"/>
                <a:cs typeface="Times New Roman" pitchFamily="18" charset="0"/>
              </a:rPr>
              <a:t>Initialisation</a:t>
            </a:r>
            <a:r>
              <a:rPr lang="fr-FR" dirty="0">
                <a:latin typeface="Times New Roman" pitchFamily="18" charset="0"/>
                <a:cs typeface="Times New Roman" pitchFamily="18" charset="0"/>
              </a:rPr>
              <a:t> : i := 1 ; </a:t>
            </a:r>
            <a:r>
              <a:rPr lang="fr-FR" dirty="0">
                <a:latin typeface="Times New Roman" pitchFamily="18" charset="0"/>
                <a:cs typeface="Times New Roman" pitchFamily="18" charset="0"/>
                <a:sym typeface="Wingdings"/>
              </a:rPr>
              <a:t></a:t>
            </a:r>
            <a:r>
              <a:rPr lang="fr-FR" dirty="0">
                <a:latin typeface="Times New Roman" pitchFamily="18" charset="0"/>
                <a:cs typeface="Times New Roman" pitchFamily="18" charset="0"/>
              </a:rPr>
              <a:t> H //en C, indice du 1</a:t>
            </a:r>
            <a:r>
              <a:rPr lang="fr-FR" baseline="30000" dirty="0">
                <a:latin typeface="Times New Roman" pitchFamily="18" charset="0"/>
                <a:cs typeface="Times New Roman" pitchFamily="18" charset="0"/>
              </a:rPr>
              <a:t>er</a:t>
            </a:r>
            <a:r>
              <a:rPr lang="fr-FR" dirty="0">
                <a:latin typeface="Times New Roman" pitchFamily="18" charset="0"/>
                <a:cs typeface="Times New Roman" pitchFamily="18" charset="0"/>
              </a:rPr>
              <a:t> élément d’un vecteur est égal à 0.</a:t>
            </a:r>
          </a:p>
          <a:p>
            <a:pPr lvl="0" algn="just" eaLnBrk="0" fontAlgn="base" hangingPunct="0">
              <a:spcBef>
                <a:spcPct val="0"/>
              </a:spcBef>
              <a:spcAft>
                <a:spcPct val="0"/>
              </a:spcAft>
            </a:pP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cs typeface="Times New Roman" pitchFamily="18" charset="0"/>
              </a:rPr>
              <a:t>Algorithme : évaluation d’une expression </a:t>
            </a:r>
            <a:r>
              <a:rPr lang="fr-FR" dirty="0" err="1">
                <a:latin typeface="Times New Roman" pitchFamily="18" charset="0"/>
                <a:cs typeface="Times New Roman" pitchFamily="18" charset="0"/>
              </a:rPr>
              <a:t>postfixée</a:t>
            </a:r>
            <a:r>
              <a:rPr lang="fr-FR" dirty="0">
                <a:latin typeface="Times New Roman" pitchFamily="18" charset="0"/>
                <a:cs typeface="Times New Roman" pitchFamily="18" charset="0"/>
              </a:rPr>
              <a:t>. Les fonctions utilisées sont :</a:t>
            </a:r>
          </a:p>
          <a:p>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variable(x)</a:t>
            </a:r>
            <a:r>
              <a:rPr lang="fr-FR" dirty="0">
                <a:latin typeface="Times New Roman" pitchFamily="18" charset="0"/>
                <a:cs typeface="Times New Roman" pitchFamily="18" charset="0"/>
              </a:rPr>
              <a:t> et </a:t>
            </a:r>
            <a:r>
              <a:rPr lang="fr-FR" b="1" dirty="0">
                <a:latin typeface="Times New Roman" pitchFamily="18" charset="0"/>
                <a:cs typeface="Times New Roman" pitchFamily="18" charset="0"/>
              </a:rPr>
              <a:t>unaire(</a:t>
            </a:r>
            <a:r>
              <a:rPr lang="fr-FR" b="1" dirty="0">
                <a:latin typeface="Times New Roman" pitchFamily="18" charset="0"/>
                <a:ea typeface="Times New Roman" pitchFamily="18" charset="0"/>
                <a:cs typeface="Times New Roman" pitchFamily="18" charset="0"/>
                <a:sym typeface="Symbol" pitchFamily="18" charset="2"/>
              </a:rPr>
              <a:t> </a:t>
            </a:r>
            <a:r>
              <a:rPr lang="fr-FR" b="1" dirty="0">
                <a:latin typeface="Times New Roman" pitchFamily="18" charset="0"/>
                <a:cs typeface="Times New Roman" pitchFamily="18" charset="0"/>
              </a:rPr>
              <a:t>)</a:t>
            </a:r>
            <a:r>
              <a:rPr lang="fr-FR" dirty="0">
                <a:latin typeface="Times New Roman" pitchFamily="18" charset="0"/>
                <a:cs typeface="Times New Roman" pitchFamily="18" charset="0"/>
              </a:rPr>
              <a:t>: délivrent vrai si et seulement si </a:t>
            </a:r>
            <a:r>
              <a:rPr lang="fr-FR" b="1" dirty="0">
                <a:latin typeface="Times New Roman" pitchFamily="18" charset="0"/>
                <a:cs typeface="Times New Roman" pitchFamily="18" charset="0"/>
              </a:rPr>
              <a:t>x</a:t>
            </a:r>
            <a:r>
              <a:rPr lang="fr-FR" dirty="0">
                <a:latin typeface="Times New Roman" pitchFamily="18" charset="0"/>
                <a:cs typeface="Times New Roman" pitchFamily="18" charset="0"/>
              </a:rPr>
              <a:t> est une variable et </a:t>
            </a:r>
            <a:r>
              <a:rPr lang="fr-FR" b="1" dirty="0">
                <a:latin typeface="Times New Roman" pitchFamily="18" charset="0"/>
                <a:ea typeface="Times New Roman" pitchFamily="18" charset="0"/>
                <a:cs typeface="Times New Roman" pitchFamily="18" charset="0"/>
                <a:sym typeface="Symbol" pitchFamily="18" charset="2"/>
              </a:rPr>
              <a:t></a:t>
            </a:r>
            <a:r>
              <a:rPr lang="fr-FR" dirty="0">
                <a:latin typeface="Times New Roman" pitchFamily="18" charset="0"/>
                <a:cs typeface="Times New Roman" pitchFamily="18" charset="0"/>
              </a:rPr>
              <a:t> un opérateur unaire. </a:t>
            </a:r>
          </a:p>
          <a:p>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oper1(</a:t>
            </a:r>
            <a:r>
              <a:rPr lang="fr-FR" b="1" dirty="0">
                <a:latin typeface="Times New Roman" pitchFamily="18" charset="0"/>
                <a:ea typeface="Times New Roman" pitchFamily="18" charset="0"/>
                <a:cs typeface="Times New Roman" pitchFamily="18" charset="0"/>
                <a:sym typeface="Symbol" pitchFamily="18" charset="2"/>
              </a:rPr>
              <a:t></a:t>
            </a:r>
            <a:r>
              <a:rPr lang="fr-FR" b="1" dirty="0">
                <a:latin typeface="Times New Roman" pitchFamily="18" charset="0"/>
                <a:cs typeface="Times New Roman" pitchFamily="18" charset="0"/>
              </a:rPr>
              <a:t>, x) </a:t>
            </a:r>
            <a:r>
              <a:rPr lang="fr-FR" dirty="0">
                <a:latin typeface="Times New Roman" pitchFamily="18" charset="0"/>
                <a:cs typeface="Times New Roman" pitchFamily="18" charset="0"/>
              </a:rPr>
              <a:t>: délivre le résultat de l’opération unaire </a:t>
            </a:r>
            <a:r>
              <a:rPr lang="fr-FR" b="1" dirty="0">
                <a:latin typeface="Times New Roman" pitchFamily="18" charset="0"/>
                <a:ea typeface="Times New Roman" pitchFamily="18" charset="0"/>
                <a:cs typeface="Times New Roman" pitchFamily="18" charset="0"/>
                <a:sym typeface="Symbol" pitchFamily="18" charset="2"/>
              </a:rPr>
              <a:t> </a:t>
            </a:r>
            <a:r>
              <a:rPr lang="fr-FR" dirty="0">
                <a:latin typeface="Times New Roman" pitchFamily="18" charset="0"/>
                <a:cs typeface="Times New Roman" pitchFamily="18" charset="0"/>
              </a:rPr>
              <a:t> sur l’opérande </a:t>
            </a:r>
            <a:r>
              <a:rPr lang="fr-FR" b="1" dirty="0">
                <a:latin typeface="Times New Roman" pitchFamily="18" charset="0"/>
                <a:cs typeface="Times New Roman" pitchFamily="18" charset="0"/>
              </a:rPr>
              <a:t>x.</a:t>
            </a:r>
          </a:p>
          <a:p>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oper2(x, </a:t>
            </a:r>
            <a:r>
              <a:rPr lang="fr-FR" b="1" dirty="0">
                <a:latin typeface="Times New Roman" pitchFamily="18" charset="0"/>
                <a:ea typeface="Times New Roman" pitchFamily="18" charset="0"/>
                <a:cs typeface="Times New Roman" pitchFamily="18" charset="0"/>
                <a:sym typeface="Symbol" pitchFamily="18" charset="2"/>
              </a:rPr>
              <a:t></a:t>
            </a:r>
            <a:r>
              <a:rPr lang="fr-FR" b="1" dirty="0">
                <a:latin typeface="Times New Roman" pitchFamily="18" charset="0"/>
                <a:cs typeface="Times New Roman" pitchFamily="18" charset="0"/>
              </a:rPr>
              <a:t>, y) </a:t>
            </a:r>
            <a:r>
              <a:rPr lang="fr-FR" dirty="0">
                <a:latin typeface="Times New Roman" pitchFamily="18" charset="0"/>
                <a:cs typeface="Times New Roman" pitchFamily="18" charset="0"/>
              </a:rPr>
              <a:t>: délivre le résultat de l’opération binaire </a:t>
            </a:r>
            <a:r>
              <a:rPr lang="fr-FR" b="1" dirty="0">
                <a:latin typeface="Times New Roman" pitchFamily="18" charset="0"/>
                <a:ea typeface="Times New Roman" pitchFamily="18" charset="0"/>
                <a:cs typeface="Times New Roman" pitchFamily="18" charset="0"/>
                <a:sym typeface="Symbol" pitchFamily="18" charset="2"/>
              </a:rPr>
              <a:t></a:t>
            </a:r>
            <a:r>
              <a:rPr lang="fr-FR" dirty="0">
                <a:latin typeface="Times New Roman" pitchFamily="18" charset="0"/>
                <a:cs typeface="Times New Roman" pitchFamily="18" charset="0"/>
              </a:rPr>
              <a:t> sur les opérandes </a:t>
            </a:r>
            <a:r>
              <a:rPr lang="fr-FR" b="1" dirty="0">
                <a:latin typeface="Times New Roman" pitchFamily="18" charset="0"/>
                <a:cs typeface="Times New Roman" pitchFamily="18" charset="0"/>
              </a:rPr>
              <a:t>x</a:t>
            </a:r>
            <a:r>
              <a:rPr lang="fr-FR" dirty="0">
                <a:latin typeface="Times New Roman" pitchFamily="18" charset="0"/>
                <a:cs typeface="Times New Roman" pitchFamily="18" charset="0"/>
              </a:rPr>
              <a:t> et </a:t>
            </a:r>
            <a:r>
              <a:rPr lang="fr-FR" b="1" dirty="0">
                <a:latin typeface="Times New Roman" pitchFamily="18" charset="0"/>
                <a:cs typeface="Times New Roman" pitchFamily="18" charset="0"/>
              </a:rPr>
              <a:t>y</a:t>
            </a:r>
            <a:r>
              <a:rPr lang="fr-FR" dirty="0">
                <a:latin typeface="Times New Roman" pitchFamily="18" charset="0"/>
                <a:cs typeface="Times New Roman" pitchFamily="18" charset="0"/>
              </a:rPr>
              <a:t>, dans cet ordre.</a:t>
            </a:r>
          </a:p>
          <a:p>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valeur(x)</a:t>
            </a:r>
            <a:r>
              <a:rPr lang="fr-FR" dirty="0">
                <a:latin typeface="Times New Roman" pitchFamily="18" charset="0"/>
                <a:cs typeface="Times New Roman" pitchFamily="18" charset="0"/>
              </a:rPr>
              <a:t> : délivre la valeur associée à la variable </a:t>
            </a:r>
            <a:r>
              <a:rPr lang="fr-FR" b="1" dirty="0">
                <a:latin typeface="Times New Roman" pitchFamily="18" charset="0"/>
                <a:cs typeface="Times New Roman" pitchFamily="18" charset="0"/>
              </a:rPr>
              <a:t>x</a:t>
            </a:r>
            <a:r>
              <a:rPr lang="fr-FR" dirty="0">
                <a:latin typeface="Times New Roman" pitchFamily="18" charset="0"/>
                <a:cs typeface="Times New Roman" pitchFamily="18" charset="0"/>
              </a:rPr>
              <a:t>.</a:t>
            </a:r>
          </a:p>
        </p:txBody>
      </p:sp>
    </p:spTree>
    <p:extLst>
      <p:ext uri="{BB962C8B-B14F-4D97-AF65-F5344CB8AC3E}">
        <p14:creationId xmlns:p14="http://schemas.microsoft.com/office/powerpoint/2010/main" val="39219478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5280" y="385584"/>
            <a:ext cx="11389360" cy="5940088"/>
          </a:xfrm>
          <a:prstGeom prst="rect">
            <a:avLst/>
          </a:prstGeom>
        </p:spPr>
        <p:txBody>
          <a:bodyPr wrap="square">
            <a:spAutoFit/>
          </a:bodyPr>
          <a:lstStyle/>
          <a:p>
            <a:pPr lvl="0" algn="just" fontAlgn="base">
              <a:spcBef>
                <a:spcPct val="0"/>
              </a:spcBef>
              <a:spcAft>
                <a:spcPct val="0"/>
              </a:spcAft>
            </a:pPr>
            <a:r>
              <a:rPr lang="fr-FR" sz="2000" b="1" dirty="0" err="1" smtClean="0">
                <a:latin typeface="Times New Roman" pitchFamily="18" charset="0"/>
                <a:ea typeface="Times New Roman" pitchFamily="18" charset="0"/>
                <a:cs typeface="Times New Roman" pitchFamily="18" charset="0"/>
              </a:rPr>
              <a:t>tind</a:t>
            </a:r>
            <a:r>
              <a:rPr lang="fr-FR" sz="2000" b="1" dirty="0" smtClean="0">
                <a:latin typeface="Times New Roman" pitchFamily="18" charset="0"/>
                <a:ea typeface="Times New Roman" pitchFamily="18" charset="0"/>
                <a:cs typeface="Times New Roman" pitchFamily="18" charset="0"/>
              </a:rPr>
              <a:t> </a:t>
            </a:r>
            <a:r>
              <a:rPr lang="fr-FR" sz="2000" dirty="0" err="1">
                <a:latin typeface="Times New Roman" pitchFamily="18" charset="0"/>
                <a:ea typeface="Times New Roman" pitchFamily="18" charset="0"/>
                <a:cs typeface="Times New Roman" pitchFamily="18" charset="0"/>
              </a:rPr>
              <a:t>evalpost</a:t>
            </a:r>
            <a:r>
              <a:rPr lang="fr-FR" sz="2000" b="1" dirty="0">
                <a:latin typeface="Times New Roman" pitchFamily="18" charset="0"/>
                <a:ea typeface="Times New Roman" pitchFamily="18" charset="0"/>
                <a:cs typeface="Times New Roman" pitchFamily="18" charset="0"/>
              </a:rPr>
              <a:t>(d caractère </a:t>
            </a:r>
            <a:r>
              <a:rPr lang="fr-FR" sz="2000" dirty="0" err="1">
                <a:latin typeface="Times New Roman" pitchFamily="18" charset="0"/>
                <a:ea typeface="Times New Roman" pitchFamily="18" charset="0"/>
                <a:cs typeface="Times New Roman" pitchFamily="18" charset="0"/>
              </a:rPr>
              <a:t>expost</a:t>
            </a:r>
            <a:r>
              <a:rPr lang="fr-FR" sz="2000" dirty="0">
                <a:latin typeface="Times New Roman" pitchFamily="18" charset="0"/>
                <a:ea typeface="Times New Roman" pitchFamily="18" charset="0"/>
                <a:cs typeface="Times New Roman" pitchFamily="18" charset="0"/>
              </a:rPr>
              <a:t>[]</a:t>
            </a:r>
            <a:r>
              <a:rPr lang="fr-FR" sz="2000" b="1" dirty="0">
                <a:latin typeface="Times New Roman" pitchFamily="18" charset="0"/>
                <a:ea typeface="Times New Roman" pitchFamily="18" charset="0"/>
                <a:cs typeface="Times New Roman" pitchFamily="18" charset="0"/>
              </a:rPr>
              <a:t>)</a:t>
            </a:r>
            <a:endParaRPr lang="fr-FR" sz="2000" b="1" dirty="0">
              <a:latin typeface="Times New Roman" pitchFamily="18" charset="0"/>
              <a:cs typeface="Times New Roman" pitchFamily="18" charset="0"/>
            </a:endParaRP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sym typeface="Wingdings" pitchFamily="2" charset="2"/>
              </a:rPr>
              <a:t>debfonc;</a:t>
            </a: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sym typeface="Wingdings" pitchFamily="2" charset="2"/>
              </a:rPr>
              <a:t>    entier </a:t>
            </a:r>
            <a:r>
              <a:rPr lang="nb-NO" sz="2000" dirty="0">
                <a:latin typeface="Times New Roman" pitchFamily="18" charset="0"/>
                <a:ea typeface="Times New Roman" pitchFamily="18" charset="0"/>
                <a:cs typeface="Times New Roman" pitchFamily="18" charset="0"/>
                <a:sym typeface="Wingdings" pitchFamily="2" charset="2"/>
              </a:rPr>
              <a:t>i</a:t>
            </a:r>
            <a:r>
              <a:rPr lang="nb-NO" sz="2000" b="1" dirty="0">
                <a:latin typeface="Times New Roman" pitchFamily="18" charset="0"/>
                <a:ea typeface="Times New Roman" pitchFamily="18" charset="0"/>
                <a:cs typeface="Times New Roman" pitchFamily="18" charset="0"/>
                <a:sym typeface="Wingdings" pitchFamily="2" charset="2"/>
              </a:rPr>
              <a:t>; tind </a:t>
            </a:r>
            <a:r>
              <a:rPr lang="nb-NO" sz="2000" dirty="0">
                <a:latin typeface="Times New Roman" pitchFamily="18" charset="0"/>
                <a:ea typeface="Times New Roman" pitchFamily="18" charset="0"/>
                <a:cs typeface="Times New Roman" pitchFamily="18" charset="0"/>
                <a:sym typeface="Wingdings" pitchFamily="2" charset="2"/>
              </a:rPr>
              <a:t>valdrte, valgche, evalp</a:t>
            </a:r>
            <a:r>
              <a:rPr lang="nb-NO" sz="2000" b="1" dirty="0">
                <a:latin typeface="Times New Roman" pitchFamily="18" charset="0"/>
                <a:ea typeface="Times New Roman" pitchFamily="18" charset="0"/>
                <a:cs typeface="Times New Roman" pitchFamily="18" charset="0"/>
                <a:sym typeface="Wingdings" pitchFamily="2" charset="2"/>
              </a:rPr>
              <a:t>;</a:t>
            </a:r>
            <a:endParaRPr lang="fr-FR" sz="2000"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sym typeface="Wingdings" pitchFamily="2" charset="2"/>
              </a:rPr>
              <a:t>    </a:t>
            </a:r>
            <a:r>
              <a:rPr lang="fr-FR" sz="2000" b="1" dirty="0" err="1">
                <a:latin typeface="Times New Roman" pitchFamily="18" charset="0"/>
                <a:ea typeface="Times New Roman" pitchFamily="18" charset="0"/>
                <a:cs typeface="Times New Roman" pitchFamily="18" charset="0"/>
                <a:sym typeface="Wingdings" pitchFamily="2" charset="2"/>
              </a:rPr>
              <a:t>initpilevide</a:t>
            </a:r>
            <a:r>
              <a:rPr lang="fr-FR" sz="2000" b="1" dirty="0">
                <a:latin typeface="Times New Roman" pitchFamily="18" charset="0"/>
                <a:ea typeface="Times New Roman" pitchFamily="18" charset="0"/>
                <a:cs typeface="Times New Roman" pitchFamily="18" charset="0"/>
                <a:sym typeface="Wingdings" pitchFamily="2" charset="2"/>
              </a:rPr>
              <a:t>(); </a:t>
            </a: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Wingdings" pitchFamily="2" charset="2"/>
              </a:rPr>
              <a:t>    </a:t>
            </a:r>
            <a:r>
              <a:rPr lang="fr-FR" sz="2000" dirty="0" smtClean="0">
                <a:latin typeface="Times New Roman" pitchFamily="18" charset="0"/>
                <a:ea typeface="Times New Roman" pitchFamily="18" charset="0"/>
                <a:cs typeface="Times New Roman" pitchFamily="18" charset="0"/>
                <a:sym typeface="Wingdings" pitchFamily="2" charset="2"/>
              </a:rPr>
              <a:t>i:=1</a:t>
            </a:r>
            <a:r>
              <a:rPr lang="fr-FR" sz="2000" b="1" dirty="0">
                <a:latin typeface="Times New Roman" pitchFamily="18" charset="0"/>
                <a:ea typeface="Times New Roman" pitchFamily="18" charset="0"/>
                <a:cs typeface="Times New Roman" pitchFamily="18" charset="0"/>
                <a:sym typeface="Wingdings" pitchFamily="2" charset="2"/>
              </a:rPr>
              <a:t>;</a:t>
            </a:r>
            <a:endParaRPr lang="fr-FR" sz="2000"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Wingdings" pitchFamily="2" charset="2"/>
              </a:rPr>
              <a:t>    </a:t>
            </a:r>
            <a:r>
              <a:rPr lang="fr-FR" sz="2000" b="1" dirty="0" err="1">
                <a:latin typeface="Times New Roman" pitchFamily="18" charset="0"/>
                <a:ea typeface="Times New Roman" pitchFamily="18" charset="0"/>
                <a:cs typeface="Times New Roman" pitchFamily="18" charset="0"/>
                <a:sym typeface="Wingdings" pitchFamily="2" charset="2"/>
              </a:rPr>
              <a:t>tantque</a:t>
            </a:r>
            <a:r>
              <a:rPr lang="fr-FR" sz="2000" b="1" dirty="0">
                <a:latin typeface="Times New Roman" pitchFamily="18" charset="0"/>
                <a:ea typeface="Times New Roman" pitchFamily="18" charset="0"/>
                <a:cs typeface="Times New Roman" pitchFamily="18" charset="0"/>
                <a:sym typeface="Wingdings" pitchFamily="2" charset="2"/>
              </a:rPr>
              <a:t> </a:t>
            </a:r>
            <a:r>
              <a:rPr lang="fr-FR" sz="2000" dirty="0" err="1">
                <a:latin typeface="Times New Roman" pitchFamily="18" charset="0"/>
                <a:ea typeface="Times New Roman" pitchFamily="18" charset="0"/>
                <a:cs typeface="Times New Roman" pitchFamily="18" charset="0"/>
                <a:sym typeface="Wingdings" pitchFamily="2" charset="2"/>
              </a:rPr>
              <a:t>expost</a:t>
            </a:r>
            <a:r>
              <a:rPr lang="fr-FR" sz="2000" dirty="0">
                <a:latin typeface="Times New Roman" pitchFamily="18" charset="0"/>
                <a:ea typeface="Times New Roman" pitchFamily="18" charset="0"/>
                <a:cs typeface="Times New Roman" pitchFamily="18" charset="0"/>
                <a:sym typeface="Wingdings" pitchFamily="2" charset="2"/>
              </a:rPr>
              <a:t>[i] ≠</a:t>
            </a:r>
            <a:r>
              <a:rPr lang="fr-FR" sz="2000" dirty="0">
                <a:latin typeface="Times New Roman" pitchFamily="18" charset="0"/>
                <a:ea typeface="Times New Roman" pitchFamily="18" charset="0"/>
                <a:cs typeface="Times New Roman" pitchFamily="18" charset="0"/>
              </a:rPr>
              <a:t> ‘#’</a:t>
            </a:r>
            <a:r>
              <a:rPr lang="fr-FR" sz="2000" b="1" dirty="0">
                <a:latin typeface="Times New Roman" pitchFamily="18" charset="0"/>
                <a:ea typeface="Times New Roman" pitchFamily="18" charset="0"/>
                <a:cs typeface="Times New Roman" pitchFamily="18" charset="0"/>
              </a:rPr>
              <a:t> faire</a:t>
            </a: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rPr>
              <a:t>    </a:t>
            </a:r>
            <a:r>
              <a:rPr lang="fr-FR" sz="2000" b="1" dirty="0">
                <a:latin typeface="Times New Roman" pitchFamily="18" charset="0"/>
                <a:ea typeface="Times New Roman" pitchFamily="18" charset="0"/>
                <a:cs typeface="Times New Roman" pitchFamily="18" charset="0"/>
                <a:sym typeface="Symbol" pitchFamily="18" charset="2"/>
              </a:rPr>
              <a:t>  si  </a:t>
            </a:r>
            <a:r>
              <a:rPr lang="fr-FR" sz="2000" dirty="0">
                <a:latin typeface="Times New Roman" pitchFamily="18" charset="0"/>
                <a:ea typeface="Times New Roman" pitchFamily="18" charset="0"/>
                <a:cs typeface="Times New Roman" pitchFamily="18" charset="0"/>
                <a:sym typeface="Symbol" pitchFamily="18" charset="2"/>
              </a:rPr>
              <a:t>variable(</a:t>
            </a:r>
            <a:r>
              <a:rPr lang="fr-FR" sz="2000" dirty="0" err="1">
                <a:latin typeface="Times New Roman" pitchFamily="18" charset="0"/>
                <a:ea typeface="Times New Roman" pitchFamily="18" charset="0"/>
                <a:cs typeface="Times New Roman" pitchFamily="18" charset="0"/>
                <a:sym typeface="Symbol" pitchFamily="18" charset="2"/>
              </a:rPr>
              <a:t>expost</a:t>
            </a:r>
            <a:r>
              <a:rPr lang="fr-FR" sz="2000" dirty="0">
                <a:latin typeface="Times New Roman" pitchFamily="18" charset="0"/>
                <a:ea typeface="Times New Roman" pitchFamily="18" charset="0"/>
                <a:cs typeface="Times New Roman" pitchFamily="18" charset="0"/>
                <a:sym typeface="Symbol" pitchFamily="18" charset="2"/>
              </a:rPr>
              <a:t>[i])</a:t>
            </a:r>
            <a:r>
              <a:rPr lang="fr-FR" sz="2000" b="1" dirty="0">
                <a:latin typeface="Times New Roman" pitchFamily="18" charset="0"/>
                <a:ea typeface="Times New Roman" pitchFamily="18" charset="0"/>
                <a:cs typeface="Times New Roman" pitchFamily="18" charset="0"/>
                <a:sym typeface="Symbol" pitchFamily="18" charset="2"/>
              </a:rPr>
              <a:t> alors </a:t>
            </a:r>
            <a:r>
              <a:rPr lang="fr-FR" sz="2000" dirty="0">
                <a:latin typeface="Times New Roman" pitchFamily="18" charset="0"/>
                <a:ea typeface="Times New Roman" pitchFamily="18" charset="0"/>
                <a:cs typeface="Times New Roman" pitchFamily="18" charset="0"/>
                <a:sym typeface="Symbol" pitchFamily="18" charset="2"/>
              </a:rPr>
              <a:t>empiler(valeur(</a:t>
            </a:r>
            <a:r>
              <a:rPr lang="fr-FR" sz="2000" dirty="0" err="1">
                <a:latin typeface="Times New Roman" pitchFamily="18" charset="0"/>
                <a:ea typeface="Times New Roman" pitchFamily="18" charset="0"/>
                <a:cs typeface="Times New Roman" pitchFamily="18" charset="0"/>
                <a:sym typeface="Symbol" pitchFamily="18" charset="2"/>
              </a:rPr>
              <a:t>expost</a:t>
            </a:r>
            <a:r>
              <a:rPr lang="fr-FR" sz="2000" dirty="0">
                <a:latin typeface="Times New Roman" pitchFamily="18" charset="0"/>
                <a:ea typeface="Times New Roman" pitchFamily="18" charset="0"/>
                <a:cs typeface="Times New Roman" pitchFamily="18" charset="0"/>
                <a:sym typeface="Symbol" pitchFamily="18" charset="2"/>
              </a:rPr>
              <a:t>[i])</a:t>
            </a:r>
            <a:r>
              <a:rPr lang="fr-FR" sz="2000" b="1" dirty="0">
                <a:latin typeface="Times New Roman" pitchFamily="18" charset="0"/>
                <a:ea typeface="Times New Roman" pitchFamily="18" charset="0"/>
                <a:cs typeface="Times New Roman" pitchFamily="18" charset="0"/>
                <a:sym typeface="Symbol" pitchFamily="18" charset="2"/>
              </a:rPr>
              <a:t>);</a:t>
            </a:r>
            <a:endParaRPr lang="fr-FR" sz="20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a:t>
            </a:r>
            <a:r>
              <a:rPr lang="fr-FR" sz="2000" b="1" dirty="0" err="1">
                <a:latin typeface="Times New Roman" pitchFamily="18" charset="0"/>
                <a:ea typeface="Times New Roman" pitchFamily="18" charset="0"/>
                <a:cs typeface="Times New Roman" pitchFamily="18" charset="0"/>
                <a:sym typeface="Symbol" pitchFamily="18" charset="2"/>
              </a:rPr>
              <a:t>sinonsi</a:t>
            </a:r>
            <a:r>
              <a:rPr lang="fr-FR" sz="2000" b="1" dirty="0">
                <a:latin typeface="Times New Roman" pitchFamily="18" charset="0"/>
                <a:ea typeface="Times New Roman" pitchFamily="18" charset="0"/>
                <a:cs typeface="Times New Roman" pitchFamily="18" charset="0"/>
                <a:sym typeface="Symbol" pitchFamily="18" charset="2"/>
              </a:rPr>
              <a:t> </a:t>
            </a:r>
            <a:r>
              <a:rPr lang="fr-FR" sz="2000" dirty="0">
                <a:latin typeface="Times New Roman" pitchFamily="18" charset="0"/>
                <a:ea typeface="Times New Roman" pitchFamily="18" charset="0"/>
                <a:cs typeface="Times New Roman" pitchFamily="18" charset="0"/>
                <a:sym typeface="Symbol" pitchFamily="18" charset="2"/>
              </a:rPr>
              <a:t>unaire(</a:t>
            </a:r>
            <a:r>
              <a:rPr lang="fr-FR" sz="2000" dirty="0" err="1">
                <a:latin typeface="Times New Roman" pitchFamily="18" charset="0"/>
                <a:ea typeface="Times New Roman" pitchFamily="18" charset="0"/>
                <a:cs typeface="Times New Roman" pitchFamily="18" charset="0"/>
                <a:sym typeface="Symbol" pitchFamily="18" charset="2"/>
              </a:rPr>
              <a:t>expost</a:t>
            </a:r>
            <a:r>
              <a:rPr lang="fr-FR" sz="2000" dirty="0">
                <a:latin typeface="Times New Roman" pitchFamily="18" charset="0"/>
                <a:ea typeface="Times New Roman" pitchFamily="18" charset="0"/>
                <a:cs typeface="Times New Roman" pitchFamily="18" charset="0"/>
                <a:sym typeface="Symbol" pitchFamily="18" charset="2"/>
              </a:rPr>
              <a:t>[i])</a:t>
            </a:r>
            <a:r>
              <a:rPr lang="fr-FR" sz="2000" b="1" dirty="0">
                <a:latin typeface="Times New Roman" pitchFamily="18" charset="0"/>
                <a:ea typeface="Times New Roman" pitchFamily="18" charset="0"/>
                <a:cs typeface="Times New Roman" pitchFamily="18" charset="0"/>
                <a:sym typeface="Symbol" pitchFamily="18" charset="2"/>
              </a:rPr>
              <a:t> alors</a:t>
            </a:r>
          </a:p>
          <a:p>
            <a:pPr lvl="0" algn="just" eaLnBrk="0" fontAlgn="base" hangingPunct="0">
              <a:spcBef>
                <a:spcPct val="0"/>
              </a:spcBef>
              <a:spcAft>
                <a:spcPct val="0"/>
              </a:spcAft>
            </a:pPr>
            <a:r>
              <a:rPr lang="fr-FR" sz="2000" b="1" dirty="0">
                <a:latin typeface="Times New Roman" pitchFamily="18" charset="0"/>
                <a:ea typeface="Times New Roman" pitchFamily="18" charset="0"/>
                <a:cs typeface="Times New Roman" pitchFamily="18" charset="0"/>
                <a:sym typeface="Symbol" pitchFamily="18" charset="2"/>
              </a:rPr>
              <a:t>                 </a:t>
            </a:r>
            <a:r>
              <a:rPr lang="nb-NO" sz="2000" dirty="0">
                <a:latin typeface="Times New Roman" pitchFamily="18" charset="0"/>
                <a:ea typeface="Times New Roman" pitchFamily="18" charset="0"/>
                <a:cs typeface="Times New Roman" pitchFamily="18" charset="0"/>
                <a:sym typeface="Symbol" pitchFamily="18" charset="2"/>
              </a:rPr>
              <a:t>dépiler(valdrte)</a:t>
            </a:r>
            <a:r>
              <a:rPr lang="nb-NO" sz="2000" b="1" dirty="0">
                <a:latin typeface="Times New Roman" pitchFamily="18" charset="0"/>
                <a:ea typeface="Times New Roman" pitchFamily="18" charset="0"/>
                <a:cs typeface="Times New Roman" pitchFamily="18" charset="0"/>
                <a:sym typeface="Symbol" pitchFamily="18" charset="2"/>
              </a:rPr>
              <a:t>;</a:t>
            </a:r>
            <a:endParaRPr lang="fr-FR" sz="20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sym typeface="Symbol" pitchFamily="18" charset="2"/>
              </a:rPr>
              <a:t>                 </a:t>
            </a:r>
            <a:r>
              <a:rPr lang="nb-NO" sz="2000" dirty="0">
                <a:latin typeface="Times New Roman" pitchFamily="18" charset="0"/>
                <a:ea typeface="Times New Roman" pitchFamily="18" charset="0"/>
                <a:cs typeface="Times New Roman" pitchFamily="18" charset="0"/>
                <a:sym typeface="Symbol" pitchFamily="18" charset="2"/>
              </a:rPr>
              <a:t>empiler(oper1(expost[i]), valdrte)</a:t>
            </a:r>
            <a:r>
              <a:rPr lang="nb-NO" sz="2000" b="1" dirty="0">
                <a:latin typeface="Times New Roman" pitchFamily="18" charset="0"/>
                <a:ea typeface="Times New Roman" pitchFamily="18" charset="0"/>
                <a:cs typeface="Times New Roman" pitchFamily="18" charset="0"/>
                <a:sym typeface="Symbol" pitchFamily="18" charset="2"/>
              </a:rPr>
              <a:t>;</a:t>
            </a:r>
            <a:endParaRPr lang="fr-FR" sz="20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sym typeface="Symbol" pitchFamily="18" charset="2"/>
              </a:rPr>
              <a:t>                sinon</a:t>
            </a: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sym typeface="Symbol" pitchFamily="18" charset="2"/>
              </a:rPr>
              <a:t>                  </a:t>
            </a:r>
            <a:r>
              <a:rPr lang="nb-NO" sz="2000" dirty="0">
                <a:latin typeface="Times New Roman" pitchFamily="18" charset="0"/>
                <a:ea typeface="Times New Roman" pitchFamily="18" charset="0"/>
                <a:cs typeface="Times New Roman" pitchFamily="18" charset="0"/>
                <a:sym typeface="Symbol" pitchFamily="18" charset="2"/>
              </a:rPr>
              <a:t>dépiler(valdrte)</a:t>
            </a:r>
            <a:r>
              <a:rPr lang="nb-NO" sz="2000" b="1" dirty="0">
                <a:latin typeface="Times New Roman" pitchFamily="18" charset="0"/>
                <a:ea typeface="Times New Roman" pitchFamily="18" charset="0"/>
                <a:cs typeface="Times New Roman" pitchFamily="18" charset="0"/>
                <a:sym typeface="Symbol" pitchFamily="18" charset="2"/>
              </a:rPr>
              <a:t>; </a:t>
            </a:r>
            <a:r>
              <a:rPr lang="nb-NO" sz="2000" dirty="0">
                <a:latin typeface="Times New Roman" pitchFamily="18" charset="0"/>
                <a:ea typeface="Times New Roman" pitchFamily="18" charset="0"/>
                <a:cs typeface="Times New Roman" pitchFamily="18" charset="0"/>
                <a:sym typeface="Symbol" pitchFamily="18" charset="2"/>
              </a:rPr>
              <a:t>dépiler(valgche)</a:t>
            </a:r>
            <a:r>
              <a:rPr lang="nb-NO" sz="2000" b="1" dirty="0">
                <a:latin typeface="Times New Roman" pitchFamily="18" charset="0"/>
                <a:ea typeface="Times New Roman" pitchFamily="18" charset="0"/>
                <a:cs typeface="Times New Roman" pitchFamily="18" charset="0"/>
                <a:sym typeface="Symbol" pitchFamily="18" charset="2"/>
              </a:rPr>
              <a:t>;</a:t>
            </a:r>
            <a:endParaRPr lang="fr-FR" sz="20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sym typeface="Symbol" pitchFamily="18" charset="2"/>
              </a:rPr>
              <a:t>                  </a:t>
            </a:r>
            <a:r>
              <a:rPr lang="nb-NO" sz="2000" dirty="0">
                <a:latin typeface="Times New Roman" pitchFamily="18" charset="0"/>
                <a:ea typeface="Times New Roman" pitchFamily="18" charset="0"/>
                <a:cs typeface="Times New Roman" pitchFamily="18" charset="0"/>
                <a:sym typeface="Symbol" pitchFamily="18" charset="2"/>
              </a:rPr>
              <a:t>empiler(oper2(valgche,expost[i],valdrte))</a:t>
            </a:r>
            <a:r>
              <a:rPr lang="nb-NO" sz="2000" b="1" dirty="0">
                <a:latin typeface="Times New Roman" pitchFamily="18" charset="0"/>
                <a:ea typeface="Times New Roman" pitchFamily="18" charset="0"/>
                <a:cs typeface="Times New Roman" pitchFamily="18" charset="0"/>
                <a:sym typeface="Symbol" pitchFamily="18" charset="2"/>
              </a:rPr>
              <a:t>;</a:t>
            </a:r>
            <a:endParaRPr lang="fr-FR" sz="20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sym typeface="Symbol" pitchFamily="18" charset="2"/>
              </a:rPr>
              <a:t>               finsi;</a:t>
            </a:r>
            <a:endParaRPr lang="fr-FR" sz="20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sym typeface="Symbol" pitchFamily="18" charset="2"/>
              </a:rPr>
              <a:t>       </a:t>
            </a:r>
            <a:r>
              <a:rPr lang="nb-NO" sz="2000" dirty="0" smtClean="0">
                <a:latin typeface="Times New Roman" pitchFamily="18" charset="0"/>
                <a:ea typeface="Times New Roman" pitchFamily="18" charset="0"/>
                <a:cs typeface="Times New Roman" pitchFamily="18" charset="0"/>
                <a:sym typeface="Symbol" pitchFamily="18" charset="2"/>
              </a:rPr>
              <a:t>i:=i+1</a:t>
            </a:r>
            <a:r>
              <a:rPr lang="nb-NO" sz="2000" b="1" dirty="0" smtClean="0">
                <a:latin typeface="Times New Roman" pitchFamily="18" charset="0"/>
                <a:ea typeface="Times New Roman" pitchFamily="18" charset="0"/>
                <a:cs typeface="Times New Roman" pitchFamily="18" charset="0"/>
                <a:sym typeface="Symbol" pitchFamily="18" charset="2"/>
              </a:rPr>
              <a:t>;</a:t>
            </a:r>
            <a:endParaRPr lang="fr-FR" sz="20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sym typeface="Symbol" pitchFamily="18" charset="2"/>
              </a:rPr>
              <a:t>  finfaire;</a:t>
            </a:r>
            <a:endParaRPr lang="fr-FR" sz="20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sym typeface="Symbol" pitchFamily="18" charset="2"/>
              </a:rPr>
              <a:t>  </a:t>
            </a:r>
            <a:r>
              <a:rPr lang="nb-NO" sz="2000" dirty="0">
                <a:latin typeface="Times New Roman" pitchFamily="18" charset="0"/>
                <a:ea typeface="Times New Roman" pitchFamily="18" charset="0"/>
                <a:cs typeface="Times New Roman" pitchFamily="18" charset="0"/>
                <a:sym typeface="Symbol" pitchFamily="18" charset="2"/>
              </a:rPr>
              <a:t>dépiler(evalp)</a:t>
            </a:r>
            <a:r>
              <a:rPr lang="nb-NO" sz="2000" b="1" dirty="0">
                <a:latin typeface="Times New Roman" pitchFamily="18" charset="0"/>
                <a:ea typeface="Times New Roman" pitchFamily="18" charset="0"/>
                <a:cs typeface="Times New Roman" pitchFamily="18" charset="0"/>
                <a:sym typeface="Symbol" pitchFamily="18" charset="2"/>
              </a:rPr>
              <a:t>;</a:t>
            </a:r>
          </a:p>
          <a:p>
            <a:pPr lvl="0" algn="just" eaLnBrk="0" fontAlgn="base" hangingPunct="0">
              <a:spcBef>
                <a:spcPct val="0"/>
              </a:spcBef>
              <a:spcAft>
                <a:spcPct val="0"/>
              </a:spcAft>
            </a:pPr>
            <a:r>
              <a:rPr lang="nb-NO" sz="2000" b="1" dirty="0">
                <a:latin typeface="Times New Roman" pitchFamily="18" charset="0"/>
                <a:cs typeface="Times New Roman" pitchFamily="18" charset="0"/>
                <a:sym typeface="Symbol" pitchFamily="18" charset="2"/>
              </a:rPr>
              <a:t>  retourner </a:t>
            </a:r>
            <a:r>
              <a:rPr lang="nb-NO" sz="2000" dirty="0">
                <a:latin typeface="Times New Roman" pitchFamily="18" charset="0"/>
                <a:cs typeface="Times New Roman" pitchFamily="18" charset="0"/>
                <a:sym typeface="Symbol" pitchFamily="18" charset="2"/>
              </a:rPr>
              <a:t>evalp</a:t>
            </a:r>
            <a:r>
              <a:rPr lang="nb-NO" sz="2000" b="1" dirty="0">
                <a:latin typeface="Times New Roman" pitchFamily="18" charset="0"/>
                <a:cs typeface="Times New Roman" pitchFamily="18" charset="0"/>
                <a:sym typeface="Symbol" pitchFamily="18" charset="2"/>
              </a:rPr>
              <a:t>;</a:t>
            </a:r>
            <a:endParaRPr lang="fr-FR" sz="20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nb-NO" sz="2000" b="1" dirty="0">
                <a:latin typeface="Times New Roman" pitchFamily="18" charset="0"/>
                <a:ea typeface="Times New Roman" pitchFamily="18" charset="0"/>
                <a:cs typeface="Times New Roman" pitchFamily="18" charset="0"/>
                <a:sym typeface="Symbol" pitchFamily="18" charset="2"/>
              </a:rPr>
              <a:t>finfonc;</a:t>
            </a:r>
          </a:p>
        </p:txBody>
      </p:sp>
    </p:spTree>
    <p:extLst>
      <p:ext uri="{BB962C8B-B14F-4D97-AF65-F5344CB8AC3E}">
        <p14:creationId xmlns:p14="http://schemas.microsoft.com/office/powerpoint/2010/main" val="12483681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6240" y="635288"/>
            <a:ext cx="11511280" cy="5355312"/>
          </a:xfrm>
          <a:prstGeom prst="rect">
            <a:avLst/>
          </a:prstGeom>
        </p:spPr>
        <p:txBody>
          <a:bodyPr wrap="square">
            <a:spAutoFit/>
          </a:bodyPr>
          <a:lstStyle/>
          <a:p>
            <a:r>
              <a:rPr lang="en-GB" u="sng" dirty="0" err="1" smtClean="0">
                <a:latin typeface="Times New Roman" panose="02020603050405020304" pitchFamily="18" charset="0"/>
                <a:cs typeface="Times New Roman" panose="02020603050405020304" pitchFamily="18" charset="0"/>
              </a:rPr>
              <a:t>Exercice</a:t>
            </a:r>
            <a:r>
              <a:rPr lang="en-GB" u="sng" dirty="0" smtClean="0">
                <a:latin typeface="Times New Roman" panose="02020603050405020304" pitchFamily="18" charset="0"/>
                <a:cs typeface="Times New Roman" panose="02020603050405020304" pitchFamily="18" charset="0"/>
              </a:rPr>
              <a:t> 14</a:t>
            </a:r>
            <a:r>
              <a:rPr lang="en-GB" dirty="0" smtClean="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a:p>
            <a:pPr marL="342900" indent="-342900">
              <a:buAutoNum type="arabicParenR"/>
            </a:pPr>
            <a:r>
              <a:rPr lang="en-GB" dirty="0" err="1">
                <a:latin typeface="Times New Roman" panose="02020603050405020304" pitchFamily="18" charset="0"/>
                <a:cs typeface="Times New Roman" panose="02020603050405020304" pitchFamily="18" charset="0"/>
              </a:rPr>
              <a:t>Soit</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l’expression</a:t>
            </a:r>
            <a:r>
              <a:rPr lang="en-GB" dirty="0">
                <a:latin typeface="Times New Roman" panose="02020603050405020304" pitchFamily="18" charset="0"/>
                <a:cs typeface="Times New Roman" panose="02020603050405020304" pitchFamily="18" charset="0"/>
              </a:rPr>
              <a:t> (A-(B+C)), </a:t>
            </a:r>
            <a:r>
              <a:rPr lang="en-GB" dirty="0" err="1">
                <a:latin typeface="Times New Roman" panose="02020603050405020304" pitchFamily="18" charset="0"/>
                <a:cs typeface="Times New Roman" panose="02020603050405020304" pitchFamily="18" charset="0"/>
              </a:rPr>
              <a:t>l’écrire</a:t>
            </a:r>
            <a:r>
              <a:rPr lang="en-GB" dirty="0">
                <a:latin typeface="Times New Roman" panose="02020603050405020304" pitchFamily="18" charset="0"/>
                <a:cs typeface="Times New Roman" panose="02020603050405020304" pitchFamily="18" charset="0"/>
              </a:rPr>
              <a:t> sous-</a:t>
            </a:r>
            <a:r>
              <a:rPr lang="en-GB" dirty="0" err="1">
                <a:latin typeface="Times New Roman" panose="02020603050405020304" pitchFamily="18" charset="0"/>
                <a:cs typeface="Times New Roman" panose="02020603050405020304" pitchFamily="18" charset="0"/>
              </a:rPr>
              <a:t>forme</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postfixée</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préfixée</a:t>
            </a:r>
            <a:r>
              <a:rPr lang="en-GB" dirty="0">
                <a:latin typeface="Times New Roman" panose="02020603050405020304" pitchFamily="18" charset="0"/>
                <a:cs typeface="Times New Roman" panose="02020603050405020304" pitchFamily="18" charset="0"/>
              </a:rPr>
              <a:t> et </a:t>
            </a:r>
            <a:r>
              <a:rPr lang="en-GB" dirty="0" err="1">
                <a:latin typeface="Times New Roman" panose="02020603050405020304" pitchFamily="18" charset="0"/>
                <a:cs typeface="Times New Roman" panose="02020603050405020304" pitchFamily="18" charset="0"/>
              </a:rPr>
              <a:t>infixé</a:t>
            </a:r>
            <a:r>
              <a:rPr lang="en-GB" dirty="0">
                <a:latin typeface="Times New Roman" panose="02020603050405020304" pitchFamily="18" charset="0"/>
                <a:cs typeface="Times New Roman" panose="02020603050405020304" pitchFamily="18" charset="0"/>
              </a:rPr>
              <a:t>.</a:t>
            </a:r>
          </a:p>
          <a:p>
            <a:pPr marL="342900" indent="-342900">
              <a:buAutoNum type="arabicParenR"/>
            </a:pPr>
            <a:r>
              <a:rPr lang="en-GB" dirty="0" err="1">
                <a:latin typeface="Times New Roman" panose="02020603050405020304" pitchFamily="18" charset="0"/>
                <a:cs typeface="Times New Roman" panose="02020603050405020304" pitchFamily="18" charset="0"/>
              </a:rPr>
              <a:t>Soit</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l’expression</a:t>
            </a:r>
            <a:r>
              <a:rPr lang="en-GB" dirty="0">
                <a:latin typeface="Times New Roman" panose="02020603050405020304" pitchFamily="18" charset="0"/>
                <a:cs typeface="Times New Roman" panose="02020603050405020304" pitchFamily="18" charset="0"/>
              </a:rPr>
              <a:t> : A*B+C/(D*E), </a:t>
            </a:r>
            <a:r>
              <a:rPr lang="en-GB" dirty="0" err="1">
                <a:latin typeface="Times New Roman" panose="02020603050405020304" pitchFamily="18" charset="0"/>
                <a:cs typeface="Times New Roman" panose="02020603050405020304" pitchFamily="18" charset="0"/>
              </a:rPr>
              <a:t>écrire</a:t>
            </a:r>
            <a:r>
              <a:rPr lang="en-GB" dirty="0">
                <a:latin typeface="Times New Roman" panose="02020603050405020304" pitchFamily="18" charset="0"/>
                <a:cs typeface="Times New Roman" panose="02020603050405020304" pitchFamily="18" charset="0"/>
              </a:rPr>
              <a:t> sous-</a:t>
            </a:r>
            <a:r>
              <a:rPr lang="en-GB" dirty="0" err="1">
                <a:latin typeface="Times New Roman" panose="02020603050405020304" pitchFamily="18" charset="0"/>
                <a:cs typeface="Times New Roman" panose="02020603050405020304" pitchFamily="18" charset="0"/>
              </a:rPr>
              <a:t>forme</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complétement</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parenthésée</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postfixée</a:t>
            </a:r>
            <a:r>
              <a:rPr lang="en-GB" dirty="0">
                <a:latin typeface="Times New Roman" panose="02020603050405020304" pitchFamily="18" charset="0"/>
                <a:cs typeface="Times New Roman" panose="02020603050405020304" pitchFamily="18" charset="0"/>
              </a:rPr>
              <a:t> et </a:t>
            </a:r>
            <a:r>
              <a:rPr lang="en-GB" dirty="0" err="1">
                <a:latin typeface="Times New Roman" panose="02020603050405020304" pitchFamily="18" charset="0"/>
                <a:cs typeface="Times New Roman" panose="02020603050405020304" pitchFamily="18" charset="0"/>
              </a:rPr>
              <a:t>préfixée</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cette</a:t>
            </a:r>
            <a:r>
              <a:rPr lang="en-GB" dirty="0">
                <a:latin typeface="Times New Roman" panose="02020603050405020304" pitchFamily="18" charset="0"/>
                <a:cs typeface="Times New Roman" panose="02020603050405020304" pitchFamily="18" charset="0"/>
              </a:rPr>
              <a:t> expression.</a:t>
            </a:r>
          </a:p>
          <a:p>
            <a:pPr marL="342900" indent="-342900">
              <a:buAutoNum type="arabicParenR"/>
            </a:pPr>
            <a:r>
              <a:rPr lang="en-GB" dirty="0" err="1">
                <a:latin typeface="Times New Roman" panose="02020603050405020304" pitchFamily="18" charset="0"/>
                <a:cs typeface="Times New Roman" panose="02020603050405020304" pitchFamily="18" charset="0"/>
              </a:rPr>
              <a:t>Soit</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l’expression</a:t>
            </a:r>
            <a:r>
              <a:rPr lang="en-GB" dirty="0">
                <a:latin typeface="Times New Roman" panose="02020603050405020304" pitchFamily="18" charset="0"/>
                <a:cs typeface="Times New Roman" panose="02020603050405020304" pitchFamily="18" charset="0"/>
              </a:rPr>
              <a:t> ((((A+B)+D)&gt;H) </a:t>
            </a:r>
            <a:r>
              <a:rPr lang="en-GB" dirty="0">
                <a:latin typeface="Times New Roman" panose="02020603050405020304" pitchFamily="18" charset="0"/>
                <a:cs typeface="Times New Roman" panose="02020603050405020304" pitchFamily="18" charset="0"/>
                <a:sym typeface="Symbol"/>
              </a:rPr>
              <a:t> </a:t>
            </a:r>
            <a:r>
              <a:rPr lang="en-GB" dirty="0">
                <a:latin typeface="Times New Roman" panose="02020603050405020304" pitchFamily="18" charset="0"/>
                <a:cs typeface="Times New Roman" panose="02020603050405020304" pitchFamily="18" charset="0"/>
              </a:rPr>
              <a:t>(E&lt;F)),</a:t>
            </a:r>
          </a:p>
          <a:p>
            <a:pPr marL="342900" indent="-342900"/>
            <a:r>
              <a:rPr lang="en-GB" dirty="0">
                <a:latin typeface="Times New Roman" panose="02020603050405020304" pitchFamily="18" charset="0"/>
                <a:cs typeface="Times New Roman" panose="02020603050405020304" pitchFamily="18" charset="0"/>
              </a:rPr>
              <a:t>	- </a:t>
            </a:r>
            <a:r>
              <a:rPr lang="en-GB" dirty="0" err="1">
                <a:latin typeface="Times New Roman" panose="02020603050405020304" pitchFamily="18" charset="0"/>
                <a:cs typeface="Times New Roman" panose="02020603050405020304" pitchFamily="18" charset="0"/>
              </a:rPr>
              <a:t>l’écrire</a:t>
            </a:r>
            <a:r>
              <a:rPr lang="en-GB" dirty="0">
                <a:latin typeface="Times New Roman" panose="02020603050405020304" pitchFamily="18" charset="0"/>
                <a:cs typeface="Times New Roman" panose="02020603050405020304" pitchFamily="18" charset="0"/>
              </a:rPr>
              <a:t> sous-</a:t>
            </a:r>
            <a:r>
              <a:rPr lang="en-GB" dirty="0" err="1">
                <a:latin typeface="Times New Roman" panose="02020603050405020304" pitchFamily="18" charset="0"/>
                <a:cs typeface="Times New Roman" panose="02020603050405020304" pitchFamily="18" charset="0"/>
              </a:rPr>
              <a:t>forme</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postfixée</a:t>
            </a:r>
            <a:r>
              <a:rPr lang="en-GB" dirty="0">
                <a:latin typeface="Times New Roman" panose="02020603050405020304" pitchFamily="18" charset="0"/>
                <a:cs typeface="Times New Roman" panose="02020603050405020304" pitchFamily="18" charset="0"/>
              </a:rPr>
              <a:t>,</a:t>
            </a:r>
          </a:p>
          <a:p>
            <a:pPr marL="342900" indent="-342900"/>
            <a:r>
              <a:rPr lang="en-GB" dirty="0">
                <a:latin typeface="Times New Roman" panose="02020603050405020304" pitchFamily="18" charset="0"/>
                <a:cs typeface="Times New Roman" panose="02020603050405020304" pitchFamily="18" charset="0"/>
              </a:rPr>
              <a:t>	- Donner la trace de </a:t>
            </a:r>
            <a:r>
              <a:rPr lang="en-GB" dirty="0" err="1">
                <a:latin typeface="Times New Roman" panose="02020603050405020304" pitchFamily="18" charset="0"/>
                <a:cs typeface="Times New Roman" panose="02020603050405020304" pitchFamily="18" charset="0"/>
              </a:rPr>
              <a:t>l’algorithme</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evalpost</a:t>
            </a:r>
            <a:r>
              <a:rPr lang="en-GB" dirty="0">
                <a:latin typeface="Times New Roman" panose="02020603050405020304" pitchFamily="18" charset="0"/>
                <a:cs typeface="Times New Roman" panose="02020603050405020304" pitchFamily="18" charset="0"/>
              </a:rPr>
              <a:t> pour </a:t>
            </a:r>
            <a:r>
              <a:rPr lang="en-GB" dirty="0" err="1">
                <a:latin typeface="Times New Roman" panose="02020603050405020304" pitchFamily="18" charset="0"/>
                <a:cs typeface="Times New Roman" panose="02020603050405020304" pitchFamily="18" charset="0"/>
              </a:rPr>
              <a:t>l’expression</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postfixée</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obtenue</a:t>
            </a:r>
            <a:r>
              <a:rPr lang="en-GB" dirty="0">
                <a:latin typeface="Times New Roman" panose="02020603050405020304" pitchFamily="18" charset="0"/>
                <a:cs typeface="Times New Roman" panose="02020603050405020304" pitchFamily="18" charset="0"/>
              </a:rPr>
              <a:t> avec </a:t>
            </a:r>
            <a:r>
              <a:rPr lang="en-GB" dirty="0" err="1">
                <a:latin typeface="Times New Roman" panose="02020603050405020304" pitchFamily="18" charset="0"/>
                <a:cs typeface="Times New Roman" panose="02020603050405020304" pitchFamily="18" charset="0"/>
              </a:rPr>
              <a:t>l’environnement</a:t>
            </a:r>
            <a:r>
              <a:rPr lang="en-GB" dirty="0">
                <a:latin typeface="Times New Roman" panose="02020603050405020304" pitchFamily="18" charset="0"/>
                <a:cs typeface="Times New Roman" panose="02020603050405020304" pitchFamily="18" charset="0"/>
              </a:rPr>
              <a:t> : A=4, B=5, D=1, E=3, H=2, F=0.</a:t>
            </a:r>
          </a:p>
          <a:p>
            <a:pPr marL="342900" indent="-342900"/>
            <a:r>
              <a:rPr lang="en-GB" dirty="0">
                <a:latin typeface="Times New Roman" panose="02020603050405020304" pitchFamily="18" charset="0"/>
                <a:cs typeface="Times New Roman" panose="02020603050405020304" pitchFamily="18" charset="0"/>
              </a:rPr>
              <a:t>4) </a:t>
            </a:r>
            <a:r>
              <a:rPr lang="en-GB" dirty="0" err="1">
                <a:latin typeface="Times New Roman" panose="02020603050405020304" pitchFamily="18" charset="0"/>
                <a:cs typeface="Times New Roman" panose="02020603050405020304" pitchFamily="18" charset="0"/>
              </a:rPr>
              <a:t>Evaluer</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l’expression</a:t>
            </a:r>
            <a:r>
              <a:rPr lang="en-GB" dirty="0">
                <a:latin typeface="Times New Roman" panose="02020603050405020304" pitchFamily="18" charset="0"/>
                <a:cs typeface="Times New Roman" panose="02020603050405020304" pitchFamily="18" charset="0"/>
              </a:rPr>
              <a:t> ((A+C)*D) avec A=3, C=4, D=5.</a:t>
            </a:r>
          </a:p>
          <a:p>
            <a:pPr marL="342900" indent="-342900"/>
            <a:r>
              <a:rPr lang="en-GB" dirty="0">
                <a:latin typeface="Times New Roman" panose="02020603050405020304" pitchFamily="18" charset="0"/>
                <a:cs typeface="Times New Roman" panose="02020603050405020304" pitchFamily="18" charset="0"/>
              </a:rPr>
              <a:t>5) </a:t>
            </a:r>
            <a:r>
              <a:rPr lang="en-GB" dirty="0" err="1">
                <a:latin typeface="Times New Roman" panose="02020603050405020304" pitchFamily="18" charset="0"/>
                <a:cs typeface="Times New Roman" panose="02020603050405020304" pitchFamily="18" charset="0"/>
              </a:rPr>
              <a:t>Ecrire</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l’expression</a:t>
            </a:r>
            <a:r>
              <a:rPr lang="en-GB" dirty="0">
                <a:latin typeface="Times New Roman" panose="02020603050405020304" pitchFamily="18" charset="0"/>
                <a:cs typeface="Times New Roman" panose="02020603050405020304" pitchFamily="18" charset="0"/>
              </a:rPr>
              <a:t> AB+CD-&gt; sous </a:t>
            </a:r>
            <a:r>
              <a:rPr lang="en-GB" dirty="0" err="1">
                <a:latin typeface="Times New Roman" panose="02020603050405020304" pitchFamily="18" charset="0"/>
                <a:cs typeface="Times New Roman" panose="02020603050405020304" pitchFamily="18" charset="0"/>
              </a:rPr>
              <a:t>forme</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d’une</a:t>
            </a:r>
            <a:r>
              <a:rPr lang="en-GB" dirty="0">
                <a:latin typeface="Times New Roman" panose="02020603050405020304" pitchFamily="18" charset="0"/>
                <a:cs typeface="Times New Roman" panose="02020603050405020304" pitchFamily="18" charset="0"/>
              </a:rPr>
              <a:t> expression </a:t>
            </a:r>
            <a:r>
              <a:rPr lang="en-GB" dirty="0" err="1">
                <a:latin typeface="Times New Roman" panose="02020603050405020304" pitchFamily="18" charset="0"/>
                <a:cs typeface="Times New Roman" panose="02020603050405020304" pitchFamily="18" charset="0"/>
              </a:rPr>
              <a:t>complétement</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parenthésée</a:t>
            </a:r>
            <a:r>
              <a:rPr lang="en-GB" dirty="0">
                <a:latin typeface="Times New Roman" panose="02020603050405020304" pitchFamily="18" charset="0"/>
                <a:cs typeface="Times New Roman" panose="02020603050405020304" pitchFamily="18" charset="0"/>
              </a:rPr>
              <a:t>.</a:t>
            </a:r>
          </a:p>
          <a:p>
            <a:pPr marL="342900" indent="-342900"/>
            <a:r>
              <a:rPr lang="en-GB" dirty="0">
                <a:latin typeface="Times New Roman" panose="02020603050405020304" pitchFamily="18" charset="0"/>
                <a:cs typeface="Times New Roman" panose="02020603050405020304" pitchFamily="18" charset="0"/>
              </a:rPr>
              <a:t>6) </a:t>
            </a:r>
            <a:r>
              <a:rPr lang="en-GB" dirty="0" err="1">
                <a:latin typeface="Times New Roman" panose="02020603050405020304" pitchFamily="18" charset="0"/>
                <a:cs typeface="Times New Roman" panose="02020603050405020304" pitchFamily="18" charset="0"/>
              </a:rPr>
              <a:t>Ecrire</a:t>
            </a:r>
            <a:r>
              <a:rPr lang="en-GB" dirty="0">
                <a:latin typeface="Times New Roman" panose="02020603050405020304" pitchFamily="18" charset="0"/>
                <a:cs typeface="Times New Roman" panose="02020603050405020304" pitchFamily="18" charset="0"/>
              </a:rPr>
              <a:t> les </a:t>
            </a:r>
            <a:r>
              <a:rPr lang="en-GB" dirty="0" err="1">
                <a:latin typeface="Times New Roman" panose="02020603050405020304" pitchFamily="18" charset="0"/>
                <a:cs typeface="Times New Roman" panose="02020603050405020304" pitchFamily="18" charset="0"/>
              </a:rPr>
              <a:t>algorithmes</a:t>
            </a:r>
            <a:r>
              <a:rPr lang="en-GB" dirty="0">
                <a:latin typeface="Times New Roman" panose="02020603050405020304" pitchFamily="18" charset="0"/>
                <a:cs typeface="Times New Roman" panose="02020603050405020304" pitchFamily="18" charset="0"/>
              </a:rPr>
              <a:t> des </a:t>
            </a:r>
            <a:r>
              <a:rPr lang="en-GB" dirty="0" err="1">
                <a:latin typeface="Times New Roman" panose="02020603050405020304" pitchFamily="18" charset="0"/>
                <a:cs typeface="Times New Roman" panose="02020603050405020304" pitchFamily="18" charset="0"/>
              </a:rPr>
              <a:t>fonctions</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suivantes</a:t>
            </a:r>
            <a:r>
              <a:rPr lang="en-GB" dirty="0">
                <a:latin typeface="Times New Roman" panose="02020603050405020304" pitchFamily="18" charset="0"/>
                <a:cs typeface="Times New Roman" panose="02020603050405020304" pitchFamily="18" charset="0"/>
              </a:rPr>
              <a:t> :</a:t>
            </a:r>
          </a:p>
          <a:p>
            <a:pPr marL="342900" indent="-342900"/>
            <a:endParaRPr lang="en-GB" dirty="0">
              <a:latin typeface="Times New Roman" panose="02020603050405020304" pitchFamily="18" charset="0"/>
              <a:cs typeface="Times New Roman" panose="02020603050405020304" pitchFamily="18" charset="0"/>
            </a:endParaRPr>
          </a:p>
          <a:p>
            <a:pPr marL="342900" indent="-342900"/>
            <a:r>
              <a:rPr lang="en-GB" dirty="0">
                <a:latin typeface="Times New Roman" panose="02020603050405020304" pitchFamily="18" charset="0"/>
                <a:cs typeface="Times New Roman" panose="02020603050405020304" pitchFamily="18" charset="0"/>
              </a:rPr>
              <a:t>-	t </a:t>
            </a:r>
            <a:r>
              <a:rPr lang="en-GB" dirty="0" err="1">
                <a:latin typeface="Times New Roman" panose="02020603050405020304" pitchFamily="18" charset="0"/>
                <a:cs typeface="Times New Roman" panose="02020603050405020304" pitchFamily="18" charset="0"/>
              </a:rPr>
              <a:t>fonction</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valeur</a:t>
            </a:r>
            <a:r>
              <a:rPr lang="en-GB" dirty="0">
                <a:latin typeface="Times New Roman" panose="02020603050405020304" pitchFamily="18" charset="0"/>
                <a:cs typeface="Times New Roman" panose="02020603050405020304" pitchFamily="18" charset="0"/>
              </a:rPr>
              <a:t>(d t a)</a:t>
            </a:r>
          </a:p>
          <a:p>
            <a:pPr marL="342900" indent="-342900"/>
            <a:r>
              <a:rPr lang="en-GB" dirty="0">
                <a:latin typeface="Times New Roman" panose="02020603050405020304" pitchFamily="18" charset="0"/>
                <a:cs typeface="Times New Roman" panose="02020603050405020304" pitchFamily="18" charset="0"/>
              </a:rPr>
              <a:t>	// specification()</a:t>
            </a:r>
            <a:r>
              <a:rPr lang="en-GB" dirty="0">
                <a:latin typeface="Times New Roman" panose="02020603050405020304" pitchFamily="18" charset="0"/>
                <a:cs typeface="Times New Roman" panose="02020603050405020304" pitchFamily="18" charset="0"/>
                <a:sym typeface="Wingdings" pitchFamily="2" charset="2"/>
              </a:rPr>
              <a:t></a:t>
            </a:r>
            <a:r>
              <a:rPr lang="en-GB" dirty="0">
                <a:latin typeface="Times New Roman" panose="02020603050405020304" pitchFamily="18" charset="0"/>
                <a:cs typeface="Times New Roman" panose="02020603050405020304" pitchFamily="18" charset="0"/>
              </a:rPr>
              <a:t>(</a:t>
            </a:r>
            <a:r>
              <a:rPr lang="en-GB" dirty="0" err="1">
                <a:latin typeface="Times New Roman" panose="02020603050405020304" pitchFamily="18" charset="0"/>
                <a:cs typeface="Times New Roman" panose="02020603050405020304" pitchFamily="18" charset="0"/>
              </a:rPr>
              <a:t>délivre</a:t>
            </a:r>
            <a:r>
              <a:rPr lang="en-GB" dirty="0">
                <a:latin typeface="Times New Roman" panose="02020603050405020304" pitchFamily="18" charset="0"/>
                <a:cs typeface="Times New Roman" panose="02020603050405020304" pitchFamily="18" charset="0"/>
              </a:rPr>
              <a:t> la </a:t>
            </a:r>
            <a:r>
              <a:rPr lang="en-GB" dirty="0" err="1">
                <a:latin typeface="Times New Roman" panose="02020603050405020304" pitchFamily="18" charset="0"/>
                <a:cs typeface="Times New Roman" panose="02020603050405020304" pitchFamily="18" charset="0"/>
              </a:rPr>
              <a:t>valeur</a:t>
            </a:r>
            <a:r>
              <a:rPr lang="en-GB" dirty="0">
                <a:latin typeface="Times New Roman" panose="02020603050405020304" pitchFamily="18" charset="0"/>
                <a:cs typeface="Times New Roman" panose="02020603050405020304" pitchFamily="18" charset="0"/>
              </a:rPr>
              <a:t> v </a:t>
            </a:r>
            <a:r>
              <a:rPr lang="en-GB" dirty="0" err="1">
                <a:latin typeface="Times New Roman" panose="02020603050405020304" pitchFamily="18" charset="0"/>
                <a:cs typeface="Times New Roman" panose="02020603050405020304" pitchFamily="18" charset="0"/>
              </a:rPr>
              <a:t>associée</a:t>
            </a:r>
            <a:r>
              <a:rPr lang="en-GB" dirty="0">
                <a:latin typeface="Times New Roman" panose="02020603050405020304" pitchFamily="18" charset="0"/>
                <a:cs typeface="Times New Roman" panose="02020603050405020304" pitchFamily="18" charset="0"/>
              </a:rPr>
              <a:t> à a)</a:t>
            </a:r>
          </a:p>
          <a:p>
            <a:pPr marL="342900" indent="-342900"/>
            <a:endParaRPr lang="en-GB" dirty="0">
              <a:latin typeface="Times New Roman" panose="02020603050405020304" pitchFamily="18" charset="0"/>
              <a:cs typeface="Times New Roman" panose="02020603050405020304" pitchFamily="18" charset="0"/>
            </a:endParaRPr>
          </a:p>
          <a:p>
            <a:pPr marL="342900" indent="-342900">
              <a:buFontTx/>
              <a:buChar char="-"/>
            </a:pPr>
            <a:r>
              <a:rPr lang="en-GB" dirty="0" err="1">
                <a:latin typeface="Times New Roman" panose="02020603050405020304" pitchFamily="18" charset="0"/>
                <a:cs typeface="Times New Roman" panose="02020603050405020304" pitchFamily="18" charset="0"/>
              </a:rPr>
              <a:t>booléen</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fonction</a:t>
            </a:r>
            <a:r>
              <a:rPr lang="en-GB" dirty="0">
                <a:latin typeface="Times New Roman" panose="02020603050405020304" pitchFamily="18" charset="0"/>
                <a:cs typeface="Times New Roman" panose="02020603050405020304" pitchFamily="18" charset="0"/>
              </a:rPr>
              <a:t> variable(d t a)</a:t>
            </a:r>
          </a:p>
          <a:p>
            <a:pPr marL="342900" indent="-342900"/>
            <a:r>
              <a:rPr lang="en-GB" dirty="0">
                <a:latin typeface="Times New Roman" panose="02020603050405020304" pitchFamily="18" charset="0"/>
                <a:cs typeface="Times New Roman" panose="02020603050405020304" pitchFamily="18" charset="0"/>
              </a:rPr>
              <a:t>	// </a:t>
            </a:r>
            <a:r>
              <a:rPr lang="en-GB" dirty="0" err="1">
                <a:latin typeface="Times New Roman" panose="02020603050405020304" pitchFamily="18" charset="0"/>
                <a:cs typeface="Times New Roman" panose="02020603050405020304" pitchFamily="18" charset="0"/>
              </a:rPr>
              <a:t>spécification</a:t>
            </a:r>
            <a:r>
              <a:rPr lang="en-GB" dirty="0">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sym typeface="Wingdings" pitchFamily="2" charset="2"/>
              </a:rPr>
              <a:t></a:t>
            </a:r>
            <a:r>
              <a:rPr lang="en-GB" dirty="0">
                <a:latin typeface="Times New Roman" panose="02020603050405020304" pitchFamily="18" charset="0"/>
                <a:cs typeface="Times New Roman" panose="02020603050405020304" pitchFamily="18" charset="0"/>
              </a:rPr>
              <a:t>((a </a:t>
            </a:r>
            <a:r>
              <a:rPr lang="en-GB" dirty="0" err="1">
                <a:latin typeface="Times New Roman" panose="02020603050405020304" pitchFamily="18" charset="0"/>
                <a:cs typeface="Times New Roman" panose="02020603050405020304" pitchFamily="18" charset="0"/>
              </a:rPr>
              <a:t>est</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une</a:t>
            </a:r>
            <a:r>
              <a:rPr lang="en-GB" dirty="0">
                <a:latin typeface="Times New Roman" panose="02020603050405020304" pitchFamily="18" charset="0"/>
                <a:cs typeface="Times New Roman" panose="02020603050405020304" pitchFamily="18" charset="0"/>
              </a:rPr>
              <a:t> variable, </a:t>
            </a:r>
            <a:r>
              <a:rPr lang="en-GB" dirty="0" err="1">
                <a:latin typeface="Times New Roman" panose="02020603050405020304" pitchFamily="18" charset="0"/>
                <a:cs typeface="Times New Roman" panose="02020603050405020304" pitchFamily="18" charset="0"/>
              </a:rPr>
              <a:t>resultat</a:t>
            </a:r>
            <a:r>
              <a:rPr lang="en-GB" dirty="0">
                <a:latin typeface="Times New Roman" panose="02020603050405020304" pitchFamily="18" charset="0"/>
                <a:cs typeface="Times New Roman" panose="02020603050405020304" pitchFamily="18" charset="0"/>
              </a:rPr>
              <a:t> := </a:t>
            </a:r>
            <a:r>
              <a:rPr lang="en-GB" dirty="0" err="1">
                <a:latin typeface="Times New Roman" panose="02020603050405020304" pitchFamily="18" charset="0"/>
                <a:cs typeface="Times New Roman" panose="02020603050405020304" pitchFamily="18" charset="0"/>
              </a:rPr>
              <a:t>vrai</a:t>
            </a:r>
            <a:r>
              <a:rPr lang="en-GB" dirty="0">
                <a:latin typeface="Times New Roman" panose="02020603050405020304" pitchFamily="18" charset="0"/>
                <a:cs typeface="Times New Roman" panose="02020603050405020304" pitchFamily="18" charset="0"/>
              </a:rPr>
              <a:t>) V (a </a:t>
            </a:r>
            <a:r>
              <a:rPr lang="en-GB" dirty="0" err="1">
                <a:latin typeface="Times New Roman" panose="02020603050405020304" pitchFamily="18" charset="0"/>
                <a:cs typeface="Times New Roman" panose="02020603050405020304" pitchFamily="18" charset="0"/>
              </a:rPr>
              <a:t>n’est</a:t>
            </a:r>
            <a:r>
              <a:rPr lang="en-GB" dirty="0">
                <a:latin typeface="Times New Roman" panose="02020603050405020304" pitchFamily="18" charset="0"/>
                <a:cs typeface="Times New Roman" panose="02020603050405020304" pitchFamily="18" charset="0"/>
              </a:rPr>
              <a:t> pas </a:t>
            </a:r>
            <a:r>
              <a:rPr lang="en-GB" dirty="0" err="1">
                <a:latin typeface="Times New Roman" panose="02020603050405020304" pitchFamily="18" charset="0"/>
                <a:cs typeface="Times New Roman" panose="02020603050405020304" pitchFamily="18" charset="0"/>
              </a:rPr>
              <a:t>une</a:t>
            </a:r>
            <a:r>
              <a:rPr lang="en-GB" dirty="0">
                <a:latin typeface="Times New Roman" panose="02020603050405020304" pitchFamily="18" charset="0"/>
                <a:cs typeface="Times New Roman" panose="02020603050405020304" pitchFamily="18" charset="0"/>
              </a:rPr>
              <a:t> variable, </a:t>
            </a:r>
            <a:r>
              <a:rPr lang="en-GB" dirty="0" err="1">
                <a:latin typeface="Times New Roman" panose="02020603050405020304" pitchFamily="18" charset="0"/>
                <a:cs typeface="Times New Roman" panose="02020603050405020304" pitchFamily="18" charset="0"/>
              </a:rPr>
              <a:t>résultat</a:t>
            </a:r>
            <a:r>
              <a:rPr lang="en-GB" dirty="0">
                <a:latin typeface="Times New Roman" panose="02020603050405020304" pitchFamily="18" charset="0"/>
                <a:cs typeface="Times New Roman" panose="02020603050405020304" pitchFamily="18" charset="0"/>
              </a:rPr>
              <a:t> :=faux))</a:t>
            </a:r>
          </a:p>
          <a:p>
            <a:pPr marL="342900" indent="-342900"/>
            <a:endParaRPr lang="en-GB" dirty="0">
              <a:latin typeface="Times New Roman" panose="02020603050405020304" pitchFamily="18" charset="0"/>
              <a:cs typeface="Times New Roman" panose="02020603050405020304" pitchFamily="18" charset="0"/>
            </a:endParaRPr>
          </a:p>
          <a:p>
            <a:pPr marL="342900" indent="-342900">
              <a:buFontTx/>
              <a:buChar char="-"/>
            </a:pPr>
            <a:r>
              <a:rPr lang="en-GB" dirty="0" err="1">
                <a:latin typeface="Times New Roman" panose="02020603050405020304" pitchFamily="18" charset="0"/>
                <a:cs typeface="Times New Roman" panose="02020603050405020304" pitchFamily="18" charset="0"/>
              </a:rPr>
              <a:t>booléen</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fonction</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unaire</a:t>
            </a:r>
            <a:r>
              <a:rPr lang="en-GB" dirty="0">
                <a:latin typeface="Times New Roman" panose="02020603050405020304" pitchFamily="18" charset="0"/>
                <a:cs typeface="Times New Roman" panose="02020603050405020304" pitchFamily="18" charset="0"/>
              </a:rPr>
              <a:t>(d </a:t>
            </a:r>
            <a:r>
              <a:rPr lang="en-GB" dirty="0" err="1">
                <a:latin typeface="Times New Roman" panose="02020603050405020304" pitchFamily="18" charset="0"/>
                <a:cs typeface="Times New Roman" panose="02020603050405020304" pitchFamily="18" charset="0"/>
              </a:rPr>
              <a:t>caractère</a:t>
            </a:r>
            <a:r>
              <a:rPr lang="en-GB"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sym typeface="Symbol"/>
              </a:rPr>
              <a:t>op</a:t>
            </a:r>
            <a:r>
              <a:rPr lang="en-GB" dirty="0">
                <a:latin typeface="Times New Roman" panose="02020603050405020304" pitchFamily="18" charset="0"/>
                <a:cs typeface="Times New Roman" panose="02020603050405020304" pitchFamily="18" charset="0"/>
              </a:rPr>
              <a:t>)</a:t>
            </a:r>
          </a:p>
          <a:p>
            <a:pPr marL="342900" indent="-342900"/>
            <a:r>
              <a:rPr lang="en-GB" dirty="0">
                <a:latin typeface="Times New Roman" panose="02020603050405020304" pitchFamily="18" charset="0"/>
                <a:cs typeface="Times New Roman" panose="02020603050405020304" pitchFamily="18" charset="0"/>
                <a:sym typeface="Wingdings" pitchFamily="2" charset="2"/>
              </a:rPr>
              <a:t>	specification()</a:t>
            </a:r>
            <a:r>
              <a:rPr lang="en-GB" dirty="0">
                <a:latin typeface="Times New Roman" panose="02020603050405020304" pitchFamily="18" charset="0"/>
                <a:cs typeface="Times New Roman" panose="02020603050405020304" pitchFamily="18" charset="0"/>
              </a:rPr>
              <a:t>((</a:t>
            </a:r>
            <a:r>
              <a:rPr lang="en-GB" dirty="0" err="1">
                <a:latin typeface="Times New Roman" panose="02020603050405020304" pitchFamily="18" charset="0"/>
                <a:cs typeface="Times New Roman" panose="02020603050405020304" pitchFamily="18" charset="0"/>
              </a:rPr>
              <a:t>vrai</a:t>
            </a:r>
            <a:r>
              <a:rPr lang="en-GB"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sym typeface="Symbol"/>
              </a:rPr>
              <a:t>op </a:t>
            </a:r>
            <a:r>
              <a:rPr lang="en-GB" dirty="0" err="1">
                <a:latin typeface="Times New Roman" panose="02020603050405020304" pitchFamily="18" charset="0"/>
                <a:cs typeface="Times New Roman" panose="02020603050405020304" pitchFamily="18" charset="0"/>
                <a:sym typeface="Symbol"/>
              </a:rPr>
              <a:t>est</a:t>
            </a:r>
            <a:r>
              <a:rPr lang="en-GB" dirty="0">
                <a:latin typeface="Times New Roman" panose="02020603050405020304" pitchFamily="18" charset="0"/>
                <a:cs typeface="Times New Roman" panose="02020603050405020304" pitchFamily="18" charset="0"/>
                <a:sym typeface="Symbol"/>
              </a:rPr>
              <a:t> un op. </a:t>
            </a:r>
            <a:r>
              <a:rPr lang="en-GB" dirty="0" err="1">
                <a:latin typeface="Times New Roman" panose="02020603050405020304" pitchFamily="18" charset="0"/>
                <a:cs typeface="Times New Roman" panose="02020603050405020304" pitchFamily="18" charset="0"/>
                <a:sym typeface="Symbol"/>
              </a:rPr>
              <a:t>unaire</a:t>
            </a:r>
            <a:r>
              <a:rPr lang="en-GB" dirty="0">
                <a:latin typeface="Times New Roman" panose="02020603050405020304" pitchFamily="18" charset="0"/>
                <a:cs typeface="Times New Roman" panose="02020603050405020304" pitchFamily="18" charset="0"/>
              </a:rPr>
              <a:t>) v (faux, </a:t>
            </a:r>
            <a:r>
              <a:rPr lang="en-GB" dirty="0">
                <a:latin typeface="Times New Roman" panose="02020603050405020304" pitchFamily="18" charset="0"/>
                <a:cs typeface="Times New Roman" panose="02020603050405020304" pitchFamily="18" charset="0"/>
                <a:sym typeface="Symbol"/>
              </a:rPr>
              <a:t>op </a:t>
            </a:r>
            <a:r>
              <a:rPr lang="en-GB" dirty="0" err="1">
                <a:latin typeface="Times New Roman" panose="02020603050405020304" pitchFamily="18" charset="0"/>
                <a:cs typeface="Times New Roman" panose="02020603050405020304" pitchFamily="18" charset="0"/>
                <a:sym typeface="Symbol"/>
              </a:rPr>
              <a:t>n’est</a:t>
            </a:r>
            <a:r>
              <a:rPr lang="en-GB" dirty="0">
                <a:latin typeface="Times New Roman" panose="02020603050405020304" pitchFamily="18" charset="0"/>
                <a:cs typeface="Times New Roman" panose="02020603050405020304" pitchFamily="18" charset="0"/>
                <a:sym typeface="Symbol"/>
              </a:rPr>
              <a:t> pas un op. </a:t>
            </a:r>
            <a:r>
              <a:rPr lang="en-GB" dirty="0" err="1">
                <a:latin typeface="Times New Roman" panose="02020603050405020304" pitchFamily="18" charset="0"/>
                <a:cs typeface="Times New Roman" panose="02020603050405020304" pitchFamily="18" charset="0"/>
                <a:sym typeface="Symbol"/>
              </a:rPr>
              <a:t>unaire</a:t>
            </a:r>
            <a:r>
              <a:rPr lang="en-GB"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9281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82880"/>
            <a:ext cx="11927840" cy="6740307"/>
          </a:xfrm>
          <a:prstGeom prst="rect">
            <a:avLst/>
          </a:prstGeom>
        </p:spPr>
        <p:txBody>
          <a:bodyPr wrap="square">
            <a:spAutoFit/>
          </a:bodyPr>
          <a:lstStyle/>
          <a:p>
            <a:pPr lvl="0" fontAlgn="base">
              <a:spcBef>
                <a:spcPct val="0"/>
              </a:spcBef>
              <a:spcAft>
                <a:spcPct val="0"/>
              </a:spcAft>
              <a:buFontTx/>
              <a:buChar char="-"/>
            </a:pPr>
            <a:r>
              <a:rPr lang="fr-FR" b="1" dirty="0">
                <a:latin typeface="Times New Roman" pitchFamily="18" charset="0"/>
                <a:ea typeface="Times New Roman" pitchFamily="18" charset="0"/>
                <a:cs typeface="Times New Roman" pitchFamily="18" charset="0"/>
              </a:rPr>
              <a:t> Evaluation d’une expression complètement </a:t>
            </a:r>
            <a:r>
              <a:rPr lang="fr-FR" b="1" dirty="0" err="1">
                <a:latin typeface="Times New Roman" pitchFamily="18" charset="0"/>
                <a:ea typeface="Times New Roman" pitchFamily="18" charset="0"/>
                <a:cs typeface="Times New Roman" pitchFamily="18" charset="0"/>
              </a:rPr>
              <a:t>parenthésée</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On utilise un parcours séquentiel (gauche à droite) de l’EXCP et des réductions successives des sous-expressions rencontrées. </a:t>
            </a: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Le </a:t>
            </a:r>
            <a:r>
              <a:rPr lang="fr-FR" b="1" dirty="0">
                <a:latin typeface="Times New Roman" pitchFamily="18" charset="0"/>
                <a:ea typeface="Times New Roman" pitchFamily="18" charset="0"/>
                <a:cs typeface="Times New Roman" pitchFamily="18" charset="0"/>
              </a:rPr>
              <a:t>principe</a:t>
            </a:r>
            <a:r>
              <a:rPr lang="fr-FR" dirty="0">
                <a:latin typeface="Times New Roman" pitchFamily="18" charset="0"/>
                <a:ea typeface="Times New Roman" pitchFamily="18" charset="0"/>
                <a:cs typeface="Times New Roman" pitchFamily="18" charset="0"/>
              </a:rPr>
              <a:t> est de </a:t>
            </a:r>
            <a:r>
              <a:rPr lang="fr-FR" b="1" dirty="0">
                <a:latin typeface="Times New Roman" pitchFamily="18" charset="0"/>
                <a:ea typeface="Times New Roman" pitchFamily="18" charset="0"/>
                <a:cs typeface="Times New Roman" pitchFamily="18" charset="0"/>
              </a:rPr>
              <a:t>sauvegarder</a:t>
            </a:r>
            <a:r>
              <a:rPr lang="fr-FR" dirty="0">
                <a:latin typeface="Times New Roman" pitchFamily="18" charset="0"/>
                <a:ea typeface="Times New Roman" pitchFamily="18" charset="0"/>
                <a:cs typeface="Times New Roman" pitchFamily="18" charset="0"/>
              </a:rPr>
              <a:t> dans la </a:t>
            </a:r>
            <a:r>
              <a:rPr lang="fr-FR" b="1" dirty="0">
                <a:latin typeface="Times New Roman" pitchFamily="18" charset="0"/>
                <a:ea typeface="Times New Roman" pitchFamily="18" charset="0"/>
                <a:cs typeface="Times New Roman" pitchFamily="18" charset="0"/>
              </a:rPr>
              <a:t>pile</a:t>
            </a:r>
            <a:r>
              <a:rPr lang="fr-FR" dirty="0">
                <a:latin typeface="Times New Roman" pitchFamily="18" charset="0"/>
                <a:ea typeface="Times New Roman" pitchFamily="18" charset="0"/>
                <a:cs typeface="Times New Roman" pitchFamily="18" charset="0"/>
              </a:rPr>
              <a:t> d’</a:t>
            </a:r>
            <a:r>
              <a:rPr lang="fr-FR" b="1" dirty="0">
                <a:latin typeface="Times New Roman" pitchFamily="18" charset="0"/>
                <a:ea typeface="Times New Roman" pitchFamily="18" charset="0"/>
                <a:cs typeface="Times New Roman" pitchFamily="18" charset="0"/>
              </a:rPr>
              <a:t>évaluation</a:t>
            </a:r>
            <a:r>
              <a:rPr lang="fr-FR" dirty="0">
                <a:latin typeface="Times New Roman" pitchFamily="18" charset="0"/>
                <a:ea typeface="Times New Roman" pitchFamily="18" charset="0"/>
                <a:cs typeface="Times New Roman" pitchFamily="18" charset="0"/>
              </a:rPr>
              <a:t> non des valeurs d’opérandes, mais des </a:t>
            </a:r>
            <a:r>
              <a:rPr lang="fr-FR" b="1" dirty="0">
                <a:latin typeface="Times New Roman" pitchFamily="18" charset="0"/>
                <a:ea typeface="Times New Roman" pitchFamily="18" charset="0"/>
                <a:cs typeface="Times New Roman" pitchFamily="18" charset="0"/>
              </a:rPr>
              <a:t>sous-expressions complètes</a:t>
            </a:r>
            <a:r>
              <a:rPr lang="fr-FR" dirty="0">
                <a:latin typeface="Times New Roman" pitchFamily="18" charset="0"/>
                <a:ea typeface="Times New Roman" pitchFamily="18" charset="0"/>
                <a:cs typeface="Times New Roman" pitchFamily="18" charset="0"/>
              </a:rPr>
              <a:t> sans les délimiteurs.</a:t>
            </a:r>
            <a:endParaRPr lang="fr-FR" dirty="0">
              <a:latin typeface="Times New Roman" pitchFamily="18" charset="0"/>
              <a:cs typeface="Times New Roman" pitchFamily="18" charset="0"/>
            </a:endParaRPr>
          </a:p>
          <a:p>
            <a:pPr lvl="0"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On supposera que</a:t>
            </a:r>
            <a:r>
              <a:rPr lang="fr-FR" b="1" dirty="0">
                <a:latin typeface="Times New Roman" pitchFamily="18" charset="0"/>
                <a:ea typeface="Times New Roman" pitchFamily="18" charset="0"/>
                <a:cs typeface="Times New Roman" pitchFamily="18" charset="0"/>
              </a:rPr>
              <a:t> la pile peut contenir, </a:t>
            </a:r>
            <a:r>
              <a:rPr lang="fr-FR" dirty="0">
                <a:latin typeface="Times New Roman" pitchFamily="18" charset="0"/>
                <a:ea typeface="Times New Roman" pitchFamily="18" charset="0"/>
                <a:cs typeface="Times New Roman" pitchFamily="18" charset="0"/>
              </a:rPr>
              <a:t>par des</a:t>
            </a:r>
            <a:r>
              <a:rPr lang="fr-FR" b="1" dirty="0">
                <a:latin typeface="Times New Roman" pitchFamily="18" charset="0"/>
                <a:ea typeface="Times New Roman" pitchFamily="18" charset="0"/>
                <a:cs typeface="Times New Roman" pitchFamily="18" charset="0"/>
              </a:rPr>
              <a:t> codages appropriés</a:t>
            </a:r>
            <a:r>
              <a:rPr lang="fr-FR" dirty="0">
                <a:latin typeface="Times New Roman" pitchFamily="18" charset="0"/>
                <a:ea typeface="Times New Roman" pitchFamily="18" charset="0"/>
                <a:cs typeface="Times New Roman" pitchFamily="18" charset="0"/>
              </a:rPr>
              <a:t>,</a:t>
            </a:r>
            <a:r>
              <a:rPr lang="fr-FR" b="1" dirty="0">
                <a:latin typeface="Times New Roman" pitchFamily="18" charset="0"/>
                <a:ea typeface="Times New Roman" pitchFamily="18" charset="0"/>
                <a:cs typeface="Times New Roman" pitchFamily="18" charset="0"/>
              </a:rPr>
              <a:t> </a:t>
            </a:r>
            <a:r>
              <a:rPr lang="fr-FR" dirty="0">
                <a:latin typeface="Times New Roman" pitchFamily="18" charset="0"/>
                <a:ea typeface="Times New Roman" pitchFamily="18" charset="0"/>
                <a:cs typeface="Times New Roman" pitchFamily="18" charset="0"/>
              </a:rPr>
              <a:t>soit des</a:t>
            </a:r>
            <a:r>
              <a:rPr lang="fr-FR" b="1" dirty="0">
                <a:latin typeface="Times New Roman" pitchFamily="18" charset="0"/>
                <a:ea typeface="Times New Roman" pitchFamily="18" charset="0"/>
                <a:cs typeface="Times New Roman" pitchFamily="18" charset="0"/>
              </a:rPr>
              <a:t> valeurs numériques </a:t>
            </a:r>
            <a:r>
              <a:rPr lang="fr-FR" dirty="0">
                <a:latin typeface="Times New Roman" pitchFamily="18" charset="0"/>
                <a:ea typeface="Times New Roman" pitchFamily="18" charset="0"/>
                <a:cs typeface="Times New Roman" pitchFamily="18" charset="0"/>
              </a:rPr>
              <a:t>ou</a:t>
            </a:r>
            <a:r>
              <a:rPr lang="fr-FR" b="1" dirty="0">
                <a:latin typeface="Times New Roman" pitchFamily="18" charset="0"/>
                <a:ea typeface="Times New Roman" pitchFamily="18" charset="0"/>
                <a:cs typeface="Times New Roman" pitchFamily="18" charset="0"/>
              </a:rPr>
              <a:t> logiques</a:t>
            </a:r>
            <a:r>
              <a:rPr lang="fr-FR" dirty="0">
                <a:latin typeface="Times New Roman" pitchFamily="18" charset="0"/>
                <a:ea typeface="Times New Roman" pitchFamily="18" charset="0"/>
                <a:cs typeface="Times New Roman" pitchFamily="18" charset="0"/>
              </a:rPr>
              <a:t>, soit des</a:t>
            </a:r>
            <a:r>
              <a:rPr lang="fr-FR" b="1" dirty="0">
                <a:latin typeface="Times New Roman" pitchFamily="18" charset="0"/>
                <a:ea typeface="Times New Roman" pitchFamily="18" charset="0"/>
                <a:cs typeface="Times New Roman" pitchFamily="18" charset="0"/>
              </a:rPr>
              <a:t> opérateurs (caractères).</a:t>
            </a:r>
          </a:p>
          <a:p>
            <a:pPr algn="just"/>
            <a:r>
              <a:rPr lang="fr-FR" dirty="0">
                <a:latin typeface="Times New Roman" pitchFamily="18" charset="0"/>
                <a:ea typeface="Times New Roman" pitchFamily="18" charset="0"/>
                <a:cs typeface="Times New Roman" pitchFamily="18" charset="0"/>
              </a:rPr>
              <a:t>Une </a:t>
            </a:r>
            <a:r>
              <a:rPr lang="fr-FR" b="1" dirty="0">
                <a:latin typeface="Times New Roman" panose="02020603050405020304" pitchFamily="18" charset="0"/>
                <a:ea typeface="Times New Roman" panose="02020603050405020304" pitchFamily="18" charset="0"/>
                <a:cs typeface="Times New Roman" panose="02020603050405020304" pitchFamily="18" charset="0"/>
              </a:rPr>
              <a:t>sous-expression</a:t>
            </a:r>
            <a:r>
              <a:rPr lang="fr-FR" dirty="0">
                <a:latin typeface="Times New Roman" panose="02020603050405020304" pitchFamily="18" charset="0"/>
                <a:ea typeface="Times New Roman" panose="02020603050405020304" pitchFamily="18" charset="0"/>
                <a:cs typeface="Times New Roman" panose="02020603050405020304" pitchFamily="18" charset="0"/>
              </a:rPr>
              <a:t> étant délimitée par une </a:t>
            </a:r>
            <a:r>
              <a:rPr lang="fr-FR" b="1" dirty="0">
                <a:latin typeface="Times New Roman" panose="02020603050405020304" pitchFamily="18" charset="0"/>
                <a:ea typeface="Times New Roman" panose="02020603050405020304" pitchFamily="18" charset="0"/>
                <a:cs typeface="Times New Roman" panose="02020603050405020304" pitchFamily="18" charset="0"/>
              </a:rPr>
              <a:t>parenthèse</a:t>
            </a:r>
            <a:r>
              <a:rPr lang="fr-FR" dirty="0">
                <a:latin typeface="Times New Roman" panose="02020603050405020304" pitchFamily="18" charset="0"/>
                <a:ea typeface="Times New Roman" panose="02020603050405020304" pitchFamily="18" charset="0"/>
                <a:cs typeface="Times New Roman" panose="02020603050405020304" pitchFamily="18" charset="0"/>
              </a:rPr>
              <a:t> </a:t>
            </a:r>
            <a:r>
              <a:rPr lang="fr-FR" b="1" dirty="0">
                <a:latin typeface="Times New Roman" panose="02020603050405020304" pitchFamily="18" charset="0"/>
                <a:ea typeface="Times New Roman" panose="02020603050405020304" pitchFamily="18" charset="0"/>
                <a:cs typeface="Times New Roman" panose="02020603050405020304" pitchFamily="18" charset="0"/>
              </a:rPr>
              <a:t>gauche</a:t>
            </a:r>
            <a:r>
              <a:rPr lang="fr-FR" dirty="0">
                <a:latin typeface="Times New Roman" panose="02020603050405020304" pitchFamily="18" charset="0"/>
                <a:ea typeface="Times New Roman" panose="02020603050405020304" pitchFamily="18" charset="0"/>
                <a:cs typeface="Times New Roman" panose="02020603050405020304" pitchFamily="18" charset="0"/>
              </a:rPr>
              <a:t> et une </a:t>
            </a:r>
            <a:r>
              <a:rPr lang="fr-FR" b="1" dirty="0">
                <a:latin typeface="Times New Roman" panose="02020603050405020304" pitchFamily="18" charset="0"/>
                <a:ea typeface="Times New Roman" panose="02020603050405020304" pitchFamily="18" charset="0"/>
                <a:cs typeface="Times New Roman" panose="02020603050405020304" pitchFamily="18" charset="0"/>
              </a:rPr>
              <a:t>parenthèse droite</a:t>
            </a:r>
            <a:r>
              <a:rPr lang="fr-FR" dirty="0">
                <a:latin typeface="Times New Roman" panose="02020603050405020304" pitchFamily="18" charset="0"/>
                <a:ea typeface="Times New Roman" panose="02020603050405020304" pitchFamily="18" charset="0"/>
                <a:cs typeface="Times New Roman" panose="02020603050405020304" pitchFamily="18" charset="0"/>
              </a:rPr>
              <a:t>, leur rencontre dans le parcours séquentiel de </a:t>
            </a:r>
            <a:r>
              <a:rPr lang="fr-FR" dirty="0">
                <a:latin typeface="Times New Roman" panose="02020603050405020304" pitchFamily="18" charset="0"/>
                <a:cs typeface="Times New Roman" panose="02020603050405020304" pitchFamily="18" charset="0"/>
              </a:rPr>
              <a:t>l’expression va provoquer respectivement </a:t>
            </a:r>
            <a:r>
              <a:rPr lang="fr-FR" b="1" dirty="0">
                <a:latin typeface="Times New Roman" panose="02020603050405020304" pitchFamily="18" charset="0"/>
                <a:cs typeface="Times New Roman" panose="02020603050405020304" pitchFamily="18" charset="0"/>
              </a:rPr>
              <a:t>l’empilement </a:t>
            </a:r>
            <a:r>
              <a:rPr lang="fr-FR" dirty="0">
                <a:latin typeface="Times New Roman" panose="02020603050405020304" pitchFamily="18" charset="0"/>
                <a:cs typeface="Times New Roman" panose="02020603050405020304" pitchFamily="18" charset="0"/>
              </a:rPr>
              <a:t>de la sous-expression qui suit, </a:t>
            </a:r>
            <a:r>
              <a:rPr lang="fr-FR" b="1" dirty="0">
                <a:latin typeface="Times New Roman" panose="02020603050405020304" pitchFamily="18" charset="0"/>
                <a:cs typeface="Times New Roman" panose="02020603050405020304" pitchFamily="18" charset="0"/>
              </a:rPr>
              <a:t>l’évaluation</a:t>
            </a:r>
            <a:r>
              <a:rPr lang="fr-FR" dirty="0">
                <a:latin typeface="Times New Roman" panose="02020603050405020304" pitchFamily="18" charset="0"/>
                <a:cs typeface="Times New Roman" panose="02020603050405020304" pitchFamily="18" charset="0"/>
              </a:rPr>
              <a:t> de la sous-expression la plus récemment empilée. </a:t>
            </a:r>
            <a:r>
              <a:rPr lang="fr-FR" b="1" dirty="0">
                <a:latin typeface="Times New Roman" panose="02020603050405020304" pitchFamily="18" charset="0"/>
                <a:cs typeface="Times New Roman" panose="02020603050405020304" pitchFamily="18" charset="0"/>
              </a:rPr>
              <a:t>La pile, </a:t>
            </a:r>
            <a:r>
              <a:rPr lang="fr-FR" dirty="0">
                <a:latin typeface="Times New Roman" panose="02020603050405020304" pitchFamily="18" charset="0"/>
                <a:cs typeface="Times New Roman" panose="02020603050405020304" pitchFamily="18" charset="0"/>
              </a:rPr>
              <a:t>permet de</a:t>
            </a:r>
            <a:r>
              <a:rPr lang="fr-FR" b="1" dirty="0">
                <a:latin typeface="Times New Roman" panose="02020603050405020304" pitchFamily="18" charset="0"/>
                <a:cs typeface="Times New Roman" panose="02020603050405020304" pitchFamily="18" charset="0"/>
              </a:rPr>
              <a:t> sauvegarder temporairement des informations pendant le parcours, avant </a:t>
            </a:r>
            <a:r>
              <a:rPr lang="fr-FR" dirty="0">
                <a:latin typeface="Times New Roman" panose="02020603050405020304" pitchFamily="18" charset="0"/>
                <a:cs typeface="Times New Roman" panose="02020603050405020304" pitchFamily="18" charset="0"/>
              </a:rPr>
              <a:t>que l’on puisse </a:t>
            </a:r>
            <a:r>
              <a:rPr lang="fr-FR" b="1" dirty="0">
                <a:latin typeface="Times New Roman" panose="02020603050405020304" pitchFamily="18" charset="0"/>
                <a:cs typeface="Times New Roman" panose="02020603050405020304" pitchFamily="18" charset="0"/>
              </a:rPr>
              <a:t>décider de leur utilisation</a:t>
            </a:r>
            <a:r>
              <a:rPr lang="fr-FR" dirty="0">
                <a:latin typeface="Times New Roman" panose="02020603050405020304" pitchFamily="18" charset="0"/>
                <a:cs typeface="Times New Roman" panose="02020603050405020304" pitchFamily="18" charset="0"/>
              </a:rPr>
              <a:t>.</a:t>
            </a:r>
          </a:p>
          <a:p>
            <a:r>
              <a:rPr lang="fr-FR" dirty="0">
                <a:latin typeface="Times New Roman" panose="02020603050405020304" pitchFamily="18" charset="0"/>
                <a:cs typeface="Times New Roman" panose="02020603050405020304" pitchFamily="18" charset="0"/>
              </a:rPr>
              <a:t>Exemple : soit à évaluer l’expression (A*(B+C)) avec A=2, B=3, C=1. Etapes de l’évaluation  :</a:t>
            </a:r>
          </a:p>
          <a:p>
            <a:pPr lvl="0" eaLnBrk="0" fontAlgn="base" hangingPunct="0">
              <a:spcBef>
                <a:spcPct val="0"/>
              </a:spcBef>
              <a:spcAft>
                <a:spcPct val="0"/>
              </a:spcAft>
            </a:pPr>
            <a:endParaRPr lang="en-GB" dirty="0">
              <a:latin typeface="Times New Roman" pitchFamily="18" charset="0"/>
              <a:cs typeface="Times New Roman" pitchFamily="18" charset="0"/>
            </a:endParaRPr>
          </a:p>
          <a:p>
            <a:pPr lvl="0" eaLnBrk="0" fontAlgn="base" hangingPunct="0">
              <a:spcBef>
                <a:spcPct val="0"/>
              </a:spcBef>
              <a:spcAft>
                <a:spcPct val="0"/>
              </a:spcAft>
            </a:pPr>
            <a:r>
              <a:rPr lang="en-GB" dirty="0">
                <a:latin typeface="Times New Roman" pitchFamily="18" charset="0"/>
                <a:cs typeface="Times New Roman" pitchFamily="18" charset="0"/>
              </a:rPr>
              <a:t>                                                                                                               </a:t>
            </a:r>
          </a:p>
          <a:p>
            <a:pPr lvl="0" eaLnBrk="0" fontAlgn="base" hangingPunct="0">
              <a:spcBef>
                <a:spcPct val="0"/>
              </a:spcBef>
              <a:spcAft>
                <a:spcPct val="0"/>
              </a:spcAft>
            </a:pPr>
            <a:r>
              <a:rPr lang="en-GB" dirty="0">
                <a:latin typeface="Times New Roman" pitchFamily="18" charset="0"/>
                <a:cs typeface="Times New Roman" pitchFamily="18" charset="0"/>
              </a:rPr>
              <a:t>							</a:t>
            </a:r>
          </a:p>
          <a:p>
            <a:pPr lvl="0" eaLnBrk="0" fontAlgn="base" hangingPunct="0">
              <a:spcBef>
                <a:spcPct val="0"/>
              </a:spcBef>
              <a:spcAft>
                <a:spcPct val="0"/>
              </a:spcAft>
            </a:pPr>
            <a:r>
              <a:rPr lang="en-GB" dirty="0">
                <a:latin typeface="Times New Roman" pitchFamily="18" charset="0"/>
                <a:cs typeface="Times New Roman" pitchFamily="18" charset="0"/>
              </a:rPr>
              <a:t>	2                              </a:t>
            </a:r>
            <a:r>
              <a:rPr lang="en-GB" dirty="0" smtClean="0">
                <a:latin typeface="Times New Roman" pitchFamily="18" charset="0"/>
                <a:cs typeface="Times New Roman" pitchFamily="18" charset="0"/>
              </a:rPr>
              <a:t>                                                           </a:t>
            </a:r>
            <a:endParaRPr lang="en-GB" dirty="0">
              <a:latin typeface="Times New Roman" pitchFamily="18" charset="0"/>
              <a:cs typeface="Times New Roman" pitchFamily="18" charset="0"/>
            </a:endParaRPr>
          </a:p>
          <a:p>
            <a:pPr lvl="0" eaLnBrk="0" fontAlgn="base" hangingPunct="0">
              <a:spcBef>
                <a:spcPct val="0"/>
              </a:spcBef>
              <a:spcAft>
                <a:spcPct val="0"/>
              </a:spcAft>
            </a:pPr>
            <a:r>
              <a:rPr lang="en-GB" dirty="0">
                <a:latin typeface="Times New Roman" pitchFamily="18" charset="0"/>
                <a:cs typeface="Times New Roman" pitchFamily="18" charset="0"/>
              </a:rPr>
              <a:t>       (A*(B+C))#            (A*(B+C))#             (A*(B+C))#            (A*(B+C))#</a:t>
            </a:r>
          </a:p>
          <a:p>
            <a:pPr lvl="0" eaLnBrk="0" fontAlgn="base" hangingPunct="0">
              <a:spcBef>
                <a:spcPct val="0"/>
              </a:spcBef>
              <a:spcAft>
                <a:spcPct val="0"/>
              </a:spcAft>
            </a:pPr>
            <a:r>
              <a:rPr lang="en-GB" dirty="0">
                <a:latin typeface="Times New Roman" pitchFamily="18" charset="0"/>
                <a:cs typeface="Times New Roman" pitchFamily="18" charset="0"/>
              </a:rPr>
              <a:t>                                               </a:t>
            </a:r>
          </a:p>
          <a:p>
            <a:pPr lvl="0" eaLnBrk="0" fontAlgn="base" hangingPunct="0">
              <a:spcBef>
                <a:spcPct val="0"/>
              </a:spcBef>
              <a:spcAft>
                <a:spcPct val="0"/>
              </a:spcAft>
            </a:pPr>
            <a:r>
              <a:rPr lang="en-GB" dirty="0">
                <a:latin typeface="Times New Roman" pitchFamily="18" charset="0"/>
                <a:cs typeface="Times New Roman" pitchFamily="18" charset="0"/>
              </a:rPr>
              <a:t>               </a:t>
            </a:r>
            <a:endParaRPr lang="en-GB" dirty="0" smtClean="0">
              <a:latin typeface="Times New Roman" pitchFamily="18" charset="0"/>
              <a:cs typeface="Times New Roman" pitchFamily="18" charset="0"/>
            </a:endParaRPr>
          </a:p>
          <a:p>
            <a:pPr lvl="0" eaLnBrk="0" fontAlgn="base" hangingPunct="0">
              <a:spcBef>
                <a:spcPct val="0"/>
              </a:spcBef>
              <a:spcAft>
                <a:spcPct val="0"/>
              </a:spcAft>
            </a:pPr>
            <a:endParaRPr lang="en-GB" dirty="0">
              <a:latin typeface="Times New Roman" pitchFamily="18" charset="0"/>
              <a:cs typeface="Times New Roman" pitchFamily="18" charset="0"/>
            </a:endParaRPr>
          </a:p>
          <a:p>
            <a:pPr lvl="0" eaLnBrk="0" fontAlgn="base" hangingPunct="0">
              <a:spcBef>
                <a:spcPct val="0"/>
              </a:spcBef>
              <a:spcAft>
                <a:spcPct val="0"/>
              </a:spcAft>
            </a:pPr>
            <a:endParaRPr lang="en-GB" dirty="0" smtClean="0">
              <a:latin typeface="Times New Roman" pitchFamily="18" charset="0"/>
              <a:cs typeface="Times New Roman" pitchFamily="18" charset="0"/>
            </a:endParaRPr>
          </a:p>
          <a:p>
            <a:pPr lvl="0" eaLnBrk="0" fontAlgn="base" hangingPunct="0">
              <a:spcBef>
                <a:spcPct val="0"/>
              </a:spcBef>
              <a:spcAft>
                <a:spcPct val="0"/>
              </a:spcAft>
            </a:pPr>
            <a:endParaRPr lang="en-GB" dirty="0">
              <a:latin typeface="Times New Roman" pitchFamily="18" charset="0"/>
              <a:cs typeface="Times New Roman" pitchFamily="18" charset="0"/>
            </a:endParaRPr>
          </a:p>
          <a:p>
            <a:pPr lvl="0" eaLnBrk="0" fontAlgn="base" hangingPunct="0">
              <a:spcBef>
                <a:spcPct val="0"/>
              </a:spcBef>
              <a:spcAft>
                <a:spcPct val="0"/>
              </a:spcAft>
            </a:pPr>
            <a:endParaRPr lang="en-GB" dirty="0" smtClean="0">
              <a:latin typeface="Times New Roman" pitchFamily="18" charset="0"/>
              <a:cs typeface="Times New Roman" pitchFamily="18" charset="0"/>
            </a:endParaRPr>
          </a:p>
          <a:p>
            <a:pPr lvl="0" eaLnBrk="0" fontAlgn="base" hangingPunct="0">
              <a:spcBef>
                <a:spcPct val="0"/>
              </a:spcBef>
              <a:spcAft>
                <a:spcPct val="0"/>
              </a:spcAft>
            </a:pPr>
            <a:endParaRPr lang="en-GB" dirty="0" smtClean="0">
              <a:latin typeface="Times New Roman" pitchFamily="18" charset="0"/>
              <a:cs typeface="Times New Roman" pitchFamily="18" charset="0"/>
            </a:endParaRPr>
          </a:p>
          <a:p>
            <a:pPr lvl="0" fontAlgn="base">
              <a:spcBef>
                <a:spcPct val="0"/>
              </a:spcBef>
              <a:spcAft>
                <a:spcPct val="0"/>
              </a:spcAft>
            </a:pPr>
            <a:r>
              <a:rPr lang="en-GB" dirty="0">
                <a:latin typeface="Times New Roman" pitchFamily="18" charset="0"/>
                <a:cs typeface="Times New Roman" pitchFamily="18" charset="0"/>
              </a:rPr>
              <a:t> </a:t>
            </a:r>
            <a:r>
              <a:rPr lang="en-GB" dirty="0" smtClean="0">
                <a:latin typeface="Times New Roman" pitchFamily="18" charset="0"/>
                <a:cs typeface="Times New Roman" pitchFamily="18" charset="0"/>
              </a:rPr>
              <a:t>       (A</a:t>
            </a:r>
            <a:r>
              <a:rPr lang="en-GB" dirty="0">
                <a:latin typeface="Times New Roman" pitchFamily="18" charset="0"/>
                <a:cs typeface="Times New Roman" pitchFamily="18" charset="0"/>
              </a:rPr>
              <a:t>*(B+C))#            (A*(B+C))#            (A*(B+C))#           (A*(B+C</a:t>
            </a:r>
            <a:r>
              <a:rPr lang="en-GB" dirty="0" smtClean="0">
                <a:latin typeface="Times New Roman" pitchFamily="18" charset="0"/>
                <a:cs typeface="Times New Roman" pitchFamily="18" charset="0"/>
              </a:rPr>
              <a:t>))#</a:t>
            </a:r>
            <a:endParaRPr lang="fr-FR" dirty="0">
              <a:latin typeface="Times New Roman" pitchFamily="18" charset="0"/>
              <a:cs typeface="Times New Roman" pitchFamily="18" charset="0"/>
            </a:endParaRPr>
          </a:p>
        </p:txBody>
      </p:sp>
      <p:graphicFrame>
        <p:nvGraphicFramePr>
          <p:cNvPr id="3" name="Tableau 2"/>
          <p:cNvGraphicFramePr>
            <a:graphicFrameLocks noGrp="1"/>
          </p:cNvGraphicFramePr>
          <p:nvPr>
            <p:extLst>
              <p:ext uri="{D42A27DB-BD31-4B8C-83A1-F6EECF244321}">
                <p14:modId xmlns:p14="http://schemas.microsoft.com/office/powerpoint/2010/main" val="1179602692"/>
              </p:ext>
            </p:extLst>
          </p:nvPr>
        </p:nvGraphicFramePr>
        <p:xfrm>
          <a:off x="1056640" y="3239346"/>
          <a:ext cx="345440" cy="1112520"/>
        </p:xfrm>
        <a:graphic>
          <a:graphicData uri="http://schemas.openxmlformats.org/drawingml/2006/table">
            <a:tbl>
              <a:tblPr firstRow="1" bandRow="1">
                <a:tableStyleId>{2D5ABB26-0587-4C30-8999-92F81FD0307C}</a:tableStyleId>
              </a:tblPr>
              <a:tblGrid>
                <a:gridCol w="345440">
                  <a:extLst>
                    <a:ext uri="{9D8B030D-6E8A-4147-A177-3AD203B41FA5}">
                      <a16:colId xmlns:a16="http://schemas.microsoft.com/office/drawing/2014/main" val="2371297760"/>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56569726"/>
                  </a:ext>
                </a:extLst>
              </a:tr>
              <a:tr h="370840">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0237958"/>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3144878"/>
                  </a:ext>
                </a:extLst>
              </a:tr>
            </a:tbl>
          </a:graphicData>
        </a:graphic>
      </p:graphicFrame>
      <p:graphicFrame>
        <p:nvGraphicFramePr>
          <p:cNvPr id="5" name="Tableau 4"/>
          <p:cNvGraphicFramePr>
            <a:graphicFrameLocks noGrp="1"/>
          </p:cNvGraphicFramePr>
          <p:nvPr>
            <p:extLst>
              <p:ext uri="{D42A27DB-BD31-4B8C-83A1-F6EECF244321}">
                <p14:modId xmlns:p14="http://schemas.microsoft.com/office/powerpoint/2010/main" val="659513737"/>
              </p:ext>
            </p:extLst>
          </p:nvPr>
        </p:nvGraphicFramePr>
        <p:xfrm>
          <a:off x="2814320" y="3219026"/>
          <a:ext cx="345440" cy="1112520"/>
        </p:xfrm>
        <a:graphic>
          <a:graphicData uri="http://schemas.openxmlformats.org/drawingml/2006/table">
            <a:tbl>
              <a:tblPr firstRow="1" bandRow="1">
                <a:tableStyleId>{2D5ABB26-0587-4C30-8999-92F81FD0307C}</a:tableStyleId>
              </a:tblPr>
              <a:tblGrid>
                <a:gridCol w="345440">
                  <a:extLst>
                    <a:ext uri="{9D8B030D-6E8A-4147-A177-3AD203B41FA5}">
                      <a16:colId xmlns:a16="http://schemas.microsoft.com/office/drawing/2014/main" val="2371297760"/>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56569726"/>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0237958"/>
                  </a:ext>
                </a:extLst>
              </a:tr>
              <a:tr h="370840">
                <a:tc>
                  <a:txBody>
                    <a:bodyPr/>
                    <a:lstStyle/>
                    <a:p>
                      <a:r>
                        <a:rPr lang="fr-FR" dirty="0" smtClean="0"/>
                        <a:t>2</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3144878"/>
                  </a:ext>
                </a:extLst>
              </a:tr>
            </a:tbl>
          </a:graphicData>
        </a:graphic>
      </p:graphicFrame>
      <p:graphicFrame>
        <p:nvGraphicFramePr>
          <p:cNvPr id="6" name="Tableau 5"/>
          <p:cNvGraphicFramePr>
            <a:graphicFrameLocks noGrp="1"/>
          </p:cNvGraphicFramePr>
          <p:nvPr>
            <p:extLst>
              <p:ext uri="{D42A27DB-BD31-4B8C-83A1-F6EECF244321}">
                <p14:modId xmlns:p14="http://schemas.microsoft.com/office/powerpoint/2010/main" val="2441848089"/>
              </p:ext>
            </p:extLst>
          </p:nvPr>
        </p:nvGraphicFramePr>
        <p:xfrm>
          <a:off x="4673600" y="3229186"/>
          <a:ext cx="345440" cy="1112520"/>
        </p:xfrm>
        <a:graphic>
          <a:graphicData uri="http://schemas.openxmlformats.org/drawingml/2006/table">
            <a:tbl>
              <a:tblPr firstRow="1" bandRow="1">
                <a:tableStyleId>{2D5ABB26-0587-4C30-8999-92F81FD0307C}</a:tableStyleId>
              </a:tblPr>
              <a:tblGrid>
                <a:gridCol w="345440">
                  <a:extLst>
                    <a:ext uri="{9D8B030D-6E8A-4147-A177-3AD203B41FA5}">
                      <a16:colId xmlns:a16="http://schemas.microsoft.com/office/drawing/2014/main" val="2371297760"/>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56569726"/>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0237958"/>
                  </a:ext>
                </a:extLst>
              </a:tr>
              <a:tr h="370840">
                <a:tc>
                  <a:txBody>
                    <a:bodyPr/>
                    <a:lstStyle/>
                    <a:p>
                      <a:r>
                        <a:rPr lang="fr-FR" dirty="0" smtClean="0"/>
                        <a:t>2</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3144878"/>
                  </a:ext>
                </a:extLst>
              </a:tr>
            </a:tbl>
          </a:graphicData>
        </a:graphic>
      </p:graphicFrame>
      <p:graphicFrame>
        <p:nvGraphicFramePr>
          <p:cNvPr id="7" name="Tableau 6"/>
          <p:cNvGraphicFramePr>
            <a:graphicFrameLocks noGrp="1"/>
          </p:cNvGraphicFramePr>
          <p:nvPr>
            <p:extLst>
              <p:ext uri="{D42A27DB-BD31-4B8C-83A1-F6EECF244321}">
                <p14:modId xmlns:p14="http://schemas.microsoft.com/office/powerpoint/2010/main" val="533153218"/>
              </p:ext>
            </p:extLst>
          </p:nvPr>
        </p:nvGraphicFramePr>
        <p:xfrm>
          <a:off x="6502400" y="3249506"/>
          <a:ext cx="345440" cy="1112520"/>
        </p:xfrm>
        <a:graphic>
          <a:graphicData uri="http://schemas.openxmlformats.org/drawingml/2006/table">
            <a:tbl>
              <a:tblPr firstRow="1" bandRow="1">
                <a:tableStyleId>{2D5ABB26-0587-4C30-8999-92F81FD0307C}</a:tableStyleId>
              </a:tblPr>
              <a:tblGrid>
                <a:gridCol w="345440">
                  <a:extLst>
                    <a:ext uri="{9D8B030D-6E8A-4147-A177-3AD203B41FA5}">
                      <a16:colId xmlns:a16="http://schemas.microsoft.com/office/drawing/2014/main" val="2371297760"/>
                    </a:ext>
                  </a:extLst>
                </a:gridCol>
              </a:tblGrid>
              <a:tr h="370840">
                <a:tc>
                  <a:txBody>
                    <a:bodyPr/>
                    <a:lstStyle/>
                    <a:p>
                      <a:r>
                        <a:rPr lang="fr-FR" dirty="0" smtClean="0"/>
                        <a:t>3</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6569726"/>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0237958"/>
                  </a:ext>
                </a:extLst>
              </a:tr>
              <a:tr h="370840">
                <a:tc>
                  <a:txBody>
                    <a:bodyPr/>
                    <a:lstStyle/>
                    <a:p>
                      <a:r>
                        <a:rPr lang="fr-FR" dirty="0" smtClean="0"/>
                        <a:t>2</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3144878"/>
                  </a:ext>
                </a:extLst>
              </a:tr>
            </a:tbl>
          </a:graphicData>
        </a:graphic>
      </p:graphicFrame>
      <p:graphicFrame>
        <p:nvGraphicFramePr>
          <p:cNvPr id="8" name="Tableau 7"/>
          <p:cNvGraphicFramePr>
            <a:graphicFrameLocks noGrp="1"/>
          </p:cNvGraphicFramePr>
          <p:nvPr>
            <p:extLst>
              <p:ext uri="{D42A27DB-BD31-4B8C-83A1-F6EECF244321}">
                <p14:modId xmlns:p14="http://schemas.microsoft.com/office/powerpoint/2010/main" val="2085939108"/>
              </p:ext>
            </p:extLst>
          </p:nvPr>
        </p:nvGraphicFramePr>
        <p:xfrm>
          <a:off x="6461760" y="4651586"/>
          <a:ext cx="355600" cy="1854200"/>
        </p:xfrm>
        <a:graphic>
          <a:graphicData uri="http://schemas.openxmlformats.org/drawingml/2006/table">
            <a:tbl>
              <a:tblPr firstRow="1" bandRow="1">
                <a:tableStyleId>{2D5ABB26-0587-4C30-8999-92F81FD0307C}</a:tableStyleId>
              </a:tblPr>
              <a:tblGrid>
                <a:gridCol w="355600">
                  <a:extLst>
                    <a:ext uri="{9D8B030D-6E8A-4147-A177-3AD203B41FA5}">
                      <a16:colId xmlns:a16="http://schemas.microsoft.com/office/drawing/2014/main" val="35599184"/>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8992868"/>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9581684"/>
                  </a:ext>
                </a:extLst>
              </a:tr>
              <a:tr h="370840">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521314606"/>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9385815"/>
                  </a:ext>
                </a:extLst>
              </a:tr>
              <a:tr h="370840">
                <a:tc>
                  <a:txBody>
                    <a:bodyPr/>
                    <a:lstStyle/>
                    <a:p>
                      <a:r>
                        <a:rPr lang="fr-FR" dirty="0" smtClean="0"/>
                        <a:t>8</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8931610"/>
                  </a:ext>
                </a:extLst>
              </a:tr>
            </a:tbl>
          </a:graphicData>
        </a:graphic>
      </p:graphicFrame>
      <p:graphicFrame>
        <p:nvGraphicFramePr>
          <p:cNvPr id="9" name="Tableau 8"/>
          <p:cNvGraphicFramePr>
            <a:graphicFrameLocks noGrp="1"/>
          </p:cNvGraphicFramePr>
          <p:nvPr>
            <p:extLst>
              <p:ext uri="{D42A27DB-BD31-4B8C-83A1-F6EECF244321}">
                <p14:modId xmlns:p14="http://schemas.microsoft.com/office/powerpoint/2010/main" val="3020237752"/>
              </p:ext>
            </p:extLst>
          </p:nvPr>
        </p:nvGraphicFramePr>
        <p:xfrm>
          <a:off x="4683760" y="4671906"/>
          <a:ext cx="355600" cy="1854200"/>
        </p:xfrm>
        <a:graphic>
          <a:graphicData uri="http://schemas.openxmlformats.org/drawingml/2006/table">
            <a:tbl>
              <a:tblPr firstRow="1" bandRow="1">
                <a:tableStyleId>{2D5ABB26-0587-4C30-8999-92F81FD0307C}</a:tableStyleId>
              </a:tblPr>
              <a:tblGrid>
                <a:gridCol w="355600">
                  <a:extLst>
                    <a:ext uri="{9D8B030D-6E8A-4147-A177-3AD203B41FA5}">
                      <a16:colId xmlns:a16="http://schemas.microsoft.com/office/drawing/2014/main" val="35599184"/>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8992868"/>
                  </a:ext>
                </a:extLst>
              </a:tr>
              <a:tr h="370840">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9581684"/>
                  </a:ext>
                </a:extLst>
              </a:tr>
              <a:tr h="370840">
                <a:tc>
                  <a:txBody>
                    <a:bodyPr/>
                    <a:lstStyle/>
                    <a:p>
                      <a:r>
                        <a:rPr lang="fr-FR" dirty="0" smtClean="0"/>
                        <a:t>4</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1314606"/>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9385815"/>
                  </a:ext>
                </a:extLst>
              </a:tr>
              <a:tr h="370840">
                <a:tc>
                  <a:txBody>
                    <a:bodyPr/>
                    <a:lstStyle/>
                    <a:p>
                      <a:r>
                        <a:rPr lang="fr-FR" dirty="0" smtClean="0"/>
                        <a:t>2</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8931610"/>
                  </a:ext>
                </a:extLst>
              </a:tr>
            </a:tbl>
          </a:graphicData>
        </a:graphic>
      </p:graphicFrame>
      <p:graphicFrame>
        <p:nvGraphicFramePr>
          <p:cNvPr id="10" name="Tableau 9"/>
          <p:cNvGraphicFramePr>
            <a:graphicFrameLocks noGrp="1"/>
          </p:cNvGraphicFramePr>
          <p:nvPr>
            <p:extLst>
              <p:ext uri="{D42A27DB-BD31-4B8C-83A1-F6EECF244321}">
                <p14:modId xmlns:p14="http://schemas.microsoft.com/office/powerpoint/2010/main" val="3559095018"/>
              </p:ext>
            </p:extLst>
          </p:nvPr>
        </p:nvGraphicFramePr>
        <p:xfrm>
          <a:off x="2794000" y="4661746"/>
          <a:ext cx="355600" cy="1854200"/>
        </p:xfrm>
        <a:graphic>
          <a:graphicData uri="http://schemas.openxmlformats.org/drawingml/2006/table">
            <a:tbl>
              <a:tblPr firstRow="1" bandRow="1">
                <a:tableStyleId>{2D5ABB26-0587-4C30-8999-92F81FD0307C}</a:tableStyleId>
              </a:tblPr>
              <a:tblGrid>
                <a:gridCol w="355600">
                  <a:extLst>
                    <a:ext uri="{9D8B030D-6E8A-4147-A177-3AD203B41FA5}">
                      <a16:colId xmlns:a16="http://schemas.microsoft.com/office/drawing/2014/main" val="35599184"/>
                    </a:ext>
                  </a:extLst>
                </a:gridCol>
              </a:tblGrid>
              <a:tr h="370840">
                <a:tc>
                  <a:txBody>
                    <a:bodyPr/>
                    <a:lstStyle/>
                    <a:p>
                      <a:r>
                        <a:rPr lang="fr-FR" dirty="0" smtClean="0"/>
                        <a:t>1</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8992868"/>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9581684"/>
                  </a:ext>
                </a:extLst>
              </a:tr>
              <a:tr h="370840">
                <a:tc>
                  <a:txBody>
                    <a:bodyPr/>
                    <a:lstStyle/>
                    <a:p>
                      <a:r>
                        <a:rPr lang="fr-FR" dirty="0" smtClean="0"/>
                        <a:t>3</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1314606"/>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9385815"/>
                  </a:ext>
                </a:extLst>
              </a:tr>
              <a:tr h="370840">
                <a:tc>
                  <a:txBody>
                    <a:bodyPr/>
                    <a:lstStyle/>
                    <a:p>
                      <a:r>
                        <a:rPr lang="fr-FR" dirty="0" smtClean="0"/>
                        <a:t>2</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8931610"/>
                  </a:ext>
                </a:extLst>
              </a:tr>
            </a:tbl>
          </a:graphicData>
        </a:graphic>
      </p:graphicFrame>
      <p:graphicFrame>
        <p:nvGraphicFramePr>
          <p:cNvPr id="11" name="Tableau 10"/>
          <p:cNvGraphicFramePr>
            <a:graphicFrameLocks noGrp="1"/>
          </p:cNvGraphicFramePr>
          <p:nvPr>
            <p:extLst>
              <p:ext uri="{D42A27DB-BD31-4B8C-83A1-F6EECF244321}">
                <p14:modId xmlns:p14="http://schemas.microsoft.com/office/powerpoint/2010/main" val="2241413882"/>
              </p:ext>
            </p:extLst>
          </p:nvPr>
        </p:nvGraphicFramePr>
        <p:xfrm>
          <a:off x="1056640" y="4641426"/>
          <a:ext cx="355600" cy="1854200"/>
        </p:xfrm>
        <a:graphic>
          <a:graphicData uri="http://schemas.openxmlformats.org/drawingml/2006/table">
            <a:tbl>
              <a:tblPr firstRow="1" bandRow="1">
                <a:tableStyleId>{2D5ABB26-0587-4C30-8999-92F81FD0307C}</a:tableStyleId>
              </a:tblPr>
              <a:tblGrid>
                <a:gridCol w="355600">
                  <a:extLst>
                    <a:ext uri="{9D8B030D-6E8A-4147-A177-3AD203B41FA5}">
                      <a16:colId xmlns:a16="http://schemas.microsoft.com/office/drawing/2014/main" val="35599184"/>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8992868"/>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9581684"/>
                  </a:ext>
                </a:extLst>
              </a:tr>
              <a:tr h="370840">
                <a:tc>
                  <a:txBody>
                    <a:bodyPr/>
                    <a:lstStyle/>
                    <a:p>
                      <a:r>
                        <a:rPr lang="fr-FR" dirty="0" smtClean="0"/>
                        <a:t>3</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1314606"/>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9385815"/>
                  </a:ext>
                </a:extLst>
              </a:tr>
              <a:tr h="370840">
                <a:tc>
                  <a:txBody>
                    <a:bodyPr/>
                    <a:lstStyle/>
                    <a:p>
                      <a:r>
                        <a:rPr lang="fr-FR" dirty="0" smtClean="0"/>
                        <a:t>2</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8931610"/>
                  </a:ext>
                </a:extLst>
              </a:tr>
            </a:tbl>
          </a:graphicData>
        </a:graphic>
      </p:graphicFrame>
      <p:cxnSp>
        <p:nvCxnSpPr>
          <p:cNvPr id="13" name="Connecteur droit avec flèche 12"/>
          <p:cNvCxnSpPr/>
          <p:nvPr/>
        </p:nvCxnSpPr>
        <p:spPr>
          <a:xfrm flipV="1">
            <a:off x="609600" y="4521200"/>
            <a:ext cx="203200" cy="25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necteur droit avec flèche 13"/>
          <p:cNvCxnSpPr/>
          <p:nvPr/>
        </p:nvCxnSpPr>
        <p:spPr>
          <a:xfrm flipV="1">
            <a:off x="4500880" y="4541520"/>
            <a:ext cx="203200" cy="25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Connecteur droit avec flèche 14"/>
          <p:cNvCxnSpPr/>
          <p:nvPr/>
        </p:nvCxnSpPr>
        <p:spPr>
          <a:xfrm flipV="1">
            <a:off x="6471920" y="4460240"/>
            <a:ext cx="203200" cy="25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Connecteur droit avec flèche 15"/>
          <p:cNvCxnSpPr/>
          <p:nvPr/>
        </p:nvCxnSpPr>
        <p:spPr>
          <a:xfrm flipV="1">
            <a:off x="5080000" y="6614160"/>
            <a:ext cx="203200" cy="25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V="1">
            <a:off x="2540000" y="4490720"/>
            <a:ext cx="203200" cy="25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Connecteur droit avec flèche 17"/>
          <p:cNvCxnSpPr/>
          <p:nvPr/>
        </p:nvCxnSpPr>
        <p:spPr>
          <a:xfrm flipV="1">
            <a:off x="1209040" y="6624320"/>
            <a:ext cx="203200" cy="25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p:cNvCxnSpPr/>
          <p:nvPr/>
        </p:nvCxnSpPr>
        <p:spPr>
          <a:xfrm flipV="1">
            <a:off x="3108960" y="6644640"/>
            <a:ext cx="203200" cy="25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Connecteur droit avec flèche 19"/>
          <p:cNvCxnSpPr/>
          <p:nvPr/>
        </p:nvCxnSpPr>
        <p:spPr>
          <a:xfrm flipV="1">
            <a:off x="6929120" y="6604000"/>
            <a:ext cx="203200" cy="25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6148775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320" y="343327"/>
            <a:ext cx="11562080" cy="6186309"/>
          </a:xfrm>
          <a:prstGeom prst="rect">
            <a:avLst/>
          </a:prstGeom>
        </p:spPr>
        <p:txBody>
          <a:bodyPr wrap="square">
            <a:spAutoFit/>
          </a:bodyPr>
          <a:lstStyle/>
          <a:p>
            <a:pPr lvl="0" algn="just" fontAlgn="base">
              <a:spcBef>
                <a:spcPct val="0"/>
              </a:spcBef>
              <a:spcAft>
                <a:spcPct val="0"/>
              </a:spcAft>
            </a:pPr>
            <a:r>
              <a:rPr lang="fr-FR" dirty="0">
                <a:latin typeface="Times New Roman" pitchFamily="18" charset="0"/>
                <a:ea typeface="Times New Roman" pitchFamily="18" charset="0"/>
                <a:cs typeface="Times New Roman" pitchFamily="18" charset="0"/>
              </a:rPr>
              <a:t>Actions à entreprendre :</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si le symbole lu est un </a:t>
            </a:r>
            <a:r>
              <a:rPr lang="fr-FR" b="1" dirty="0">
                <a:latin typeface="Times New Roman" pitchFamily="18" charset="0"/>
                <a:ea typeface="Times New Roman" pitchFamily="18" charset="0"/>
                <a:cs typeface="Times New Roman" pitchFamily="18" charset="0"/>
              </a:rPr>
              <a:t>opérateur</a:t>
            </a:r>
            <a:r>
              <a:rPr lang="fr-FR" dirty="0">
                <a:latin typeface="Times New Roman" pitchFamily="18" charset="0"/>
                <a:ea typeface="Times New Roman" pitchFamily="18" charset="0"/>
                <a:cs typeface="Times New Roman" pitchFamily="18" charset="0"/>
              </a:rPr>
              <a:t>, on l’</a:t>
            </a:r>
            <a:r>
              <a:rPr lang="fr-FR" b="1" dirty="0">
                <a:latin typeface="Times New Roman" pitchFamily="18" charset="0"/>
                <a:ea typeface="Times New Roman" pitchFamily="18" charset="0"/>
                <a:cs typeface="Times New Roman" pitchFamily="18" charset="0"/>
              </a:rPr>
              <a:t>empile</a:t>
            </a:r>
            <a:r>
              <a:rPr lang="fr-FR" dirty="0">
                <a:latin typeface="Times New Roman" pitchFamily="18" charset="0"/>
                <a:ea typeface="Times New Roman" pitchFamily="18" charset="0"/>
                <a:cs typeface="Times New Roman" pitchFamily="18" charset="0"/>
              </a:rPr>
              <a:t>,</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si c’est une </a:t>
            </a:r>
            <a:r>
              <a:rPr lang="fr-FR" b="1" dirty="0">
                <a:latin typeface="Times New Roman" pitchFamily="18" charset="0"/>
                <a:ea typeface="Times New Roman" pitchFamily="18" charset="0"/>
                <a:cs typeface="Times New Roman" pitchFamily="18" charset="0"/>
              </a:rPr>
              <a:t>variable</a:t>
            </a:r>
            <a:r>
              <a:rPr lang="fr-FR" dirty="0">
                <a:latin typeface="Times New Roman" pitchFamily="18" charset="0"/>
                <a:ea typeface="Times New Roman" pitchFamily="18" charset="0"/>
                <a:cs typeface="Times New Roman" pitchFamily="18" charset="0"/>
              </a:rPr>
              <a:t>, on </a:t>
            </a:r>
            <a:r>
              <a:rPr lang="fr-FR" b="1" dirty="0">
                <a:latin typeface="Times New Roman" pitchFamily="18" charset="0"/>
                <a:ea typeface="Times New Roman" pitchFamily="18" charset="0"/>
                <a:cs typeface="Times New Roman" pitchFamily="18" charset="0"/>
              </a:rPr>
              <a:t>empile sa valeur</a:t>
            </a:r>
            <a:r>
              <a:rPr lang="fr-FR" dirty="0">
                <a:latin typeface="Times New Roman" pitchFamily="18" charset="0"/>
                <a:ea typeface="Times New Roman" pitchFamily="18" charset="0"/>
                <a:cs typeface="Times New Roman" pitchFamily="18" charset="0"/>
              </a:rPr>
              <a:t>,</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si c’est une </a:t>
            </a:r>
            <a:r>
              <a:rPr lang="fr-FR" b="1" dirty="0">
                <a:latin typeface="Times New Roman" pitchFamily="18" charset="0"/>
                <a:ea typeface="Times New Roman" pitchFamily="18" charset="0"/>
                <a:cs typeface="Times New Roman" pitchFamily="18" charset="0"/>
              </a:rPr>
              <a:t>parenthèse droite</a:t>
            </a:r>
            <a:r>
              <a:rPr lang="fr-FR" dirty="0">
                <a:latin typeface="Times New Roman" pitchFamily="18" charset="0"/>
                <a:ea typeface="Times New Roman" pitchFamily="18" charset="0"/>
                <a:cs typeface="Times New Roman" pitchFamily="18" charset="0"/>
              </a:rPr>
              <a:t>, on </a:t>
            </a:r>
            <a:r>
              <a:rPr lang="fr-FR" b="1" dirty="0">
                <a:latin typeface="Times New Roman" pitchFamily="18" charset="0"/>
                <a:ea typeface="Times New Roman" pitchFamily="18" charset="0"/>
                <a:cs typeface="Times New Roman" pitchFamily="18" charset="0"/>
              </a:rPr>
              <a:t>dépile</a:t>
            </a:r>
            <a:r>
              <a:rPr lang="fr-FR" dirty="0">
                <a:latin typeface="Times New Roman" pitchFamily="18" charset="0"/>
                <a:ea typeface="Times New Roman" pitchFamily="18" charset="0"/>
                <a:cs typeface="Times New Roman" pitchFamily="18" charset="0"/>
              </a:rPr>
              <a:t> une </a:t>
            </a:r>
            <a:r>
              <a:rPr lang="fr-FR" b="1" dirty="0">
                <a:latin typeface="Times New Roman" pitchFamily="18" charset="0"/>
                <a:ea typeface="Times New Roman" pitchFamily="18" charset="0"/>
                <a:cs typeface="Times New Roman" pitchFamily="18" charset="0"/>
              </a:rPr>
              <a:t>sous-expression</a:t>
            </a:r>
            <a:r>
              <a:rPr lang="fr-FR" dirty="0">
                <a:latin typeface="Times New Roman" pitchFamily="18" charset="0"/>
                <a:ea typeface="Times New Roman" pitchFamily="18" charset="0"/>
                <a:cs typeface="Times New Roman" pitchFamily="18" charset="0"/>
              </a:rPr>
              <a:t> et on </a:t>
            </a:r>
            <a:r>
              <a:rPr lang="fr-FR" b="1" dirty="0">
                <a:latin typeface="Times New Roman" pitchFamily="18" charset="0"/>
                <a:ea typeface="Times New Roman" pitchFamily="18" charset="0"/>
                <a:cs typeface="Times New Roman" pitchFamily="18" charset="0"/>
              </a:rPr>
              <a:t>empile </a:t>
            </a:r>
            <a:r>
              <a:rPr lang="fr-FR" dirty="0">
                <a:latin typeface="Times New Roman" pitchFamily="18" charset="0"/>
                <a:ea typeface="Times New Roman" pitchFamily="18" charset="0"/>
                <a:cs typeface="Times New Roman" pitchFamily="18" charset="0"/>
              </a:rPr>
              <a:t>le </a:t>
            </a:r>
            <a:r>
              <a:rPr lang="fr-FR" b="1" dirty="0">
                <a:latin typeface="Times New Roman" pitchFamily="18" charset="0"/>
                <a:ea typeface="Times New Roman" pitchFamily="18" charset="0"/>
                <a:cs typeface="Times New Roman" pitchFamily="18" charset="0"/>
              </a:rPr>
              <a:t>résultat </a:t>
            </a:r>
            <a:r>
              <a:rPr lang="fr-FR" dirty="0">
                <a:latin typeface="Times New Roman" pitchFamily="18" charset="0"/>
                <a:ea typeface="Times New Roman" pitchFamily="18" charset="0"/>
                <a:cs typeface="Times New Roman" pitchFamily="18" charset="0"/>
              </a:rPr>
              <a:t>de son évaluation.</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La parenthèse gauche ne correspond à aucune action. </a:t>
            </a:r>
          </a:p>
          <a:p>
            <a:r>
              <a:rPr lang="fr-FR" b="1" dirty="0" err="1" smtClean="0">
                <a:latin typeface="Times New Roman" pitchFamily="18" charset="0"/>
                <a:cs typeface="Times New Roman" pitchFamily="18" charset="0"/>
              </a:rPr>
              <a:t>tind</a:t>
            </a:r>
            <a:r>
              <a:rPr lang="fr-FR" b="1" dirty="0" smtClean="0">
                <a:latin typeface="Times New Roman" pitchFamily="18" charset="0"/>
                <a:cs typeface="Times New Roman" pitchFamily="18" charset="0"/>
              </a:rPr>
              <a:t> </a:t>
            </a:r>
            <a:r>
              <a:rPr lang="fr-FR" dirty="0" err="1">
                <a:latin typeface="Times New Roman" pitchFamily="18" charset="0"/>
                <a:cs typeface="Times New Roman" pitchFamily="18" charset="0"/>
              </a:rPr>
              <a:t>evalcp</a:t>
            </a:r>
            <a:r>
              <a:rPr lang="fr-FR" b="1" dirty="0">
                <a:latin typeface="Times New Roman" pitchFamily="18" charset="0"/>
                <a:cs typeface="Times New Roman" pitchFamily="18" charset="0"/>
              </a:rPr>
              <a:t>(d t </a:t>
            </a:r>
            <a:r>
              <a:rPr lang="fr-FR" dirty="0" err="1">
                <a:latin typeface="Times New Roman" pitchFamily="18" charset="0"/>
                <a:cs typeface="Times New Roman" pitchFamily="18" charset="0"/>
              </a:rPr>
              <a:t>excp</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a:t>
            </a:r>
          </a:p>
          <a:p>
            <a:r>
              <a:rPr lang="nb-NO" b="1" dirty="0">
                <a:latin typeface="Times New Roman" pitchFamily="18" charset="0"/>
                <a:cs typeface="Times New Roman" pitchFamily="18" charset="0"/>
              </a:rPr>
              <a:t>debfonc entier </a:t>
            </a:r>
            <a:r>
              <a:rPr lang="nb-NO" dirty="0">
                <a:latin typeface="Times New Roman" pitchFamily="18" charset="0"/>
                <a:cs typeface="Times New Roman" pitchFamily="18" charset="0"/>
              </a:rPr>
              <a:t>i</a:t>
            </a:r>
            <a:r>
              <a:rPr lang="nb-NO" b="1" dirty="0">
                <a:latin typeface="Times New Roman" pitchFamily="18" charset="0"/>
                <a:cs typeface="Times New Roman" pitchFamily="18" charset="0"/>
              </a:rPr>
              <a:t>; caractère </a:t>
            </a:r>
            <a:r>
              <a:rPr lang="nb-NO" dirty="0">
                <a:latin typeface="Times New Roman" pitchFamily="18" charset="0"/>
                <a:cs typeface="Times New Roman" pitchFamily="18" charset="0"/>
              </a:rPr>
              <a:t>op</a:t>
            </a:r>
            <a:r>
              <a:rPr lang="nb-NO" b="1" dirty="0">
                <a:latin typeface="Times New Roman" pitchFamily="18" charset="0"/>
                <a:cs typeface="Times New Roman" pitchFamily="18" charset="0"/>
              </a:rPr>
              <a:t>; tind </a:t>
            </a:r>
            <a:r>
              <a:rPr lang="nb-NO" dirty="0">
                <a:latin typeface="Times New Roman" pitchFamily="18" charset="0"/>
                <a:cs typeface="Times New Roman" pitchFamily="18" charset="0"/>
              </a:rPr>
              <a:t>valdrte, valgche, evalc</a:t>
            </a:r>
            <a:r>
              <a:rPr lang="nb-NO" b="1" dirty="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nb-NO" b="1" dirty="0">
                <a:latin typeface="Times New Roman" pitchFamily="18" charset="0"/>
                <a:cs typeface="Times New Roman" pitchFamily="18" charset="0"/>
              </a:rPr>
              <a:t>   </a:t>
            </a:r>
            <a:r>
              <a:rPr lang="nb-NO" dirty="0">
                <a:latin typeface="Times New Roman" pitchFamily="18" charset="0"/>
                <a:cs typeface="Times New Roman" pitchFamily="18" charset="0"/>
              </a:rPr>
              <a:t>initpilevide()</a:t>
            </a:r>
            <a:r>
              <a:rPr lang="nb-NO" b="1" dirty="0">
                <a:latin typeface="Times New Roman" pitchFamily="18" charset="0"/>
                <a:cs typeface="Times New Roman" pitchFamily="18" charset="0"/>
              </a:rPr>
              <a:t>; </a:t>
            </a:r>
            <a:r>
              <a:rPr lang="nb-NO" dirty="0">
                <a:latin typeface="Times New Roman" pitchFamily="18" charset="0"/>
                <a:cs typeface="Times New Roman" pitchFamily="18" charset="0"/>
              </a:rPr>
              <a:t>i:=1</a:t>
            </a:r>
            <a:r>
              <a:rPr lang="nb-NO" b="1" dirty="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nb-NO" b="1" dirty="0">
                <a:latin typeface="Times New Roman" pitchFamily="18" charset="0"/>
                <a:cs typeface="Times New Roman" pitchFamily="18" charset="0"/>
              </a:rPr>
              <a:t>   tantque excp[i] </a:t>
            </a:r>
            <a:r>
              <a:rPr lang="fr-FR" b="1" dirty="0">
                <a:latin typeface="Times New Roman" pitchFamily="18" charset="0"/>
                <a:cs typeface="Times New Roman" pitchFamily="18" charset="0"/>
                <a:sym typeface="Symbol"/>
              </a:rPr>
              <a:t>≠ </a:t>
            </a:r>
            <a:r>
              <a:rPr lang="nb-NO" b="1" dirty="0">
                <a:latin typeface="Times New Roman" pitchFamily="18" charset="0"/>
                <a:cs typeface="Times New Roman" pitchFamily="18" charset="0"/>
              </a:rPr>
              <a:t>‘#’  faire</a:t>
            </a:r>
          </a:p>
          <a:p>
            <a:r>
              <a:rPr lang="nb-NO" b="1" dirty="0">
                <a:latin typeface="Times New Roman" pitchFamily="18" charset="0"/>
                <a:cs typeface="Times New Roman" pitchFamily="18" charset="0"/>
              </a:rPr>
              <a:t>       si </a:t>
            </a:r>
            <a:r>
              <a:rPr lang="nb-NO" dirty="0">
                <a:latin typeface="Times New Roman" pitchFamily="18" charset="0"/>
                <a:cs typeface="Times New Roman" pitchFamily="18" charset="0"/>
              </a:rPr>
              <a:t>variable(excp[i])</a:t>
            </a:r>
            <a:r>
              <a:rPr lang="nb-NO" b="1" dirty="0">
                <a:latin typeface="Times New Roman" pitchFamily="18" charset="0"/>
                <a:cs typeface="Times New Roman" pitchFamily="18" charset="0"/>
              </a:rPr>
              <a:t> alors </a:t>
            </a:r>
            <a:r>
              <a:rPr lang="nb-NO" dirty="0">
                <a:latin typeface="Times New Roman" pitchFamily="18" charset="0"/>
                <a:cs typeface="Times New Roman" pitchFamily="18" charset="0"/>
              </a:rPr>
              <a:t>empiler(valeur(excp[i]))</a:t>
            </a:r>
            <a:r>
              <a:rPr lang="nb-NO" b="1" dirty="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nb-NO" b="1" dirty="0">
                <a:latin typeface="Times New Roman" pitchFamily="18" charset="0"/>
                <a:cs typeface="Times New Roman" pitchFamily="18" charset="0"/>
              </a:rPr>
              <a:t>       sinonsi </a:t>
            </a:r>
            <a:r>
              <a:rPr lang="nb-NO" dirty="0">
                <a:latin typeface="Times New Roman" pitchFamily="18" charset="0"/>
                <a:cs typeface="Times New Roman" pitchFamily="18" charset="0"/>
              </a:rPr>
              <a:t>operateur(excp[i])</a:t>
            </a:r>
            <a:r>
              <a:rPr lang="nb-NO" b="1" dirty="0">
                <a:latin typeface="Times New Roman" pitchFamily="18" charset="0"/>
                <a:cs typeface="Times New Roman" pitchFamily="18" charset="0"/>
              </a:rPr>
              <a:t> alors </a:t>
            </a:r>
            <a:r>
              <a:rPr lang="nb-NO" dirty="0">
                <a:latin typeface="Times New Roman" pitchFamily="18" charset="0"/>
                <a:cs typeface="Times New Roman" pitchFamily="18" charset="0"/>
              </a:rPr>
              <a:t>empiler(excp[i]</a:t>
            </a:r>
            <a:r>
              <a:rPr lang="nb-NO" b="1" dirty="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nb-NO" b="1" dirty="0">
                <a:latin typeface="Times New Roman" pitchFamily="18" charset="0"/>
                <a:cs typeface="Times New Roman" pitchFamily="18" charset="0"/>
              </a:rPr>
              <a:t>                sinonsi </a:t>
            </a:r>
            <a:r>
              <a:rPr lang="nb-NO" dirty="0">
                <a:latin typeface="Times New Roman" pitchFamily="18" charset="0"/>
                <a:cs typeface="Times New Roman" pitchFamily="18" charset="0"/>
              </a:rPr>
              <a:t>excp[i]=’)’</a:t>
            </a:r>
            <a:r>
              <a:rPr lang="nb-NO" b="1" dirty="0">
                <a:latin typeface="Times New Roman" pitchFamily="18" charset="0"/>
                <a:cs typeface="Times New Roman" pitchFamily="18" charset="0"/>
              </a:rPr>
              <a:t> alors</a:t>
            </a:r>
          </a:p>
          <a:p>
            <a:r>
              <a:rPr lang="nb-NO" b="1" dirty="0">
                <a:latin typeface="Times New Roman" pitchFamily="18" charset="0"/>
                <a:cs typeface="Times New Roman" pitchFamily="18" charset="0"/>
              </a:rPr>
              <a:t>                  </a:t>
            </a:r>
            <a:r>
              <a:rPr lang="nb-NO" dirty="0">
                <a:latin typeface="Times New Roman" pitchFamily="18" charset="0"/>
                <a:cs typeface="Times New Roman" pitchFamily="18" charset="0"/>
              </a:rPr>
              <a:t>depiler(valdrte)</a:t>
            </a:r>
            <a:r>
              <a:rPr lang="nb-NO" b="1" dirty="0">
                <a:latin typeface="Times New Roman" pitchFamily="18" charset="0"/>
                <a:cs typeface="Times New Roman" pitchFamily="18" charset="0"/>
              </a:rPr>
              <a:t>; </a:t>
            </a:r>
            <a:r>
              <a:rPr lang="nb-NO" dirty="0">
                <a:latin typeface="Times New Roman" pitchFamily="18" charset="0"/>
                <a:cs typeface="Times New Roman" pitchFamily="18" charset="0"/>
              </a:rPr>
              <a:t>depiler(op)</a:t>
            </a:r>
            <a:r>
              <a:rPr lang="nb-NO" b="1" dirty="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nb-NO" b="1" dirty="0">
                <a:latin typeface="Times New Roman" pitchFamily="18" charset="0"/>
                <a:cs typeface="Times New Roman" pitchFamily="18" charset="0"/>
              </a:rPr>
              <a:t>                   sinonsi </a:t>
            </a:r>
            <a:r>
              <a:rPr lang="nb-NO" dirty="0">
                <a:latin typeface="Times New Roman" pitchFamily="18" charset="0"/>
                <a:cs typeface="Times New Roman" pitchFamily="18" charset="0"/>
              </a:rPr>
              <a:t>unaire(op)</a:t>
            </a:r>
            <a:r>
              <a:rPr lang="nb-NO" b="1" dirty="0">
                <a:latin typeface="Times New Roman" pitchFamily="18" charset="0"/>
                <a:cs typeface="Times New Roman" pitchFamily="18" charset="0"/>
              </a:rPr>
              <a:t> alors </a:t>
            </a:r>
            <a:r>
              <a:rPr lang="nb-NO" dirty="0">
                <a:latin typeface="Times New Roman" pitchFamily="18" charset="0"/>
                <a:cs typeface="Times New Roman" pitchFamily="18" charset="0"/>
              </a:rPr>
              <a:t>empiler(oper1(op, valdrte)</a:t>
            </a:r>
            <a:r>
              <a:rPr lang="nb-NO" b="1" dirty="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nb-NO" b="1" dirty="0">
                <a:latin typeface="Times New Roman" pitchFamily="18" charset="0"/>
                <a:cs typeface="Times New Roman" pitchFamily="18" charset="0"/>
              </a:rPr>
              <a:t>                            sinon </a:t>
            </a:r>
          </a:p>
          <a:p>
            <a:r>
              <a:rPr lang="nb-NO" b="1" dirty="0">
                <a:latin typeface="Times New Roman" pitchFamily="18" charset="0"/>
                <a:cs typeface="Times New Roman" pitchFamily="18" charset="0"/>
              </a:rPr>
              <a:t>                                 </a:t>
            </a:r>
            <a:r>
              <a:rPr lang="nb-NO" dirty="0">
                <a:latin typeface="Times New Roman" pitchFamily="18" charset="0"/>
                <a:cs typeface="Times New Roman" pitchFamily="18" charset="0"/>
              </a:rPr>
              <a:t>depiler(valgche)</a:t>
            </a:r>
            <a:r>
              <a:rPr lang="nb-NO" b="1" dirty="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nb-NO" b="1" dirty="0">
                <a:latin typeface="Times New Roman" pitchFamily="18" charset="0"/>
                <a:cs typeface="Times New Roman" pitchFamily="18" charset="0"/>
              </a:rPr>
              <a:t>                                 </a:t>
            </a:r>
            <a:r>
              <a:rPr lang="nl-NL" dirty="0" err="1">
                <a:latin typeface="Times New Roman" pitchFamily="18" charset="0"/>
                <a:cs typeface="Times New Roman" pitchFamily="18" charset="0"/>
              </a:rPr>
              <a:t>empiler</a:t>
            </a:r>
            <a:r>
              <a:rPr lang="nl-NL" dirty="0">
                <a:latin typeface="Times New Roman" pitchFamily="18" charset="0"/>
                <a:cs typeface="Times New Roman" pitchFamily="18" charset="0"/>
              </a:rPr>
              <a:t>(oper2(</a:t>
            </a:r>
            <a:r>
              <a:rPr lang="nl-NL" dirty="0" err="1">
                <a:latin typeface="Times New Roman" pitchFamily="18" charset="0"/>
                <a:cs typeface="Times New Roman" pitchFamily="18" charset="0"/>
              </a:rPr>
              <a:t>valgche</a:t>
            </a:r>
            <a:r>
              <a:rPr lang="nl-NL" dirty="0">
                <a:latin typeface="Times New Roman" pitchFamily="18" charset="0"/>
                <a:cs typeface="Times New Roman" pitchFamily="18" charset="0"/>
              </a:rPr>
              <a:t>, op, </a:t>
            </a:r>
            <a:r>
              <a:rPr lang="nl-NL" dirty="0" err="1">
                <a:latin typeface="Times New Roman" pitchFamily="18" charset="0"/>
                <a:cs typeface="Times New Roman" pitchFamily="18" charset="0"/>
              </a:rPr>
              <a:t>valedrte</a:t>
            </a:r>
            <a:r>
              <a:rPr lang="nl-NL" dirty="0">
                <a:latin typeface="Times New Roman" pitchFamily="18" charset="0"/>
                <a:cs typeface="Times New Roman" pitchFamily="18" charset="0"/>
              </a:rPr>
              <a:t>))</a:t>
            </a:r>
            <a:r>
              <a:rPr lang="nl-NL" b="1" dirty="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nl-NL" b="1" dirty="0">
                <a:latin typeface="Times New Roman" pitchFamily="18" charset="0"/>
                <a:cs typeface="Times New Roman" pitchFamily="18" charset="0"/>
              </a:rPr>
              <a:t>                            </a:t>
            </a:r>
            <a:r>
              <a:rPr lang="nl-NL" b="1" dirty="0" err="1">
                <a:latin typeface="Times New Roman" pitchFamily="18" charset="0"/>
                <a:cs typeface="Times New Roman" pitchFamily="18" charset="0"/>
              </a:rPr>
              <a:t>finsi</a:t>
            </a:r>
            <a:r>
              <a:rPr lang="nl-NL" b="1" dirty="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a:t>
            </a:r>
            <a:r>
              <a:rPr lang="fr-FR" dirty="0" smtClean="0">
                <a:latin typeface="Times New Roman" pitchFamily="18" charset="0"/>
                <a:cs typeface="Times New Roman" pitchFamily="18" charset="0"/>
              </a:rPr>
              <a:t>i</a:t>
            </a:r>
            <a:r>
              <a:rPr lang="fr-FR" dirty="0" smtClean="0">
                <a:latin typeface="Times New Roman" pitchFamily="18" charset="0"/>
                <a:cs typeface="Times New Roman" pitchFamily="18" charset="0"/>
              </a:rPr>
              <a:t>:=i+1</a:t>
            </a:r>
            <a:r>
              <a:rPr lang="fr-FR" b="1" dirty="0" smtClean="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a:t>
            </a:r>
            <a:r>
              <a:rPr lang="fr-FR" b="1" dirty="0" err="1" smtClean="0">
                <a:latin typeface="Times New Roman" pitchFamily="18" charset="0"/>
                <a:cs typeface="Times New Roman" pitchFamily="18" charset="0"/>
              </a:rPr>
              <a:t>finfaire</a:t>
            </a:r>
            <a:r>
              <a:rPr lang="fr-FR" b="1" dirty="0">
                <a:latin typeface="Times New Roman" pitchFamily="18" charset="0"/>
                <a:cs typeface="Times New Roman" pitchFamily="18" charset="0"/>
              </a:rPr>
              <a:t>; </a:t>
            </a:r>
          </a:p>
          <a:p>
            <a:r>
              <a:rPr lang="fr-FR" b="1" dirty="0">
                <a:latin typeface="Times New Roman" pitchFamily="18" charset="0"/>
                <a:cs typeface="Times New Roman" pitchFamily="18" charset="0"/>
              </a:rPr>
              <a:t>    </a:t>
            </a:r>
            <a:r>
              <a:rPr lang="fr-FR" dirty="0" err="1">
                <a:latin typeface="Times New Roman" pitchFamily="18" charset="0"/>
                <a:cs typeface="Times New Roman" pitchFamily="18" charset="0"/>
              </a:rPr>
              <a:t>depiler</a:t>
            </a:r>
            <a:r>
              <a:rPr lang="fr-FR" dirty="0">
                <a:latin typeface="Times New Roman" pitchFamily="18" charset="0"/>
                <a:cs typeface="Times New Roman" pitchFamily="18" charset="0"/>
              </a:rPr>
              <a:t>(</a:t>
            </a:r>
            <a:r>
              <a:rPr lang="fr-FR" dirty="0" err="1">
                <a:latin typeface="Times New Roman" pitchFamily="18" charset="0"/>
                <a:cs typeface="Times New Roman" pitchFamily="18" charset="0"/>
              </a:rPr>
              <a:t>evalc</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 retourner </a:t>
            </a:r>
            <a:r>
              <a:rPr lang="fr-FR" dirty="0" err="1">
                <a:latin typeface="Times New Roman" pitchFamily="18" charset="0"/>
                <a:cs typeface="Times New Roman" pitchFamily="18" charset="0"/>
              </a:rPr>
              <a:t>evalc</a:t>
            </a:r>
            <a:r>
              <a:rPr lang="fr-FR" b="1" dirty="0">
                <a:latin typeface="Times New Roman" pitchFamily="18" charset="0"/>
                <a:cs typeface="Times New Roman" pitchFamily="18" charset="0"/>
              </a:rPr>
              <a:t>;</a:t>
            </a:r>
          </a:p>
          <a:p>
            <a:r>
              <a:rPr lang="fr-FR" b="1" dirty="0" err="1">
                <a:latin typeface="Times New Roman" pitchFamily="18" charset="0"/>
                <a:cs typeface="Times New Roman" pitchFamily="18" charset="0"/>
              </a:rPr>
              <a:t>finsi</a:t>
            </a:r>
            <a:r>
              <a:rPr lang="fr-FR" b="1" dirty="0">
                <a:latin typeface="Times New Roman" pitchFamily="18" charset="0"/>
                <a:cs typeface="Times New Roman" pitchFamily="18" charset="0"/>
              </a:rPr>
              <a:t>;</a:t>
            </a:r>
          </a:p>
        </p:txBody>
      </p:sp>
    </p:spTree>
    <p:extLst>
      <p:ext uri="{BB962C8B-B14F-4D97-AF65-F5344CB8AC3E}">
        <p14:creationId xmlns:p14="http://schemas.microsoft.com/office/powerpoint/2010/main" val="12073845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 y="352931"/>
            <a:ext cx="11826240" cy="6186309"/>
          </a:xfrm>
          <a:prstGeom prst="rect">
            <a:avLst/>
          </a:prstGeom>
        </p:spPr>
        <p:txBody>
          <a:bodyPr wrap="square">
            <a:spAutoFit/>
          </a:bodyPr>
          <a:lstStyle/>
          <a:p>
            <a:pPr lvl="0" fontAlgn="base">
              <a:spcBef>
                <a:spcPct val="0"/>
              </a:spcBef>
              <a:spcAft>
                <a:spcPct val="0"/>
              </a:spcAft>
            </a:pPr>
            <a:r>
              <a:rPr lang="fr-FR" dirty="0">
                <a:latin typeface="Times New Roman" pitchFamily="18" charset="0"/>
                <a:ea typeface="Times New Roman" pitchFamily="18" charset="0"/>
                <a:cs typeface="Times New Roman" pitchFamily="18" charset="0"/>
              </a:rPr>
              <a:t>L’évaluation d’EXCP, est plus coûteuse que l’évaluation d’EXPOST. La pile contient des valeurs d’opérandes et des opérateurs.</a:t>
            </a:r>
          </a:p>
          <a:p>
            <a:pPr lvl="0"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c) </a:t>
            </a:r>
            <a:r>
              <a:rPr lang="fr-FR" u="sng" dirty="0">
                <a:latin typeface="Times New Roman" pitchFamily="18" charset="0"/>
                <a:ea typeface="Times New Roman" pitchFamily="18" charset="0"/>
                <a:cs typeface="Times New Roman" pitchFamily="18" charset="0"/>
              </a:rPr>
              <a:t>Passage d’une expression à une autre</a:t>
            </a:r>
            <a:endParaRPr lang="fr-FR" dirty="0">
              <a:latin typeface="Times New Roman" pitchFamily="18" charset="0"/>
              <a:cs typeface="Times New Roman" pitchFamily="18" charset="0"/>
            </a:endParaRPr>
          </a:p>
          <a:p>
            <a:pPr lvl="0"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a:t>
            </a:r>
            <a:r>
              <a:rPr lang="fr-FR" b="1" dirty="0">
                <a:latin typeface="Times New Roman" pitchFamily="18" charset="0"/>
                <a:ea typeface="Times New Roman" pitchFamily="18" charset="0"/>
                <a:cs typeface="Times New Roman" pitchFamily="18" charset="0"/>
              </a:rPr>
              <a:t>Passage de la représentation complètement </a:t>
            </a:r>
            <a:r>
              <a:rPr lang="fr-FR" b="1" dirty="0" err="1">
                <a:latin typeface="Times New Roman" pitchFamily="18" charset="0"/>
                <a:ea typeface="Times New Roman" pitchFamily="18" charset="0"/>
                <a:cs typeface="Times New Roman" pitchFamily="18" charset="0"/>
              </a:rPr>
              <a:t>parenthésée</a:t>
            </a:r>
            <a:r>
              <a:rPr lang="fr-FR" b="1" dirty="0">
                <a:latin typeface="Times New Roman" pitchFamily="18" charset="0"/>
                <a:ea typeface="Times New Roman" pitchFamily="18" charset="0"/>
                <a:cs typeface="Times New Roman" pitchFamily="18" charset="0"/>
              </a:rPr>
              <a:t> à la représentation </a:t>
            </a:r>
            <a:r>
              <a:rPr lang="fr-FR" b="1" dirty="0" err="1">
                <a:latin typeface="Times New Roman" pitchFamily="18" charset="0"/>
                <a:ea typeface="Times New Roman" pitchFamily="18" charset="0"/>
                <a:cs typeface="Times New Roman" pitchFamily="18" charset="0"/>
              </a:rPr>
              <a:t>postfixée</a:t>
            </a:r>
            <a:r>
              <a:rPr lang="fr-FR" dirty="0">
                <a:latin typeface="Times New Roman" pitchFamily="18" charset="0"/>
                <a:ea typeface="Times New Roman" pitchFamily="18" charset="0"/>
                <a:cs typeface="Times New Roman" pitchFamily="18" charset="0"/>
              </a:rPr>
              <a:t>.</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Evaluation d’une expression est plus simple à partir d’une </a:t>
            </a:r>
            <a:r>
              <a:rPr lang="fr-FR" b="1" dirty="0" err="1">
                <a:latin typeface="Times New Roman" pitchFamily="18" charset="0"/>
                <a:ea typeface="Times New Roman" pitchFamily="18" charset="0"/>
                <a:cs typeface="Times New Roman" pitchFamily="18" charset="0"/>
              </a:rPr>
              <a:t>expost</a:t>
            </a:r>
            <a:r>
              <a:rPr lang="fr-FR" dirty="0">
                <a:latin typeface="Times New Roman" pitchFamily="18" charset="0"/>
                <a:ea typeface="Times New Roman" pitchFamily="18" charset="0"/>
                <a:cs typeface="Times New Roman" pitchFamily="18" charset="0"/>
              </a:rPr>
              <a:t>, mais une </a:t>
            </a:r>
            <a:r>
              <a:rPr lang="fr-FR" b="1" dirty="0" err="1">
                <a:latin typeface="Times New Roman" pitchFamily="18" charset="0"/>
                <a:ea typeface="Times New Roman" pitchFamily="18" charset="0"/>
                <a:cs typeface="Times New Roman" pitchFamily="18" charset="0"/>
              </a:rPr>
              <a:t>excp</a:t>
            </a:r>
            <a:r>
              <a:rPr lang="fr-FR" dirty="0">
                <a:latin typeface="Times New Roman" pitchFamily="18" charset="0"/>
                <a:ea typeface="Times New Roman" pitchFamily="18" charset="0"/>
                <a:cs typeface="Times New Roman" pitchFamily="18" charset="0"/>
              </a:rPr>
              <a:t> est plus lisible.</a:t>
            </a:r>
          </a:p>
          <a:p>
            <a:pPr algn="just"/>
            <a:r>
              <a:rPr lang="fr-FR" dirty="0">
                <a:latin typeface="Times New Roman" pitchFamily="18" charset="0"/>
                <a:ea typeface="Times New Roman" pitchFamily="18" charset="0"/>
                <a:cs typeface="Times New Roman" pitchFamily="18" charset="0"/>
              </a:rPr>
              <a:t>C’est un aspect très simplifié du </a:t>
            </a:r>
            <a:r>
              <a:rPr lang="fr-FR" b="1" dirty="0">
                <a:latin typeface="Times New Roman" pitchFamily="18" charset="0"/>
                <a:ea typeface="Times New Roman" pitchFamily="18" charset="0"/>
                <a:cs typeface="Times New Roman" pitchFamily="18" charset="0"/>
              </a:rPr>
              <a:t>processus</a:t>
            </a:r>
            <a:r>
              <a:rPr lang="fr-FR" dirty="0">
                <a:latin typeface="Times New Roman" pitchFamily="18" charset="0"/>
                <a:ea typeface="Times New Roman" pitchFamily="18" charset="0"/>
                <a:cs typeface="Times New Roman" pitchFamily="18" charset="0"/>
              </a:rPr>
              <a:t> de </a:t>
            </a:r>
            <a:r>
              <a:rPr lang="fr-FR" b="1" dirty="0">
                <a:latin typeface="Times New Roman" pitchFamily="18" charset="0"/>
                <a:ea typeface="Times New Roman" pitchFamily="18" charset="0"/>
                <a:cs typeface="Times New Roman" pitchFamily="18" charset="0"/>
              </a:rPr>
              <a:t>compilation</a:t>
            </a:r>
            <a:r>
              <a:rPr lang="fr-FR" dirty="0">
                <a:latin typeface="Times New Roman" pitchFamily="18" charset="0"/>
                <a:ea typeface="Times New Roman" pitchFamily="18" charset="0"/>
                <a:cs typeface="Times New Roman" pitchFamily="18" charset="0"/>
              </a:rPr>
              <a:t> d’un langage de programmation qui ne serait formée que d’</a:t>
            </a:r>
            <a:r>
              <a:rPr lang="fr-FR" b="1" dirty="0" err="1">
                <a:latin typeface="Times New Roman" pitchFamily="18" charset="0"/>
                <a:ea typeface="Times New Roman" pitchFamily="18" charset="0"/>
                <a:cs typeface="Times New Roman" pitchFamily="18" charset="0"/>
              </a:rPr>
              <a:t>excp</a:t>
            </a:r>
            <a:r>
              <a:rPr lang="fr-FR" dirty="0">
                <a:latin typeface="Times New Roman" pitchFamily="18" charset="0"/>
                <a:ea typeface="Times New Roman" pitchFamily="18" charset="0"/>
                <a:cs typeface="Times New Roman" pitchFamily="18" charset="0"/>
              </a:rPr>
              <a:t> : le </a:t>
            </a:r>
            <a:r>
              <a:rPr lang="fr-FR" b="1" dirty="0">
                <a:latin typeface="Times New Roman" pitchFamily="18" charset="0"/>
                <a:ea typeface="Times New Roman" pitchFamily="18" charset="0"/>
                <a:cs typeface="Times New Roman" pitchFamily="18" charset="0"/>
              </a:rPr>
              <a:t>programme source</a:t>
            </a:r>
            <a:r>
              <a:rPr lang="fr-FR" dirty="0">
                <a:latin typeface="Times New Roman" pitchFamily="18" charset="0"/>
                <a:ea typeface="Times New Roman" pitchFamily="18" charset="0"/>
                <a:cs typeface="Times New Roman" pitchFamily="18" charset="0"/>
              </a:rPr>
              <a:t> fourni par l’utilisateur doit être transformé en une </a:t>
            </a:r>
            <a:r>
              <a:rPr lang="fr-FR" b="1" dirty="0">
                <a:latin typeface="Times New Roman" pitchFamily="18" charset="0"/>
                <a:ea typeface="Times New Roman" pitchFamily="18" charset="0"/>
                <a:cs typeface="Times New Roman" pitchFamily="18" charset="0"/>
              </a:rPr>
              <a:t>chaîne </a:t>
            </a:r>
            <a:r>
              <a:rPr lang="fr-FR" b="1" dirty="0" err="1">
                <a:latin typeface="Times New Roman" pitchFamily="18" charset="0"/>
                <a:ea typeface="Times New Roman" pitchFamily="18" charset="0"/>
                <a:cs typeface="Times New Roman" pitchFamily="18" charset="0"/>
              </a:rPr>
              <a:t>postfixée</a:t>
            </a:r>
            <a:r>
              <a:rPr lang="fr-FR" dirty="0">
                <a:latin typeface="Times New Roman" pitchFamily="18" charset="0"/>
                <a:ea typeface="Times New Roman" pitchFamily="18" charset="0"/>
                <a:cs typeface="Times New Roman" pitchFamily="18" charset="0"/>
              </a:rPr>
              <a:t> équivalente à un </a:t>
            </a:r>
            <a:r>
              <a:rPr lang="fr-FR" b="1" dirty="0">
                <a:latin typeface="Times New Roman" pitchFamily="18" charset="0"/>
                <a:ea typeface="Times New Roman" pitchFamily="18" charset="0"/>
                <a:cs typeface="Times New Roman" pitchFamily="18" charset="0"/>
              </a:rPr>
              <a:t>programme objet</a:t>
            </a:r>
            <a:r>
              <a:rPr lang="fr-FR" dirty="0">
                <a:latin typeface="Times New Roman" pitchFamily="18" charset="0"/>
                <a:ea typeface="Times New Roman" pitchFamily="18" charset="0"/>
                <a:cs typeface="Times New Roman" pitchFamily="18" charset="0"/>
              </a:rPr>
              <a:t> directement interprétable </a:t>
            </a:r>
            <a:r>
              <a:rPr lang="fr-FR" dirty="0"/>
              <a:t>pour être évalué. On peut être amené dans certaines applications à effectuer la transformation inverse : </a:t>
            </a:r>
            <a:r>
              <a:rPr lang="fr-FR" b="1" dirty="0" err="1"/>
              <a:t>postfixée</a:t>
            </a:r>
            <a:r>
              <a:rPr lang="fr-FR" b="1" dirty="0"/>
              <a:t> =&gt; complètement </a:t>
            </a:r>
            <a:r>
              <a:rPr lang="fr-FR" b="1" dirty="0" err="1"/>
              <a:t>parenthésé</a:t>
            </a:r>
            <a:r>
              <a:rPr lang="fr-FR" b="1" dirty="0"/>
              <a:t>.</a:t>
            </a:r>
            <a:endParaRPr lang="fr-FR" dirty="0"/>
          </a:p>
          <a:p>
            <a:pPr algn="just"/>
            <a:r>
              <a:rPr lang="fr-FR" dirty="0"/>
              <a:t> </a:t>
            </a:r>
            <a:r>
              <a:rPr lang="fr-FR" dirty="0">
                <a:latin typeface="Times New Roman" pitchFamily="18" charset="0"/>
                <a:cs typeface="Times New Roman" pitchFamily="18" charset="0"/>
              </a:rPr>
              <a:t>Soit à transformer une </a:t>
            </a:r>
            <a:r>
              <a:rPr lang="fr-FR" b="1" dirty="0" err="1">
                <a:latin typeface="Times New Roman" pitchFamily="18" charset="0"/>
                <a:cs typeface="Times New Roman" pitchFamily="18" charset="0"/>
              </a:rPr>
              <a:t>excp</a:t>
            </a:r>
            <a:r>
              <a:rPr lang="fr-FR" b="1" dirty="0">
                <a:latin typeface="Times New Roman" pitchFamily="18" charset="0"/>
                <a:cs typeface="Times New Roman" pitchFamily="18" charset="0"/>
              </a:rPr>
              <a:t> </a:t>
            </a:r>
            <a:r>
              <a:rPr lang="fr-FR" dirty="0">
                <a:latin typeface="Times New Roman" pitchFamily="18" charset="0"/>
                <a:cs typeface="Times New Roman" pitchFamily="18" charset="0"/>
              </a:rPr>
              <a:t>en une </a:t>
            </a:r>
            <a:r>
              <a:rPr lang="fr-FR" b="1" dirty="0" err="1">
                <a:latin typeface="Times New Roman" pitchFamily="18" charset="0"/>
                <a:cs typeface="Times New Roman" pitchFamily="18" charset="0"/>
              </a:rPr>
              <a:t>expost</a:t>
            </a:r>
            <a:r>
              <a:rPr lang="fr-FR" dirty="0">
                <a:latin typeface="Times New Roman" pitchFamily="18" charset="0"/>
                <a:cs typeface="Times New Roman" pitchFamily="18" charset="0"/>
              </a:rPr>
              <a:t>, en n’utilisant si possible, qu’un seul parcours séquentiel d’</a:t>
            </a:r>
            <a:r>
              <a:rPr lang="fr-FR" b="1" dirty="0" err="1">
                <a:latin typeface="Times New Roman" pitchFamily="18" charset="0"/>
                <a:cs typeface="Times New Roman" pitchFamily="18" charset="0"/>
              </a:rPr>
              <a:t>excp</a:t>
            </a:r>
            <a:r>
              <a:rPr lang="fr-FR" dirty="0">
                <a:latin typeface="Times New Roman" pitchFamily="18" charset="0"/>
                <a:cs typeface="Times New Roman" pitchFamily="18" charset="0"/>
              </a:rPr>
              <a:t>. Les opérandes figurent dans l</a:t>
            </a:r>
            <a:r>
              <a:rPr lang="fr-FR" b="1" dirty="0">
                <a:latin typeface="Times New Roman" pitchFamily="18" charset="0"/>
                <a:cs typeface="Times New Roman" pitchFamily="18" charset="0"/>
              </a:rPr>
              <a:t>e même ordre</a:t>
            </a:r>
            <a:r>
              <a:rPr lang="fr-FR" dirty="0">
                <a:latin typeface="Times New Roman" pitchFamily="18" charset="0"/>
                <a:cs typeface="Times New Roman" pitchFamily="18" charset="0"/>
              </a:rPr>
              <a:t> dans les 2 expressions. Il semble naturel de ne ranger, lors du parcours d’</a:t>
            </a:r>
            <a:r>
              <a:rPr lang="fr-FR" b="1" dirty="0" err="1">
                <a:latin typeface="Times New Roman" pitchFamily="18" charset="0"/>
                <a:cs typeface="Times New Roman" pitchFamily="18" charset="0"/>
              </a:rPr>
              <a:t>excp</a:t>
            </a:r>
            <a:r>
              <a:rPr lang="fr-FR" dirty="0">
                <a:latin typeface="Times New Roman" pitchFamily="18" charset="0"/>
                <a:cs typeface="Times New Roman" pitchFamily="18" charset="0"/>
              </a:rPr>
              <a:t>, que les </a:t>
            </a:r>
            <a:r>
              <a:rPr lang="fr-FR" b="1" dirty="0">
                <a:latin typeface="Times New Roman" pitchFamily="18" charset="0"/>
                <a:cs typeface="Times New Roman" pitchFamily="18" charset="0"/>
              </a:rPr>
              <a:t>opérandes</a:t>
            </a:r>
            <a:r>
              <a:rPr lang="fr-FR" dirty="0">
                <a:latin typeface="Times New Roman" pitchFamily="18" charset="0"/>
                <a:cs typeface="Times New Roman" pitchFamily="18" charset="0"/>
              </a:rPr>
              <a:t> dans </a:t>
            </a:r>
            <a:r>
              <a:rPr lang="fr-FR" b="1" dirty="0" err="1">
                <a:latin typeface="Times New Roman" pitchFamily="18" charset="0"/>
                <a:cs typeface="Times New Roman" pitchFamily="18" charset="0"/>
              </a:rPr>
              <a:t>expost</a:t>
            </a:r>
            <a:r>
              <a:rPr lang="fr-FR" dirty="0">
                <a:latin typeface="Times New Roman" pitchFamily="18" charset="0"/>
                <a:cs typeface="Times New Roman" pitchFamily="18" charset="0"/>
              </a:rPr>
              <a:t>, et de </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se souvenir</a:t>
            </a:r>
            <a:r>
              <a:rPr lang="fr-FR"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 de l’</a:t>
            </a:r>
            <a:r>
              <a:rPr lang="fr-FR" b="1" dirty="0">
                <a:latin typeface="Times New Roman" pitchFamily="18" charset="0"/>
                <a:cs typeface="Times New Roman" pitchFamily="18" charset="0"/>
              </a:rPr>
              <a:t>opérateur</a:t>
            </a:r>
            <a:r>
              <a:rPr lang="fr-FR" dirty="0">
                <a:latin typeface="Times New Roman" pitchFamily="18" charset="0"/>
                <a:cs typeface="Times New Roman" pitchFamily="18" charset="0"/>
              </a:rPr>
              <a:t> associé à la sous-expression courante. Lorsque le parcours de la sous-expression dans </a:t>
            </a:r>
            <a:r>
              <a:rPr lang="fr-FR" b="1" dirty="0" err="1">
                <a:latin typeface="Times New Roman" pitchFamily="18" charset="0"/>
                <a:cs typeface="Times New Roman" pitchFamily="18" charset="0"/>
              </a:rPr>
              <a:t>excp</a:t>
            </a:r>
            <a:r>
              <a:rPr lang="fr-FR" dirty="0">
                <a:latin typeface="Times New Roman" pitchFamily="18" charset="0"/>
                <a:cs typeface="Times New Roman" pitchFamily="18" charset="0"/>
              </a:rPr>
              <a:t> est terminé  on rangera l’opérateur correspondant dans </a:t>
            </a:r>
            <a:r>
              <a:rPr lang="fr-FR" b="1" dirty="0" err="1">
                <a:latin typeface="Times New Roman" pitchFamily="18" charset="0"/>
                <a:cs typeface="Times New Roman" pitchFamily="18" charset="0"/>
              </a:rPr>
              <a:t>expost</a:t>
            </a:r>
            <a:r>
              <a:rPr lang="fr-FR" dirty="0">
                <a:latin typeface="Times New Roman" pitchFamily="18" charset="0"/>
                <a:cs typeface="Times New Roman" pitchFamily="18" charset="0"/>
              </a:rPr>
              <a:t>.</a:t>
            </a:r>
          </a:p>
          <a:p>
            <a:pPr eaLnBrk="0" fontAlgn="base" hangingPunct="0">
              <a:spcBef>
                <a:spcPct val="0"/>
              </a:spcBef>
              <a:spcAft>
                <a:spcPct val="0"/>
              </a:spcAft>
            </a:pPr>
            <a:r>
              <a:rPr lang="fr-FR" dirty="0">
                <a:latin typeface="Times New Roman" pitchFamily="18" charset="0"/>
                <a:cs typeface="Times New Roman" pitchFamily="18" charset="0"/>
              </a:rPr>
              <a:t>Exemple : on suppose que les opérandes sont des variables.</a:t>
            </a:r>
          </a:p>
          <a:p>
            <a:pPr eaLnBrk="0" fontAlgn="base" hangingPunct="0">
              <a:spcBef>
                <a:spcPct val="0"/>
              </a:spcBef>
              <a:spcAft>
                <a:spcPct val="0"/>
              </a:spcAft>
            </a:pPr>
            <a:r>
              <a:rPr lang="en-GB" dirty="0" err="1"/>
              <a:t>excp</a:t>
            </a:r>
            <a:r>
              <a:rPr lang="en-GB" dirty="0"/>
              <a:t> : …(A+B)…		</a:t>
            </a:r>
            <a:r>
              <a:rPr lang="en-GB" dirty="0" err="1"/>
              <a:t>expost</a:t>
            </a:r>
            <a:r>
              <a:rPr lang="en-GB" dirty="0"/>
              <a:t> : … A</a:t>
            </a:r>
          </a:p>
          <a:p>
            <a:pPr eaLnBrk="0" fontAlgn="base" hangingPunct="0">
              <a:spcBef>
                <a:spcPct val="0"/>
              </a:spcBef>
              <a:spcAft>
                <a:spcPct val="0"/>
              </a:spcAft>
            </a:pPr>
            <a:endParaRPr lang="en-GB" dirty="0"/>
          </a:p>
          <a:p>
            <a:pPr eaLnBrk="0" fontAlgn="base" hangingPunct="0">
              <a:spcBef>
                <a:spcPct val="0"/>
              </a:spcBef>
              <a:spcAft>
                <a:spcPct val="0"/>
              </a:spcAft>
            </a:pPr>
            <a:r>
              <a:rPr lang="en-GB" dirty="0" err="1"/>
              <a:t>excp</a:t>
            </a:r>
            <a:r>
              <a:rPr lang="en-GB" dirty="0"/>
              <a:t> : …(A+B</a:t>
            </a:r>
            <a:r>
              <a:rPr lang="en-GB" dirty="0" smtClean="0"/>
              <a:t>)…</a:t>
            </a:r>
            <a:r>
              <a:rPr lang="en-GB" dirty="0"/>
              <a:t>		</a:t>
            </a:r>
            <a:r>
              <a:rPr lang="en-GB" dirty="0" err="1"/>
              <a:t>expost</a:t>
            </a:r>
            <a:r>
              <a:rPr lang="en-GB" dirty="0"/>
              <a:t> : … A</a:t>
            </a:r>
          </a:p>
          <a:p>
            <a:pPr eaLnBrk="0" fontAlgn="base" hangingPunct="0">
              <a:spcBef>
                <a:spcPct val="0"/>
              </a:spcBef>
              <a:spcAft>
                <a:spcPct val="0"/>
              </a:spcAft>
            </a:pPr>
            <a:endParaRPr lang="en-GB" dirty="0"/>
          </a:p>
          <a:p>
            <a:pPr eaLnBrk="0" fontAlgn="base" hangingPunct="0">
              <a:spcBef>
                <a:spcPct val="0"/>
              </a:spcBef>
              <a:spcAft>
                <a:spcPct val="0"/>
              </a:spcAft>
            </a:pPr>
            <a:r>
              <a:rPr lang="en-GB" dirty="0" err="1"/>
              <a:t>excp</a:t>
            </a:r>
            <a:r>
              <a:rPr lang="en-GB" dirty="0"/>
              <a:t> : …(A+B</a:t>
            </a:r>
            <a:r>
              <a:rPr lang="en-GB" dirty="0" smtClean="0"/>
              <a:t>)…</a:t>
            </a:r>
            <a:r>
              <a:rPr lang="en-GB" dirty="0"/>
              <a:t>		</a:t>
            </a:r>
            <a:r>
              <a:rPr lang="en-GB" dirty="0" err="1"/>
              <a:t>expost</a:t>
            </a:r>
            <a:r>
              <a:rPr lang="en-GB" dirty="0"/>
              <a:t> :  … AB</a:t>
            </a:r>
          </a:p>
          <a:p>
            <a:pPr eaLnBrk="0" fontAlgn="base" hangingPunct="0">
              <a:spcBef>
                <a:spcPct val="0"/>
              </a:spcBef>
              <a:spcAft>
                <a:spcPct val="0"/>
              </a:spcAft>
            </a:pPr>
            <a:endParaRPr lang="en-GB" dirty="0"/>
          </a:p>
          <a:p>
            <a:pPr eaLnBrk="0" fontAlgn="base" hangingPunct="0">
              <a:spcBef>
                <a:spcPct val="0"/>
              </a:spcBef>
              <a:spcAft>
                <a:spcPct val="0"/>
              </a:spcAft>
            </a:pPr>
            <a:r>
              <a:rPr lang="en-GB" dirty="0" err="1"/>
              <a:t>excp</a:t>
            </a:r>
            <a:r>
              <a:rPr lang="en-GB" dirty="0"/>
              <a:t> : …(A+B</a:t>
            </a:r>
            <a:r>
              <a:rPr lang="en-GB" dirty="0" smtClean="0"/>
              <a:t>)…</a:t>
            </a:r>
            <a:r>
              <a:rPr lang="en-GB" dirty="0"/>
              <a:t>		</a:t>
            </a:r>
            <a:r>
              <a:rPr lang="en-GB" dirty="0" err="1"/>
              <a:t>expost</a:t>
            </a:r>
            <a:r>
              <a:rPr lang="en-GB" dirty="0"/>
              <a:t> :  … AB+</a:t>
            </a:r>
          </a:p>
          <a:p>
            <a:pPr eaLnBrk="0" fontAlgn="base" hangingPunct="0">
              <a:spcBef>
                <a:spcPct val="0"/>
              </a:spcBef>
              <a:spcAft>
                <a:spcPct val="0"/>
              </a:spcAft>
            </a:pPr>
            <a:endParaRPr lang="en-GB" dirty="0"/>
          </a:p>
        </p:txBody>
      </p:sp>
      <p:sp>
        <p:nvSpPr>
          <p:cNvPr id="3" name="Ellipse 2"/>
          <p:cNvSpPr/>
          <p:nvPr/>
        </p:nvSpPr>
        <p:spPr>
          <a:xfrm>
            <a:off x="955040" y="-9144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p:cNvSpPr/>
          <p:nvPr/>
        </p:nvSpPr>
        <p:spPr>
          <a:xfrm>
            <a:off x="1686560" y="5394960"/>
            <a:ext cx="182880" cy="2336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smtClean="0"/>
              <a:t>+</a:t>
            </a:r>
            <a:endParaRPr lang="fr-FR" dirty="0"/>
          </a:p>
        </p:txBody>
      </p:sp>
      <p:sp>
        <p:nvSpPr>
          <p:cNvPr id="6" name="Ellipse 5"/>
          <p:cNvSpPr/>
          <p:nvPr/>
        </p:nvSpPr>
        <p:spPr>
          <a:xfrm>
            <a:off x="1666240" y="4866640"/>
            <a:ext cx="182880" cy="2336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smtClean="0"/>
              <a:t>+</a:t>
            </a:r>
            <a:endParaRPr lang="fr-FR" dirty="0"/>
          </a:p>
        </p:txBody>
      </p:sp>
      <p:sp>
        <p:nvSpPr>
          <p:cNvPr id="7" name="Ellipse 6"/>
          <p:cNvSpPr/>
          <p:nvPr/>
        </p:nvSpPr>
        <p:spPr>
          <a:xfrm>
            <a:off x="1706880" y="5943600"/>
            <a:ext cx="182880" cy="2336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smtClean="0"/>
              <a:t>+</a:t>
            </a:r>
            <a:endParaRPr lang="fr-FR" dirty="0"/>
          </a:p>
        </p:txBody>
      </p:sp>
      <p:cxnSp>
        <p:nvCxnSpPr>
          <p:cNvPr id="11" name="Connecteur droit avec flèche 10"/>
          <p:cNvCxnSpPr/>
          <p:nvPr/>
        </p:nvCxnSpPr>
        <p:spPr>
          <a:xfrm flipV="1">
            <a:off x="1148080" y="4460240"/>
            <a:ext cx="0" cy="2946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Connecteur droit avec flèche 11"/>
          <p:cNvCxnSpPr/>
          <p:nvPr/>
        </p:nvCxnSpPr>
        <p:spPr>
          <a:xfrm flipV="1">
            <a:off x="1270000" y="4947920"/>
            <a:ext cx="0" cy="2946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Connecteur droit avec flèche 12"/>
          <p:cNvCxnSpPr/>
          <p:nvPr/>
        </p:nvCxnSpPr>
        <p:spPr>
          <a:xfrm flipV="1">
            <a:off x="1391920" y="5567680"/>
            <a:ext cx="0" cy="2946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necteur droit avec flèche 13"/>
          <p:cNvCxnSpPr/>
          <p:nvPr/>
        </p:nvCxnSpPr>
        <p:spPr>
          <a:xfrm flipV="1">
            <a:off x="1503680" y="6126480"/>
            <a:ext cx="0" cy="2946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Connecteur droit avec flèche 14"/>
          <p:cNvCxnSpPr/>
          <p:nvPr/>
        </p:nvCxnSpPr>
        <p:spPr>
          <a:xfrm flipV="1">
            <a:off x="4368800" y="6106160"/>
            <a:ext cx="0" cy="2946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Connecteur droit 24"/>
          <p:cNvCxnSpPr/>
          <p:nvPr/>
        </p:nvCxnSpPr>
        <p:spPr>
          <a:xfrm>
            <a:off x="1788160" y="6187440"/>
            <a:ext cx="10160" cy="223520"/>
          </a:xfrm>
          <a:prstGeom prst="line">
            <a:avLst/>
          </a:prstGeom>
        </p:spPr>
        <p:style>
          <a:lnRef idx="1">
            <a:schemeClr val="dk1"/>
          </a:lnRef>
          <a:fillRef idx="0">
            <a:schemeClr val="dk1"/>
          </a:fillRef>
          <a:effectRef idx="0">
            <a:schemeClr val="dk1"/>
          </a:effectRef>
          <a:fontRef idx="minor">
            <a:schemeClr val="tx1"/>
          </a:fontRef>
        </p:style>
      </p:cxnSp>
      <p:cxnSp>
        <p:nvCxnSpPr>
          <p:cNvPr id="27" name="Connecteur droit 26"/>
          <p:cNvCxnSpPr/>
          <p:nvPr/>
        </p:nvCxnSpPr>
        <p:spPr>
          <a:xfrm flipV="1">
            <a:off x="1767840" y="6400800"/>
            <a:ext cx="2621280" cy="20320"/>
          </a:xfrm>
          <a:prstGeom prst="line">
            <a:avLst/>
          </a:prstGeom>
        </p:spPr>
        <p:style>
          <a:lnRef idx="1">
            <a:schemeClr val="dk1"/>
          </a:lnRef>
          <a:fillRef idx="0">
            <a:schemeClr val="dk1"/>
          </a:fillRef>
          <a:effectRef idx="0">
            <a:schemeClr val="dk1"/>
          </a:effectRef>
          <a:fontRef idx="minor">
            <a:schemeClr val="tx1"/>
          </a:fontRef>
        </p:style>
      </p:cxnSp>
      <p:cxnSp>
        <p:nvCxnSpPr>
          <p:cNvPr id="33" name="Connecteur droit 32"/>
          <p:cNvCxnSpPr/>
          <p:nvPr/>
        </p:nvCxnSpPr>
        <p:spPr>
          <a:xfrm>
            <a:off x="1270000" y="4607560"/>
            <a:ext cx="0" cy="259080"/>
          </a:xfrm>
          <a:prstGeom prst="line">
            <a:avLst/>
          </a:prstGeom>
        </p:spPr>
        <p:style>
          <a:lnRef idx="1">
            <a:schemeClr val="dk1"/>
          </a:lnRef>
          <a:fillRef idx="0">
            <a:schemeClr val="dk1"/>
          </a:fillRef>
          <a:effectRef idx="0">
            <a:schemeClr val="dk1"/>
          </a:effectRef>
          <a:fontRef idx="minor">
            <a:schemeClr val="tx1"/>
          </a:fontRef>
        </p:style>
      </p:cxnSp>
      <p:cxnSp>
        <p:nvCxnSpPr>
          <p:cNvPr id="35" name="Connecteur droit 34"/>
          <p:cNvCxnSpPr/>
          <p:nvPr/>
        </p:nvCxnSpPr>
        <p:spPr>
          <a:xfrm>
            <a:off x="1270000" y="4607560"/>
            <a:ext cx="518160" cy="0"/>
          </a:xfrm>
          <a:prstGeom prst="line">
            <a:avLst/>
          </a:prstGeom>
        </p:spPr>
        <p:style>
          <a:lnRef idx="1">
            <a:schemeClr val="dk1"/>
          </a:lnRef>
          <a:fillRef idx="0">
            <a:schemeClr val="dk1"/>
          </a:fillRef>
          <a:effectRef idx="0">
            <a:schemeClr val="dk1"/>
          </a:effectRef>
          <a:fontRef idx="minor">
            <a:schemeClr val="tx1"/>
          </a:fontRef>
        </p:style>
      </p:cxnSp>
      <p:cxnSp>
        <p:nvCxnSpPr>
          <p:cNvPr id="39" name="Connecteur droit avec flèche 38"/>
          <p:cNvCxnSpPr/>
          <p:nvPr/>
        </p:nvCxnSpPr>
        <p:spPr>
          <a:xfrm>
            <a:off x="1788160" y="4556760"/>
            <a:ext cx="0" cy="375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725995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60" y="394127"/>
            <a:ext cx="11501120" cy="5909310"/>
          </a:xfrm>
          <a:prstGeom prst="rect">
            <a:avLst/>
          </a:prstGeom>
        </p:spPr>
        <p:txBody>
          <a:bodyPr wrap="square">
            <a:spAutoFit/>
          </a:bodyPr>
          <a:lstStyle/>
          <a:p>
            <a:pPr lvl="0" fontAlgn="base">
              <a:spcBef>
                <a:spcPct val="0"/>
              </a:spcBef>
              <a:spcAft>
                <a:spcPct val="0"/>
              </a:spcAft>
            </a:pPr>
            <a:r>
              <a:rPr lang="fr-FR" dirty="0">
                <a:latin typeface="Times New Roman" panose="02020603050405020304" pitchFamily="18" charset="0"/>
                <a:ea typeface="Times New Roman" panose="02020603050405020304" pitchFamily="18" charset="0"/>
                <a:cs typeface="Times New Roman" panose="02020603050405020304" pitchFamily="18" charset="0"/>
              </a:rPr>
              <a:t>On peut associer à chaque classe d’élément de EXCP une action avec les règles :</a:t>
            </a:r>
            <a:endParaRPr lang="fr-FR" dirty="0">
              <a:latin typeface="Times New Roman" panose="02020603050405020304" pitchFamily="18" charset="0"/>
              <a:cs typeface="Times New Roman" pitchFamily="18" charset="0"/>
            </a:endParaRPr>
          </a:p>
          <a:p>
            <a:pPr lvl="0" eaLnBrk="0" fontAlgn="base" hangingPunct="0">
              <a:spcBef>
                <a:spcPct val="0"/>
              </a:spcBef>
              <a:spcAft>
                <a:spcPct val="0"/>
              </a:spcAft>
            </a:pPr>
            <a:r>
              <a:rPr lang="fr-FR" dirty="0">
                <a:latin typeface="Times New Roman" panose="02020603050405020304" pitchFamily="18" charset="0"/>
                <a:ea typeface="Times New Roman" panose="02020603050405020304" pitchFamily="18" charset="0"/>
                <a:cs typeface="Times New Roman" panose="02020603050405020304" pitchFamily="18" charset="0"/>
              </a:rPr>
              <a:t>* </a:t>
            </a:r>
            <a:r>
              <a:rPr lang="fr-FR" b="1" dirty="0">
                <a:latin typeface="Times New Roman" panose="02020603050405020304" pitchFamily="18" charset="0"/>
                <a:ea typeface="Times New Roman" panose="02020603050405020304" pitchFamily="18" charset="0"/>
                <a:cs typeface="Times New Roman" panose="02020603050405020304" pitchFamily="18" charset="0"/>
              </a:rPr>
              <a:t>opérateur</a:t>
            </a:r>
            <a:r>
              <a:rPr lang="fr-FR" dirty="0">
                <a:latin typeface="Times New Roman" panose="02020603050405020304" pitchFamily="18" charset="0"/>
                <a:ea typeface="Times New Roman" panose="02020603050405020304" pitchFamily="18" charset="0"/>
                <a:cs typeface="Times New Roman" panose="02020603050405020304" pitchFamily="18" charset="0"/>
              </a:rPr>
              <a:t> : on l’empile,</a:t>
            </a:r>
            <a:endParaRPr lang="fr-FR" dirty="0">
              <a:latin typeface="Times New Roman" panose="02020603050405020304" pitchFamily="18" charset="0"/>
              <a:cs typeface="Times New Roman" pitchFamily="18" charset="0"/>
            </a:endParaRPr>
          </a:p>
          <a:p>
            <a:pPr lvl="0" eaLnBrk="0" fontAlgn="base" hangingPunct="0">
              <a:spcBef>
                <a:spcPct val="0"/>
              </a:spcBef>
              <a:spcAft>
                <a:spcPct val="0"/>
              </a:spcAft>
            </a:pPr>
            <a:r>
              <a:rPr lang="fr-FR" dirty="0">
                <a:latin typeface="Times New Roman" panose="02020603050405020304" pitchFamily="18" charset="0"/>
                <a:ea typeface="Times New Roman" panose="02020603050405020304" pitchFamily="18" charset="0"/>
                <a:cs typeface="Times New Roman" panose="02020603050405020304" pitchFamily="18" charset="0"/>
              </a:rPr>
              <a:t>* </a:t>
            </a:r>
            <a:r>
              <a:rPr lang="fr-FR" b="1" dirty="0">
                <a:latin typeface="Times New Roman" panose="02020603050405020304" pitchFamily="18" charset="0"/>
                <a:ea typeface="Times New Roman" panose="02020603050405020304" pitchFamily="18" charset="0"/>
                <a:cs typeface="Times New Roman" panose="02020603050405020304" pitchFamily="18" charset="0"/>
              </a:rPr>
              <a:t>variable</a:t>
            </a:r>
            <a:r>
              <a:rPr lang="fr-FR" dirty="0">
                <a:latin typeface="Times New Roman" panose="02020603050405020304" pitchFamily="18" charset="0"/>
                <a:ea typeface="Times New Roman" panose="02020603050405020304" pitchFamily="18" charset="0"/>
                <a:cs typeface="Times New Roman" panose="02020603050405020304" pitchFamily="18" charset="0"/>
              </a:rPr>
              <a:t> : on la range dans EXPOST,</a:t>
            </a:r>
            <a:endParaRPr lang="fr-FR" dirty="0">
              <a:latin typeface="Times New Roman" panose="02020603050405020304" pitchFamily="18" charset="0"/>
              <a:cs typeface="Times New Roman" pitchFamily="18" charset="0"/>
            </a:endParaRPr>
          </a:p>
          <a:p>
            <a:pPr lvl="0" eaLnBrk="0" fontAlgn="base" hangingPunct="0">
              <a:spcBef>
                <a:spcPct val="0"/>
              </a:spcBef>
              <a:spcAft>
                <a:spcPct val="0"/>
              </a:spcAft>
            </a:pPr>
            <a:r>
              <a:rPr lang="fr-FR" dirty="0">
                <a:latin typeface="Times New Roman" panose="02020603050405020304" pitchFamily="18" charset="0"/>
                <a:ea typeface="Times New Roman" panose="02020603050405020304" pitchFamily="18" charset="0"/>
                <a:cs typeface="Times New Roman" panose="02020603050405020304" pitchFamily="18" charset="0"/>
              </a:rPr>
              <a:t>* </a:t>
            </a:r>
            <a:r>
              <a:rPr lang="fr-FR" b="1" dirty="0">
                <a:latin typeface="Times New Roman" panose="02020603050405020304" pitchFamily="18" charset="0"/>
                <a:ea typeface="Times New Roman" panose="02020603050405020304" pitchFamily="18" charset="0"/>
                <a:cs typeface="Times New Roman" panose="02020603050405020304" pitchFamily="18" charset="0"/>
              </a:rPr>
              <a:t>parenthèse droite</a:t>
            </a:r>
            <a:r>
              <a:rPr lang="fr-FR" dirty="0">
                <a:latin typeface="Times New Roman" panose="02020603050405020304" pitchFamily="18" charset="0"/>
                <a:ea typeface="Times New Roman" panose="02020603050405020304" pitchFamily="18" charset="0"/>
                <a:cs typeface="Times New Roman" panose="02020603050405020304" pitchFamily="18" charset="0"/>
              </a:rPr>
              <a:t> : on dépile un opérateur que l’on range dans EXPOST,</a:t>
            </a:r>
            <a:endParaRPr lang="fr-FR" dirty="0">
              <a:latin typeface="Times New Roman" panose="02020603050405020304" pitchFamily="18" charset="0"/>
              <a:cs typeface="Times New Roman" pitchFamily="18" charset="0"/>
            </a:endParaRPr>
          </a:p>
          <a:p>
            <a:pPr lvl="0" eaLnBrk="0" fontAlgn="base" hangingPunct="0">
              <a:spcBef>
                <a:spcPct val="0"/>
              </a:spcBef>
              <a:spcAft>
                <a:spcPct val="0"/>
              </a:spcAft>
            </a:pPr>
            <a:r>
              <a:rPr lang="fr-FR" dirty="0">
                <a:latin typeface="Times New Roman" panose="02020603050405020304" pitchFamily="18" charset="0"/>
                <a:ea typeface="Times New Roman" panose="02020603050405020304" pitchFamily="18" charset="0"/>
                <a:cs typeface="Times New Roman" panose="02020603050405020304" pitchFamily="18" charset="0"/>
              </a:rPr>
              <a:t>* </a:t>
            </a:r>
            <a:r>
              <a:rPr lang="fr-FR" b="1" dirty="0">
                <a:latin typeface="Times New Roman" panose="02020603050405020304" pitchFamily="18" charset="0"/>
                <a:ea typeface="Times New Roman" panose="02020603050405020304" pitchFamily="18" charset="0"/>
                <a:cs typeface="Times New Roman" panose="02020603050405020304" pitchFamily="18" charset="0"/>
              </a:rPr>
              <a:t>parenthèse gauche</a:t>
            </a:r>
            <a:r>
              <a:rPr lang="fr-FR" dirty="0">
                <a:latin typeface="Times New Roman" pitchFamily="18" charset="0"/>
                <a:ea typeface="Times New Roman" pitchFamily="18" charset="0"/>
                <a:cs typeface="Times New Roman" pitchFamily="18" charset="0"/>
              </a:rPr>
              <a:t> : aucune action.</a:t>
            </a:r>
          </a:p>
          <a:p>
            <a:pPr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Ces règles permettent de construire un algorithme cohérent. E</a:t>
            </a:r>
            <a:r>
              <a:rPr lang="fr-FR" dirty="0">
                <a:latin typeface="Times New Roman" panose="02020603050405020304" pitchFamily="18" charset="0"/>
                <a:cs typeface="Times New Roman" panose="02020603050405020304" pitchFamily="18" charset="0"/>
              </a:rPr>
              <a:t>n fin d’algorithme la pile est vide.</a:t>
            </a:r>
          </a:p>
          <a:p>
            <a:r>
              <a:rPr lang="fr-FR" b="1" dirty="0" smtClean="0">
                <a:latin typeface="Times New Roman" panose="02020603050405020304" pitchFamily="18" charset="0"/>
                <a:cs typeface="Times New Roman" pitchFamily="18" charset="0"/>
              </a:rPr>
              <a:t>vide  </a:t>
            </a:r>
            <a:r>
              <a:rPr lang="fr-FR" dirty="0" err="1">
                <a:latin typeface="Times New Roman" panose="02020603050405020304" pitchFamily="18" charset="0"/>
                <a:cs typeface="Times New Roman" pitchFamily="18" charset="0"/>
              </a:rPr>
              <a:t>cppost</a:t>
            </a:r>
            <a:r>
              <a:rPr lang="fr-FR" b="1" dirty="0">
                <a:latin typeface="Times New Roman" panose="02020603050405020304" pitchFamily="18" charset="0"/>
                <a:cs typeface="Times New Roman" pitchFamily="18" charset="0"/>
              </a:rPr>
              <a:t>(d t </a:t>
            </a:r>
            <a:r>
              <a:rPr lang="fr-FR" dirty="0" err="1">
                <a:latin typeface="Times New Roman" panose="02020603050405020304" pitchFamily="18" charset="0"/>
                <a:cs typeface="Times New Roman" pitchFamily="18" charset="0"/>
              </a:rPr>
              <a:t>excp</a:t>
            </a:r>
            <a:r>
              <a:rPr lang="fr-FR" dirty="0">
                <a:latin typeface="Times New Roman" panose="02020603050405020304" pitchFamily="18" charset="0"/>
                <a:cs typeface="Times New Roman" pitchFamily="18" charset="0"/>
              </a:rPr>
              <a:t>[],</a:t>
            </a:r>
            <a:r>
              <a:rPr lang="fr-FR" b="1" dirty="0">
                <a:latin typeface="Times New Roman" panose="02020603050405020304" pitchFamily="18" charset="0"/>
                <a:cs typeface="Times New Roman" pitchFamily="18" charset="0"/>
              </a:rPr>
              <a:t> r t </a:t>
            </a:r>
            <a:r>
              <a:rPr lang="fr-FR" dirty="0" err="1">
                <a:latin typeface="Times New Roman" panose="02020603050405020304" pitchFamily="18" charset="0"/>
                <a:cs typeface="Times New Roman" pitchFamily="18" charset="0"/>
              </a:rPr>
              <a:t>expost</a:t>
            </a:r>
            <a:r>
              <a:rPr lang="fr-FR" dirty="0">
                <a:latin typeface="Times New Roman" panose="02020603050405020304" pitchFamily="18" charset="0"/>
                <a:cs typeface="Times New Roman" pitchFamily="18" charset="0"/>
              </a:rPr>
              <a:t>[]</a:t>
            </a:r>
            <a:r>
              <a:rPr lang="fr-FR" b="1" dirty="0">
                <a:latin typeface="Times New Roman" panose="02020603050405020304" pitchFamily="18" charset="0"/>
                <a:cs typeface="Times New Roman" pitchFamily="18" charset="0"/>
              </a:rPr>
              <a:t>)</a:t>
            </a:r>
          </a:p>
          <a:p>
            <a:r>
              <a:rPr lang="fr-FR" b="1" dirty="0" err="1" smtClean="0">
                <a:latin typeface="Times New Roman" panose="02020603050405020304" pitchFamily="18" charset="0"/>
                <a:cs typeface="Times New Roman" pitchFamily="18" charset="0"/>
              </a:rPr>
              <a:t>debfonc</a:t>
            </a:r>
            <a:r>
              <a:rPr lang="fr-FR" b="1" dirty="0" smtClean="0">
                <a:latin typeface="Times New Roman" panose="02020603050405020304" pitchFamily="18" charset="0"/>
                <a:cs typeface="Times New Roman" pitchFamily="18" charset="0"/>
              </a:rPr>
              <a:t> </a:t>
            </a:r>
            <a:r>
              <a:rPr lang="fr-FR" b="1" dirty="0">
                <a:latin typeface="Times New Roman" panose="02020603050405020304" pitchFamily="18" charset="0"/>
                <a:cs typeface="Times New Roman" pitchFamily="18" charset="0"/>
              </a:rPr>
              <a:t>entier </a:t>
            </a:r>
            <a:r>
              <a:rPr lang="fr-FR" dirty="0" err="1">
                <a:latin typeface="Times New Roman" panose="02020603050405020304" pitchFamily="18" charset="0"/>
                <a:cs typeface="Times New Roman" pitchFamily="18" charset="0"/>
              </a:rPr>
              <a:t>indcp</a:t>
            </a:r>
            <a:r>
              <a:rPr lang="fr-FR" dirty="0">
                <a:latin typeface="Times New Roman" panose="02020603050405020304" pitchFamily="18" charset="0"/>
                <a:cs typeface="Times New Roman" pitchFamily="18" charset="0"/>
              </a:rPr>
              <a:t>, </a:t>
            </a:r>
            <a:r>
              <a:rPr lang="fr-FR" dirty="0" err="1">
                <a:latin typeface="Times New Roman" panose="02020603050405020304" pitchFamily="18" charset="0"/>
                <a:cs typeface="Times New Roman" pitchFamily="18" charset="0"/>
              </a:rPr>
              <a:t>indpost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err="1">
                <a:latin typeface="Times New Roman" panose="02020603050405020304" pitchFamily="18" charset="0"/>
                <a:cs typeface="Times New Roman" pitchFamily="18" charset="0"/>
              </a:rPr>
              <a:t>initpilevide</a:t>
            </a:r>
            <a:r>
              <a:rPr lang="fr-FR" dirty="0">
                <a:latin typeface="Times New Roman" panose="02020603050405020304" pitchFamily="18" charset="0"/>
                <a:cs typeface="Times New Roman" pitchFamily="18" charset="0"/>
              </a:rPr>
              <a:t>()</a:t>
            </a:r>
            <a:r>
              <a:rPr lang="fr-FR" b="1" dirty="0">
                <a:latin typeface="Times New Roman" panose="02020603050405020304" pitchFamily="18" charset="0"/>
                <a:cs typeface="Times New Roman" pitchFamily="18" charset="0"/>
              </a:rPr>
              <a:t>; </a:t>
            </a:r>
            <a:r>
              <a:rPr lang="fr-FR" dirty="0" err="1" smtClean="0">
                <a:latin typeface="Times New Roman" panose="02020603050405020304" pitchFamily="18" charset="0"/>
                <a:cs typeface="Times New Roman" pitchFamily="18" charset="0"/>
              </a:rPr>
              <a:t>indcp</a:t>
            </a:r>
            <a:r>
              <a:rPr lang="fr-FR" dirty="0" smtClean="0">
                <a:latin typeface="Times New Roman" panose="02020603050405020304" pitchFamily="18" charset="0"/>
                <a:cs typeface="Times New Roman" pitchFamily="18" charset="0"/>
              </a:rPr>
              <a:t>:=</a:t>
            </a:r>
            <a:r>
              <a:rPr lang="fr-FR" dirty="0" smtClean="0">
                <a:latin typeface="Times New Roman" panose="02020603050405020304" pitchFamily="18" charset="0"/>
                <a:cs typeface="Times New Roman" pitchFamily="18" charset="0"/>
              </a:rPr>
              <a:t>1</a:t>
            </a:r>
            <a:r>
              <a:rPr lang="fr-FR" b="1" dirty="0">
                <a:latin typeface="Times New Roman" panose="02020603050405020304" pitchFamily="18" charset="0"/>
                <a:cs typeface="Times New Roman" pitchFamily="18" charset="0"/>
              </a:rPr>
              <a:t>; </a:t>
            </a:r>
            <a:r>
              <a:rPr lang="fr-FR" dirty="0" err="1" smtClean="0">
                <a:latin typeface="Times New Roman" panose="02020603050405020304" pitchFamily="18" charset="0"/>
                <a:cs typeface="Times New Roman" pitchFamily="18" charset="0"/>
              </a:rPr>
              <a:t>indpost</a:t>
            </a:r>
            <a:r>
              <a:rPr lang="fr-FR" dirty="0" smtClean="0">
                <a:latin typeface="Times New Roman" panose="02020603050405020304" pitchFamily="18" charset="0"/>
                <a:cs typeface="Times New Roman" pitchFamily="18" charset="0"/>
              </a:rPr>
              <a:t>:=</a:t>
            </a:r>
            <a:r>
              <a:rPr lang="fr-FR" dirty="0" smtClean="0">
                <a:latin typeface="Times New Roman" panose="02020603050405020304" pitchFamily="18" charset="0"/>
                <a:cs typeface="Times New Roman" pitchFamily="18" charset="0"/>
              </a:rPr>
              <a:t>1</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tantque</a:t>
            </a:r>
            <a:r>
              <a:rPr lang="fr-FR" b="1" dirty="0">
                <a:latin typeface="Times New Roman" pitchFamily="18" charset="0"/>
                <a:cs typeface="Times New Roman" pitchFamily="18" charset="0"/>
              </a:rPr>
              <a:t> </a:t>
            </a:r>
            <a:r>
              <a:rPr lang="fr-FR" dirty="0" err="1">
                <a:latin typeface="Times New Roman" panose="02020603050405020304" pitchFamily="18" charset="0"/>
                <a:cs typeface="Times New Roman" pitchFamily="18" charset="0"/>
              </a:rPr>
              <a:t>excp</a:t>
            </a:r>
            <a:r>
              <a:rPr lang="fr-FR" dirty="0">
                <a:latin typeface="Times New Roman" panose="02020603050405020304" pitchFamily="18" charset="0"/>
                <a:cs typeface="Times New Roman" pitchFamily="18" charset="0"/>
              </a:rPr>
              <a:t>[</a:t>
            </a:r>
            <a:r>
              <a:rPr lang="fr-FR" dirty="0" err="1">
                <a:latin typeface="Times New Roman" panose="02020603050405020304" pitchFamily="18" charset="0"/>
                <a:cs typeface="Times New Roman" pitchFamily="18" charset="0"/>
              </a:rPr>
              <a:t>indcp</a:t>
            </a:r>
            <a:r>
              <a:rPr lang="fr-FR" dirty="0">
                <a:latin typeface="Times New Roman" panose="02020603050405020304" pitchFamily="18" charset="0"/>
                <a:cs typeface="Times New Roman" pitchFamily="18" charset="0"/>
              </a:rPr>
              <a:t>] </a:t>
            </a:r>
            <a:r>
              <a:rPr lang="fr-FR" b="1" dirty="0">
                <a:latin typeface="Times New Roman" pitchFamily="18" charset="0"/>
                <a:cs typeface="Times New Roman" pitchFamily="18" charset="0"/>
                <a:sym typeface="Symbol"/>
              </a:rPr>
              <a:t>≠</a:t>
            </a:r>
            <a:r>
              <a:rPr lang="fr-FR" dirty="0">
                <a:latin typeface="Times New Roman" panose="02020603050405020304" pitchFamily="18" charset="0"/>
                <a:cs typeface="Times New Roman" pitchFamily="18" charset="0"/>
              </a:rPr>
              <a:t> ‘#’</a:t>
            </a:r>
            <a:r>
              <a:rPr lang="fr-FR" b="1" dirty="0">
                <a:latin typeface="Times New Roman" panose="02020603050405020304" pitchFamily="18" charset="0"/>
                <a:cs typeface="Times New Roman" pitchFamily="18" charset="0"/>
              </a:rPr>
              <a:t> faire</a:t>
            </a:r>
          </a:p>
          <a:p>
            <a:r>
              <a:rPr lang="fr-FR" b="1" dirty="0">
                <a:latin typeface="Times New Roman" panose="02020603050405020304" pitchFamily="18" charset="0"/>
                <a:cs typeface="Times New Roman" pitchFamily="18" charset="0"/>
              </a:rPr>
              <a:t>      si </a:t>
            </a:r>
            <a:r>
              <a:rPr lang="fr-FR" dirty="0">
                <a:latin typeface="Times New Roman" panose="02020603050405020304" pitchFamily="18" charset="0"/>
                <a:cs typeface="Times New Roman" pitchFamily="18" charset="0"/>
              </a:rPr>
              <a:t>operateur(</a:t>
            </a:r>
            <a:r>
              <a:rPr lang="fr-FR" dirty="0" err="1">
                <a:latin typeface="Times New Roman" panose="02020603050405020304" pitchFamily="18" charset="0"/>
                <a:cs typeface="Times New Roman" pitchFamily="18" charset="0"/>
              </a:rPr>
              <a:t>excp</a:t>
            </a:r>
            <a:r>
              <a:rPr lang="fr-FR" dirty="0">
                <a:latin typeface="Times New Roman" panose="02020603050405020304" pitchFamily="18" charset="0"/>
                <a:cs typeface="Times New Roman" pitchFamily="18" charset="0"/>
              </a:rPr>
              <a:t>[</a:t>
            </a:r>
            <a:r>
              <a:rPr lang="fr-FR" dirty="0" err="1">
                <a:latin typeface="Times New Roman" panose="02020603050405020304" pitchFamily="18" charset="0"/>
                <a:cs typeface="Times New Roman" pitchFamily="18" charset="0"/>
              </a:rPr>
              <a:t>indcp</a:t>
            </a:r>
            <a:r>
              <a:rPr lang="fr-FR" dirty="0">
                <a:latin typeface="Times New Roman" panose="02020603050405020304" pitchFamily="18" charset="0"/>
                <a:cs typeface="Times New Roman" pitchFamily="18" charset="0"/>
              </a:rPr>
              <a:t>])</a:t>
            </a:r>
            <a:r>
              <a:rPr lang="fr-FR" b="1" dirty="0">
                <a:latin typeface="Times New Roman" panose="02020603050405020304" pitchFamily="18" charset="0"/>
                <a:cs typeface="Times New Roman" pitchFamily="18" charset="0"/>
              </a:rPr>
              <a:t> alors </a:t>
            </a:r>
            <a:r>
              <a:rPr lang="fr-FR" dirty="0">
                <a:latin typeface="Times New Roman" panose="02020603050405020304" pitchFamily="18" charset="0"/>
                <a:cs typeface="Times New Roman" pitchFamily="18" charset="0"/>
              </a:rPr>
              <a:t>empiler(</a:t>
            </a:r>
            <a:r>
              <a:rPr lang="fr-FR" dirty="0" err="1">
                <a:latin typeface="Times New Roman" panose="02020603050405020304" pitchFamily="18" charset="0"/>
                <a:cs typeface="Times New Roman" pitchFamily="18" charset="0"/>
              </a:rPr>
              <a:t>excp</a:t>
            </a:r>
            <a:r>
              <a:rPr lang="fr-FR" dirty="0">
                <a:latin typeface="Times New Roman" panose="02020603050405020304" pitchFamily="18" charset="0"/>
                <a:cs typeface="Times New Roman" pitchFamily="18" charset="0"/>
              </a:rPr>
              <a:t>[</a:t>
            </a:r>
            <a:r>
              <a:rPr lang="fr-FR" dirty="0" err="1">
                <a:latin typeface="Times New Roman" panose="02020603050405020304" pitchFamily="18" charset="0"/>
                <a:cs typeface="Times New Roman" pitchFamily="18" charset="0"/>
              </a:rPr>
              <a:t>indcp</a:t>
            </a:r>
            <a:r>
              <a:rPr lang="fr-FR" dirty="0">
                <a:latin typeface="Times New Roman" panose="02020603050405020304" pitchFamily="18" charset="0"/>
                <a:cs typeface="Times New Roman" pitchFamily="18" charset="0"/>
              </a:rPr>
              <a: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sinonsi</a:t>
            </a:r>
            <a:r>
              <a:rPr lang="fr-FR" b="1" dirty="0">
                <a:latin typeface="Times New Roman" pitchFamily="18" charset="0"/>
                <a:cs typeface="Times New Roman" pitchFamily="18" charset="0"/>
              </a:rPr>
              <a:t>  </a:t>
            </a:r>
            <a:r>
              <a:rPr lang="fr-FR" dirty="0">
                <a:latin typeface="Times New Roman" panose="02020603050405020304" pitchFamily="18" charset="0"/>
                <a:cs typeface="Times New Roman" pitchFamily="18" charset="0"/>
              </a:rPr>
              <a:t>variable(</a:t>
            </a:r>
            <a:r>
              <a:rPr lang="fr-FR" dirty="0" err="1">
                <a:latin typeface="Times New Roman" panose="02020603050405020304" pitchFamily="18" charset="0"/>
                <a:cs typeface="Times New Roman" pitchFamily="18" charset="0"/>
              </a:rPr>
              <a:t>excp</a:t>
            </a:r>
            <a:r>
              <a:rPr lang="fr-FR" dirty="0">
                <a:latin typeface="Times New Roman" panose="02020603050405020304" pitchFamily="18" charset="0"/>
                <a:cs typeface="Times New Roman" pitchFamily="18" charset="0"/>
              </a:rPr>
              <a:t>[</a:t>
            </a:r>
            <a:r>
              <a:rPr lang="fr-FR" dirty="0" err="1">
                <a:latin typeface="Times New Roman" panose="02020603050405020304" pitchFamily="18" charset="0"/>
                <a:cs typeface="Times New Roman" pitchFamily="18" charset="0"/>
              </a:rPr>
              <a:t>indcp</a:t>
            </a:r>
            <a:r>
              <a:rPr lang="fr-FR" dirty="0">
                <a:latin typeface="Times New Roman" panose="02020603050405020304" pitchFamily="18" charset="0"/>
                <a:cs typeface="Times New Roman" pitchFamily="18" charset="0"/>
              </a:rPr>
              <a:t>])</a:t>
            </a:r>
            <a:r>
              <a:rPr lang="fr-FR" b="1" dirty="0">
                <a:latin typeface="Times New Roman" panose="02020603050405020304" pitchFamily="18" charset="0"/>
                <a:cs typeface="Times New Roman" pitchFamily="18" charset="0"/>
              </a:rPr>
              <a:t> alors</a:t>
            </a:r>
          </a:p>
          <a:p>
            <a:r>
              <a:rPr lang="fr-FR" b="1" dirty="0">
                <a:latin typeface="Times New Roman" panose="02020603050405020304" pitchFamily="18" charset="0"/>
                <a:cs typeface="Times New Roman" pitchFamily="18" charset="0"/>
              </a:rPr>
              <a:t>            </a:t>
            </a:r>
            <a:r>
              <a:rPr lang="fr-FR" dirty="0" err="1" smtClean="0">
                <a:latin typeface="Times New Roman" panose="02020603050405020304" pitchFamily="18" charset="0"/>
                <a:cs typeface="Times New Roman" pitchFamily="18" charset="0"/>
              </a:rPr>
              <a:t>expost</a:t>
            </a:r>
            <a:r>
              <a:rPr lang="fr-FR" dirty="0" smtClean="0">
                <a:latin typeface="Times New Roman" panose="02020603050405020304" pitchFamily="18" charset="0"/>
                <a:cs typeface="Times New Roman" pitchFamily="18" charset="0"/>
              </a:rPr>
              <a:t>[</a:t>
            </a:r>
            <a:r>
              <a:rPr lang="fr-FR" dirty="0" err="1" smtClean="0">
                <a:latin typeface="Times New Roman" panose="02020603050405020304" pitchFamily="18" charset="0"/>
                <a:cs typeface="Times New Roman" pitchFamily="18" charset="0"/>
              </a:rPr>
              <a:t>indpost</a:t>
            </a:r>
            <a:r>
              <a:rPr lang="fr-FR" dirty="0" smtClean="0">
                <a:latin typeface="Times New Roman" panose="02020603050405020304" pitchFamily="18" charset="0"/>
                <a:cs typeface="Times New Roman" pitchFamily="18" charset="0"/>
              </a:rPr>
              <a:t>]:=</a:t>
            </a:r>
            <a:r>
              <a:rPr lang="fr-FR" dirty="0" err="1" smtClean="0">
                <a:latin typeface="Times New Roman" panose="02020603050405020304" pitchFamily="18" charset="0"/>
                <a:cs typeface="Times New Roman" pitchFamily="18" charset="0"/>
              </a:rPr>
              <a:t>excp</a:t>
            </a:r>
            <a:r>
              <a:rPr lang="fr-FR" dirty="0" smtClean="0">
                <a:latin typeface="Times New Roman" panose="02020603050405020304" pitchFamily="18" charset="0"/>
                <a:cs typeface="Times New Roman" pitchFamily="18" charset="0"/>
              </a:rPr>
              <a:t>[</a:t>
            </a:r>
            <a:r>
              <a:rPr lang="fr-FR" dirty="0" err="1" smtClean="0">
                <a:latin typeface="Times New Roman" panose="02020603050405020304" pitchFamily="18" charset="0"/>
                <a:cs typeface="Times New Roman" pitchFamily="18" charset="0"/>
              </a:rPr>
              <a:t>indcp</a:t>
            </a:r>
            <a:r>
              <a:rPr lang="fr-FR" dirty="0">
                <a:latin typeface="Times New Roman" panose="02020603050405020304" pitchFamily="18" charset="0"/>
                <a:cs typeface="Times New Roman" pitchFamily="18" charset="0"/>
              </a:rPr>
              <a:t>]</a:t>
            </a:r>
            <a:r>
              <a:rPr lang="fr-FR" b="1" dirty="0">
                <a:latin typeface="Times New Roman" panose="02020603050405020304" pitchFamily="18" charset="0"/>
                <a:cs typeface="Times New Roman" pitchFamily="18" charset="0"/>
              </a:rPr>
              <a:t>; </a:t>
            </a:r>
            <a:r>
              <a:rPr lang="fr-FR" dirty="0" err="1" smtClean="0">
                <a:latin typeface="Times New Roman" panose="02020603050405020304" pitchFamily="18" charset="0"/>
                <a:cs typeface="Times New Roman" pitchFamily="18" charset="0"/>
              </a:rPr>
              <a:t>indpost</a:t>
            </a:r>
            <a:r>
              <a:rPr lang="fr-FR" dirty="0" smtClean="0">
                <a:latin typeface="Times New Roman" panose="02020603050405020304" pitchFamily="18" charset="0"/>
                <a:cs typeface="Times New Roman" pitchFamily="18" charset="0"/>
              </a:rPr>
              <a:t>:=indpost+1</a:t>
            </a:r>
            <a:r>
              <a:rPr lang="fr-FR" b="1" dirty="0" smtClean="0">
                <a:latin typeface="Times New Roman" pitchFamily="18" charset="0"/>
                <a:cs typeface="Times New Roman" pitchFamily="18" charset="0"/>
              </a:rPr>
              <a:t>; </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sinonsi</a:t>
            </a:r>
            <a:r>
              <a:rPr lang="fr-FR" b="1" dirty="0">
                <a:latin typeface="Times New Roman" pitchFamily="18" charset="0"/>
                <a:cs typeface="Times New Roman" pitchFamily="18" charset="0"/>
              </a:rPr>
              <a:t> </a:t>
            </a:r>
            <a:r>
              <a:rPr lang="fr-FR" dirty="0" err="1">
                <a:latin typeface="Times New Roman" panose="02020603050405020304" pitchFamily="18" charset="0"/>
                <a:cs typeface="Times New Roman" pitchFamily="18" charset="0"/>
              </a:rPr>
              <a:t>excp</a:t>
            </a:r>
            <a:r>
              <a:rPr lang="fr-FR" dirty="0">
                <a:latin typeface="Times New Roman" panose="02020603050405020304" pitchFamily="18" charset="0"/>
                <a:cs typeface="Times New Roman" pitchFamily="18" charset="0"/>
              </a:rPr>
              <a:t>[</a:t>
            </a:r>
            <a:r>
              <a:rPr lang="fr-FR" dirty="0" err="1">
                <a:latin typeface="Times New Roman" panose="02020603050405020304" pitchFamily="18" charset="0"/>
                <a:cs typeface="Times New Roman" pitchFamily="18" charset="0"/>
              </a:rPr>
              <a:t>indcp</a:t>
            </a:r>
            <a:r>
              <a:rPr lang="fr-FR" dirty="0">
                <a:latin typeface="Times New Roman" panose="02020603050405020304" pitchFamily="18" charset="0"/>
                <a:cs typeface="Times New Roman" pitchFamily="18" charset="0"/>
              </a:rPr>
              <a:t>] = ‘)’</a:t>
            </a:r>
            <a:r>
              <a:rPr lang="fr-FR" b="1" dirty="0">
                <a:latin typeface="Times New Roman" panose="02020603050405020304" pitchFamily="18" charset="0"/>
                <a:cs typeface="Times New Roman" pitchFamily="18" charset="0"/>
              </a:rPr>
              <a:t> alors</a:t>
            </a:r>
          </a:p>
          <a:p>
            <a:r>
              <a:rPr lang="fr-FR" b="1" dirty="0">
                <a:latin typeface="Times New Roman" panose="02020603050405020304" pitchFamily="18" charset="0"/>
                <a:cs typeface="Times New Roman" pitchFamily="18" charset="0"/>
              </a:rPr>
              <a:t>                  </a:t>
            </a:r>
            <a:r>
              <a:rPr lang="fr-FR" dirty="0">
                <a:latin typeface="Times New Roman" panose="02020603050405020304" pitchFamily="18" charset="0"/>
                <a:cs typeface="Times New Roman" pitchFamily="18" charset="0"/>
              </a:rPr>
              <a:t>dépiler(</a:t>
            </a:r>
            <a:r>
              <a:rPr lang="fr-FR" dirty="0" err="1">
                <a:latin typeface="Times New Roman" panose="02020603050405020304" pitchFamily="18" charset="0"/>
                <a:cs typeface="Times New Roman" pitchFamily="18" charset="0"/>
              </a:rPr>
              <a:t>expost</a:t>
            </a:r>
            <a:r>
              <a:rPr lang="fr-FR" dirty="0">
                <a:latin typeface="Times New Roman" panose="02020603050405020304" pitchFamily="18" charset="0"/>
                <a:cs typeface="Times New Roman" pitchFamily="18" charset="0"/>
              </a:rPr>
              <a:t>[</a:t>
            </a:r>
            <a:r>
              <a:rPr lang="fr-FR" dirty="0" err="1">
                <a:latin typeface="Times New Roman" panose="02020603050405020304" pitchFamily="18" charset="0"/>
                <a:cs typeface="Times New Roman" pitchFamily="18" charset="0"/>
              </a:rPr>
              <a:t>indpost</a:t>
            </a:r>
            <a:r>
              <a:rPr lang="fr-FR" dirty="0">
                <a:latin typeface="Times New Roman" panose="02020603050405020304" pitchFamily="18" charset="0"/>
                <a:cs typeface="Times New Roman" pitchFamily="18" charset="0"/>
              </a:rPr>
              <a: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err="1" smtClean="0">
                <a:latin typeface="Times New Roman" panose="02020603050405020304" pitchFamily="18" charset="0"/>
                <a:cs typeface="Times New Roman" pitchFamily="18" charset="0"/>
              </a:rPr>
              <a:t>indpost</a:t>
            </a:r>
            <a:r>
              <a:rPr lang="fr-FR" dirty="0" smtClean="0">
                <a:latin typeface="Times New Roman" panose="02020603050405020304" pitchFamily="18" charset="0"/>
                <a:cs typeface="Times New Roman" pitchFamily="18" charset="0"/>
              </a:rPr>
              <a:t>:=indpost+1</a:t>
            </a:r>
            <a:r>
              <a:rPr lang="fr-FR" b="1" dirty="0" smtClean="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finsi</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err="1" smtClean="0">
                <a:latin typeface="Times New Roman" panose="02020603050405020304" pitchFamily="18" charset="0"/>
                <a:cs typeface="Times New Roman" pitchFamily="18" charset="0"/>
              </a:rPr>
              <a:t>indcp</a:t>
            </a:r>
            <a:r>
              <a:rPr lang="fr-FR" dirty="0" smtClean="0">
                <a:latin typeface="Times New Roman" panose="02020603050405020304" pitchFamily="18" charset="0"/>
                <a:cs typeface="Times New Roman" pitchFamily="18" charset="0"/>
              </a:rPr>
              <a:t>:=indcp+1</a:t>
            </a:r>
            <a:r>
              <a:rPr lang="fr-FR" b="1" dirty="0" smtClean="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finfaire</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err="1">
                <a:latin typeface="Times New Roman" panose="02020603050405020304" pitchFamily="18" charset="0"/>
                <a:cs typeface="Times New Roman" pitchFamily="18" charset="0"/>
              </a:rPr>
              <a:t>expost</a:t>
            </a:r>
            <a:r>
              <a:rPr lang="fr-FR" dirty="0">
                <a:latin typeface="Times New Roman" panose="02020603050405020304" pitchFamily="18" charset="0"/>
                <a:cs typeface="Times New Roman" pitchFamily="18" charset="0"/>
              </a:rPr>
              <a:t>[</a:t>
            </a:r>
            <a:r>
              <a:rPr lang="fr-FR" dirty="0" err="1">
                <a:latin typeface="Times New Roman" panose="02020603050405020304" pitchFamily="18" charset="0"/>
                <a:cs typeface="Times New Roman" pitchFamily="18" charset="0"/>
              </a:rPr>
              <a:t>indpost</a:t>
            </a:r>
            <a:r>
              <a:rPr lang="fr-FR" dirty="0" smtClean="0">
                <a:latin typeface="Times New Roman" panose="02020603050405020304" pitchFamily="18" charset="0"/>
                <a:cs typeface="Times New Roman" pitchFamily="18" charset="0"/>
              </a:rPr>
              <a:t>]:=‘#’;</a:t>
            </a:r>
            <a:endParaRPr lang="fr-FR" dirty="0">
              <a:latin typeface="Times New Roman" panose="02020603050405020304" pitchFamily="18" charset="0"/>
              <a:cs typeface="Times New Roman" pitchFamily="18" charset="0"/>
            </a:endParaRPr>
          </a:p>
          <a:p>
            <a:r>
              <a:rPr lang="fr-FR" b="1" dirty="0" err="1" smtClean="0">
                <a:latin typeface="Times New Roman" panose="02020603050405020304" pitchFamily="18" charset="0"/>
                <a:cs typeface="Times New Roman" pitchFamily="18" charset="0"/>
              </a:rPr>
              <a:t>finfonc</a:t>
            </a:r>
            <a:r>
              <a:rPr lang="fr-FR" b="1" dirty="0">
                <a:latin typeface="Times New Roman" panose="02020603050405020304" pitchFamily="18" charset="0"/>
                <a:cs typeface="Times New Roman" pitchFamily="18" charset="0"/>
              </a:rPr>
              <a:t>;</a:t>
            </a:r>
          </a:p>
        </p:txBody>
      </p:sp>
    </p:spTree>
    <p:extLst>
      <p:ext uri="{BB962C8B-B14F-4D97-AF65-F5344CB8AC3E}">
        <p14:creationId xmlns:p14="http://schemas.microsoft.com/office/powerpoint/2010/main" val="34993775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080" y="604808"/>
            <a:ext cx="11765280" cy="5909310"/>
          </a:xfrm>
          <a:prstGeom prst="rect">
            <a:avLst/>
          </a:prstGeom>
        </p:spPr>
        <p:txBody>
          <a:bodyPr wrap="square">
            <a:spAutoFit/>
          </a:bodyPr>
          <a:lstStyle/>
          <a:p>
            <a:pPr lvl="0" algn="just" fontAlgn="base">
              <a:spcBef>
                <a:spcPct val="0"/>
              </a:spcBef>
              <a:spcAft>
                <a:spcPct val="0"/>
              </a:spcAft>
            </a:pPr>
            <a:r>
              <a:rPr lang="fr-FR" dirty="0">
                <a:latin typeface="Times New Roman" pitchFamily="18" charset="0"/>
                <a:ea typeface="Times New Roman" pitchFamily="18" charset="0"/>
                <a:cs typeface="Times New Roman" pitchFamily="18" charset="0"/>
              </a:rPr>
              <a:t>Cet algorithme détecte des erreurs de syntaxe dans l’</a:t>
            </a:r>
            <a:r>
              <a:rPr lang="fr-FR" b="1" dirty="0" err="1">
                <a:latin typeface="Times New Roman" pitchFamily="18" charset="0"/>
                <a:ea typeface="Times New Roman" pitchFamily="18" charset="0"/>
                <a:cs typeface="Times New Roman" pitchFamily="18" charset="0"/>
              </a:rPr>
              <a:t>excp</a:t>
            </a:r>
            <a:r>
              <a:rPr lang="fr-FR" dirty="0">
                <a:latin typeface="Times New Roman" pitchFamily="18" charset="0"/>
                <a:ea typeface="Times New Roman" pitchFamily="18" charset="0"/>
                <a:cs typeface="Times New Roman" pitchFamily="18" charset="0"/>
              </a:rPr>
              <a:t>. La fin d’</a:t>
            </a:r>
            <a:r>
              <a:rPr lang="fr-FR" b="1" dirty="0" err="1">
                <a:latin typeface="Times New Roman" pitchFamily="18" charset="0"/>
                <a:ea typeface="Times New Roman" pitchFamily="18" charset="0"/>
                <a:cs typeface="Times New Roman" pitchFamily="18" charset="0"/>
              </a:rPr>
              <a:t>excp</a:t>
            </a:r>
            <a:r>
              <a:rPr lang="fr-FR" dirty="0">
                <a:latin typeface="Times New Roman" pitchFamily="18" charset="0"/>
                <a:ea typeface="Times New Roman" pitchFamily="18" charset="0"/>
                <a:cs typeface="Times New Roman" pitchFamily="18" charset="0"/>
              </a:rPr>
              <a:t> est notée par </a:t>
            </a:r>
            <a:r>
              <a:rPr lang="fr-FR" b="1" dirty="0">
                <a:latin typeface="Times New Roman" pitchFamily="18" charset="0"/>
                <a:ea typeface="Times New Roman" pitchFamily="18" charset="0"/>
                <a:cs typeface="Times New Roman" pitchFamily="18" charset="0"/>
              </a:rPr>
              <a:t>#</a:t>
            </a:r>
            <a:r>
              <a:rPr lang="fr-FR" dirty="0">
                <a:latin typeface="Times New Roman" pitchFamily="18" charset="0"/>
                <a:ea typeface="Times New Roman" pitchFamily="18" charset="0"/>
                <a:cs typeface="Times New Roman" pitchFamily="18" charset="0"/>
              </a:rPr>
              <a:t>, il suffit d’ajouter 2 tests : l’1 sur les caractères possibles en entrée, l’autre sur la pile qui doit être vide à la fin. On notera que si la pile est vide avant la fin (cas où il y aurait trop de parenthèses droites), c’est l’appel de la fonction </a:t>
            </a:r>
            <a:r>
              <a:rPr lang="fr-FR" b="1" dirty="0">
                <a:latin typeface="Times New Roman" pitchFamily="18" charset="0"/>
                <a:ea typeface="Times New Roman" pitchFamily="18" charset="0"/>
                <a:cs typeface="Times New Roman" pitchFamily="18" charset="0"/>
              </a:rPr>
              <a:t>dépiler</a:t>
            </a:r>
            <a:r>
              <a:rPr lang="fr-FR" dirty="0">
                <a:latin typeface="Times New Roman" pitchFamily="18" charset="0"/>
                <a:ea typeface="Times New Roman" pitchFamily="18" charset="0"/>
                <a:cs typeface="Times New Roman" pitchFamily="18" charset="0"/>
              </a:rPr>
              <a:t> qui détectera l’erreur et fera arrêter le déroulement de l’algorithme. Algorithme : passage d’une </a:t>
            </a:r>
            <a:r>
              <a:rPr lang="fr-FR" b="1" dirty="0" err="1">
                <a:latin typeface="Times New Roman" pitchFamily="18" charset="0"/>
                <a:ea typeface="Times New Roman" pitchFamily="18" charset="0"/>
                <a:cs typeface="Times New Roman" pitchFamily="18" charset="0"/>
              </a:rPr>
              <a:t>excp</a:t>
            </a:r>
            <a:r>
              <a:rPr lang="fr-FR" dirty="0">
                <a:latin typeface="Times New Roman" pitchFamily="18" charset="0"/>
                <a:ea typeface="Times New Roman" pitchFamily="18" charset="0"/>
                <a:cs typeface="Times New Roman" pitchFamily="18" charset="0"/>
              </a:rPr>
              <a:t> en </a:t>
            </a:r>
            <a:r>
              <a:rPr lang="fr-FR" b="1" dirty="0" err="1">
                <a:latin typeface="Times New Roman" pitchFamily="18" charset="0"/>
                <a:ea typeface="Times New Roman" pitchFamily="18" charset="0"/>
                <a:cs typeface="Times New Roman" pitchFamily="18" charset="0"/>
              </a:rPr>
              <a:t>expost</a:t>
            </a:r>
            <a:r>
              <a:rPr lang="fr-FR" dirty="0">
                <a:latin typeface="Times New Roman" pitchFamily="18" charset="0"/>
                <a:ea typeface="Times New Roman" pitchFamily="18" charset="0"/>
                <a:cs typeface="Times New Roman" pitchFamily="18" charset="0"/>
              </a:rPr>
              <a:t> avec détection d’erreurs dans </a:t>
            </a:r>
            <a:r>
              <a:rPr lang="fr-FR" b="1" dirty="0" err="1">
                <a:latin typeface="Times New Roman" pitchFamily="18" charset="0"/>
                <a:ea typeface="Times New Roman" pitchFamily="18" charset="0"/>
                <a:cs typeface="Times New Roman" pitchFamily="18" charset="0"/>
              </a:rPr>
              <a:t>excp</a:t>
            </a:r>
            <a:r>
              <a:rPr lang="fr-FR" dirty="0">
                <a:latin typeface="Times New Roman" pitchFamily="18" charset="0"/>
                <a:ea typeface="Times New Roman" pitchFamily="18" charset="0"/>
                <a:cs typeface="Times New Roman" pitchFamily="18" charset="0"/>
              </a:rPr>
              <a:t>.</a:t>
            </a:r>
          </a:p>
          <a:p>
            <a:r>
              <a:rPr lang="fr-FR" b="1" dirty="0" smtClean="0">
                <a:latin typeface="Times New Roman" pitchFamily="18" charset="0"/>
                <a:cs typeface="Times New Roman" pitchFamily="18" charset="0"/>
              </a:rPr>
              <a:t>vide </a:t>
            </a:r>
            <a:r>
              <a:rPr lang="fr-FR" dirty="0">
                <a:latin typeface="Times New Roman" pitchFamily="18" charset="0"/>
                <a:cs typeface="Times New Roman" pitchFamily="18" charset="0"/>
              </a:rPr>
              <a:t>cppost2</a:t>
            </a:r>
            <a:r>
              <a:rPr lang="fr-FR" b="1" dirty="0">
                <a:latin typeface="Times New Roman" pitchFamily="18" charset="0"/>
                <a:cs typeface="Times New Roman" pitchFamily="18" charset="0"/>
              </a:rPr>
              <a:t>(d t </a:t>
            </a:r>
            <a:r>
              <a:rPr lang="fr-FR" dirty="0" err="1">
                <a:latin typeface="Times New Roman" pitchFamily="18" charset="0"/>
                <a:cs typeface="Times New Roman" pitchFamily="18" charset="0"/>
              </a:rPr>
              <a:t>excp</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 r t </a:t>
            </a:r>
            <a:r>
              <a:rPr lang="fr-FR" dirty="0" err="1">
                <a:latin typeface="Times New Roman" pitchFamily="18" charset="0"/>
                <a:cs typeface="Times New Roman" pitchFamily="18" charset="0"/>
              </a:rPr>
              <a:t>expost</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 r booléen </a:t>
            </a:r>
            <a:r>
              <a:rPr lang="fr-FR" dirty="0">
                <a:latin typeface="Times New Roman" pitchFamily="18" charset="0"/>
                <a:cs typeface="Times New Roman" pitchFamily="18" charset="0"/>
              </a:rPr>
              <a:t>correcte</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debfonc</a:t>
            </a:r>
            <a:r>
              <a:rPr lang="fr-FR" b="1" dirty="0" smtClean="0">
                <a:latin typeface="Times New Roman" pitchFamily="18" charset="0"/>
                <a:cs typeface="Times New Roman" pitchFamily="18" charset="0"/>
              </a:rPr>
              <a:t> </a:t>
            </a:r>
            <a:r>
              <a:rPr lang="fr-FR" b="1" dirty="0">
                <a:latin typeface="Times New Roman" pitchFamily="18" charset="0"/>
                <a:cs typeface="Times New Roman" pitchFamily="18" charset="0"/>
              </a:rPr>
              <a:t>entier </a:t>
            </a:r>
            <a:r>
              <a:rPr lang="fr-FR" dirty="0" err="1">
                <a:latin typeface="Times New Roman" pitchFamily="18" charset="0"/>
                <a:cs typeface="Times New Roman" pitchFamily="18" charset="0"/>
              </a:rPr>
              <a:t>indcp</a:t>
            </a:r>
            <a:r>
              <a:rPr lang="fr-FR" b="1" dirty="0">
                <a:latin typeface="Times New Roman" pitchFamily="18" charset="0"/>
                <a:cs typeface="Times New Roman" pitchFamily="18" charset="0"/>
              </a:rPr>
              <a:t>, </a:t>
            </a:r>
            <a:r>
              <a:rPr lang="fr-FR" dirty="0" err="1">
                <a:latin typeface="Times New Roman" pitchFamily="18" charset="0"/>
                <a:cs typeface="Times New Roman" pitchFamily="18" charset="0"/>
              </a:rPr>
              <a:t>indpost</a:t>
            </a:r>
            <a:r>
              <a:rPr lang="fr-FR" b="1" dirty="0">
                <a:latin typeface="Times New Roman" pitchFamily="18" charset="0"/>
                <a:cs typeface="Times New Roman" pitchFamily="18" charset="0"/>
              </a:rPr>
              <a:t>; booléen </a:t>
            </a:r>
            <a:r>
              <a:rPr lang="fr-FR" dirty="0">
                <a:latin typeface="Times New Roman" pitchFamily="18" charset="0"/>
                <a:cs typeface="Times New Roman" pitchFamily="18" charset="0"/>
              </a:rPr>
              <a:t>stop</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err="1">
                <a:latin typeface="Times New Roman" pitchFamily="18" charset="0"/>
                <a:cs typeface="Times New Roman" pitchFamily="18" charset="0"/>
              </a:rPr>
              <a:t>initpilevide</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 </a:t>
            </a:r>
            <a:r>
              <a:rPr lang="fr-FR" dirty="0" err="1" smtClean="0">
                <a:latin typeface="Times New Roman" pitchFamily="18" charset="0"/>
                <a:cs typeface="Times New Roman" pitchFamily="18" charset="0"/>
              </a:rPr>
              <a:t>indcp</a:t>
            </a:r>
            <a:r>
              <a:rPr lang="fr-FR" dirty="0" smtClean="0">
                <a:latin typeface="Times New Roman" pitchFamily="18" charset="0"/>
                <a:cs typeface="Times New Roman" pitchFamily="18" charset="0"/>
              </a:rPr>
              <a:t>:=</a:t>
            </a:r>
            <a:r>
              <a:rPr lang="fr-FR" dirty="0" smtClean="0">
                <a:latin typeface="Times New Roman" pitchFamily="18" charset="0"/>
                <a:cs typeface="Times New Roman" pitchFamily="18" charset="0"/>
              </a:rPr>
              <a:t>1</a:t>
            </a:r>
            <a:r>
              <a:rPr lang="fr-FR" b="1" dirty="0">
                <a:latin typeface="Times New Roman" pitchFamily="18" charset="0"/>
                <a:cs typeface="Times New Roman" pitchFamily="18" charset="0"/>
              </a:rPr>
              <a:t>; </a:t>
            </a:r>
            <a:r>
              <a:rPr lang="fr-FR" dirty="0" err="1" smtClean="0">
                <a:latin typeface="Times New Roman" pitchFamily="18" charset="0"/>
                <a:cs typeface="Times New Roman" pitchFamily="18" charset="0"/>
              </a:rPr>
              <a:t>indpost</a:t>
            </a:r>
            <a:r>
              <a:rPr lang="fr-FR" dirty="0" smtClean="0">
                <a:latin typeface="Times New Roman" pitchFamily="18" charset="0"/>
                <a:cs typeface="Times New Roman" pitchFamily="18" charset="0"/>
              </a:rPr>
              <a:t>:=</a:t>
            </a:r>
            <a:r>
              <a:rPr lang="fr-FR" dirty="0" smtClean="0">
                <a:latin typeface="Times New Roman" pitchFamily="18" charset="0"/>
                <a:cs typeface="Times New Roman" pitchFamily="18" charset="0"/>
              </a:rPr>
              <a:t>1</a:t>
            </a:r>
            <a:r>
              <a:rPr lang="fr-FR" b="1" dirty="0">
                <a:latin typeface="Times New Roman" pitchFamily="18" charset="0"/>
                <a:cs typeface="Times New Roman" pitchFamily="18" charset="0"/>
              </a:rPr>
              <a:t>; </a:t>
            </a:r>
            <a:r>
              <a:rPr lang="fr-FR" dirty="0" smtClean="0">
                <a:latin typeface="Times New Roman" pitchFamily="18" charset="0"/>
                <a:cs typeface="Times New Roman" pitchFamily="18" charset="0"/>
              </a:rPr>
              <a:t>correcte:=</a:t>
            </a:r>
            <a:r>
              <a:rPr lang="fr-FR" b="1" dirty="0" smtClean="0">
                <a:latin typeface="Times New Roman" pitchFamily="18" charset="0"/>
                <a:cs typeface="Times New Roman" pitchFamily="18" charset="0"/>
              </a:rPr>
              <a:t>false</a:t>
            </a:r>
            <a:r>
              <a:rPr lang="fr-FR" b="1" dirty="0">
                <a:latin typeface="Times New Roman" pitchFamily="18" charset="0"/>
                <a:cs typeface="Times New Roman" pitchFamily="18" charset="0"/>
              </a:rPr>
              <a:t>; </a:t>
            </a:r>
            <a:r>
              <a:rPr lang="fr-FR" dirty="0" smtClean="0">
                <a:latin typeface="Times New Roman" pitchFamily="18" charset="0"/>
                <a:cs typeface="Times New Roman" pitchFamily="18" charset="0"/>
              </a:rPr>
              <a:t>stop:=</a:t>
            </a:r>
            <a:r>
              <a:rPr lang="fr-FR" b="1" dirty="0" smtClean="0">
                <a:latin typeface="Times New Roman" pitchFamily="18" charset="0"/>
                <a:cs typeface="Times New Roman" pitchFamily="18" charset="0"/>
              </a:rPr>
              <a:t>false</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tantque</a:t>
            </a:r>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excp</a:t>
            </a:r>
            <a:r>
              <a:rPr lang="fr-FR" b="1" dirty="0">
                <a:latin typeface="Times New Roman" pitchFamily="18" charset="0"/>
                <a:cs typeface="Times New Roman" pitchFamily="18" charset="0"/>
              </a:rPr>
              <a:t>[</a:t>
            </a:r>
            <a:r>
              <a:rPr lang="fr-FR" b="1" dirty="0" err="1">
                <a:latin typeface="Times New Roman" pitchFamily="18" charset="0"/>
                <a:cs typeface="Times New Roman" pitchFamily="18" charset="0"/>
              </a:rPr>
              <a:t>indcp</a:t>
            </a:r>
            <a:r>
              <a:rPr lang="fr-FR" b="1" dirty="0">
                <a:latin typeface="Times New Roman" pitchFamily="18" charset="0"/>
                <a:cs typeface="Times New Roman" pitchFamily="18" charset="0"/>
              </a:rPr>
              <a:t>] </a:t>
            </a:r>
            <a:r>
              <a:rPr lang="fr-FR" b="1" dirty="0">
                <a:latin typeface="Times New Roman" pitchFamily="18" charset="0"/>
                <a:cs typeface="Times New Roman" pitchFamily="18" charset="0"/>
                <a:sym typeface="Symbol"/>
              </a:rPr>
              <a:t>≠</a:t>
            </a:r>
            <a:r>
              <a:rPr lang="fr-FR" b="1" dirty="0">
                <a:latin typeface="Times New Roman" pitchFamily="18" charset="0"/>
                <a:cs typeface="Times New Roman" pitchFamily="18" charset="0"/>
              </a:rPr>
              <a:t> ‘#’) &amp;&amp; (non stop) faire </a:t>
            </a:r>
          </a:p>
          <a:p>
            <a:r>
              <a:rPr lang="fr-FR" b="1" dirty="0">
                <a:latin typeface="Times New Roman" pitchFamily="18" charset="0"/>
                <a:cs typeface="Times New Roman" pitchFamily="18" charset="0"/>
              </a:rPr>
              <a:t>      si </a:t>
            </a:r>
            <a:r>
              <a:rPr lang="fr-FR" dirty="0">
                <a:latin typeface="Times New Roman" pitchFamily="18" charset="0"/>
                <a:cs typeface="Times New Roman" pitchFamily="18" charset="0"/>
              </a:rPr>
              <a:t>operateur(</a:t>
            </a:r>
            <a:r>
              <a:rPr lang="fr-FR" dirty="0" err="1">
                <a:latin typeface="Times New Roman" pitchFamily="18" charset="0"/>
                <a:cs typeface="Times New Roman" pitchFamily="18" charset="0"/>
              </a:rPr>
              <a:t>excp</a:t>
            </a:r>
            <a:r>
              <a:rPr lang="fr-FR" dirty="0">
                <a:latin typeface="Times New Roman" pitchFamily="18" charset="0"/>
                <a:cs typeface="Times New Roman" pitchFamily="18" charset="0"/>
              </a:rPr>
              <a:t>[</a:t>
            </a:r>
            <a:r>
              <a:rPr lang="fr-FR" dirty="0" err="1">
                <a:latin typeface="Times New Roman" pitchFamily="18" charset="0"/>
                <a:cs typeface="Times New Roman" pitchFamily="18" charset="0"/>
              </a:rPr>
              <a:t>indcp</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 alors </a:t>
            </a:r>
            <a:r>
              <a:rPr lang="fr-FR" dirty="0">
                <a:latin typeface="Times New Roman" pitchFamily="18" charset="0"/>
                <a:cs typeface="Times New Roman" pitchFamily="18" charset="0"/>
              </a:rPr>
              <a:t>empiler(</a:t>
            </a:r>
            <a:r>
              <a:rPr lang="fr-FR" dirty="0" err="1">
                <a:latin typeface="Times New Roman" pitchFamily="18" charset="0"/>
                <a:cs typeface="Times New Roman" pitchFamily="18" charset="0"/>
              </a:rPr>
              <a:t>excp</a:t>
            </a:r>
            <a:r>
              <a:rPr lang="fr-FR" dirty="0">
                <a:latin typeface="Times New Roman" pitchFamily="18" charset="0"/>
                <a:cs typeface="Times New Roman" pitchFamily="18" charset="0"/>
              </a:rPr>
              <a:t>[</a:t>
            </a:r>
            <a:r>
              <a:rPr lang="fr-FR" dirty="0" err="1">
                <a:latin typeface="Times New Roman" pitchFamily="18" charset="0"/>
                <a:cs typeface="Times New Roman" pitchFamily="18" charset="0"/>
              </a:rPr>
              <a:t>indcp</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sinonsi</a:t>
            </a:r>
            <a:r>
              <a:rPr lang="fr-FR" b="1" dirty="0">
                <a:latin typeface="Times New Roman" pitchFamily="18" charset="0"/>
                <a:cs typeface="Times New Roman" pitchFamily="18" charset="0"/>
              </a:rPr>
              <a:t> </a:t>
            </a:r>
            <a:r>
              <a:rPr lang="fr-FR" dirty="0">
                <a:latin typeface="Times New Roman" pitchFamily="18" charset="0"/>
                <a:cs typeface="Times New Roman" pitchFamily="18" charset="0"/>
              </a:rPr>
              <a:t>variable(</a:t>
            </a:r>
            <a:r>
              <a:rPr lang="fr-FR" dirty="0" err="1">
                <a:latin typeface="Times New Roman" pitchFamily="18" charset="0"/>
                <a:cs typeface="Times New Roman" pitchFamily="18" charset="0"/>
              </a:rPr>
              <a:t>excp</a:t>
            </a:r>
            <a:r>
              <a:rPr lang="fr-FR" dirty="0">
                <a:latin typeface="Times New Roman" pitchFamily="18" charset="0"/>
                <a:cs typeface="Times New Roman" pitchFamily="18" charset="0"/>
              </a:rPr>
              <a:t>[</a:t>
            </a:r>
            <a:r>
              <a:rPr lang="fr-FR" dirty="0" err="1">
                <a:latin typeface="Times New Roman" pitchFamily="18" charset="0"/>
                <a:cs typeface="Times New Roman" pitchFamily="18" charset="0"/>
              </a:rPr>
              <a:t>indcp</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 alors</a:t>
            </a:r>
          </a:p>
          <a:p>
            <a:r>
              <a:rPr lang="fr-FR" b="1" dirty="0">
                <a:latin typeface="Times New Roman" pitchFamily="18" charset="0"/>
                <a:cs typeface="Times New Roman" pitchFamily="18" charset="0"/>
              </a:rPr>
              <a:t>                   </a:t>
            </a:r>
            <a:r>
              <a:rPr lang="fr-FR" dirty="0" err="1" smtClean="0">
                <a:latin typeface="Times New Roman" pitchFamily="18" charset="0"/>
                <a:cs typeface="Times New Roman" pitchFamily="18" charset="0"/>
              </a:rPr>
              <a:t>expost</a:t>
            </a:r>
            <a:r>
              <a:rPr lang="fr-FR" dirty="0" smtClean="0">
                <a:latin typeface="Times New Roman" pitchFamily="18" charset="0"/>
                <a:cs typeface="Times New Roman" pitchFamily="18" charset="0"/>
              </a:rPr>
              <a:t>[</a:t>
            </a:r>
            <a:r>
              <a:rPr lang="fr-FR" dirty="0" err="1" smtClean="0">
                <a:latin typeface="Times New Roman" pitchFamily="18" charset="0"/>
                <a:cs typeface="Times New Roman" pitchFamily="18" charset="0"/>
              </a:rPr>
              <a:t>indpost</a:t>
            </a:r>
            <a:r>
              <a:rPr lang="fr-FR" dirty="0" smtClean="0">
                <a:latin typeface="Times New Roman" pitchFamily="18" charset="0"/>
                <a:cs typeface="Times New Roman" pitchFamily="18" charset="0"/>
              </a:rPr>
              <a:t>]:=</a:t>
            </a:r>
            <a:r>
              <a:rPr lang="fr-FR" dirty="0" err="1" smtClean="0">
                <a:latin typeface="Times New Roman" pitchFamily="18" charset="0"/>
                <a:cs typeface="Times New Roman" pitchFamily="18" charset="0"/>
              </a:rPr>
              <a:t>excp</a:t>
            </a:r>
            <a:r>
              <a:rPr lang="fr-FR" dirty="0" smtClean="0">
                <a:latin typeface="Times New Roman" pitchFamily="18" charset="0"/>
                <a:cs typeface="Times New Roman" pitchFamily="18" charset="0"/>
              </a:rPr>
              <a:t>[</a:t>
            </a:r>
            <a:r>
              <a:rPr lang="fr-FR" dirty="0" err="1" smtClean="0">
                <a:latin typeface="Times New Roman" pitchFamily="18" charset="0"/>
                <a:cs typeface="Times New Roman" pitchFamily="18" charset="0"/>
              </a:rPr>
              <a:t>indcp</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 </a:t>
            </a:r>
            <a:r>
              <a:rPr lang="fr-FR" dirty="0" err="1" smtClean="0">
                <a:latin typeface="Times New Roman" pitchFamily="18" charset="0"/>
                <a:cs typeface="Times New Roman" pitchFamily="18" charset="0"/>
              </a:rPr>
              <a:t>indpost</a:t>
            </a:r>
            <a:r>
              <a:rPr lang="fr-FR" dirty="0" smtClean="0">
                <a:latin typeface="Times New Roman" pitchFamily="18" charset="0"/>
                <a:cs typeface="Times New Roman" pitchFamily="18" charset="0"/>
              </a:rPr>
              <a:t>:=indpost+1</a:t>
            </a:r>
            <a:r>
              <a:rPr lang="fr-FR" b="1" dirty="0" smtClean="0">
                <a:latin typeface="Times New Roman" pitchFamily="18" charset="0"/>
                <a:cs typeface="Times New Roman" pitchFamily="18" charset="0"/>
              </a:rPr>
              <a:t>; </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sinonsi</a:t>
            </a:r>
            <a:r>
              <a:rPr lang="fr-FR" b="1" dirty="0">
                <a:latin typeface="Times New Roman" pitchFamily="18" charset="0"/>
                <a:cs typeface="Times New Roman" pitchFamily="18" charset="0"/>
              </a:rPr>
              <a:t> </a:t>
            </a:r>
            <a:r>
              <a:rPr lang="fr-FR" dirty="0" err="1">
                <a:latin typeface="Times New Roman" pitchFamily="18" charset="0"/>
                <a:cs typeface="Times New Roman" pitchFamily="18" charset="0"/>
              </a:rPr>
              <a:t>excp</a:t>
            </a:r>
            <a:r>
              <a:rPr lang="fr-FR" dirty="0">
                <a:latin typeface="Times New Roman" pitchFamily="18" charset="0"/>
                <a:cs typeface="Times New Roman" pitchFamily="18" charset="0"/>
              </a:rPr>
              <a:t>[</a:t>
            </a:r>
            <a:r>
              <a:rPr lang="fr-FR" dirty="0" err="1">
                <a:latin typeface="Times New Roman" pitchFamily="18" charset="0"/>
                <a:cs typeface="Times New Roman" pitchFamily="18" charset="0"/>
              </a:rPr>
              <a:t>indcp</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 alors</a:t>
            </a:r>
          </a:p>
          <a:p>
            <a:r>
              <a:rPr lang="fr-FR" b="1" dirty="0">
                <a:latin typeface="Times New Roman" pitchFamily="18" charset="0"/>
                <a:cs typeface="Times New Roman" pitchFamily="18" charset="0"/>
              </a:rPr>
              <a:t>                             </a:t>
            </a:r>
            <a:r>
              <a:rPr lang="fr-FR" dirty="0">
                <a:latin typeface="Times New Roman" pitchFamily="18" charset="0"/>
                <a:cs typeface="Times New Roman" pitchFamily="18" charset="0"/>
              </a:rPr>
              <a:t>dépiler(</a:t>
            </a:r>
            <a:r>
              <a:rPr lang="fr-FR" dirty="0" err="1">
                <a:latin typeface="Times New Roman" pitchFamily="18" charset="0"/>
                <a:cs typeface="Times New Roman" pitchFamily="18" charset="0"/>
              </a:rPr>
              <a:t>expost</a:t>
            </a:r>
            <a:r>
              <a:rPr lang="fr-FR" dirty="0">
                <a:latin typeface="Times New Roman" pitchFamily="18" charset="0"/>
                <a:cs typeface="Times New Roman" pitchFamily="18" charset="0"/>
              </a:rPr>
              <a:t>[</a:t>
            </a:r>
            <a:r>
              <a:rPr lang="fr-FR" dirty="0" err="1">
                <a:latin typeface="Times New Roman" pitchFamily="18" charset="0"/>
                <a:cs typeface="Times New Roman" pitchFamily="18" charset="0"/>
              </a:rPr>
              <a:t>indpost</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en-GB" dirty="0" err="1" smtClean="0">
                <a:latin typeface="Times New Roman" pitchFamily="18" charset="0"/>
                <a:cs typeface="Times New Roman" pitchFamily="18" charset="0"/>
              </a:rPr>
              <a:t>indpost</a:t>
            </a:r>
            <a:r>
              <a:rPr lang="en-GB" dirty="0" smtClean="0">
                <a:latin typeface="Times New Roman" pitchFamily="18" charset="0"/>
                <a:cs typeface="Times New Roman" pitchFamily="18" charset="0"/>
              </a:rPr>
              <a:t>:=inpost+1</a:t>
            </a:r>
            <a:r>
              <a:rPr lang="en-GB" b="1" dirty="0" smtClean="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en-GB" b="1" dirty="0">
                <a:latin typeface="Times New Roman" pitchFamily="18" charset="0"/>
                <a:cs typeface="Times New Roman" pitchFamily="18" charset="0"/>
              </a:rPr>
              <a:t>                          </a:t>
            </a:r>
            <a:r>
              <a:rPr lang="en-GB" b="1" dirty="0" err="1">
                <a:latin typeface="Times New Roman" pitchFamily="18" charset="0"/>
                <a:cs typeface="Times New Roman" pitchFamily="18" charset="0"/>
              </a:rPr>
              <a:t>sinon</a:t>
            </a:r>
            <a:r>
              <a:rPr lang="en-GB" b="1" dirty="0">
                <a:latin typeface="Times New Roman" pitchFamily="18" charset="0"/>
                <a:cs typeface="Times New Roman" pitchFamily="18" charset="0"/>
              </a:rPr>
              <a:t> </a:t>
            </a:r>
            <a:r>
              <a:rPr lang="en-GB" dirty="0" smtClean="0">
                <a:latin typeface="Times New Roman" pitchFamily="18" charset="0"/>
                <a:cs typeface="Times New Roman" pitchFamily="18" charset="0"/>
              </a:rPr>
              <a:t>stop:=</a:t>
            </a:r>
            <a:r>
              <a:rPr lang="en-GB" dirty="0" err="1" smtClean="0">
                <a:latin typeface="Times New Roman" pitchFamily="18" charset="0"/>
                <a:cs typeface="Times New Roman" pitchFamily="18" charset="0"/>
              </a:rPr>
              <a:t>excp</a:t>
            </a:r>
            <a:r>
              <a:rPr lang="en-GB" dirty="0" smtClean="0">
                <a:latin typeface="Times New Roman" pitchFamily="18" charset="0"/>
                <a:cs typeface="Times New Roman" pitchFamily="18" charset="0"/>
              </a:rPr>
              <a:t>[</a:t>
            </a:r>
            <a:r>
              <a:rPr lang="en-GB" dirty="0" err="1" smtClean="0">
                <a:latin typeface="Times New Roman" pitchFamily="18" charset="0"/>
                <a:cs typeface="Times New Roman" pitchFamily="18" charset="0"/>
              </a:rPr>
              <a:t>indcp</a:t>
            </a:r>
            <a:r>
              <a:rPr lang="en-GB" dirty="0">
                <a:latin typeface="Times New Roman" pitchFamily="18" charset="0"/>
                <a:cs typeface="Times New Roman" pitchFamily="18" charset="0"/>
              </a:rPr>
              <a:t>] </a:t>
            </a:r>
            <a:r>
              <a:rPr lang="fr-FR" b="1" dirty="0">
                <a:latin typeface="Times New Roman" pitchFamily="18" charset="0"/>
                <a:cs typeface="Times New Roman" pitchFamily="18" charset="0"/>
                <a:sym typeface="Symbol"/>
              </a:rPr>
              <a:t>≠</a:t>
            </a:r>
            <a:r>
              <a:rPr lang="fr-FR" dirty="0">
                <a:latin typeface="Times New Roman" pitchFamily="18" charset="0"/>
                <a:cs typeface="Times New Roman" pitchFamily="18" charset="0"/>
                <a:sym typeface="Symbol"/>
              </a:rPr>
              <a:t> </a:t>
            </a:r>
            <a:r>
              <a:rPr lang="en-GB" dirty="0">
                <a:latin typeface="Times New Roman" pitchFamily="18" charset="0"/>
                <a:cs typeface="Times New Roman" pitchFamily="18" charset="0"/>
              </a:rPr>
              <a:t>’(‘</a:t>
            </a:r>
            <a:r>
              <a:rPr lang="en-GB" b="1" dirty="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en-GB" b="1" dirty="0">
                <a:latin typeface="Times New Roman" pitchFamily="18" charset="0"/>
                <a:cs typeface="Times New Roman" pitchFamily="18" charset="0"/>
              </a:rPr>
              <a:t>      </a:t>
            </a:r>
            <a:r>
              <a:rPr lang="fr-FR" dirty="0" err="1" smtClean="0">
                <a:latin typeface="Times New Roman" pitchFamily="18" charset="0"/>
                <a:cs typeface="Times New Roman" pitchFamily="18" charset="0"/>
              </a:rPr>
              <a:t>indcp</a:t>
            </a:r>
            <a:r>
              <a:rPr lang="fr-FR" dirty="0" smtClean="0">
                <a:latin typeface="Times New Roman" pitchFamily="18" charset="0"/>
                <a:cs typeface="Times New Roman" pitchFamily="18" charset="0"/>
              </a:rPr>
              <a:t>:=indcp+1</a:t>
            </a:r>
            <a:r>
              <a:rPr lang="fr-FR" b="1" dirty="0" smtClean="0">
                <a:latin typeface="Times New Roman" pitchFamily="18" charset="0"/>
                <a:cs typeface="Times New Roman" pitchFamily="18" charset="0"/>
              </a:rPr>
              <a:t>;</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finfaire</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si </a:t>
            </a:r>
            <a:r>
              <a:rPr lang="fr-FR" dirty="0" err="1">
                <a:latin typeface="Times New Roman" pitchFamily="18" charset="0"/>
                <a:cs typeface="Times New Roman" pitchFamily="18" charset="0"/>
              </a:rPr>
              <a:t>pilevide</a:t>
            </a:r>
            <a:r>
              <a:rPr lang="fr-FR" dirty="0">
                <a:latin typeface="Times New Roman" pitchFamily="18" charset="0"/>
                <a:cs typeface="Times New Roman" pitchFamily="18" charset="0"/>
              </a:rPr>
              <a:t> &amp;&amp; (non stop)</a:t>
            </a:r>
            <a:endParaRPr lang="fr-FR" b="1" dirty="0">
              <a:latin typeface="Times New Roman" pitchFamily="18" charset="0"/>
              <a:cs typeface="Times New Roman" pitchFamily="18" charset="0"/>
            </a:endParaRPr>
          </a:p>
          <a:p>
            <a:r>
              <a:rPr lang="fr-FR" b="1" dirty="0">
                <a:latin typeface="Times New Roman" pitchFamily="18" charset="0"/>
                <a:cs typeface="Times New Roman" pitchFamily="18" charset="0"/>
              </a:rPr>
              <a:t>      </a:t>
            </a:r>
            <a:r>
              <a:rPr lang="fr-FR" dirty="0" err="1">
                <a:latin typeface="Times New Roman" pitchFamily="18" charset="0"/>
                <a:cs typeface="Times New Roman" pitchFamily="18" charset="0"/>
              </a:rPr>
              <a:t>expost</a:t>
            </a:r>
            <a:r>
              <a:rPr lang="fr-FR" dirty="0">
                <a:latin typeface="Times New Roman" pitchFamily="18" charset="0"/>
                <a:cs typeface="Times New Roman" pitchFamily="18" charset="0"/>
              </a:rPr>
              <a:t>[</a:t>
            </a:r>
            <a:r>
              <a:rPr lang="fr-FR" dirty="0" err="1">
                <a:latin typeface="Times New Roman" pitchFamily="18" charset="0"/>
                <a:cs typeface="Times New Roman" pitchFamily="18" charset="0"/>
              </a:rPr>
              <a:t>indpost</a:t>
            </a:r>
            <a:r>
              <a:rPr lang="fr-FR" dirty="0" smtClean="0">
                <a:latin typeface="Times New Roman" pitchFamily="18" charset="0"/>
                <a:cs typeface="Times New Roman" pitchFamily="18" charset="0"/>
              </a:rPr>
              <a:t>]:=‘#’</a:t>
            </a:r>
            <a:r>
              <a:rPr lang="fr-FR" b="1" dirty="0" smtClean="0">
                <a:latin typeface="Times New Roman" pitchFamily="18" charset="0"/>
                <a:cs typeface="Times New Roman" pitchFamily="18" charset="0"/>
              </a:rPr>
              <a:t>; </a:t>
            </a:r>
            <a:r>
              <a:rPr lang="fr-FR" dirty="0" smtClean="0">
                <a:latin typeface="Times New Roman" pitchFamily="18" charset="0"/>
                <a:cs typeface="Times New Roman" pitchFamily="18" charset="0"/>
              </a:rPr>
              <a:t>correcte:=</a:t>
            </a:r>
            <a:r>
              <a:rPr lang="fr-FR" b="1" dirty="0" err="1" smtClean="0">
                <a:latin typeface="Times New Roman" pitchFamily="18" charset="0"/>
                <a:cs typeface="Times New Roman" pitchFamily="18" charset="0"/>
              </a:rPr>
              <a:t>true</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finsi</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finfonc</a:t>
            </a:r>
            <a:r>
              <a:rPr lang="fr-FR" b="1" dirty="0">
                <a:latin typeface="Times New Roman" pitchFamily="18" charset="0"/>
                <a:cs typeface="Times New Roman" pitchFamily="18" charset="0"/>
              </a:rPr>
              <a:t>;</a:t>
            </a:r>
          </a:p>
        </p:txBody>
      </p:sp>
    </p:spTree>
    <p:extLst>
      <p:ext uri="{BB962C8B-B14F-4D97-AF65-F5344CB8AC3E}">
        <p14:creationId xmlns:p14="http://schemas.microsoft.com/office/powerpoint/2010/main" val="20138299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320" y="404793"/>
            <a:ext cx="11744960" cy="5909310"/>
          </a:xfrm>
          <a:prstGeom prst="rect">
            <a:avLst/>
          </a:prstGeom>
        </p:spPr>
        <p:txBody>
          <a:bodyPr wrap="square">
            <a:spAutoFit/>
          </a:bodyPr>
          <a:lstStyle/>
          <a:p>
            <a:pPr lvl="0" fontAlgn="base">
              <a:spcBef>
                <a:spcPct val="0"/>
              </a:spcBef>
              <a:spcAft>
                <a:spcPct val="0"/>
              </a:spcAft>
            </a:pPr>
            <a:r>
              <a:rPr lang="fr-FR" dirty="0">
                <a:latin typeface="Times New Roman" pitchFamily="18" charset="0"/>
                <a:ea typeface="Times New Roman" pitchFamily="18" charset="0"/>
                <a:cs typeface="Times New Roman" pitchFamily="18" charset="0"/>
              </a:rPr>
              <a:t>- </a:t>
            </a:r>
            <a:r>
              <a:rPr lang="fr-FR" b="1" dirty="0">
                <a:latin typeface="Times New Roman" pitchFamily="18" charset="0"/>
                <a:ea typeface="Times New Roman" pitchFamily="18" charset="0"/>
                <a:cs typeface="Times New Roman" pitchFamily="18" charset="0"/>
              </a:rPr>
              <a:t>Passage de la représentation infixée à la représentation </a:t>
            </a:r>
            <a:r>
              <a:rPr lang="fr-FR" b="1" dirty="0" err="1">
                <a:latin typeface="Times New Roman" pitchFamily="18" charset="0"/>
                <a:ea typeface="Times New Roman" pitchFamily="18" charset="0"/>
                <a:cs typeface="Times New Roman" pitchFamily="18" charset="0"/>
              </a:rPr>
              <a:t>postfixée</a:t>
            </a:r>
            <a:endParaRPr lang="fr-FR" b="1" dirty="0">
              <a:latin typeface="Times New Roman" pitchFamily="18" charset="0"/>
              <a:cs typeface="Times New Roman" pitchFamily="18" charset="0"/>
            </a:endParaRPr>
          </a:p>
          <a:p>
            <a:pPr lvl="0"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Les règles de transformation d’une </a:t>
            </a:r>
            <a:r>
              <a:rPr lang="fr-FR" b="1" dirty="0" err="1">
                <a:latin typeface="Times New Roman" pitchFamily="18" charset="0"/>
                <a:ea typeface="Times New Roman" pitchFamily="18" charset="0"/>
                <a:cs typeface="Times New Roman" pitchFamily="18" charset="0"/>
              </a:rPr>
              <a:t>expinf</a:t>
            </a:r>
            <a:r>
              <a:rPr lang="fr-FR" dirty="0">
                <a:latin typeface="Times New Roman" pitchFamily="18" charset="0"/>
                <a:ea typeface="Times New Roman" pitchFamily="18" charset="0"/>
                <a:cs typeface="Times New Roman" pitchFamily="18" charset="0"/>
              </a:rPr>
              <a:t> en une </a:t>
            </a:r>
            <a:r>
              <a:rPr lang="fr-FR" b="1" dirty="0" err="1">
                <a:latin typeface="Times New Roman" pitchFamily="18" charset="0"/>
                <a:ea typeface="Times New Roman" pitchFamily="18" charset="0"/>
                <a:cs typeface="Times New Roman" pitchFamily="18" charset="0"/>
              </a:rPr>
              <a:t>expost</a:t>
            </a:r>
            <a:r>
              <a:rPr lang="fr-FR" dirty="0">
                <a:latin typeface="Times New Roman" pitchFamily="18" charset="0"/>
                <a:ea typeface="Times New Roman" pitchFamily="18" charset="0"/>
                <a:cs typeface="Times New Roman" pitchFamily="18" charset="0"/>
              </a:rPr>
              <a:t> , on parcourt </a:t>
            </a:r>
            <a:r>
              <a:rPr lang="fr-FR" b="1" dirty="0" err="1">
                <a:latin typeface="Times New Roman" pitchFamily="18" charset="0"/>
                <a:ea typeface="Times New Roman" pitchFamily="18" charset="0"/>
                <a:cs typeface="Times New Roman" pitchFamily="18" charset="0"/>
              </a:rPr>
              <a:t>expinf</a:t>
            </a:r>
            <a:r>
              <a:rPr lang="fr-FR" dirty="0">
                <a:latin typeface="Times New Roman" pitchFamily="18" charset="0"/>
                <a:ea typeface="Times New Roman" pitchFamily="18" charset="0"/>
                <a:cs typeface="Times New Roman" pitchFamily="18" charset="0"/>
              </a:rPr>
              <a:t> de gauche à droite en effectuant des actions différentes selon la classe des éléments d’</a:t>
            </a:r>
            <a:r>
              <a:rPr lang="fr-FR" b="1" dirty="0" err="1">
                <a:latin typeface="Times New Roman" pitchFamily="18" charset="0"/>
                <a:ea typeface="Times New Roman" pitchFamily="18" charset="0"/>
                <a:cs typeface="Times New Roman" pitchFamily="18" charset="0"/>
              </a:rPr>
              <a:t>expinf</a:t>
            </a:r>
            <a:r>
              <a:rPr lang="fr-FR" dirty="0">
                <a:latin typeface="Times New Roman" pitchFamily="18" charset="0"/>
                <a:ea typeface="Times New Roman" pitchFamily="18" charset="0"/>
                <a:cs typeface="Times New Roman" pitchFamily="18" charset="0"/>
              </a:rPr>
              <a:t> :</a:t>
            </a:r>
          </a:p>
          <a:p>
            <a:pPr lvl="0" eaLnBrk="0" fontAlgn="base" hangingPunct="0">
              <a:spcBef>
                <a:spcPct val="0"/>
              </a:spcBef>
              <a:spcAft>
                <a:spcPct val="0"/>
              </a:spcAft>
            </a:pPr>
            <a:endParaRPr lang="fr-FR" dirty="0">
              <a:latin typeface="Times New Roman" pitchFamily="18" charset="0"/>
              <a:ea typeface="Times New Roman" pitchFamily="18" charset="0"/>
              <a:cs typeface="Times New Roman" pitchFamily="18" charset="0"/>
            </a:endParaRPr>
          </a:p>
          <a:p>
            <a:pPr lvl="0" algn="just" eaLnBrk="0" fontAlgn="base" hangingPunct="0">
              <a:spcBef>
                <a:spcPct val="0"/>
              </a:spcBef>
              <a:spcAft>
                <a:spcPct val="0"/>
              </a:spcAft>
              <a:buFont typeface="Arial" pitchFamily="34" charset="0"/>
              <a:buChar char="•"/>
            </a:pPr>
            <a:r>
              <a:rPr lang="fr-FR" b="1" dirty="0">
                <a:latin typeface="Times New Roman" pitchFamily="18" charset="0"/>
                <a:ea typeface="Times New Roman" pitchFamily="18" charset="0"/>
                <a:cs typeface="Times New Roman" pitchFamily="18" charset="0"/>
              </a:rPr>
              <a:t> </a:t>
            </a:r>
            <a:r>
              <a:rPr lang="fr-FR" dirty="0">
                <a:latin typeface="Times New Roman" pitchFamily="18" charset="0"/>
                <a:ea typeface="Times New Roman" pitchFamily="18" charset="0"/>
                <a:cs typeface="Times New Roman" pitchFamily="18" charset="0"/>
              </a:rPr>
              <a:t>Les </a:t>
            </a:r>
            <a:r>
              <a:rPr lang="fr-FR" b="1" dirty="0">
                <a:latin typeface="Times New Roman" pitchFamily="18" charset="0"/>
                <a:ea typeface="Times New Roman" pitchFamily="18" charset="0"/>
                <a:cs typeface="Times New Roman" pitchFamily="18" charset="0"/>
              </a:rPr>
              <a:t>variables</a:t>
            </a:r>
            <a:r>
              <a:rPr lang="fr-FR" dirty="0">
                <a:latin typeface="Times New Roman" pitchFamily="18" charset="0"/>
                <a:ea typeface="Times New Roman" pitchFamily="18" charset="0"/>
                <a:cs typeface="Times New Roman" pitchFamily="18" charset="0"/>
              </a:rPr>
              <a:t> sont rangées directement dans  </a:t>
            </a:r>
            <a:r>
              <a:rPr lang="fr-FR" b="1" dirty="0" err="1">
                <a:latin typeface="Times New Roman" pitchFamily="18" charset="0"/>
                <a:ea typeface="Times New Roman" pitchFamily="18" charset="0"/>
                <a:cs typeface="Times New Roman" pitchFamily="18" charset="0"/>
              </a:rPr>
              <a:t>expost</a:t>
            </a:r>
            <a:r>
              <a:rPr lang="fr-FR" dirty="0">
                <a:latin typeface="Times New Roman" pitchFamily="18" charset="0"/>
                <a:ea typeface="Times New Roman" pitchFamily="18" charset="0"/>
                <a:cs typeface="Times New Roman" pitchFamily="18" charset="0"/>
              </a:rPr>
              <a:t>.</a:t>
            </a:r>
          </a:p>
          <a:p>
            <a:pPr lvl="0" algn="just" eaLnBrk="0" fontAlgn="base" hangingPunct="0">
              <a:spcBef>
                <a:spcPct val="0"/>
              </a:spcBef>
              <a:spcAft>
                <a:spcPct val="0"/>
              </a:spcAft>
            </a:pPr>
            <a:endParaRPr lang="fr-FR" dirty="0">
              <a:latin typeface="Times New Roman" pitchFamily="18" charset="0"/>
              <a:ea typeface="Times New Roman" pitchFamily="18" charset="0"/>
              <a:cs typeface="Times New Roman" pitchFamily="18" charset="0"/>
            </a:endParaRPr>
          </a:p>
          <a:p>
            <a:pPr lvl="0" algn="just" eaLnBrk="0" fontAlgn="base" hangingPunct="0">
              <a:spcBef>
                <a:spcPct val="0"/>
              </a:spcBef>
              <a:spcAft>
                <a:spcPct val="0"/>
              </a:spcAft>
              <a:buFont typeface="Arial" pitchFamily="34" charset="0"/>
              <a:buChar char="•"/>
            </a:pPr>
            <a:r>
              <a:rPr lang="fr-FR" dirty="0">
                <a:latin typeface="Times New Roman" pitchFamily="18" charset="0"/>
                <a:ea typeface="Times New Roman" pitchFamily="18" charset="0"/>
                <a:cs typeface="Times New Roman" pitchFamily="18" charset="0"/>
              </a:rPr>
              <a:t> Les </a:t>
            </a:r>
            <a:r>
              <a:rPr lang="fr-FR" b="1" dirty="0">
                <a:latin typeface="Times New Roman" pitchFamily="18" charset="0"/>
                <a:ea typeface="Times New Roman" pitchFamily="18" charset="0"/>
                <a:cs typeface="Times New Roman" pitchFamily="18" charset="0"/>
              </a:rPr>
              <a:t>opérateurs</a:t>
            </a:r>
            <a:r>
              <a:rPr lang="fr-FR" dirty="0">
                <a:latin typeface="Times New Roman" pitchFamily="18" charset="0"/>
                <a:ea typeface="Times New Roman" pitchFamily="18" charset="0"/>
                <a:cs typeface="Times New Roman" pitchFamily="18" charset="0"/>
              </a:rPr>
              <a:t> sont empilés ; il faut tenir compte de leur priorité. Les sous-expressions de forte priorité doivent se trouver avant celles de faible priorité dans </a:t>
            </a:r>
            <a:r>
              <a:rPr lang="fr-FR" b="1" dirty="0" err="1">
                <a:latin typeface="Times New Roman" pitchFamily="18" charset="0"/>
                <a:ea typeface="Times New Roman" pitchFamily="18" charset="0"/>
                <a:cs typeface="Times New Roman" pitchFamily="18" charset="0"/>
              </a:rPr>
              <a:t>expost</a:t>
            </a:r>
            <a:r>
              <a:rPr lang="fr-FR" dirty="0">
                <a:latin typeface="Times New Roman" pitchFamily="18" charset="0"/>
                <a:ea typeface="Times New Roman" pitchFamily="18" charset="0"/>
                <a:cs typeface="Times New Roman" pitchFamily="18" charset="0"/>
              </a:rPr>
              <a:t>. Chaque fois que l’on rencontre un opérateur, </a:t>
            </a:r>
            <a:r>
              <a:rPr lang="fr-FR" b="1" dirty="0">
                <a:latin typeface="Times New Roman" pitchFamily="18" charset="0"/>
                <a:ea typeface="Times New Roman" pitchFamily="18" charset="0"/>
                <a:cs typeface="Times New Roman" pitchFamily="18" charset="0"/>
              </a:rPr>
              <a:t>il faut dépiler tous les opérateurs de priorité supérieure</a:t>
            </a:r>
            <a:r>
              <a:rPr lang="fr-FR" dirty="0">
                <a:latin typeface="Times New Roman" pitchFamily="18" charset="0"/>
                <a:ea typeface="Times New Roman" pitchFamily="18" charset="0"/>
                <a:cs typeface="Times New Roman" pitchFamily="18" charset="0"/>
              </a:rPr>
              <a:t>, et les ranger dans </a:t>
            </a:r>
            <a:r>
              <a:rPr lang="fr-FR" dirty="0" err="1">
                <a:latin typeface="Times New Roman" pitchFamily="18" charset="0"/>
                <a:ea typeface="Times New Roman" pitchFamily="18" charset="0"/>
                <a:cs typeface="Times New Roman" pitchFamily="18" charset="0"/>
              </a:rPr>
              <a:t>expost</a:t>
            </a:r>
            <a:r>
              <a:rPr lang="fr-FR" dirty="0">
                <a:latin typeface="Times New Roman" pitchFamily="18" charset="0"/>
                <a:ea typeface="Times New Roman" pitchFamily="18" charset="0"/>
                <a:cs typeface="Times New Roman" pitchFamily="18" charset="0"/>
              </a:rPr>
              <a:t>. Ils appartiennent à des sous-expressions qui sont elles-mêmes opérandes ou sous-opérandes de la sous-expression dont on traite l’opérateur. Ceci fait, on peut empiler l’opérateur.</a:t>
            </a:r>
            <a:endParaRPr lang="fr-FR" dirty="0">
              <a:latin typeface="Times New Roman" pitchFamily="18" charset="0"/>
              <a:cs typeface="Times New Roman" pitchFamily="18" charset="0"/>
            </a:endParaRPr>
          </a:p>
          <a:p>
            <a:pPr lvl="0"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N.B. On doit également </a:t>
            </a:r>
            <a:r>
              <a:rPr lang="fr-FR" b="1" dirty="0">
                <a:latin typeface="Times New Roman" pitchFamily="18" charset="0"/>
                <a:ea typeface="Times New Roman" pitchFamily="18" charset="0"/>
                <a:cs typeface="Times New Roman" pitchFamily="18" charset="0"/>
              </a:rPr>
              <a:t>dépiler les opérateurs de priorité égale</a:t>
            </a:r>
            <a:r>
              <a:rPr lang="fr-FR" dirty="0">
                <a:latin typeface="Times New Roman" pitchFamily="18" charset="0"/>
                <a:ea typeface="Times New Roman" pitchFamily="18" charset="0"/>
                <a:cs typeface="Times New Roman" pitchFamily="18" charset="0"/>
              </a:rPr>
              <a:t> afin d’évaluer, à priorité égale, la sous-expression de gauche en premier.</a:t>
            </a:r>
          </a:p>
          <a:p>
            <a:pPr lvl="0"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a:t>
            </a:r>
            <a:endParaRPr lang="fr-FR" dirty="0">
              <a:latin typeface="Times New Roman" pitchFamily="18" charset="0"/>
              <a:cs typeface="Times New Roman" pitchFamily="18" charset="0"/>
            </a:endParaRPr>
          </a:p>
          <a:p>
            <a:pPr lvl="0" algn="just" eaLnBrk="0" fontAlgn="base" hangingPunct="0">
              <a:spcBef>
                <a:spcPct val="0"/>
              </a:spcBef>
              <a:spcAft>
                <a:spcPct val="0"/>
              </a:spcAft>
              <a:buFont typeface="Arial" pitchFamily="34" charset="0"/>
              <a:buChar char="•"/>
            </a:pPr>
            <a:r>
              <a:rPr lang="fr-FR" b="1" dirty="0">
                <a:latin typeface="Times New Roman" pitchFamily="18" charset="0"/>
                <a:ea typeface="Times New Roman" pitchFamily="18" charset="0"/>
                <a:cs typeface="Times New Roman" pitchFamily="18" charset="0"/>
              </a:rPr>
              <a:t> </a:t>
            </a:r>
            <a:r>
              <a:rPr lang="fr-FR" dirty="0">
                <a:latin typeface="Times New Roman" pitchFamily="18" charset="0"/>
                <a:ea typeface="Times New Roman" pitchFamily="18" charset="0"/>
                <a:cs typeface="Times New Roman" pitchFamily="18" charset="0"/>
              </a:rPr>
              <a:t>La</a:t>
            </a:r>
            <a:r>
              <a:rPr lang="fr-FR" b="1" dirty="0">
                <a:latin typeface="Times New Roman" pitchFamily="18" charset="0"/>
                <a:ea typeface="Times New Roman" pitchFamily="18" charset="0"/>
                <a:cs typeface="Times New Roman" pitchFamily="18" charset="0"/>
              </a:rPr>
              <a:t> parenthèse gauche</a:t>
            </a:r>
            <a:r>
              <a:rPr lang="fr-FR" dirty="0">
                <a:latin typeface="Times New Roman" pitchFamily="18" charset="0"/>
                <a:ea typeface="Times New Roman" pitchFamily="18" charset="0"/>
                <a:cs typeface="Times New Roman" pitchFamily="18" charset="0"/>
              </a:rPr>
              <a:t> sert de délimiteur d’une sous-expression ; il faut l’empiler pour pouvoir dépiler les opérateurs de cette sous-expression. La parenthèse gauche permet de délimiter la </a:t>
            </a:r>
            <a:r>
              <a:rPr lang="fr-FR" dirty="0" err="1">
                <a:latin typeface="Times New Roman" pitchFamily="18" charset="0"/>
                <a:ea typeface="Times New Roman" pitchFamily="18" charset="0"/>
                <a:cs typeface="Times New Roman" pitchFamily="18" charset="0"/>
              </a:rPr>
              <a:t>sous-pile</a:t>
            </a:r>
            <a:r>
              <a:rPr lang="fr-FR" dirty="0">
                <a:latin typeface="Times New Roman" pitchFamily="18" charset="0"/>
                <a:ea typeface="Times New Roman" pitchFamily="18" charset="0"/>
                <a:cs typeface="Times New Roman" pitchFamily="18" charset="0"/>
              </a:rPr>
              <a:t> correspondant à la sous-expression courante. Il reste en effet sur la pile, à la fin du balayage d’une sous-expression </a:t>
            </a:r>
            <a:r>
              <a:rPr lang="fr-FR" dirty="0" err="1">
                <a:latin typeface="Times New Roman" pitchFamily="18" charset="0"/>
                <a:ea typeface="Times New Roman" pitchFamily="18" charset="0"/>
                <a:cs typeface="Times New Roman" pitchFamily="18" charset="0"/>
              </a:rPr>
              <a:t>parenthésée</a:t>
            </a:r>
            <a:r>
              <a:rPr lang="fr-FR" dirty="0">
                <a:latin typeface="Times New Roman" pitchFamily="18" charset="0"/>
                <a:ea typeface="Times New Roman" pitchFamily="18" charset="0"/>
                <a:cs typeface="Times New Roman" pitchFamily="18" charset="0"/>
              </a:rPr>
              <a:t>, tous les opérateurs de plus faible priorité. </a:t>
            </a:r>
            <a:r>
              <a:rPr lang="fr-FR" b="1" dirty="0">
                <a:latin typeface="Times New Roman" pitchFamily="18" charset="0"/>
                <a:ea typeface="Times New Roman" pitchFamily="18" charset="0"/>
                <a:cs typeface="Times New Roman" pitchFamily="18" charset="0"/>
              </a:rPr>
              <a:t>Il est nécessaire d’affecter à la parenthèse gauche une priorité plus faible que celle de tous les opérateurs</a:t>
            </a:r>
            <a:r>
              <a:rPr lang="fr-FR" dirty="0">
                <a:latin typeface="Times New Roman" pitchFamily="18" charset="0"/>
                <a:ea typeface="Times New Roman" pitchFamily="18" charset="0"/>
                <a:cs typeface="Times New Roman" pitchFamily="18" charset="0"/>
              </a:rPr>
              <a:t>.</a:t>
            </a:r>
          </a:p>
          <a:p>
            <a:pPr lvl="0" algn="just" eaLnBrk="0" fontAlgn="base" hangingPunct="0">
              <a:spcBef>
                <a:spcPct val="0"/>
              </a:spcBef>
              <a:spcAft>
                <a:spcPct val="0"/>
              </a:spcAft>
            </a:pPr>
            <a:endParaRPr lang="fr-FR" dirty="0">
              <a:latin typeface="Times New Roman" pitchFamily="18" charset="0"/>
              <a:ea typeface="Times New Roman" pitchFamily="18" charset="0"/>
              <a:cs typeface="Times New Roman" pitchFamily="18" charset="0"/>
            </a:endParaRPr>
          </a:p>
          <a:p>
            <a:pPr lvl="0" algn="just" eaLnBrk="0" fontAlgn="base" hangingPunct="0">
              <a:spcBef>
                <a:spcPct val="0"/>
              </a:spcBef>
              <a:spcAft>
                <a:spcPct val="0"/>
              </a:spcAft>
              <a:buFont typeface="Arial" pitchFamily="34" charset="0"/>
              <a:buChar char="•"/>
            </a:pPr>
            <a:r>
              <a:rPr lang="fr-FR" b="1" dirty="0">
                <a:latin typeface="Times New Roman" pitchFamily="18" charset="0"/>
                <a:ea typeface="Times New Roman" pitchFamily="18" charset="0"/>
                <a:cs typeface="Times New Roman" pitchFamily="18" charset="0"/>
              </a:rPr>
              <a:t> </a:t>
            </a:r>
            <a:r>
              <a:rPr lang="fr-FR" dirty="0">
                <a:latin typeface="Times New Roman" pitchFamily="18" charset="0"/>
                <a:ea typeface="Times New Roman" pitchFamily="18" charset="0"/>
                <a:cs typeface="Times New Roman" pitchFamily="18" charset="0"/>
              </a:rPr>
              <a:t>La</a:t>
            </a:r>
            <a:r>
              <a:rPr lang="fr-FR" b="1" dirty="0">
                <a:latin typeface="Times New Roman" pitchFamily="18" charset="0"/>
                <a:ea typeface="Times New Roman" pitchFamily="18" charset="0"/>
                <a:cs typeface="Times New Roman" pitchFamily="18" charset="0"/>
              </a:rPr>
              <a:t> parenthèse droite</a:t>
            </a:r>
            <a:r>
              <a:rPr lang="fr-FR" dirty="0">
                <a:latin typeface="Times New Roman" pitchFamily="18" charset="0"/>
                <a:ea typeface="Times New Roman" pitchFamily="18" charset="0"/>
                <a:cs typeface="Times New Roman" pitchFamily="18" charset="0"/>
              </a:rPr>
              <a:t> marque la fin d’une sous-expression, on dépile tous les opérateurs restants jusqu’à la parenthèse gauche, et on les range dans </a:t>
            </a:r>
            <a:r>
              <a:rPr lang="fr-FR" b="1" dirty="0" err="1">
                <a:latin typeface="Times New Roman" pitchFamily="18" charset="0"/>
                <a:ea typeface="Times New Roman" pitchFamily="18" charset="0"/>
                <a:cs typeface="Times New Roman" pitchFamily="18" charset="0"/>
              </a:rPr>
              <a:t>expost</a:t>
            </a:r>
            <a:r>
              <a:rPr lang="fr-FR" dirty="0">
                <a:latin typeface="Times New Roman" pitchFamily="18" charset="0"/>
                <a:ea typeface="Times New Roman" pitchFamily="18" charset="0"/>
                <a:cs typeface="Times New Roman" pitchFamily="18" charset="0"/>
              </a:rPr>
              <a:t> pour terminer l’écriture </a:t>
            </a:r>
            <a:r>
              <a:rPr lang="fr-FR" dirty="0" err="1">
                <a:latin typeface="Times New Roman" pitchFamily="18" charset="0"/>
                <a:ea typeface="Times New Roman" pitchFamily="18" charset="0"/>
                <a:cs typeface="Times New Roman" pitchFamily="18" charset="0"/>
              </a:rPr>
              <a:t>postfixée</a:t>
            </a:r>
            <a:r>
              <a:rPr lang="fr-FR" dirty="0">
                <a:latin typeface="Times New Roman" pitchFamily="18" charset="0"/>
                <a:ea typeface="Times New Roman" pitchFamily="18" charset="0"/>
                <a:cs typeface="Times New Roman" pitchFamily="18" charset="0"/>
              </a:rPr>
              <a:t> de la sous-</a:t>
            </a:r>
            <a:r>
              <a:rPr lang="fr-FR" dirty="0">
                <a:latin typeface="Times New Roman" pitchFamily="18" charset="0"/>
                <a:cs typeface="Times New Roman" pitchFamily="18" charset="0"/>
              </a:rPr>
              <a:t> expression. Ces opérateurs ont d’ailleurs tous la même priorité (minimale). On procède de même lorsque l’on rencontre la fin d’</a:t>
            </a:r>
            <a:r>
              <a:rPr lang="fr-FR" b="1" dirty="0" err="1">
                <a:latin typeface="Times New Roman" pitchFamily="18" charset="0"/>
                <a:cs typeface="Times New Roman" pitchFamily="18" charset="0"/>
              </a:rPr>
              <a:t>expinf</a:t>
            </a:r>
            <a:r>
              <a:rPr lang="fr-FR" dirty="0"/>
              <a:t>.</a:t>
            </a:r>
          </a:p>
        </p:txBody>
      </p:sp>
    </p:spTree>
    <p:extLst>
      <p:ext uri="{BB962C8B-B14F-4D97-AF65-F5344CB8AC3E}">
        <p14:creationId xmlns:p14="http://schemas.microsoft.com/office/powerpoint/2010/main" val="388913578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080" y="443310"/>
            <a:ext cx="11917680" cy="5909310"/>
          </a:xfrm>
          <a:prstGeom prst="rect">
            <a:avLst/>
          </a:prstGeom>
        </p:spPr>
        <p:txBody>
          <a:bodyPr wrap="square">
            <a:spAutoFit/>
          </a:bodyPr>
          <a:lstStyle/>
          <a:p>
            <a:endParaRPr lang="en-GB" dirty="0" smtClean="0"/>
          </a:p>
          <a:p>
            <a:endParaRPr lang="en-GB" dirty="0"/>
          </a:p>
          <a:p>
            <a:r>
              <a:rPr lang="en-GB" dirty="0"/>
              <a:t>      	</a:t>
            </a:r>
            <a:endParaRPr lang="fr-FR" dirty="0"/>
          </a:p>
          <a:p>
            <a:endParaRPr lang="en-GB" dirty="0"/>
          </a:p>
          <a:p>
            <a:r>
              <a:rPr lang="en-GB" dirty="0"/>
              <a:t>	     		     		      </a:t>
            </a:r>
          </a:p>
          <a:p>
            <a:endParaRPr lang="en-GB" dirty="0" smtClean="0"/>
          </a:p>
          <a:p>
            <a:r>
              <a:rPr lang="en-GB" dirty="0" smtClean="0"/>
              <a:t>A*B+C</a:t>
            </a:r>
            <a:r>
              <a:rPr lang="en-GB" dirty="0"/>
              <a:t>/(D*E)#	 A*B+C/(D*E)# 	 A*B+C/(D*E)# 	 A*B+C/(D*E)# 	 A*B+C/(D*E)# </a:t>
            </a:r>
            <a:r>
              <a:rPr lang="en-GB" dirty="0" smtClean="0"/>
              <a:t>	</a:t>
            </a:r>
            <a:r>
              <a:rPr lang="en-GB" dirty="0"/>
              <a:t> A*B+C/(D*E)# </a:t>
            </a:r>
            <a:r>
              <a:rPr lang="en-GB" dirty="0" smtClean="0"/>
              <a:t>	 </a:t>
            </a:r>
            <a:endParaRPr lang="en-GB" dirty="0"/>
          </a:p>
          <a:p>
            <a:endParaRPr lang="en-GB" dirty="0"/>
          </a:p>
          <a:p>
            <a:r>
              <a:rPr lang="en-GB" dirty="0" err="1"/>
              <a:t>expost</a:t>
            </a:r>
            <a:r>
              <a:rPr lang="en-GB" dirty="0"/>
              <a:t> : A		     A		     AB		     AB*		  </a:t>
            </a:r>
            <a:r>
              <a:rPr lang="en-GB" dirty="0" smtClean="0"/>
              <a:t>         AB*C</a:t>
            </a:r>
            <a:r>
              <a:rPr lang="en-GB" dirty="0"/>
              <a:t>	     </a:t>
            </a:r>
            <a:r>
              <a:rPr lang="en-GB" dirty="0" smtClean="0"/>
              <a:t>AB*C</a:t>
            </a:r>
            <a:endParaRPr lang="en-GB" dirty="0"/>
          </a:p>
          <a:p>
            <a:endParaRPr lang="en-GB" dirty="0" smtClean="0"/>
          </a:p>
          <a:p>
            <a:endParaRPr lang="en-GB" dirty="0"/>
          </a:p>
          <a:p>
            <a:r>
              <a:rPr lang="en-GB" dirty="0"/>
              <a:t>                                                                            </a:t>
            </a:r>
            <a:r>
              <a:rPr lang="en-GB" dirty="0" smtClean="0"/>
              <a:t>                                 </a:t>
            </a:r>
            <a:endParaRPr lang="en-GB" dirty="0"/>
          </a:p>
          <a:p>
            <a:r>
              <a:rPr lang="en-GB" dirty="0"/>
              <a:t>                                        </a:t>
            </a:r>
            <a:r>
              <a:rPr lang="en-GB" dirty="0" smtClean="0"/>
              <a:t>                                                          </a:t>
            </a:r>
          </a:p>
          <a:p>
            <a:endParaRPr lang="en-GB" dirty="0"/>
          </a:p>
          <a:p>
            <a:endParaRPr lang="en-GB" dirty="0"/>
          </a:p>
          <a:p>
            <a:endParaRPr lang="en-GB" dirty="0" smtClean="0"/>
          </a:p>
          <a:p>
            <a:endParaRPr lang="en-GB" dirty="0"/>
          </a:p>
          <a:p>
            <a:r>
              <a:rPr lang="en-GB" dirty="0" smtClean="0"/>
              <a:t>A*B+C</a:t>
            </a:r>
            <a:r>
              <a:rPr lang="en-GB" dirty="0"/>
              <a:t>/(D*E)#	 A*B+C/(D*E)# 	 A*B+C/(D*E)# 	 A*B+C/(D*E)# 	 A*B+C/(D*E</a:t>
            </a:r>
            <a:r>
              <a:rPr lang="en-GB" dirty="0" smtClean="0"/>
              <a:t>)#	</a:t>
            </a:r>
            <a:r>
              <a:rPr lang="en-GB" dirty="0"/>
              <a:t> A*B+C/(D*E)#</a:t>
            </a:r>
          </a:p>
          <a:p>
            <a:endParaRPr lang="en-GB" dirty="0"/>
          </a:p>
          <a:p>
            <a:r>
              <a:rPr lang="en-GB" dirty="0" err="1"/>
              <a:t>Expost</a:t>
            </a:r>
            <a:r>
              <a:rPr lang="en-GB" dirty="0"/>
              <a:t> : </a:t>
            </a:r>
            <a:r>
              <a:rPr lang="en-GB" dirty="0" smtClean="0"/>
              <a:t>AB*C                  AB*CD	         AB*CD	     AB*CDE</a:t>
            </a:r>
            <a:r>
              <a:rPr lang="en-GB" dirty="0"/>
              <a:t>	</a:t>
            </a:r>
            <a:r>
              <a:rPr lang="en-GB" dirty="0" smtClean="0"/>
              <a:t>      </a:t>
            </a:r>
            <a:r>
              <a:rPr lang="en-GB" dirty="0"/>
              <a:t>AB*CDE*	</a:t>
            </a:r>
            <a:r>
              <a:rPr lang="en-GB" dirty="0" smtClean="0"/>
              <a:t>       </a:t>
            </a:r>
            <a:r>
              <a:rPr lang="en-GB" dirty="0"/>
              <a:t>AB*CDE*/+</a:t>
            </a:r>
          </a:p>
          <a:p>
            <a:r>
              <a:rPr lang="en-GB" dirty="0"/>
              <a:t> 	</a:t>
            </a:r>
          </a:p>
        </p:txBody>
      </p:sp>
      <p:graphicFrame>
        <p:nvGraphicFramePr>
          <p:cNvPr id="3" name="Tableau 2"/>
          <p:cNvGraphicFramePr>
            <a:graphicFrameLocks noGrp="1"/>
          </p:cNvGraphicFramePr>
          <p:nvPr>
            <p:extLst>
              <p:ext uri="{D42A27DB-BD31-4B8C-83A1-F6EECF244321}">
                <p14:modId xmlns:p14="http://schemas.microsoft.com/office/powerpoint/2010/main" val="1606517826"/>
              </p:ext>
            </p:extLst>
          </p:nvPr>
        </p:nvGraphicFramePr>
        <p:xfrm>
          <a:off x="690880" y="628226"/>
          <a:ext cx="375920" cy="1483360"/>
        </p:xfrm>
        <a:graphic>
          <a:graphicData uri="http://schemas.openxmlformats.org/drawingml/2006/table">
            <a:tbl>
              <a:tblPr firstRow="1" bandRow="1">
                <a:tableStyleId>{2D5ABB26-0587-4C30-8999-92F81FD0307C}</a:tableStyleId>
              </a:tblPr>
              <a:tblGrid>
                <a:gridCol w="375920">
                  <a:extLst>
                    <a:ext uri="{9D8B030D-6E8A-4147-A177-3AD203B41FA5}">
                      <a16:colId xmlns:a16="http://schemas.microsoft.com/office/drawing/2014/main" val="1768890549"/>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1971155"/>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2295259"/>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1955987"/>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1054635"/>
                  </a:ext>
                </a:extLst>
              </a:tr>
            </a:tbl>
          </a:graphicData>
        </a:graphic>
      </p:graphicFrame>
      <p:graphicFrame>
        <p:nvGraphicFramePr>
          <p:cNvPr id="4" name="Tableau 3"/>
          <p:cNvGraphicFramePr>
            <a:graphicFrameLocks noGrp="1"/>
          </p:cNvGraphicFramePr>
          <p:nvPr>
            <p:extLst>
              <p:ext uri="{D42A27DB-BD31-4B8C-83A1-F6EECF244321}">
                <p14:modId xmlns:p14="http://schemas.microsoft.com/office/powerpoint/2010/main" val="638223624"/>
              </p:ext>
            </p:extLst>
          </p:nvPr>
        </p:nvGraphicFramePr>
        <p:xfrm>
          <a:off x="4511040" y="3625426"/>
          <a:ext cx="375920" cy="1483360"/>
        </p:xfrm>
        <a:graphic>
          <a:graphicData uri="http://schemas.openxmlformats.org/drawingml/2006/table">
            <a:tbl>
              <a:tblPr firstRow="1" bandRow="1">
                <a:tableStyleId>{2D5ABB26-0587-4C30-8999-92F81FD0307C}</a:tableStyleId>
              </a:tblPr>
              <a:tblGrid>
                <a:gridCol w="375920">
                  <a:extLst>
                    <a:ext uri="{9D8B030D-6E8A-4147-A177-3AD203B41FA5}">
                      <a16:colId xmlns:a16="http://schemas.microsoft.com/office/drawing/2014/main" val="1768890549"/>
                    </a:ext>
                  </a:extLst>
                </a:gridCol>
              </a:tblGrid>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971155"/>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2295259"/>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1955987"/>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1054635"/>
                  </a:ext>
                </a:extLst>
              </a:tr>
            </a:tbl>
          </a:graphicData>
        </a:graphic>
      </p:graphicFrame>
      <p:graphicFrame>
        <p:nvGraphicFramePr>
          <p:cNvPr id="5" name="Tableau 4"/>
          <p:cNvGraphicFramePr>
            <a:graphicFrameLocks noGrp="1"/>
          </p:cNvGraphicFramePr>
          <p:nvPr>
            <p:extLst>
              <p:ext uri="{D42A27DB-BD31-4B8C-83A1-F6EECF244321}">
                <p14:modId xmlns:p14="http://schemas.microsoft.com/office/powerpoint/2010/main" val="2580669746"/>
              </p:ext>
            </p:extLst>
          </p:nvPr>
        </p:nvGraphicFramePr>
        <p:xfrm>
          <a:off x="6177280" y="3615266"/>
          <a:ext cx="375920" cy="1483360"/>
        </p:xfrm>
        <a:graphic>
          <a:graphicData uri="http://schemas.openxmlformats.org/drawingml/2006/table">
            <a:tbl>
              <a:tblPr firstRow="1" bandRow="1">
                <a:tableStyleId>{2D5ABB26-0587-4C30-8999-92F81FD0307C}</a:tableStyleId>
              </a:tblPr>
              <a:tblGrid>
                <a:gridCol w="375920">
                  <a:extLst>
                    <a:ext uri="{9D8B030D-6E8A-4147-A177-3AD203B41FA5}">
                      <a16:colId xmlns:a16="http://schemas.microsoft.com/office/drawing/2014/main" val="1768890549"/>
                    </a:ext>
                  </a:extLst>
                </a:gridCol>
              </a:tblGrid>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971155"/>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2295259"/>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1955987"/>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1054635"/>
                  </a:ext>
                </a:extLst>
              </a:tr>
            </a:tbl>
          </a:graphicData>
        </a:graphic>
      </p:graphicFrame>
      <p:graphicFrame>
        <p:nvGraphicFramePr>
          <p:cNvPr id="6" name="Tableau 5"/>
          <p:cNvGraphicFramePr>
            <a:graphicFrameLocks noGrp="1"/>
          </p:cNvGraphicFramePr>
          <p:nvPr>
            <p:extLst>
              <p:ext uri="{D42A27DB-BD31-4B8C-83A1-F6EECF244321}">
                <p14:modId xmlns:p14="http://schemas.microsoft.com/office/powerpoint/2010/main" val="2903015130"/>
              </p:ext>
            </p:extLst>
          </p:nvPr>
        </p:nvGraphicFramePr>
        <p:xfrm>
          <a:off x="9936480" y="628226"/>
          <a:ext cx="375920" cy="1483360"/>
        </p:xfrm>
        <a:graphic>
          <a:graphicData uri="http://schemas.openxmlformats.org/drawingml/2006/table">
            <a:tbl>
              <a:tblPr firstRow="1" bandRow="1">
                <a:tableStyleId>{2D5ABB26-0587-4C30-8999-92F81FD0307C}</a:tableStyleId>
              </a:tblPr>
              <a:tblGrid>
                <a:gridCol w="375920">
                  <a:extLst>
                    <a:ext uri="{9D8B030D-6E8A-4147-A177-3AD203B41FA5}">
                      <a16:colId xmlns:a16="http://schemas.microsoft.com/office/drawing/2014/main" val="1768890549"/>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1971155"/>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2295259"/>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1955987"/>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1054635"/>
                  </a:ext>
                </a:extLst>
              </a:tr>
            </a:tbl>
          </a:graphicData>
        </a:graphic>
      </p:graphicFrame>
      <p:graphicFrame>
        <p:nvGraphicFramePr>
          <p:cNvPr id="7" name="Tableau 6"/>
          <p:cNvGraphicFramePr>
            <a:graphicFrameLocks noGrp="1"/>
          </p:cNvGraphicFramePr>
          <p:nvPr>
            <p:extLst>
              <p:ext uri="{D42A27DB-BD31-4B8C-83A1-F6EECF244321}">
                <p14:modId xmlns:p14="http://schemas.microsoft.com/office/powerpoint/2010/main" val="2585115011"/>
              </p:ext>
            </p:extLst>
          </p:nvPr>
        </p:nvGraphicFramePr>
        <p:xfrm>
          <a:off x="2590800" y="3615266"/>
          <a:ext cx="375920" cy="1483360"/>
        </p:xfrm>
        <a:graphic>
          <a:graphicData uri="http://schemas.openxmlformats.org/drawingml/2006/table">
            <a:tbl>
              <a:tblPr firstRow="1" bandRow="1">
                <a:tableStyleId>{2D5ABB26-0587-4C30-8999-92F81FD0307C}</a:tableStyleId>
              </a:tblPr>
              <a:tblGrid>
                <a:gridCol w="375920">
                  <a:extLst>
                    <a:ext uri="{9D8B030D-6E8A-4147-A177-3AD203B41FA5}">
                      <a16:colId xmlns:a16="http://schemas.microsoft.com/office/drawing/2014/main" val="1768890549"/>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1971155"/>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2295259"/>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1955987"/>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1054635"/>
                  </a:ext>
                </a:extLst>
              </a:tr>
            </a:tbl>
          </a:graphicData>
        </a:graphic>
      </p:graphicFrame>
      <p:graphicFrame>
        <p:nvGraphicFramePr>
          <p:cNvPr id="8" name="Tableau 7"/>
          <p:cNvGraphicFramePr>
            <a:graphicFrameLocks noGrp="1"/>
          </p:cNvGraphicFramePr>
          <p:nvPr>
            <p:extLst>
              <p:ext uri="{D42A27DB-BD31-4B8C-83A1-F6EECF244321}">
                <p14:modId xmlns:p14="http://schemas.microsoft.com/office/powerpoint/2010/main" val="4167457718"/>
              </p:ext>
            </p:extLst>
          </p:nvPr>
        </p:nvGraphicFramePr>
        <p:xfrm>
          <a:off x="8097520" y="3594946"/>
          <a:ext cx="375920" cy="1483360"/>
        </p:xfrm>
        <a:graphic>
          <a:graphicData uri="http://schemas.openxmlformats.org/drawingml/2006/table">
            <a:tbl>
              <a:tblPr firstRow="1" bandRow="1">
                <a:tableStyleId>{2D5ABB26-0587-4C30-8999-92F81FD0307C}</a:tableStyleId>
              </a:tblPr>
              <a:tblGrid>
                <a:gridCol w="375920">
                  <a:extLst>
                    <a:ext uri="{9D8B030D-6E8A-4147-A177-3AD203B41FA5}">
                      <a16:colId xmlns:a16="http://schemas.microsoft.com/office/drawing/2014/main" val="1768890549"/>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1971155"/>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2295259"/>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1955987"/>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1054635"/>
                  </a:ext>
                </a:extLst>
              </a:tr>
            </a:tbl>
          </a:graphicData>
        </a:graphic>
      </p:graphicFrame>
      <p:graphicFrame>
        <p:nvGraphicFramePr>
          <p:cNvPr id="9" name="Tableau 8"/>
          <p:cNvGraphicFramePr>
            <a:graphicFrameLocks noGrp="1"/>
          </p:cNvGraphicFramePr>
          <p:nvPr>
            <p:extLst>
              <p:ext uri="{D42A27DB-BD31-4B8C-83A1-F6EECF244321}">
                <p14:modId xmlns:p14="http://schemas.microsoft.com/office/powerpoint/2010/main" val="365134265"/>
              </p:ext>
            </p:extLst>
          </p:nvPr>
        </p:nvGraphicFramePr>
        <p:xfrm>
          <a:off x="741680" y="3615266"/>
          <a:ext cx="375920" cy="1483360"/>
        </p:xfrm>
        <a:graphic>
          <a:graphicData uri="http://schemas.openxmlformats.org/drawingml/2006/table">
            <a:tbl>
              <a:tblPr firstRow="1" bandRow="1">
                <a:tableStyleId>{2D5ABB26-0587-4C30-8999-92F81FD0307C}</a:tableStyleId>
              </a:tblPr>
              <a:tblGrid>
                <a:gridCol w="375920">
                  <a:extLst>
                    <a:ext uri="{9D8B030D-6E8A-4147-A177-3AD203B41FA5}">
                      <a16:colId xmlns:a16="http://schemas.microsoft.com/office/drawing/2014/main" val="1768890549"/>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1971155"/>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2295259"/>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1955987"/>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1054635"/>
                  </a:ext>
                </a:extLst>
              </a:tr>
            </a:tbl>
          </a:graphicData>
        </a:graphic>
      </p:graphicFrame>
      <p:graphicFrame>
        <p:nvGraphicFramePr>
          <p:cNvPr id="10" name="Tableau 9"/>
          <p:cNvGraphicFramePr>
            <a:graphicFrameLocks noGrp="1"/>
          </p:cNvGraphicFramePr>
          <p:nvPr>
            <p:extLst>
              <p:ext uri="{D42A27DB-BD31-4B8C-83A1-F6EECF244321}">
                <p14:modId xmlns:p14="http://schemas.microsoft.com/office/powerpoint/2010/main" val="275528899"/>
              </p:ext>
            </p:extLst>
          </p:nvPr>
        </p:nvGraphicFramePr>
        <p:xfrm>
          <a:off x="9966960" y="3594946"/>
          <a:ext cx="375920" cy="1483360"/>
        </p:xfrm>
        <a:graphic>
          <a:graphicData uri="http://schemas.openxmlformats.org/drawingml/2006/table">
            <a:tbl>
              <a:tblPr firstRow="1" bandRow="1">
                <a:tableStyleId>{2D5ABB26-0587-4C30-8999-92F81FD0307C}</a:tableStyleId>
              </a:tblPr>
              <a:tblGrid>
                <a:gridCol w="375920">
                  <a:extLst>
                    <a:ext uri="{9D8B030D-6E8A-4147-A177-3AD203B41FA5}">
                      <a16:colId xmlns:a16="http://schemas.microsoft.com/office/drawing/2014/main" val="1768890549"/>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1971155"/>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2295259"/>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1955987"/>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1054635"/>
                  </a:ext>
                </a:extLst>
              </a:tr>
            </a:tbl>
          </a:graphicData>
        </a:graphic>
      </p:graphicFrame>
      <p:graphicFrame>
        <p:nvGraphicFramePr>
          <p:cNvPr id="11" name="Tableau 10"/>
          <p:cNvGraphicFramePr>
            <a:graphicFrameLocks noGrp="1"/>
          </p:cNvGraphicFramePr>
          <p:nvPr>
            <p:extLst>
              <p:ext uri="{D42A27DB-BD31-4B8C-83A1-F6EECF244321}">
                <p14:modId xmlns:p14="http://schemas.microsoft.com/office/powerpoint/2010/main" val="3363605725"/>
              </p:ext>
            </p:extLst>
          </p:nvPr>
        </p:nvGraphicFramePr>
        <p:xfrm>
          <a:off x="2621280" y="618066"/>
          <a:ext cx="375920" cy="1483360"/>
        </p:xfrm>
        <a:graphic>
          <a:graphicData uri="http://schemas.openxmlformats.org/drawingml/2006/table">
            <a:tbl>
              <a:tblPr firstRow="1" bandRow="1">
                <a:tableStyleId>{2D5ABB26-0587-4C30-8999-92F81FD0307C}</a:tableStyleId>
              </a:tblPr>
              <a:tblGrid>
                <a:gridCol w="375920">
                  <a:extLst>
                    <a:ext uri="{9D8B030D-6E8A-4147-A177-3AD203B41FA5}">
                      <a16:colId xmlns:a16="http://schemas.microsoft.com/office/drawing/2014/main" val="1768890549"/>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1971155"/>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2295259"/>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1955987"/>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1054635"/>
                  </a:ext>
                </a:extLst>
              </a:tr>
            </a:tbl>
          </a:graphicData>
        </a:graphic>
      </p:graphicFrame>
      <p:graphicFrame>
        <p:nvGraphicFramePr>
          <p:cNvPr id="12" name="Tableau 11"/>
          <p:cNvGraphicFramePr>
            <a:graphicFrameLocks noGrp="1"/>
          </p:cNvGraphicFramePr>
          <p:nvPr>
            <p:extLst>
              <p:ext uri="{D42A27DB-BD31-4B8C-83A1-F6EECF244321}">
                <p14:modId xmlns:p14="http://schemas.microsoft.com/office/powerpoint/2010/main" val="3005116954"/>
              </p:ext>
            </p:extLst>
          </p:nvPr>
        </p:nvGraphicFramePr>
        <p:xfrm>
          <a:off x="6278880" y="638386"/>
          <a:ext cx="375920" cy="1483360"/>
        </p:xfrm>
        <a:graphic>
          <a:graphicData uri="http://schemas.openxmlformats.org/drawingml/2006/table">
            <a:tbl>
              <a:tblPr firstRow="1" bandRow="1">
                <a:tableStyleId>{2D5ABB26-0587-4C30-8999-92F81FD0307C}</a:tableStyleId>
              </a:tblPr>
              <a:tblGrid>
                <a:gridCol w="375920">
                  <a:extLst>
                    <a:ext uri="{9D8B030D-6E8A-4147-A177-3AD203B41FA5}">
                      <a16:colId xmlns:a16="http://schemas.microsoft.com/office/drawing/2014/main" val="1768890549"/>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1971155"/>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2295259"/>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1955987"/>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1054635"/>
                  </a:ext>
                </a:extLst>
              </a:tr>
            </a:tbl>
          </a:graphicData>
        </a:graphic>
      </p:graphicFrame>
      <p:graphicFrame>
        <p:nvGraphicFramePr>
          <p:cNvPr id="13" name="Tableau 12"/>
          <p:cNvGraphicFramePr>
            <a:graphicFrameLocks noGrp="1"/>
          </p:cNvGraphicFramePr>
          <p:nvPr>
            <p:extLst>
              <p:ext uri="{D42A27DB-BD31-4B8C-83A1-F6EECF244321}">
                <p14:modId xmlns:p14="http://schemas.microsoft.com/office/powerpoint/2010/main" val="2934846294"/>
              </p:ext>
            </p:extLst>
          </p:nvPr>
        </p:nvGraphicFramePr>
        <p:xfrm>
          <a:off x="4490720" y="638386"/>
          <a:ext cx="375920" cy="1483360"/>
        </p:xfrm>
        <a:graphic>
          <a:graphicData uri="http://schemas.openxmlformats.org/drawingml/2006/table">
            <a:tbl>
              <a:tblPr firstRow="1" bandRow="1">
                <a:tableStyleId>{2D5ABB26-0587-4C30-8999-92F81FD0307C}</a:tableStyleId>
              </a:tblPr>
              <a:tblGrid>
                <a:gridCol w="375920">
                  <a:extLst>
                    <a:ext uri="{9D8B030D-6E8A-4147-A177-3AD203B41FA5}">
                      <a16:colId xmlns:a16="http://schemas.microsoft.com/office/drawing/2014/main" val="1768890549"/>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1971155"/>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2295259"/>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1955987"/>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1054635"/>
                  </a:ext>
                </a:extLst>
              </a:tr>
            </a:tbl>
          </a:graphicData>
        </a:graphic>
      </p:graphicFrame>
      <p:graphicFrame>
        <p:nvGraphicFramePr>
          <p:cNvPr id="14" name="Tableau 13"/>
          <p:cNvGraphicFramePr>
            <a:graphicFrameLocks noGrp="1"/>
          </p:cNvGraphicFramePr>
          <p:nvPr>
            <p:extLst>
              <p:ext uri="{D42A27DB-BD31-4B8C-83A1-F6EECF244321}">
                <p14:modId xmlns:p14="http://schemas.microsoft.com/office/powerpoint/2010/main" val="3305653528"/>
              </p:ext>
            </p:extLst>
          </p:nvPr>
        </p:nvGraphicFramePr>
        <p:xfrm>
          <a:off x="8138160" y="638386"/>
          <a:ext cx="375920" cy="1483360"/>
        </p:xfrm>
        <a:graphic>
          <a:graphicData uri="http://schemas.openxmlformats.org/drawingml/2006/table">
            <a:tbl>
              <a:tblPr firstRow="1" bandRow="1">
                <a:tableStyleId>{2D5ABB26-0587-4C30-8999-92F81FD0307C}</a:tableStyleId>
              </a:tblPr>
              <a:tblGrid>
                <a:gridCol w="375920">
                  <a:extLst>
                    <a:ext uri="{9D8B030D-6E8A-4147-A177-3AD203B41FA5}">
                      <a16:colId xmlns:a16="http://schemas.microsoft.com/office/drawing/2014/main" val="1768890549"/>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1971155"/>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2295259"/>
                  </a:ext>
                </a:extLst>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1955987"/>
                  </a:ext>
                </a:extLst>
              </a:tr>
              <a:tr h="37084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1054635"/>
                  </a:ext>
                </a:extLst>
              </a:tr>
            </a:tbl>
          </a:graphicData>
        </a:graphic>
      </p:graphicFrame>
      <p:cxnSp>
        <p:nvCxnSpPr>
          <p:cNvPr id="16" name="Connecteur droit avec flèche 15"/>
          <p:cNvCxnSpPr/>
          <p:nvPr/>
        </p:nvCxnSpPr>
        <p:spPr>
          <a:xfrm flipV="1">
            <a:off x="132080" y="2377440"/>
            <a:ext cx="223520" cy="264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V="1">
            <a:off x="2052320" y="2296160"/>
            <a:ext cx="223520" cy="264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Connecteur droit avec flèche 17"/>
          <p:cNvCxnSpPr/>
          <p:nvPr/>
        </p:nvCxnSpPr>
        <p:spPr>
          <a:xfrm flipV="1">
            <a:off x="4003040" y="2306320"/>
            <a:ext cx="223520" cy="264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p:cNvCxnSpPr/>
          <p:nvPr/>
        </p:nvCxnSpPr>
        <p:spPr>
          <a:xfrm flipV="1">
            <a:off x="5963920" y="2306320"/>
            <a:ext cx="223520" cy="264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Connecteur droit avec flèche 19"/>
          <p:cNvCxnSpPr/>
          <p:nvPr/>
        </p:nvCxnSpPr>
        <p:spPr>
          <a:xfrm flipV="1">
            <a:off x="7924800" y="2316480"/>
            <a:ext cx="223520" cy="264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Connecteur droit avec flèche 20"/>
          <p:cNvCxnSpPr/>
          <p:nvPr/>
        </p:nvCxnSpPr>
        <p:spPr>
          <a:xfrm flipV="1">
            <a:off x="9875520" y="2296160"/>
            <a:ext cx="223520" cy="264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Connecteur droit avec flèche 21"/>
          <p:cNvCxnSpPr/>
          <p:nvPr/>
        </p:nvCxnSpPr>
        <p:spPr>
          <a:xfrm flipV="1">
            <a:off x="8564880" y="5344160"/>
            <a:ext cx="223520" cy="264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Connecteur droit avec flèche 22"/>
          <p:cNvCxnSpPr/>
          <p:nvPr/>
        </p:nvCxnSpPr>
        <p:spPr>
          <a:xfrm flipV="1">
            <a:off x="6604000" y="5384800"/>
            <a:ext cx="223520" cy="264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Connecteur droit avec flèche 23"/>
          <p:cNvCxnSpPr/>
          <p:nvPr/>
        </p:nvCxnSpPr>
        <p:spPr>
          <a:xfrm flipV="1">
            <a:off x="4673600" y="5344160"/>
            <a:ext cx="223520" cy="264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p:nvPr/>
        </p:nvCxnSpPr>
        <p:spPr>
          <a:xfrm flipV="1">
            <a:off x="2712720" y="5344160"/>
            <a:ext cx="223520" cy="264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Connecteur droit avec flèche 25"/>
          <p:cNvCxnSpPr/>
          <p:nvPr/>
        </p:nvCxnSpPr>
        <p:spPr>
          <a:xfrm flipV="1">
            <a:off x="741680" y="5374640"/>
            <a:ext cx="223520" cy="264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735968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040" y="194667"/>
            <a:ext cx="11623040" cy="6463308"/>
          </a:xfrm>
          <a:prstGeom prst="rect">
            <a:avLst/>
          </a:prstGeom>
        </p:spPr>
        <p:txBody>
          <a:bodyPr wrap="square">
            <a:spAutoFit/>
          </a:bodyPr>
          <a:lstStyle/>
          <a:p>
            <a:pPr lvl="0" algn="just" fontAlgn="base">
              <a:spcBef>
                <a:spcPct val="0"/>
              </a:spcBef>
              <a:spcAft>
                <a:spcPct val="0"/>
              </a:spcAft>
            </a:pPr>
            <a:r>
              <a:rPr lang="fr-FR" dirty="0">
                <a:latin typeface="Times New Roman" pitchFamily="18" charset="0"/>
                <a:ea typeface="Times New Roman" pitchFamily="18" charset="0"/>
                <a:cs typeface="Times New Roman" pitchFamily="18" charset="0"/>
              </a:rPr>
              <a:t>Pour écrire l’algorithme, on supposera qu’une fonction priorité associe un entier à chaque </a:t>
            </a:r>
            <a:r>
              <a:rPr lang="fr-FR" dirty="0" err="1">
                <a:latin typeface="Times New Roman" pitchFamily="18" charset="0"/>
                <a:ea typeface="Times New Roman" pitchFamily="18" charset="0"/>
                <a:cs typeface="Times New Roman" pitchFamily="18" charset="0"/>
              </a:rPr>
              <a:t>opéra-teur</a:t>
            </a:r>
            <a:r>
              <a:rPr lang="fr-FR" dirty="0">
                <a:latin typeface="Times New Roman" pitchFamily="18" charset="0"/>
                <a:ea typeface="Times New Roman" pitchFamily="18" charset="0"/>
                <a:cs typeface="Times New Roman" pitchFamily="18" charset="0"/>
              </a:rPr>
              <a:t>. Pour les expressions C, les valeurs sont : priorité des opérateurs.</a:t>
            </a:r>
          </a:p>
          <a:p>
            <a:pPr lvl="0" algn="just" fontAlgn="base">
              <a:spcBef>
                <a:spcPct val="0"/>
              </a:spcBef>
              <a:spcAft>
                <a:spcPct val="0"/>
              </a:spcAft>
            </a:pPr>
            <a:endParaRPr lang="en-GB" dirty="0">
              <a:latin typeface="Times New Roman" pitchFamily="18" charset="0"/>
              <a:cs typeface="Times New Roman" pitchFamily="18" charset="0"/>
            </a:endParaRPr>
          </a:p>
          <a:p>
            <a:pPr lvl="0" algn="just" fontAlgn="base">
              <a:spcBef>
                <a:spcPct val="0"/>
              </a:spcBef>
              <a:spcAft>
                <a:spcPct val="0"/>
              </a:spcAft>
            </a:pPr>
            <a:endParaRPr lang="en-GB" dirty="0">
              <a:latin typeface="Times New Roman" pitchFamily="18" charset="0"/>
              <a:cs typeface="Times New Roman" pitchFamily="18" charset="0"/>
            </a:endParaRPr>
          </a:p>
          <a:p>
            <a:pPr lvl="0" algn="just" fontAlgn="base">
              <a:spcBef>
                <a:spcPct val="0"/>
              </a:spcBef>
              <a:spcAft>
                <a:spcPct val="0"/>
              </a:spcAft>
            </a:pPr>
            <a:endParaRPr lang="en-GB" dirty="0">
              <a:latin typeface="Times New Roman" pitchFamily="18" charset="0"/>
              <a:cs typeface="Times New Roman" pitchFamily="18" charset="0"/>
            </a:endParaRPr>
          </a:p>
          <a:p>
            <a:pPr lvl="0" algn="just" fontAlgn="base">
              <a:spcBef>
                <a:spcPct val="0"/>
              </a:spcBef>
              <a:spcAft>
                <a:spcPct val="0"/>
              </a:spcAft>
            </a:pPr>
            <a:endParaRPr lang="en-GB" dirty="0">
              <a:latin typeface="Times New Roman" pitchFamily="18" charset="0"/>
              <a:cs typeface="Times New Roman" pitchFamily="18" charset="0"/>
            </a:endParaRPr>
          </a:p>
          <a:p>
            <a:pPr lvl="0" algn="just" fontAlgn="base">
              <a:spcBef>
                <a:spcPct val="0"/>
              </a:spcBef>
              <a:spcAft>
                <a:spcPct val="0"/>
              </a:spcAft>
            </a:pPr>
            <a:endParaRPr lang="en-GB" dirty="0">
              <a:latin typeface="Times New Roman" pitchFamily="18" charset="0"/>
              <a:cs typeface="Times New Roman" pitchFamily="18" charset="0"/>
            </a:endParaRPr>
          </a:p>
          <a:p>
            <a:pPr lvl="0" algn="just" fontAlgn="base">
              <a:spcBef>
                <a:spcPct val="0"/>
              </a:spcBef>
              <a:spcAft>
                <a:spcPct val="0"/>
              </a:spcAft>
            </a:pPr>
            <a:endParaRPr lang="en-GB" dirty="0">
              <a:latin typeface="Times New Roman" pitchFamily="18" charset="0"/>
              <a:cs typeface="Times New Roman" pitchFamily="18" charset="0"/>
            </a:endParaRPr>
          </a:p>
          <a:p>
            <a:pPr lvl="0" algn="just" fontAlgn="base">
              <a:spcBef>
                <a:spcPct val="0"/>
              </a:spcBef>
              <a:spcAft>
                <a:spcPct val="0"/>
              </a:spcAft>
            </a:pPr>
            <a:endParaRPr lang="en-GB" dirty="0">
              <a:latin typeface="Times New Roman" pitchFamily="18" charset="0"/>
              <a:cs typeface="Times New Roman" pitchFamily="18" charset="0"/>
            </a:endParaRPr>
          </a:p>
          <a:p>
            <a:pPr lvl="0" algn="just" fontAlgn="base">
              <a:spcBef>
                <a:spcPct val="0"/>
              </a:spcBef>
              <a:spcAft>
                <a:spcPct val="0"/>
              </a:spcAft>
            </a:pPr>
            <a:endParaRPr lang="en-GB" dirty="0">
              <a:latin typeface="Times New Roman" pitchFamily="18" charset="0"/>
              <a:cs typeface="Times New Roman" pitchFamily="18" charset="0"/>
            </a:endParaRPr>
          </a:p>
          <a:p>
            <a:r>
              <a:rPr lang="fr-FR" b="1" dirty="0" smtClean="0">
                <a:latin typeface="Times New Roman" pitchFamily="18" charset="0"/>
                <a:cs typeface="Times New Roman" pitchFamily="18" charset="0"/>
              </a:rPr>
              <a:t>vide </a:t>
            </a:r>
            <a:r>
              <a:rPr lang="fr-FR" dirty="0" err="1">
                <a:latin typeface="Times New Roman" pitchFamily="18" charset="0"/>
                <a:cs typeface="Times New Roman" pitchFamily="18" charset="0"/>
              </a:rPr>
              <a:t>inpost</a:t>
            </a:r>
            <a:r>
              <a:rPr lang="fr-FR" b="1" dirty="0">
                <a:latin typeface="Times New Roman" pitchFamily="18" charset="0"/>
                <a:cs typeface="Times New Roman" pitchFamily="18" charset="0"/>
              </a:rPr>
              <a:t>(d t </a:t>
            </a:r>
            <a:r>
              <a:rPr lang="fr-FR" dirty="0" err="1">
                <a:latin typeface="Times New Roman" pitchFamily="18" charset="0"/>
                <a:cs typeface="Times New Roman" pitchFamily="18" charset="0"/>
              </a:rPr>
              <a:t>expinf</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 r t </a:t>
            </a:r>
            <a:r>
              <a:rPr lang="fr-FR" dirty="0" err="1">
                <a:latin typeface="Times New Roman" pitchFamily="18" charset="0"/>
                <a:cs typeface="Times New Roman" pitchFamily="18" charset="0"/>
              </a:rPr>
              <a:t>expost</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debfonc</a:t>
            </a:r>
            <a:r>
              <a:rPr lang="fr-FR" b="1" dirty="0" smtClean="0">
                <a:latin typeface="Times New Roman" pitchFamily="18" charset="0"/>
                <a:cs typeface="Times New Roman" pitchFamily="18" charset="0"/>
              </a:rPr>
              <a:t>  </a:t>
            </a:r>
            <a:r>
              <a:rPr lang="fr-FR" b="1" dirty="0">
                <a:latin typeface="Times New Roman" pitchFamily="18" charset="0"/>
                <a:cs typeface="Times New Roman" pitchFamily="18" charset="0"/>
              </a:rPr>
              <a:t>entier </a:t>
            </a:r>
            <a:r>
              <a:rPr lang="fr-FR" dirty="0" err="1">
                <a:latin typeface="Times New Roman" pitchFamily="18" charset="0"/>
                <a:cs typeface="Times New Roman" pitchFamily="18" charset="0"/>
              </a:rPr>
              <a:t>indinf</a:t>
            </a:r>
            <a:r>
              <a:rPr lang="fr-FR" b="1" dirty="0">
                <a:latin typeface="Times New Roman" pitchFamily="18" charset="0"/>
                <a:cs typeface="Times New Roman" pitchFamily="18" charset="0"/>
              </a:rPr>
              <a:t>, </a:t>
            </a:r>
            <a:r>
              <a:rPr lang="fr-FR" dirty="0" err="1">
                <a:latin typeface="Times New Roman" pitchFamily="18" charset="0"/>
                <a:cs typeface="Times New Roman" pitchFamily="18" charset="0"/>
              </a:rPr>
              <a:t>indpost</a:t>
            </a:r>
            <a:r>
              <a:rPr lang="fr-FR" b="1" dirty="0">
                <a:latin typeface="Times New Roman" pitchFamily="18" charset="0"/>
                <a:cs typeface="Times New Roman" pitchFamily="18" charset="0"/>
              </a:rPr>
              <a:t>; caractère </a:t>
            </a:r>
            <a:r>
              <a:rPr lang="fr-FR" dirty="0" err="1">
                <a:latin typeface="Times New Roman" pitchFamily="18" charset="0"/>
                <a:cs typeface="Times New Roman" pitchFamily="18" charset="0"/>
              </a:rPr>
              <a:t>element</a:t>
            </a:r>
            <a:r>
              <a:rPr lang="fr-FR" b="1" dirty="0">
                <a:latin typeface="Times New Roman" pitchFamily="18" charset="0"/>
                <a:cs typeface="Times New Roman" pitchFamily="18" charset="0"/>
              </a:rPr>
              <a:t>; booléen </a:t>
            </a:r>
            <a:r>
              <a:rPr lang="fr-FR" dirty="0" err="1">
                <a:latin typeface="Times New Roman" pitchFamily="18" charset="0"/>
                <a:cs typeface="Times New Roman" pitchFamily="18" charset="0"/>
              </a:rPr>
              <a:t>depil</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err="1">
                <a:latin typeface="Times New Roman" pitchFamily="18" charset="0"/>
                <a:cs typeface="Times New Roman" pitchFamily="18" charset="0"/>
              </a:rPr>
              <a:t>initpilevide</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 </a:t>
            </a:r>
            <a:r>
              <a:rPr lang="fr-FR" dirty="0" err="1" smtClean="0">
                <a:latin typeface="Times New Roman" pitchFamily="18" charset="0"/>
                <a:cs typeface="Times New Roman" pitchFamily="18" charset="0"/>
              </a:rPr>
              <a:t>indinf</a:t>
            </a:r>
            <a:r>
              <a:rPr lang="fr-FR" dirty="0" smtClean="0">
                <a:latin typeface="Times New Roman" pitchFamily="18" charset="0"/>
                <a:cs typeface="Times New Roman" pitchFamily="18" charset="0"/>
              </a:rPr>
              <a:t>:=</a:t>
            </a:r>
            <a:r>
              <a:rPr lang="fr-FR" dirty="0" smtClean="0">
                <a:latin typeface="Times New Roman" pitchFamily="18" charset="0"/>
                <a:cs typeface="Times New Roman" pitchFamily="18" charset="0"/>
              </a:rPr>
              <a:t>1</a:t>
            </a:r>
            <a:r>
              <a:rPr lang="fr-FR" b="1" dirty="0">
                <a:latin typeface="Times New Roman" pitchFamily="18" charset="0"/>
                <a:cs typeface="Times New Roman" pitchFamily="18" charset="0"/>
              </a:rPr>
              <a:t>; </a:t>
            </a:r>
            <a:r>
              <a:rPr lang="fr-FR" dirty="0" err="1" smtClean="0">
                <a:latin typeface="Times New Roman" pitchFamily="18" charset="0"/>
                <a:cs typeface="Times New Roman" pitchFamily="18" charset="0"/>
              </a:rPr>
              <a:t>indpost</a:t>
            </a:r>
            <a:r>
              <a:rPr lang="fr-FR" dirty="0" smtClean="0">
                <a:latin typeface="Times New Roman" pitchFamily="18" charset="0"/>
                <a:cs typeface="Times New Roman" pitchFamily="18" charset="0"/>
              </a:rPr>
              <a:t>:=</a:t>
            </a:r>
            <a:r>
              <a:rPr lang="fr-FR" dirty="0" smtClean="0">
                <a:latin typeface="Times New Roman" pitchFamily="18" charset="0"/>
                <a:cs typeface="Times New Roman" pitchFamily="18" charset="0"/>
              </a:rPr>
              <a:t>1</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tantque</a:t>
            </a:r>
            <a:r>
              <a:rPr lang="fr-FR" b="1" dirty="0">
                <a:latin typeface="Times New Roman" pitchFamily="18" charset="0"/>
                <a:cs typeface="Times New Roman" pitchFamily="18" charset="0"/>
              </a:rPr>
              <a:t> </a:t>
            </a:r>
            <a:r>
              <a:rPr lang="fr-FR" dirty="0" err="1">
                <a:latin typeface="Times New Roman" pitchFamily="18" charset="0"/>
                <a:cs typeface="Times New Roman" pitchFamily="18" charset="0"/>
              </a:rPr>
              <a:t>expinf</a:t>
            </a:r>
            <a:r>
              <a:rPr lang="fr-FR" dirty="0">
                <a:latin typeface="Times New Roman" pitchFamily="18" charset="0"/>
                <a:cs typeface="Times New Roman" pitchFamily="18" charset="0"/>
              </a:rPr>
              <a:t>[</a:t>
            </a:r>
            <a:r>
              <a:rPr lang="fr-FR" dirty="0" err="1">
                <a:latin typeface="Times New Roman" pitchFamily="18" charset="0"/>
                <a:cs typeface="Times New Roman" pitchFamily="18" charset="0"/>
              </a:rPr>
              <a:t>indinf</a:t>
            </a:r>
            <a:r>
              <a:rPr lang="fr-FR" dirty="0">
                <a:latin typeface="Times New Roman" pitchFamily="18" charset="0"/>
                <a:cs typeface="Times New Roman" pitchFamily="18" charset="0"/>
              </a:rPr>
              <a:t>] </a:t>
            </a:r>
            <a:r>
              <a:rPr lang="fr-FR" b="1" dirty="0">
                <a:latin typeface="Times New Roman" pitchFamily="18" charset="0"/>
                <a:cs typeface="Times New Roman" pitchFamily="18" charset="0"/>
                <a:sym typeface="Symbol"/>
              </a:rPr>
              <a:t>≠</a:t>
            </a:r>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 faire</a:t>
            </a:r>
          </a:p>
          <a:p>
            <a:r>
              <a:rPr lang="fr-FR" b="1" dirty="0">
                <a:latin typeface="Times New Roman" pitchFamily="18" charset="0"/>
                <a:cs typeface="Times New Roman" pitchFamily="18" charset="0"/>
              </a:rPr>
              <a:t>      si </a:t>
            </a:r>
            <a:r>
              <a:rPr lang="fr-FR" dirty="0">
                <a:latin typeface="Times New Roman" pitchFamily="18" charset="0"/>
                <a:cs typeface="Times New Roman" pitchFamily="18" charset="0"/>
              </a:rPr>
              <a:t>operateur(</a:t>
            </a:r>
            <a:r>
              <a:rPr lang="fr-FR" dirty="0" err="1">
                <a:latin typeface="Times New Roman" pitchFamily="18" charset="0"/>
                <a:cs typeface="Times New Roman" pitchFamily="18" charset="0"/>
              </a:rPr>
              <a:t>expinf</a:t>
            </a:r>
            <a:r>
              <a:rPr lang="fr-FR" dirty="0">
                <a:latin typeface="Times New Roman" pitchFamily="18" charset="0"/>
                <a:cs typeface="Times New Roman" pitchFamily="18" charset="0"/>
              </a:rPr>
              <a:t>[</a:t>
            </a:r>
            <a:r>
              <a:rPr lang="fr-FR" dirty="0" err="1">
                <a:latin typeface="Times New Roman" pitchFamily="18" charset="0"/>
                <a:cs typeface="Times New Roman" pitchFamily="18" charset="0"/>
              </a:rPr>
              <a:t>indinf</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 </a:t>
            </a:r>
          </a:p>
          <a:p>
            <a:r>
              <a:rPr lang="fr-FR" b="1" dirty="0">
                <a:latin typeface="Times New Roman" pitchFamily="18" charset="0"/>
                <a:cs typeface="Times New Roman" pitchFamily="18" charset="0"/>
              </a:rPr>
              <a:t>         </a:t>
            </a:r>
            <a:r>
              <a:rPr lang="fr-FR" dirty="0" err="1">
                <a:latin typeface="Times New Roman" pitchFamily="18" charset="0"/>
                <a:cs typeface="Times New Roman" pitchFamily="18" charset="0"/>
              </a:rPr>
              <a:t>depil</a:t>
            </a:r>
            <a:r>
              <a:rPr lang="fr-FR" b="1" dirty="0">
                <a:latin typeface="Times New Roman" pitchFamily="18" charset="0"/>
                <a:cs typeface="Times New Roman" pitchFamily="18" charset="0"/>
              </a:rPr>
              <a:t> </a:t>
            </a:r>
            <a:r>
              <a:rPr lang="fr-FR" b="1" dirty="0" smtClean="0">
                <a:latin typeface="Times New Roman" pitchFamily="18" charset="0"/>
                <a:cs typeface="Times New Roman" pitchFamily="18" charset="0"/>
              </a:rPr>
              <a:t>:=</a:t>
            </a:r>
            <a:r>
              <a:rPr lang="fr-FR" b="1" dirty="0" smtClean="0">
                <a:latin typeface="Times New Roman" pitchFamily="18" charset="0"/>
                <a:cs typeface="Times New Roman" pitchFamily="18" charset="0"/>
              </a:rPr>
              <a:t>  </a:t>
            </a:r>
            <a:r>
              <a:rPr lang="fr-FR" b="1" dirty="0">
                <a:latin typeface="Times New Roman" pitchFamily="18" charset="0"/>
                <a:cs typeface="Times New Roman" pitchFamily="18" charset="0"/>
              </a:rPr>
              <a:t>non </a:t>
            </a:r>
            <a:r>
              <a:rPr lang="fr-FR" dirty="0" err="1">
                <a:latin typeface="Times New Roman" pitchFamily="18" charset="0"/>
                <a:cs typeface="Times New Roman" pitchFamily="18" charset="0"/>
              </a:rPr>
              <a:t>pilevide</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tantque</a:t>
            </a:r>
            <a:r>
              <a:rPr lang="fr-FR" b="1" dirty="0">
                <a:latin typeface="Times New Roman" pitchFamily="18" charset="0"/>
                <a:cs typeface="Times New Roman" pitchFamily="18" charset="0"/>
              </a:rPr>
              <a:t> </a:t>
            </a:r>
            <a:r>
              <a:rPr lang="fr-FR" dirty="0" err="1">
                <a:latin typeface="Times New Roman" pitchFamily="18" charset="0"/>
                <a:cs typeface="Times New Roman" pitchFamily="18" charset="0"/>
              </a:rPr>
              <a:t>depil</a:t>
            </a:r>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faire</a:t>
            </a:r>
          </a:p>
          <a:p>
            <a:r>
              <a:rPr lang="fr-FR" b="1" dirty="0">
                <a:latin typeface="Times New Roman" pitchFamily="18" charset="0"/>
                <a:cs typeface="Times New Roman" pitchFamily="18" charset="0"/>
              </a:rPr>
              <a:t>            si </a:t>
            </a:r>
            <a:r>
              <a:rPr lang="fr-FR" dirty="0" err="1">
                <a:latin typeface="Times New Roman" pitchFamily="18" charset="0"/>
                <a:cs typeface="Times New Roman" pitchFamily="18" charset="0"/>
              </a:rPr>
              <a:t>priorite</a:t>
            </a:r>
            <a:r>
              <a:rPr lang="fr-FR" dirty="0">
                <a:latin typeface="Times New Roman" pitchFamily="18" charset="0"/>
                <a:cs typeface="Times New Roman" pitchFamily="18" charset="0"/>
              </a:rPr>
              <a:t>(</a:t>
            </a:r>
            <a:r>
              <a:rPr lang="fr-FR" dirty="0" err="1">
                <a:latin typeface="Times New Roman" pitchFamily="18" charset="0"/>
                <a:cs typeface="Times New Roman" pitchFamily="18" charset="0"/>
              </a:rPr>
              <a:t>sommetpile</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a:t>
            </a:r>
            <a:r>
              <a:rPr lang="fr-FR" b="1" dirty="0">
                <a:latin typeface="Times New Roman" pitchFamily="18" charset="0"/>
                <a:cs typeface="Times New Roman" pitchFamily="18" charset="0"/>
                <a:sym typeface="Symbol"/>
              </a:rPr>
              <a:t> ≥ </a:t>
            </a:r>
            <a:r>
              <a:rPr lang="fr-FR" dirty="0" err="1">
                <a:latin typeface="Times New Roman" pitchFamily="18" charset="0"/>
                <a:cs typeface="Times New Roman" pitchFamily="18" charset="0"/>
              </a:rPr>
              <a:t>priorite</a:t>
            </a:r>
            <a:r>
              <a:rPr lang="fr-FR" dirty="0">
                <a:latin typeface="Times New Roman" pitchFamily="18" charset="0"/>
                <a:cs typeface="Times New Roman" pitchFamily="18" charset="0"/>
              </a:rPr>
              <a:t>(</a:t>
            </a:r>
            <a:r>
              <a:rPr lang="fr-FR" dirty="0" err="1">
                <a:latin typeface="Times New Roman" pitchFamily="18" charset="0"/>
                <a:cs typeface="Times New Roman" pitchFamily="18" charset="0"/>
              </a:rPr>
              <a:t>expinf</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 alors</a:t>
            </a:r>
          </a:p>
          <a:p>
            <a:r>
              <a:rPr lang="fr-FR" b="1" dirty="0">
                <a:latin typeface="Times New Roman" pitchFamily="18" charset="0"/>
                <a:cs typeface="Times New Roman" pitchFamily="18" charset="0"/>
              </a:rPr>
              <a:t>                </a:t>
            </a:r>
            <a:r>
              <a:rPr lang="fr-FR" dirty="0" err="1">
                <a:latin typeface="Times New Roman" pitchFamily="18" charset="0"/>
                <a:cs typeface="Times New Roman" pitchFamily="18" charset="0"/>
              </a:rPr>
              <a:t>depiler</a:t>
            </a:r>
            <a:r>
              <a:rPr lang="fr-FR" dirty="0">
                <a:latin typeface="Times New Roman" pitchFamily="18" charset="0"/>
                <a:cs typeface="Times New Roman" pitchFamily="18" charset="0"/>
              </a:rPr>
              <a:t>(</a:t>
            </a:r>
            <a:r>
              <a:rPr lang="fr-FR" dirty="0" err="1">
                <a:latin typeface="Times New Roman" pitchFamily="18" charset="0"/>
                <a:cs typeface="Times New Roman" pitchFamily="18" charset="0"/>
              </a:rPr>
              <a:t>element</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 </a:t>
            </a:r>
            <a:r>
              <a:rPr lang="fr-FR" dirty="0" err="1" smtClean="0">
                <a:latin typeface="Times New Roman" pitchFamily="18" charset="0"/>
                <a:cs typeface="Times New Roman" pitchFamily="18" charset="0"/>
              </a:rPr>
              <a:t>expost</a:t>
            </a:r>
            <a:r>
              <a:rPr lang="fr-FR" dirty="0" smtClean="0">
                <a:latin typeface="Times New Roman" pitchFamily="18" charset="0"/>
                <a:cs typeface="Times New Roman" pitchFamily="18" charset="0"/>
              </a:rPr>
              <a:t>[</a:t>
            </a:r>
            <a:r>
              <a:rPr lang="fr-FR" dirty="0" err="1" smtClean="0">
                <a:latin typeface="Times New Roman" pitchFamily="18" charset="0"/>
                <a:cs typeface="Times New Roman" pitchFamily="18" charset="0"/>
              </a:rPr>
              <a:t>indpost</a:t>
            </a:r>
            <a:r>
              <a:rPr lang="fr-FR" dirty="0" smtClean="0">
                <a:latin typeface="Times New Roman" pitchFamily="18" charset="0"/>
                <a:cs typeface="Times New Roman" pitchFamily="18" charset="0"/>
              </a:rPr>
              <a:t>]:=</a:t>
            </a:r>
            <a:r>
              <a:rPr lang="fr-FR" dirty="0" err="1" smtClean="0">
                <a:latin typeface="Times New Roman" pitchFamily="18" charset="0"/>
                <a:cs typeface="Times New Roman" pitchFamily="18" charset="0"/>
              </a:rPr>
              <a:t>element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err="1" smtClean="0">
                <a:latin typeface="Times New Roman" pitchFamily="18" charset="0"/>
                <a:cs typeface="Times New Roman" pitchFamily="18" charset="0"/>
              </a:rPr>
              <a:t>indpost</a:t>
            </a:r>
            <a:r>
              <a:rPr lang="fr-FR" dirty="0" smtClean="0">
                <a:latin typeface="Times New Roman" pitchFamily="18" charset="0"/>
                <a:cs typeface="Times New Roman" pitchFamily="18" charset="0"/>
              </a:rPr>
              <a:t>:=indpost+1</a:t>
            </a:r>
            <a:r>
              <a:rPr lang="fr-FR" b="1" dirty="0" smtClean="0">
                <a:latin typeface="Times New Roman" pitchFamily="18" charset="0"/>
                <a:cs typeface="Times New Roman" pitchFamily="18" charset="0"/>
              </a:rPr>
              <a:t>; </a:t>
            </a:r>
            <a:r>
              <a:rPr lang="fr-FR" dirty="0" err="1">
                <a:latin typeface="Times New Roman" pitchFamily="18" charset="0"/>
                <a:cs typeface="Times New Roman" pitchFamily="18" charset="0"/>
              </a:rPr>
              <a:t>depil</a:t>
            </a:r>
            <a:r>
              <a:rPr lang="fr-FR" dirty="0">
                <a:latin typeface="Times New Roman" pitchFamily="18" charset="0"/>
                <a:cs typeface="Times New Roman" pitchFamily="18" charset="0"/>
              </a:rPr>
              <a:t> </a:t>
            </a:r>
            <a:r>
              <a:rPr lang="fr-FR" dirty="0" smtClean="0">
                <a:latin typeface="Times New Roman" pitchFamily="18" charset="0"/>
                <a:cs typeface="Times New Roman" pitchFamily="18" charset="0"/>
              </a:rPr>
              <a:t>:=</a:t>
            </a:r>
            <a:r>
              <a:rPr lang="fr-FR" dirty="0" smtClean="0">
                <a:latin typeface="Times New Roman" pitchFamily="18" charset="0"/>
                <a:cs typeface="Times New Roman" pitchFamily="18" charset="0"/>
              </a:rPr>
              <a:t> </a:t>
            </a:r>
            <a:r>
              <a:rPr lang="fr-FR" dirty="0">
                <a:latin typeface="Times New Roman" pitchFamily="18" charset="0"/>
                <a:cs typeface="Times New Roman" pitchFamily="18" charset="0"/>
              </a:rPr>
              <a:t>non </a:t>
            </a:r>
            <a:r>
              <a:rPr lang="fr-FR" dirty="0" err="1">
                <a:latin typeface="Times New Roman" pitchFamily="18" charset="0"/>
                <a:cs typeface="Times New Roman" pitchFamily="18" charset="0"/>
              </a:rPr>
              <a:t>pilevide</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sinon </a:t>
            </a:r>
            <a:r>
              <a:rPr lang="fr-FR" dirty="0" err="1" smtClean="0">
                <a:latin typeface="Times New Roman" pitchFamily="18" charset="0"/>
                <a:cs typeface="Times New Roman" pitchFamily="18" charset="0"/>
              </a:rPr>
              <a:t>depil</a:t>
            </a:r>
            <a:r>
              <a:rPr lang="fr-FR" dirty="0" smtClean="0">
                <a:latin typeface="Times New Roman" pitchFamily="18" charset="0"/>
                <a:cs typeface="Times New Roman" pitchFamily="18" charset="0"/>
              </a:rPr>
              <a:t>:=</a:t>
            </a:r>
            <a:r>
              <a:rPr lang="fr-FR" b="1" dirty="0" smtClean="0">
                <a:latin typeface="Times New Roman" pitchFamily="18" charset="0"/>
                <a:cs typeface="Times New Roman" pitchFamily="18" charset="0"/>
              </a:rPr>
              <a:t>faux</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finfaire</a:t>
            </a:r>
            <a:r>
              <a:rPr lang="fr-FR" b="1" dirty="0">
                <a:latin typeface="Times New Roman" pitchFamily="18" charset="0"/>
                <a:cs typeface="Times New Roman" pitchFamily="18" charset="0"/>
              </a:rPr>
              <a:t>;</a:t>
            </a:r>
          </a:p>
          <a:p>
            <a:r>
              <a:rPr lang="en-GB" b="1" dirty="0">
                <a:latin typeface="Times New Roman" pitchFamily="18" charset="0"/>
                <a:cs typeface="Times New Roman" pitchFamily="18" charset="0"/>
              </a:rPr>
              <a:t>       </a:t>
            </a:r>
            <a:r>
              <a:rPr lang="fr-FR" b="1" dirty="0">
                <a:latin typeface="Times New Roman" pitchFamily="18" charset="0"/>
                <a:cs typeface="Times New Roman" pitchFamily="18" charset="0"/>
              </a:rPr>
              <a:t> </a:t>
            </a:r>
            <a:r>
              <a:rPr lang="fr-FR" dirty="0">
                <a:latin typeface="Times New Roman" pitchFamily="18" charset="0"/>
                <a:cs typeface="Times New Roman" pitchFamily="18" charset="0"/>
              </a:rPr>
              <a:t>empiler(</a:t>
            </a:r>
            <a:r>
              <a:rPr lang="fr-FR" dirty="0" err="1">
                <a:latin typeface="Times New Roman" pitchFamily="18" charset="0"/>
                <a:cs typeface="Times New Roman" pitchFamily="18" charset="0"/>
              </a:rPr>
              <a:t>expinf</a:t>
            </a:r>
            <a:r>
              <a:rPr lang="fr-FR" dirty="0">
                <a:latin typeface="Times New Roman" pitchFamily="18" charset="0"/>
                <a:cs typeface="Times New Roman" pitchFamily="18" charset="0"/>
              </a:rPr>
              <a:t>[</a:t>
            </a:r>
            <a:r>
              <a:rPr lang="fr-FR" dirty="0" err="1">
                <a:latin typeface="Times New Roman" pitchFamily="18" charset="0"/>
                <a:cs typeface="Times New Roman" pitchFamily="18" charset="0"/>
              </a:rPr>
              <a:t>indinf</a:t>
            </a:r>
            <a:r>
              <a:rPr lang="fr-FR" dirty="0">
                <a:latin typeface="Times New Roman" pitchFamily="18" charset="0"/>
                <a:cs typeface="Times New Roman" pitchFamily="18" charset="0"/>
              </a:rPr>
              <a:t>])</a:t>
            </a:r>
            <a:r>
              <a:rPr lang="fr-FR" b="1" dirty="0">
                <a:latin typeface="Times New Roman" pitchFamily="18" charset="0"/>
                <a:cs typeface="Times New Roman" pitchFamily="18" charset="0"/>
              </a:rPr>
              <a:t>;</a:t>
            </a:r>
          </a:p>
        </p:txBody>
      </p:sp>
      <mc:AlternateContent xmlns:mc="http://schemas.openxmlformats.org/markup-compatibility/2006" xmlns:a14="http://schemas.microsoft.com/office/drawing/2010/main">
        <mc:Choice Requires="a14">
          <p:graphicFrame>
            <p:nvGraphicFramePr>
              <p:cNvPr id="3" name="Tableau 2"/>
              <p:cNvGraphicFramePr>
                <a:graphicFrameLocks noGrp="1"/>
              </p:cNvGraphicFramePr>
              <p:nvPr>
                <p:extLst>
                  <p:ext uri="{D42A27DB-BD31-4B8C-83A1-F6EECF244321}">
                    <p14:modId xmlns:p14="http://schemas.microsoft.com/office/powerpoint/2010/main" val="4065381533"/>
                  </p:ext>
                </p:extLst>
              </p:nvPr>
            </p:nvGraphicFramePr>
            <p:xfrm>
              <a:off x="2032000" y="780627"/>
              <a:ext cx="3881120" cy="2212332"/>
            </p:xfrm>
            <a:graphic>
              <a:graphicData uri="http://schemas.openxmlformats.org/drawingml/2006/table">
                <a:tbl>
                  <a:tblPr firstRow="1" bandRow="1">
                    <a:tableStyleId>{2D5ABB26-0587-4C30-8999-92F81FD0307C}</a:tableStyleId>
                  </a:tblPr>
                  <a:tblGrid>
                    <a:gridCol w="1889760">
                      <a:extLst>
                        <a:ext uri="{9D8B030D-6E8A-4147-A177-3AD203B41FA5}">
                          <a16:colId xmlns:a16="http://schemas.microsoft.com/office/drawing/2014/main" val="283122045"/>
                        </a:ext>
                      </a:extLst>
                    </a:gridCol>
                    <a:gridCol w="1991360">
                      <a:extLst>
                        <a:ext uri="{9D8B030D-6E8A-4147-A177-3AD203B41FA5}">
                          <a16:colId xmlns:a16="http://schemas.microsoft.com/office/drawing/2014/main" val="2597461006"/>
                        </a:ext>
                      </a:extLst>
                    </a:gridCol>
                  </a:tblGrid>
                  <a:tr h="346288">
                    <a:tc>
                      <a:txBody>
                        <a:bodyPr/>
                        <a:lstStyle/>
                        <a:p>
                          <a:r>
                            <a:rPr lang="fr-FR" dirty="0" smtClean="0"/>
                            <a:t>OPERATEURS</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smtClean="0"/>
                            <a:t>PRIORITE</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7978410"/>
                      </a:ext>
                    </a:extLst>
                  </a:tr>
                  <a:tr h="346288">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smtClean="0"/>
                            <a:t>0</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0265581"/>
                      </a:ext>
                    </a:extLst>
                  </a:tr>
                  <a:tr h="346288">
                    <a:tc>
                      <a:txBody>
                        <a:bodyPr/>
                        <a:lstStyle/>
                        <a:p>
                          <a:r>
                            <a:rPr lang="fr-FR" dirty="0" smtClean="0"/>
                            <a:t>&lt;  ≤  =  ≥  &gt;  ≠</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smtClean="0"/>
                            <a:t>1</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020166"/>
                      </a:ext>
                    </a:extLst>
                  </a:tr>
                  <a:tr h="346288">
                    <a:tc>
                      <a:txBody>
                        <a:bodyPr/>
                        <a:lstStyle/>
                        <a:p>
                          <a14:m>
                            <m:oMath xmlns:m="http://schemas.openxmlformats.org/officeDocument/2006/math">
                              <m:r>
                                <a:rPr lang="fr-FR" i="1" baseline="0" smtClean="0">
                                  <a:latin typeface="Cambria Math" panose="02040503050406030204" pitchFamily="18" charset="0"/>
                                  <a:ea typeface="Cambria Math" panose="02040503050406030204" pitchFamily="18" charset="0"/>
                                </a:rPr>
                                <m:t>∨</m:t>
                              </m:r>
                            </m:oMath>
                          </a14:m>
                          <a:r>
                            <a:rPr lang="fr-FR" baseline="0" dirty="0" smtClean="0"/>
                            <a:t>  +  -</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smtClean="0"/>
                            <a:t>2</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6592385"/>
                      </a:ext>
                    </a:extLst>
                  </a:tr>
                  <a:tr h="346288">
                    <a:tc>
                      <a:txBody>
                        <a:bodyPr/>
                        <a:lstStyle/>
                        <a:p>
                          <a14:m>
                            <m:oMath xmlns:m="http://schemas.openxmlformats.org/officeDocument/2006/math">
                              <m:r>
                                <a:rPr lang="fr-FR" i="1" smtClean="0">
                                  <a:latin typeface="Cambria Math" panose="02040503050406030204" pitchFamily="18" charset="0"/>
                                  <a:ea typeface="Cambria Math" panose="02040503050406030204" pitchFamily="18" charset="0"/>
                                </a:rPr>
                                <m:t>∧</m:t>
                              </m:r>
                            </m:oMath>
                          </a14:m>
                          <a:r>
                            <a:rPr lang="fr-FR" dirty="0" smtClean="0"/>
                            <a:t>  *  /</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smtClean="0"/>
                            <a:t>3</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9882783"/>
                      </a:ext>
                    </a:extLst>
                  </a:tr>
                  <a:tr h="383532">
                    <a:tc>
                      <a:txBody>
                        <a:bodyPr/>
                        <a:lstStyle/>
                        <a:p>
                          <a:pPr marL="0" indent="0">
                            <a:buFontTx/>
                            <a:buNone/>
                          </a:pPr>
                          <a:r>
                            <a:rPr lang="fr-FR" dirty="0" smtClean="0"/>
                            <a:t>- unaire    </a:t>
                          </a:r>
                          <a14:m>
                            <m:oMath xmlns:m="http://schemas.openxmlformats.org/officeDocument/2006/math">
                              <m:r>
                                <a:rPr lang="fr-FR" i="1" smtClean="0">
                                  <a:latin typeface="Cambria Math" panose="02040503050406030204" pitchFamily="18" charset="0"/>
                                  <a:ea typeface="Cambria Math" panose="02040503050406030204" pitchFamily="18" charset="0"/>
                                </a:rPr>
                                <m:t>¬</m:t>
                              </m:r>
                            </m:oMath>
                          </a14:m>
                          <a:r>
                            <a:rPr lang="fr-FR" dirty="0" smtClean="0"/>
                            <a:t>  </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smtClean="0"/>
                            <a:t>4</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307927"/>
                      </a:ext>
                    </a:extLst>
                  </a:tr>
                </a:tbl>
              </a:graphicData>
            </a:graphic>
          </p:graphicFrame>
        </mc:Choice>
        <mc:Fallback xmlns="">
          <p:graphicFrame>
            <p:nvGraphicFramePr>
              <p:cNvPr id="3" name="Tableau 2"/>
              <p:cNvGraphicFramePr>
                <a:graphicFrameLocks noGrp="1"/>
              </p:cNvGraphicFramePr>
              <p:nvPr>
                <p:extLst>
                  <p:ext uri="{D42A27DB-BD31-4B8C-83A1-F6EECF244321}">
                    <p14:modId xmlns:p14="http://schemas.microsoft.com/office/powerpoint/2010/main" val="4065381533"/>
                  </p:ext>
                </p:extLst>
              </p:nvPr>
            </p:nvGraphicFramePr>
            <p:xfrm>
              <a:off x="2032000" y="780627"/>
              <a:ext cx="3881120" cy="2212332"/>
            </p:xfrm>
            <a:graphic>
              <a:graphicData uri="http://schemas.openxmlformats.org/drawingml/2006/table">
                <a:tbl>
                  <a:tblPr firstRow="1" bandRow="1">
                    <a:tableStyleId>{2D5ABB26-0587-4C30-8999-92F81FD0307C}</a:tableStyleId>
                  </a:tblPr>
                  <a:tblGrid>
                    <a:gridCol w="1889760">
                      <a:extLst>
                        <a:ext uri="{9D8B030D-6E8A-4147-A177-3AD203B41FA5}">
                          <a16:colId xmlns:a16="http://schemas.microsoft.com/office/drawing/2014/main" val="283122045"/>
                        </a:ext>
                      </a:extLst>
                    </a:gridCol>
                    <a:gridCol w="1991360">
                      <a:extLst>
                        <a:ext uri="{9D8B030D-6E8A-4147-A177-3AD203B41FA5}">
                          <a16:colId xmlns:a16="http://schemas.microsoft.com/office/drawing/2014/main" val="2597461006"/>
                        </a:ext>
                      </a:extLst>
                    </a:gridCol>
                  </a:tblGrid>
                  <a:tr h="365760">
                    <a:tc>
                      <a:txBody>
                        <a:bodyPr/>
                        <a:lstStyle/>
                        <a:p>
                          <a:r>
                            <a:rPr lang="fr-FR" dirty="0" smtClean="0"/>
                            <a:t>OPERATEURS</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smtClean="0"/>
                            <a:t>PRIORITE</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7978410"/>
                      </a:ext>
                    </a:extLst>
                  </a:tr>
                  <a:tr h="365760">
                    <a:tc>
                      <a:txBody>
                        <a:bodyPr/>
                        <a:lstStyle/>
                        <a:p>
                          <a:r>
                            <a:rPr lang="fr-FR" dirty="0" smtClean="0"/>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smtClean="0"/>
                            <a:t>0</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0265581"/>
                      </a:ext>
                    </a:extLst>
                  </a:tr>
                  <a:tr h="365760">
                    <a:tc>
                      <a:txBody>
                        <a:bodyPr/>
                        <a:lstStyle/>
                        <a:p>
                          <a:r>
                            <a:rPr lang="fr-FR" dirty="0" smtClean="0"/>
                            <a:t>&lt;  ≤  =  ≥  &gt;  ≠</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smtClean="0"/>
                            <a:t>1</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020166"/>
                      </a:ext>
                    </a:extLst>
                  </a:tr>
                  <a:tr h="365760">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23" t="-308333" r="-106452" b="-226667"/>
                          </a:stretch>
                        </a:blipFill>
                      </a:tcPr>
                    </a:tc>
                    <a:tc>
                      <a:txBody>
                        <a:bodyPr/>
                        <a:lstStyle/>
                        <a:p>
                          <a:r>
                            <a:rPr lang="fr-FR" dirty="0" smtClean="0"/>
                            <a:t>2</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6592385"/>
                      </a:ext>
                    </a:extLst>
                  </a:tr>
                  <a:tr h="365760">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23" t="-408333" r="-106452" b="-126667"/>
                          </a:stretch>
                        </a:blipFill>
                      </a:tcPr>
                    </a:tc>
                    <a:tc>
                      <a:txBody>
                        <a:bodyPr/>
                        <a:lstStyle/>
                        <a:p>
                          <a:r>
                            <a:rPr lang="fr-FR" dirty="0" smtClean="0"/>
                            <a:t>3</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9882783"/>
                      </a:ext>
                    </a:extLst>
                  </a:tr>
                  <a:tr h="383532">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23" t="-484127" r="-106452" b="-20635"/>
                          </a:stretch>
                        </a:blipFill>
                      </a:tcPr>
                    </a:tc>
                    <a:tc>
                      <a:txBody>
                        <a:bodyPr/>
                        <a:lstStyle/>
                        <a:p>
                          <a:r>
                            <a:rPr lang="fr-FR" dirty="0" smtClean="0"/>
                            <a:t>4</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307927"/>
                      </a:ext>
                    </a:extLst>
                  </a:tr>
                </a:tbl>
              </a:graphicData>
            </a:graphic>
          </p:graphicFrame>
        </mc:Fallback>
      </mc:AlternateContent>
    </p:spTree>
    <p:extLst>
      <p:ext uri="{BB962C8B-B14F-4D97-AF65-F5344CB8AC3E}">
        <p14:creationId xmlns:p14="http://schemas.microsoft.com/office/powerpoint/2010/main" val="33042067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8800" y="374363"/>
            <a:ext cx="11125200" cy="6001643"/>
          </a:xfrm>
          <a:prstGeom prst="rect">
            <a:avLst/>
          </a:prstGeom>
        </p:spPr>
        <p:txBody>
          <a:bodyPr wrap="square">
            <a:spAutoFit/>
          </a:bodyPr>
          <a:lstStyle/>
          <a:p>
            <a:r>
              <a:rPr lang="fr-FR" sz="2400" b="1" dirty="0" err="1">
                <a:latin typeface="Times New Roman" pitchFamily="18" charset="0"/>
                <a:cs typeface="Times New Roman" pitchFamily="18" charset="0"/>
              </a:rPr>
              <a:t>sinonsi</a:t>
            </a:r>
            <a:r>
              <a:rPr lang="fr-FR" sz="2400" b="1" dirty="0">
                <a:latin typeface="Times New Roman" pitchFamily="18" charset="0"/>
                <a:cs typeface="Times New Roman" pitchFamily="18" charset="0"/>
              </a:rPr>
              <a:t> </a:t>
            </a:r>
            <a:r>
              <a:rPr lang="fr-FR" sz="2400" dirty="0">
                <a:latin typeface="Times New Roman" pitchFamily="18" charset="0"/>
                <a:cs typeface="Times New Roman" pitchFamily="18" charset="0"/>
              </a:rPr>
              <a:t>variable(</a:t>
            </a:r>
            <a:r>
              <a:rPr lang="fr-FR" sz="2400" dirty="0" err="1">
                <a:latin typeface="Times New Roman" pitchFamily="18" charset="0"/>
                <a:cs typeface="Times New Roman" pitchFamily="18" charset="0"/>
              </a:rPr>
              <a:t>expinf</a:t>
            </a:r>
            <a:r>
              <a:rPr lang="fr-FR" sz="2400" dirty="0">
                <a:latin typeface="Times New Roman" pitchFamily="18" charset="0"/>
                <a:cs typeface="Times New Roman" pitchFamily="18" charset="0"/>
              </a:rPr>
              <a:t>[</a:t>
            </a:r>
            <a:r>
              <a:rPr lang="fr-FR" sz="2400" dirty="0" err="1">
                <a:latin typeface="Times New Roman" pitchFamily="18" charset="0"/>
                <a:cs typeface="Times New Roman" pitchFamily="18" charset="0"/>
              </a:rPr>
              <a:t>indinf</a:t>
            </a:r>
            <a:r>
              <a:rPr lang="fr-FR" sz="2400" dirty="0">
                <a:latin typeface="Times New Roman" pitchFamily="18" charset="0"/>
                <a:cs typeface="Times New Roman" pitchFamily="18" charset="0"/>
              </a:rPr>
              <a:t>]) </a:t>
            </a:r>
            <a:r>
              <a:rPr lang="fr-FR" sz="2400" b="1" dirty="0">
                <a:latin typeface="Times New Roman" pitchFamily="18" charset="0"/>
                <a:cs typeface="Times New Roman" pitchFamily="18" charset="0"/>
              </a:rPr>
              <a:t>alors</a:t>
            </a:r>
          </a:p>
          <a:p>
            <a:r>
              <a:rPr lang="fr-FR" sz="2400" b="1" dirty="0">
                <a:latin typeface="Times New Roman" pitchFamily="18" charset="0"/>
                <a:cs typeface="Times New Roman" pitchFamily="18" charset="0"/>
              </a:rPr>
              <a:t>         </a:t>
            </a:r>
            <a:r>
              <a:rPr lang="fr-FR" sz="2400" dirty="0" err="1" smtClean="0">
                <a:latin typeface="Times New Roman" pitchFamily="18" charset="0"/>
                <a:cs typeface="Times New Roman" pitchFamily="18" charset="0"/>
              </a:rPr>
              <a:t>expost</a:t>
            </a:r>
            <a:r>
              <a:rPr lang="fr-FR" sz="2400" dirty="0" smtClean="0">
                <a:latin typeface="Times New Roman" pitchFamily="18" charset="0"/>
                <a:cs typeface="Times New Roman" pitchFamily="18" charset="0"/>
              </a:rPr>
              <a:t>[</a:t>
            </a:r>
            <a:r>
              <a:rPr lang="fr-FR" sz="2400" dirty="0" err="1" smtClean="0">
                <a:latin typeface="Times New Roman" pitchFamily="18" charset="0"/>
                <a:cs typeface="Times New Roman" pitchFamily="18" charset="0"/>
              </a:rPr>
              <a:t>indpost</a:t>
            </a:r>
            <a:r>
              <a:rPr lang="fr-FR" sz="2400" dirty="0" smtClean="0">
                <a:latin typeface="Times New Roman" pitchFamily="18" charset="0"/>
                <a:cs typeface="Times New Roman" pitchFamily="18" charset="0"/>
              </a:rPr>
              <a:t>]:=</a:t>
            </a:r>
            <a:r>
              <a:rPr lang="fr-FR" sz="2400" dirty="0" err="1" smtClean="0">
                <a:latin typeface="Times New Roman" pitchFamily="18" charset="0"/>
                <a:cs typeface="Times New Roman" pitchFamily="18" charset="0"/>
              </a:rPr>
              <a:t>expinf</a:t>
            </a:r>
            <a:r>
              <a:rPr lang="fr-FR" sz="2400" dirty="0" smtClean="0">
                <a:latin typeface="Times New Roman" pitchFamily="18" charset="0"/>
                <a:cs typeface="Times New Roman" pitchFamily="18" charset="0"/>
              </a:rPr>
              <a:t>[</a:t>
            </a:r>
            <a:r>
              <a:rPr lang="fr-FR" sz="2400" dirty="0" err="1" smtClean="0">
                <a:latin typeface="Times New Roman" pitchFamily="18" charset="0"/>
                <a:cs typeface="Times New Roman" pitchFamily="18" charset="0"/>
              </a:rPr>
              <a:t>indinf</a:t>
            </a:r>
            <a:r>
              <a:rPr lang="fr-FR" sz="2400" dirty="0">
                <a:latin typeface="Times New Roman" pitchFamily="18" charset="0"/>
                <a:cs typeface="Times New Roman" pitchFamily="18" charset="0"/>
              </a:rPr>
              <a:t>]</a:t>
            </a:r>
            <a:r>
              <a:rPr lang="fr-FR" sz="2400" b="1" dirty="0">
                <a:latin typeface="Times New Roman" pitchFamily="18" charset="0"/>
                <a:cs typeface="Times New Roman" pitchFamily="18" charset="0"/>
              </a:rPr>
              <a:t>; </a:t>
            </a:r>
            <a:r>
              <a:rPr lang="fr-FR" sz="2400" dirty="0" err="1" smtClean="0">
                <a:latin typeface="Times New Roman" pitchFamily="18" charset="0"/>
                <a:cs typeface="Times New Roman" pitchFamily="18" charset="0"/>
              </a:rPr>
              <a:t>indpost</a:t>
            </a:r>
            <a:r>
              <a:rPr lang="fr-FR" sz="2400" dirty="0" smtClean="0">
                <a:latin typeface="Times New Roman" pitchFamily="18" charset="0"/>
                <a:cs typeface="Times New Roman" pitchFamily="18" charset="0"/>
              </a:rPr>
              <a:t>:=indpost+1</a:t>
            </a:r>
            <a:r>
              <a:rPr lang="fr-FR" sz="2400" b="1" dirty="0" smtClean="0">
                <a:latin typeface="Times New Roman" pitchFamily="18" charset="0"/>
                <a:cs typeface="Times New Roman" pitchFamily="18" charset="0"/>
              </a:rPr>
              <a:t>; </a:t>
            </a:r>
            <a:endParaRPr lang="fr-FR" sz="2400" b="1" dirty="0">
              <a:latin typeface="Times New Roman" pitchFamily="18" charset="0"/>
              <a:cs typeface="Times New Roman" pitchFamily="18" charset="0"/>
            </a:endParaRPr>
          </a:p>
          <a:p>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sinonsi</a:t>
            </a:r>
            <a:r>
              <a:rPr lang="fr-FR" sz="2400" b="1" dirty="0">
                <a:latin typeface="Times New Roman" pitchFamily="18" charset="0"/>
                <a:cs typeface="Times New Roman" pitchFamily="18" charset="0"/>
              </a:rPr>
              <a:t> </a:t>
            </a:r>
            <a:r>
              <a:rPr lang="fr-FR" sz="2400" dirty="0" err="1">
                <a:latin typeface="Times New Roman" pitchFamily="18" charset="0"/>
                <a:cs typeface="Times New Roman" pitchFamily="18" charset="0"/>
              </a:rPr>
              <a:t>expinf</a:t>
            </a:r>
            <a:r>
              <a:rPr lang="fr-FR" sz="2400" dirty="0">
                <a:latin typeface="Times New Roman" pitchFamily="18" charset="0"/>
                <a:cs typeface="Times New Roman" pitchFamily="18" charset="0"/>
              </a:rPr>
              <a:t>[</a:t>
            </a:r>
            <a:r>
              <a:rPr lang="fr-FR" sz="2400" dirty="0" err="1">
                <a:latin typeface="Times New Roman" pitchFamily="18" charset="0"/>
                <a:cs typeface="Times New Roman" pitchFamily="18" charset="0"/>
              </a:rPr>
              <a:t>indinf</a:t>
            </a:r>
            <a:r>
              <a:rPr lang="fr-FR" sz="2400" dirty="0">
                <a:latin typeface="Times New Roman" pitchFamily="18" charset="0"/>
                <a:cs typeface="Times New Roman" pitchFamily="18" charset="0"/>
              </a:rPr>
              <a:t>]=‘)’</a:t>
            </a:r>
            <a:endParaRPr lang="fr-FR" sz="2400" b="1" dirty="0">
              <a:latin typeface="Times New Roman" pitchFamily="18" charset="0"/>
              <a:cs typeface="Times New Roman" pitchFamily="18" charset="0"/>
            </a:endParaRPr>
          </a:p>
          <a:p>
            <a:r>
              <a:rPr lang="fr-FR" sz="2400" b="1" dirty="0">
                <a:latin typeface="Times New Roman" pitchFamily="18" charset="0"/>
                <a:cs typeface="Times New Roman" pitchFamily="18" charset="0"/>
              </a:rPr>
              <a:t>              </a:t>
            </a:r>
            <a:r>
              <a:rPr lang="fr-FR" sz="2400" dirty="0">
                <a:latin typeface="Times New Roman" pitchFamily="18" charset="0"/>
                <a:cs typeface="Times New Roman" pitchFamily="18" charset="0"/>
              </a:rPr>
              <a:t>dépiler(</a:t>
            </a:r>
            <a:r>
              <a:rPr lang="fr-FR" sz="2400" dirty="0" err="1">
                <a:latin typeface="Times New Roman" pitchFamily="18" charset="0"/>
                <a:cs typeface="Times New Roman" pitchFamily="18" charset="0"/>
              </a:rPr>
              <a:t>element</a:t>
            </a:r>
            <a:r>
              <a:rPr lang="fr-FR" sz="2400" dirty="0">
                <a:latin typeface="Times New Roman" pitchFamily="18" charset="0"/>
                <a:cs typeface="Times New Roman" pitchFamily="18" charset="0"/>
              </a:rPr>
              <a:t>)</a:t>
            </a:r>
            <a:r>
              <a:rPr lang="fr-FR" sz="2400" b="1" dirty="0">
                <a:latin typeface="Times New Roman" pitchFamily="18" charset="0"/>
                <a:cs typeface="Times New Roman" pitchFamily="18" charset="0"/>
              </a:rPr>
              <a:t>;</a:t>
            </a:r>
          </a:p>
          <a:p>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tantque</a:t>
            </a:r>
            <a:r>
              <a:rPr lang="fr-FR" sz="2400" b="1" dirty="0">
                <a:latin typeface="Times New Roman" pitchFamily="18" charset="0"/>
                <a:cs typeface="Times New Roman" pitchFamily="18" charset="0"/>
              </a:rPr>
              <a:t> </a:t>
            </a:r>
            <a:r>
              <a:rPr lang="fr-FR" sz="2400" dirty="0" err="1">
                <a:latin typeface="Times New Roman" pitchFamily="18" charset="0"/>
                <a:cs typeface="Times New Roman" pitchFamily="18" charset="0"/>
              </a:rPr>
              <a:t>element</a:t>
            </a:r>
            <a:r>
              <a:rPr lang="en-GB" sz="2400" dirty="0">
                <a:latin typeface="Times New Roman" pitchFamily="18" charset="0"/>
                <a:cs typeface="Times New Roman" pitchFamily="18" charset="0"/>
                <a:sym typeface="Symbol"/>
              </a:rPr>
              <a:t> </a:t>
            </a:r>
            <a:r>
              <a:rPr lang="fr-FR" sz="2400" b="1" dirty="0">
                <a:latin typeface="Times New Roman" pitchFamily="18" charset="0"/>
                <a:cs typeface="Times New Roman" pitchFamily="18" charset="0"/>
                <a:sym typeface="Symbol"/>
              </a:rPr>
              <a:t>≠</a:t>
            </a:r>
            <a:r>
              <a:rPr lang="en-GB" sz="2400" dirty="0">
                <a:latin typeface="Times New Roman" pitchFamily="18" charset="0"/>
                <a:cs typeface="Times New Roman" pitchFamily="18" charset="0"/>
                <a:sym typeface="Symbol"/>
              </a:rPr>
              <a:t> </a:t>
            </a:r>
            <a:r>
              <a:rPr lang="fr-FR" sz="2400" dirty="0">
                <a:latin typeface="Times New Roman" pitchFamily="18" charset="0"/>
                <a:cs typeface="Times New Roman" pitchFamily="18" charset="0"/>
              </a:rPr>
              <a:t>’#’</a:t>
            </a:r>
            <a:r>
              <a:rPr lang="fr-FR" sz="2400" b="1" dirty="0">
                <a:latin typeface="Times New Roman" pitchFamily="18" charset="0"/>
                <a:cs typeface="Times New Roman" pitchFamily="18" charset="0"/>
              </a:rPr>
              <a:t> faire</a:t>
            </a:r>
          </a:p>
          <a:p>
            <a:r>
              <a:rPr lang="fr-FR" sz="2400" b="1" dirty="0">
                <a:latin typeface="Times New Roman" pitchFamily="18" charset="0"/>
                <a:cs typeface="Times New Roman" pitchFamily="18" charset="0"/>
              </a:rPr>
              <a:t>                </a:t>
            </a:r>
            <a:r>
              <a:rPr lang="fr-FR" sz="2400" dirty="0" err="1">
                <a:latin typeface="Times New Roman" pitchFamily="18" charset="0"/>
                <a:cs typeface="Times New Roman" pitchFamily="18" charset="0"/>
              </a:rPr>
              <a:t>depiler</a:t>
            </a:r>
            <a:r>
              <a:rPr lang="fr-FR" sz="2400" dirty="0">
                <a:latin typeface="Times New Roman" pitchFamily="18" charset="0"/>
                <a:cs typeface="Times New Roman" pitchFamily="18" charset="0"/>
              </a:rPr>
              <a:t>(</a:t>
            </a:r>
            <a:r>
              <a:rPr lang="fr-FR" sz="2400" dirty="0" err="1">
                <a:latin typeface="Times New Roman" pitchFamily="18" charset="0"/>
                <a:cs typeface="Times New Roman" pitchFamily="18" charset="0"/>
              </a:rPr>
              <a:t>expost</a:t>
            </a:r>
            <a:r>
              <a:rPr lang="fr-FR" sz="2400" dirty="0">
                <a:latin typeface="Times New Roman" pitchFamily="18" charset="0"/>
                <a:cs typeface="Times New Roman" pitchFamily="18" charset="0"/>
              </a:rPr>
              <a:t>[</a:t>
            </a:r>
            <a:r>
              <a:rPr lang="fr-FR" sz="2400" dirty="0" err="1">
                <a:latin typeface="Times New Roman" pitchFamily="18" charset="0"/>
                <a:cs typeface="Times New Roman" pitchFamily="18" charset="0"/>
              </a:rPr>
              <a:t>indpost</a:t>
            </a:r>
            <a:r>
              <a:rPr lang="fr-FR" sz="2400" dirty="0">
                <a:latin typeface="Times New Roman" pitchFamily="18" charset="0"/>
                <a:cs typeface="Times New Roman" pitchFamily="18" charset="0"/>
              </a:rPr>
              <a:t>])</a:t>
            </a:r>
            <a:r>
              <a:rPr lang="fr-FR" sz="2400" b="1" dirty="0">
                <a:latin typeface="Times New Roman" pitchFamily="18" charset="0"/>
                <a:cs typeface="Times New Roman" pitchFamily="18" charset="0"/>
              </a:rPr>
              <a:t>; </a:t>
            </a:r>
            <a:r>
              <a:rPr lang="fr-FR" sz="2400" dirty="0" err="1" smtClean="0">
                <a:latin typeface="Times New Roman" pitchFamily="18" charset="0"/>
                <a:cs typeface="Times New Roman" pitchFamily="18" charset="0"/>
              </a:rPr>
              <a:t>indpost</a:t>
            </a:r>
            <a:r>
              <a:rPr lang="fr-FR" sz="2400" dirty="0" smtClean="0">
                <a:latin typeface="Times New Roman" pitchFamily="18" charset="0"/>
                <a:cs typeface="Times New Roman" pitchFamily="18" charset="0"/>
              </a:rPr>
              <a:t>:=indpost+1</a:t>
            </a:r>
            <a:r>
              <a:rPr lang="fr-FR" sz="2400" b="1" dirty="0" smtClean="0">
                <a:latin typeface="Times New Roman" pitchFamily="18" charset="0"/>
                <a:cs typeface="Times New Roman" pitchFamily="18" charset="0"/>
              </a:rPr>
              <a:t>;</a:t>
            </a:r>
            <a:endParaRPr lang="fr-FR" sz="2400" b="1" dirty="0">
              <a:latin typeface="Times New Roman" pitchFamily="18" charset="0"/>
              <a:cs typeface="Times New Roman" pitchFamily="18" charset="0"/>
            </a:endParaRPr>
          </a:p>
          <a:p>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finfaire</a:t>
            </a:r>
            <a:r>
              <a:rPr lang="fr-FR" sz="2400" b="1" dirty="0">
                <a:latin typeface="Times New Roman" pitchFamily="18" charset="0"/>
                <a:cs typeface="Times New Roman" pitchFamily="18" charset="0"/>
              </a:rPr>
              <a:t>;</a:t>
            </a:r>
          </a:p>
          <a:p>
            <a:r>
              <a:rPr lang="fr-FR" sz="2400" b="1" dirty="0">
                <a:latin typeface="Times New Roman" pitchFamily="18" charset="0"/>
                <a:cs typeface="Times New Roman" pitchFamily="18" charset="0"/>
              </a:rPr>
              <a:t>  sinon </a:t>
            </a:r>
            <a:r>
              <a:rPr lang="fr-FR" sz="2400" dirty="0">
                <a:latin typeface="Times New Roman" pitchFamily="18" charset="0"/>
                <a:cs typeface="Times New Roman" pitchFamily="18" charset="0"/>
              </a:rPr>
              <a:t>empiler(‘(‘)</a:t>
            </a:r>
            <a:r>
              <a:rPr lang="fr-FR" sz="2400" b="1" dirty="0">
                <a:latin typeface="Times New Roman" pitchFamily="18" charset="0"/>
                <a:cs typeface="Times New Roman" pitchFamily="18" charset="0"/>
              </a:rPr>
              <a:t>;</a:t>
            </a:r>
          </a:p>
          <a:p>
            <a:r>
              <a:rPr lang="fr-FR" sz="2400" b="1" dirty="0">
                <a:latin typeface="Times New Roman" pitchFamily="18" charset="0"/>
                <a:cs typeface="Times New Roman" pitchFamily="18" charset="0"/>
              </a:rPr>
              <a:t>  </a:t>
            </a:r>
            <a:r>
              <a:rPr lang="fr-FR" sz="2400" dirty="0" err="1" smtClean="0">
                <a:latin typeface="Times New Roman" pitchFamily="18" charset="0"/>
                <a:cs typeface="Times New Roman" pitchFamily="18" charset="0"/>
              </a:rPr>
              <a:t>indinf</a:t>
            </a:r>
            <a:r>
              <a:rPr lang="fr-FR" sz="2400" dirty="0" smtClean="0">
                <a:latin typeface="Times New Roman" pitchFamily="18" charset="0"/>
                <a:cs typeface="Times New Roman" pitchFamily="18" charset="0"/>
              </a:rPr>
              <a:t>:=indinf+1</a:t>
            </a:r>
            <a:r>
              <a:rPr lang="fr-FR" sz="2400" b="1" dirty="0" smtClean="0">
                <a:latin typeface="Times New Roman" pitchFamily="18" charset="0"/>
                <a:cs typeface="Times New Roman" pitchFamily="18" charset="0"/>
              </a:rPr>
              <a:t>;</a:t>
            </a:r>
            <a:endParaRPr lang="fr-FR" sz="2400" b="1" dirty="0">
              <a:latin typeface="Times New Roman" pitchFamily="18" charset="0"/>
              <a:cs typeface="Times New Roman" pitchFamily="18" charset="0"/>
            </a:endParaRPr>
          </a:p>
          <a:p>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finsi</a:t>
            </a:r>
            <a:r>
              <a:rPr lang="fr-FR" sz="2400" b="1" dirty="0">
                <a:latin typeface="Times New Roman" pitchFamily="18" charset="0"/>
                <a:cs typeface="Times New Roman" pitchFamily="18" charset="0"/>
              </a:rPr>
              <a:t>;</a:t>
            </a:r>
          </a:p>
          <a:p>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tantque</a:t>
            </a:r>
            <a:r>
              <a:rPr lang="fr-FR" sz="2400" b="1" dirty="0">
                <a:latin typeface="Times New Roman" pitchFamily="18" charset="0"/>
                <a:cs typeface="Times New Roman" pitchFamily="18" charset="0"/>
              </a:rPr>
              <a:t> non </a:t>
            </a:r>
            <a:r>
              <a:rPr lang="fr-FR" sz="2400" dirty="0" err="1">
                <a:latin typeface="Times New Roman" pitchFamily="18" charset="0"/>
                <a:cs typeface="Times New Roman" pitchFamily="18" charset="0"/>
              </a:rPr>
              <a:t>pilevide</a:t>
            </a:r>
            <a:r>
              <a:rPr lang="fr-FR" sz="2400" dirty="0">
                <a:latin typeface="Times New Roman" pitchFamily="18" charset="0"/>
                <a:cs typeface="Times New Roman" pitchFamily="18" charset="0"/>
              </a:rPr>
              <a:t>()</a:t>
            </a:r>
            <a:r>
              <a:rPr lang="fr-FR" sz="2400" b="1" dirty="0">
                <a:latin typeface="Times New Roman" pitchFamily="18" charset="0"/>
                <a:cs typeface="Times New Roman" pitchFamily="18" charset="0"/>
              </a:rPr>
              <a:t> faire</a:t>
            </a:r>
          </a:p>
          <a:p>
            <a:r>
              <a:rPr lang="fr-FR" sz="2400" b="1" dirty="0">
                <a:latin typeface="Times New Roman" pitchFamily="18" charset="0"/>
                <a:cs typeface="Times New Roman" pitchFamily="18" charset="0"/>
              </a:rPr>
              <a:t>    </a:t>
            </a:r>
            <a:r>
              <a:rPr lang="fr-FR" sz="2400" dirty="0" err="1">
                <a:latin typeface="Times New Roman" pitchFamily="18" charset="0"/>
                <a:cs typeface="Times New Roman" pitchFamily="18" charset="0"/>
              </a:rPr>
              <a:t>depiler</a:t>
            </a:r>
            <a:r>
              <a:rPr lang="fr-FR" sz="2400" dirty="0">
                <a:latin typeface="Times New Roman" pitchFamily="18" charset="0"/>
                <a:cs typeface="Times New Roman" pitchFamily="18" charset="0"/>
              </a:rPr>
              <a:t>(</a:t>
            </a:r>
            <a:r>
              <a:rPr lang="fr-FR" sz="2400" dirty="0" err="1">
                <a:latin typeface="Times New Roman" pitchFamily="18" charset="0"/>
                <a:cs typeface="Times New Roman" pitchFamily="18" charset="0"/>
              </a:rPr>
              <a:t>expost</a:t>
            </a:r>
            <a:r>
              <a:rPr lang="fr-FR" sz="2400" dirty="0">
                <a:latin typeface="Times New Roman" pitchFamily="18" charset="0"/>
                <a:cs typeface="Times New Roman" pitchFamily="18" charset="0"/>
              </a:rPr>
              <a:t>[</a:t>
            </a:r>
            <a:r>
              <a:rPr lang="fr-FR" sz="2400" dirty="0" err="1">
                <a:latin typeface="Times New Roman" pitchFamily="18" charset="0"/>
                <a:cs typeface="Times New Roman" pitchFamily="18" charset="0"/>
              </a:rPr>
              <a:t>indpost</a:t>
            </a:r>
            <a:r>
              <a:rPr lang="fr-FR" sz="2400" dirty="0">
                <a:latin typeface="Times New Roman" pitchFamily="18" charset="0"/>
                <a:cs typeface="Times New Roman" pitchFamily="18" charset="0"/>
              </a:rPr>
              <a:t>])</a:t>
            </a:r>
            <a:r>
              <a:rPr lang="fr-FR" sz="2400" b="1" dirty="0">
                <a:latin typeface="Times New Roman" pitchFamily="18" charset="0"/>
                <a:cs typeface="Times New Roman" pitchFamily="18" charset="0"/>
              </a:rPr>
              <a:t>;</a:t>
            </a:r>
          </a:p>
          <a:p>
            <a:r>
              <a:rPr lang="fr-FR" sz="2400" b="1" dirty="0">
                <a:latin typeface="Times New Roman" pitchFamily="18" charset="0"/>
                <a:cs typeface="Times New Roman" pitchFamily="18" charset="0"/>
              </a:rPr>
              <a:t>     </a:t>
            </a:r>
            <a:r>
              <a:rPr lang="fr-FR" sz="2400" dirty="0" err="1" smtClean="0">
                <a:latin typeface="Times New Roman" pitchFamily="18" charset="0"/>
                <a:cs typeface="Times New Roman" pitchFamily="18" charset="0"/>
              </a:rPr>
              <a:t>indpost</a:t>
            </a:r>
            <a:r>
              <a:rPr lang="fr-FR" sz="2400" dirty="0" smtClean="0">
                <a:latin typeface="Times New Roman" pitchFamily="18" charset="0"/>
                <a:cs typeface="Times New Roman" pitchFamily="18" charset="0"/>
              </a:rPr>
              <a:t>:=indpost+1</a:t>
            </a:r>
            <a:r>
              <a:rPr lang="fr-FR" sz="2400" b="1" dirty="0" smtClean="0">
                <a:latin typeface="Times New Roman" pitchFamily="18" charset="0"/>
                <a:cs typeface="Times New Roman" pitchFamily="18" charset="0"/>
              </a:rPr>
              <a:t>;</a:t>
            </a:r>
            <a:endParaRPr lang="fr-FR" sz="2400" b="1" dirty="0">
              <a:latin typeface="Times New Roman" pitchFamily="18" charset="0"/>
              <a:cs typeface="Times New Roman" pitchFamily="18" charset="0"/>
            </a:endParaRPr>
          </a:p>
          <a:p>
            <a:r>
              <a:rPr lang="fr-FR" sz="2400" b="1" dirty="0">
                <a:latin typeface="Times New Roman" pitchFamily="18" charset="0"/>
                <a:cs typeface="Times New Roman" pitchFamily="18" charset="0"/>
              </a:rPr>
              <a:t>  </a:t>
            </a:r>
            <a:r>
              <a:rPr lang="fr-FR" sz="2400" b="1" dirty="0" err="1">
                <a:latin typeface="Times New Roman" pitchFamily="18" charset="0"/>
                <a:cs typeface="Times New Roman" pitchFamily="18" charset="0"/>
              </a:rPr>
              <a:t>finfaire</a:t>
            </a:r>
            <a:r>
              <a:rPr lang="fr-FR" sz="2400" b="1" dirty="0">
                <a:latin typeface="Times New Roman" pitchFamily="18" charset="0"/>
                <a:cs typeface="Times New Roman" pitchFamily="18" charset="0"/>
              </a:rPr>
              <a:t>;</a:t>
            </a:r>
          </a:p>
          <a:p>
            <a:r>
              <a:rPr lang="fr-FR" sz="2400" b="1" dirty="0">
                <a:latin typeface="Times New Roman" pitchFamily="18" charset="0"/>
                <a:cs typeface="Times New Roman" pitchFamily="18" charset="0"/>
              </a:rPr>
              <a:t>  </a:t>
            </a:r>
            <a:r>
              <a:rPr lang="fr-FR" sz="2400" dirty="0" err="1">
                <a:latin typeface="Times New Roman" pitchFamily="18" charset="0"/>
                <a:cs typeface="Times New Roman" pitchFamily="18" charset="0"/>
              </a:rPr>
              <a:t>expost</a:t>
            </a:r>
            <a:r>
              <a:rPr lang="fr-FR" sz="2400" dirty="0">
                <a:latin typeface="Times New Roman" pitchFamily="18" charset="0"/>
                <a:cs typeface="Times New Roman" pitchFamily="18" charset="0"/>
              </a:rPr>
              <a:t>[</a:t>
            </a:r>
            <a:r>
              <a:rPr lang="fr-FR" sz="2400" dirty="0" err="1">
                <a:latin typeface="Times New Roman" pitchFamily="18" charset="0"/>
                <a:cs typeface="Times New Roman" pitchFamily="18" charset="0"/>
              </a:rPr>
              <a:t>indpost</a:t>
            </a:r>
            <a:r>
              <a:rPr lang="fr-FR" sz="2400" dirty="0">
                <a:latin typeface="Times New Roman" pitchFamily="18" charset="0"/>
                <a:cs typeface="Times New Roman" pitchFamily="18" charset="0"/>
              </a:rPr>
              <a:t>] </a:t>
            </a:r>
            <a:r>
              <a:rPr lang="fr-FR" sz="2400" dirty="0" smtClean="0">
                <a:latin typeface="Times New Roman" pitchFamily="18" charset="0"/>
                <a:cs typeface="Times New Roman" pitchFamily="18" charset="0"/>
              </a:rPr>
              <a:t>:=</a:t>
            </a:r>
            <a:r>
              <a:rPr lang="fr-FR" sz="2400" dirty="0" smtClean="0">
                <a:latin typeface="Times New Roman" pitchFamily="18" charset="0"/>
                <a:cs typeface="Times New Roman" pitchFamily="18" charset="0"/>
              </a:rPr>
              <a:t> </a:t>
            </a:r>
            <a:r>
              <a:rPr lang="fr-FR" sz="2400" dirty="0">
                <a:latin typeface="Times New Roman" pitchFamily="18" charset="0"/>
                <a:cs typeface="Times New Roman" pitchFamily="18" charset="0"/>
              </a:rPr>
              <a:t>‘#’</a:t>
            </a:r>
            <a:r>
              <a:rPr lang="fr-FR" sz="2400" b="1" dirty="0">
                <a:latin typeface="Times New Roman" pitchFamily="18" charset="0"/>
                <a:cs typeface="Times New Roman" pitchFamily="18" charset="0"/>
              </a:rPr>
              <a:t>; </a:t>
            </a:r>
          </a:p>
          <a:p>
            <a:r>
              <a:rPr lang="fr-FR" sz="2400" b="1" dirty="0" err="1" smtClean="0">
                <a:latin typeface="Times New Roman" pitchFamily="18" charset="0"/>
                <a:cs typeface="Times New Roman" pitchFamily="18" charset="0"/>
              </a:rPr>
              <a:t>finfonc</a:t>
            </a:r>
            <a:r>
              <a:rPr lang="fr-FR" sz="2400" b="1" dirty="0">
                <a:latin typeface="Times New Roman" pitchFamily="18" charset="0"/>
                <a:cs typeface="Times New Roman" pitchFamily="18" charset="0"/>
              </a:rPr>
              <a:t>;</a:t>
            </a:r>
          </a:p>
        </p:txBody>
      </p:sp>
    </p:spTree>
    <p:extLst>
      <p:ext uri="{BB962C8B-B14F-4D97-AF65-F5344CB8AC3E}">
        <p14:creationId xmlns:p14="http://schemas.microsoft.com/office/powerpoint/2010/main" val="25417645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2560" y="363657"/>
            <a:ext cx="11836400" cy="6186309"/>
          </a:xfrm>
          <a:prstGeom prst="rect">
            <a:avLst/>
          </a:prstGeom>
        </p:spPr>
        <p:txBody>
          <a:bodyPr wrap="square">
            <a:spAutoFit/>
          </a:bodyPr>
          <a:lstStyle/>
          <a:p>
            <a:pPr lvl="0" algn="just" fontAlgn="base">
              <a:spcBef>
                <a:spcPct val="0"/>
              </a:spcBef>
              <a:spcAft>
                <a:spcPct val="0"/>
              </a:spcAft>
            </a:pPr>
            <a:r>
              <a:rPr lang="fr-FR" b="1" dirty="0" smtClean="0">
                <a:latin typeface="Times New Roman" pitchFamily="18" charset="0"/>
                <a:ea typeface="Times New Roman" pitchFamily="18" charset="0"/>
                <a:cs typeface="Times New Roman" pitchFamily="18" charset="0"/>
              </a:rPr>
              <a:t>3.2. Files d’attente</a:t>
            </a:r>
          </a:p>
          <a:p>
            <a:pPr lvl="0" algn="just" fontAlgn="base">
              <a:spcBef>
                <a:spcPct val="0"/>
              </a:spcBef>
              <a:spcAft>
                <a:spcPct val="0"/>
              </a:spcAft>
            </a:pPr>
            <a:r>
              <a:rPr lang="fr-FR" dirty="0" smtClean="0">
                <a:latin typeface="Times New Roman" pitchFamily="18" charset="0"/>
                <a:ea typeface="Times New Roman" pitchFamily="18" charset="0"/>
                <a:cs typeface="Times New Roman" pitchFamily="18" charset="0"/>
              </a:rPr>
              <a:t>Ces </a:t>
            </a:r>
            <a:r>
              <a:rPr lang="fr-FR" dirty="0">
                <a:latin typeface="Times New Roman" pitchFamily="18" charset="0"/>
                <a:ea typeface="Times New Roman" pitchFamily="18" charset="0"/>
                <a:cs typeface="Times New Roman" pitchFamily="18" charset="0"/>
              </a:rPr>
              <a:t>listes correspondent au comportement d’une file d’attente devant un guichet où la gestion est : </a:t>
            </a:r>
            <a:r>
              <a:rPr lang="fr-FR" b="1" dirty="0">
                <a:latin typeface="Times New Roman" pitchFamily="18" charset="0"/>
                <a:ea typeface="Times New Roman" pitchFamily="18" charset="0"/>
                <a:cs typeface="Times New Roman" pitchFamily="18" charset="0"/>
              </a:rPr>
              <a:t>premier arrivé</a:t>
            </a:r>
            <a:r>
              <a:rPr lang="fr-FR" dirty="0">
                <a:latin typeface="Times New Roman" pitchFamily="18" charset="0"/>
                <a:ea typeface="Times New Roman" pitchFamily="18" charset="0"/>
                <a:cs typeface="Times New Roman" pitchFamily="18" charset="0"/>
              </a:rPr>
              <a:t>, </a:t>
            </a:r>
            <a:r>
              <a:rPr lang="fr-FR" b="1" dirty="0">
                <a:latin typeface="Times New Roman" pitchFamily="18" charset="0"/>
                <a:ea typeface="Times New Roman" pitchFamily="18" charset="0"/>
                <a:cs typeface="Times New Roman" pitchFamily="18" charset="0"/>
              </a:rPr>
              <a:t>premier servi</a:t>
            </a:r>
            <a:r>
              <a:rPr lang="fr-FR" dirty="0">
                <a:latin typeface="Times New Roman" pitchFamily="18" charset="0"/>
                <a:ea typeface="Times New Roman" pitchFamily="18" charset="0"/>
                <a:cs typeface="Times New Roman" pitchFamily="18" charset="0"/>
              </a:rPr>
              <a:t>, </a:t>
            </a:r>
            <a:r>
              <a:rPr lang="fr-FR" b="1" dirty="0">
                <a:latin typeface="Times New Roman" pitchFamily="18" charset="0"/>
                <a:ea typeface="Times New Roman" pitchFamily="18" charset="0"/>
                <a:cs typeface="Times New Roman" pitchFamily="18" charset="0"/>
              </a:rPr>
              <a:t>First In</a:t>
            </a:r>
            <a:r>
              <a:rPr lang="fr-FR" dirty="0">
                <a:latin typeface="Times New Roman" pitchFamily="18" charset="0"/>
                <a:ea typeface="Times New Roman" pitchFamily="18" charset="0"/>
                <a:cs typeface="Times New Roman" pitchFamily="18" charset="0"/>
              </a:rPr>
              <a:t> </a:t>
            </a:r>
            <a:r>
              <a:rPr lang="fr-FR" b="1" dirty="0">
                <a:latin typeface="Times New Roman" pitchFamily="18" charset="0"/>
                <a:ea typeface="Times New Roman" pitchFamily="18" charset="0"/>
                <a:cs typeface="Times New Roman" pitchFamily="18" charset="0"/>
              </a:rPr>
              <a:t>First Out</a:t>
            </a:r>
            <a:r>
              <a:rPr lang="fr-FR" dirty="0">
                <a:latin typeface="Times New Roman" pitchFamily="18" charset="0"/>
                <a:ea typeface="Times New Roman" pitchFamily="18" charset="0"/>
                <a:cs typeface="Times New Roman" pitchFamily="18" charset="0"/>
              </a:rPr>
              <a:t> ou plus simplement </a:t>
            </a:r>
            <a:r>
              <a:rPr lang="fr-FR" b="1" dirty="0">
                <a:latin typeface="Times New Roman" pitchFamily="18" charset="0"/>
                <a:ea typeface="Times New Roman" pitchFamily="18" charset="0"/>
                <a:cs typeface="Times New Roman" pitchFamily="18" charset="0"/>
              </a:rPr>
              <a:t>FIFO</a:t>
            </a:r>
            <a:r>
              <a:rPr lang="fr-FR" dirty="0">
                <a:latin typeface="Times New Roman" pitchFamily="18" charset="0"/>
                <a:ea typeface="Times New Roman" pitchFamily="18" charset="0"/>
                <a:cs typeface="Times New Roman" pitchFamily="18" charset="0"/>
              </a:rPr>
              <a:t>. Ces files sont d’un usage très répandu dans la programmation système.</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Une </a:t>
            </a:r>
            <a:r>
              <a:rPr lang="fr-FR" b="1" dirty="0">
                <a:latin typeface="Times New Roman" pitchFamily="18" charset="0"/>
                <a:ea typeface="Times New Roman" pitchFamily="18" charset="0"/>
                <a:cs typeface="Times New Roman" pitchFamily="18" charset="0"/>
              </a:rPr>
              <a:t>file d’attente </a:t>
            </a:r>
            <a:r>
              <a:rPr lang="fr-FR" dirty="0">
                <a:latin typeface="Times New Roman" pitchFamily="18" charset="0"/>
                <a:ea typeface="Times New Roman" pitchFamily="18" charset="0"/>
                <a:cs typeface="Times New Roman" pitchFamily="18" charset="0"/>
              </a:rPr>
              <a:t>est une liste linéaire telle que, les insertions sont effectuées en fin de liste et les suppressions sont toujours effectuées en tête de liste.</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rPr>
              <a:t>3.2.1. Représentation contiguë</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On peut songer à représenter une file d’attente dans un </a:t>
            </a:r>
            <a:r>
              <a:rPr lang="fr-FR" b="1" dirty="0">
                <a:latin typeface="Times New Roman" pitchFamily="18" charset="0"/>
                <a:ea typeface="Times New Roman" pitchFamily="18" charset="0"/>
                <a:cs typeface="Times New Roman" pitchFamily="18" charset="0"/>
              </a:rPr>
              <a:t>vecteur</a:t>
            </a:r>
            <a:r>
              <a:rPr lang="fr-FR" dirty="0">
                <a:latin typeface="Times New Roman" pitchFamily="18" charset="0"/>
                <a:ea typeface="Times New Roman" pitchFamily="18" charset="0"/>
                <a:cs typeface="Times New Roman" pitchFamily="18" charset="0"/>
              </a:rPr>
              <a:t> simplement en ajoutant les nouveaux éléments à droite (queue de la file), et en déplaçant le pointeur de tête de la file vers la droite chaque fois que l’on supprime un élément.</a:t>
            </a:r>
            <a:endParaRPr lang="fr-FR" dirty="0">
              <a:latin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File avant modification :	1			n</a:t>
            </a: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a:t>
            </a:r>
          </a:p>
          <a:p>
            <a:pPr lvl="0" algn="just" eaLnBrk="0" fontAlgn="base" hangingPunct="0">
              <a:spcBef>
                <a:spcPct val="0"/>
              </a:spcBef>
              <a:spcAft>
                <a:spcPct val="0"/>
              </a:spcAft>
            </a:pPr>
            <a:r>
              <a:rPr lang="fr-FR" dirty="0" smtClean="0">
                <a:latin typeface="Times New Roman" pitchFamily="18" charset="0"/>
                <a:ea typeface="Times New Roman" pitchFamily="18" charset="0"/>
                <a:cs typeface="Times New Roman" pitchFamily="18" charset="0"/>
              </a:rPr>
              <a:t>                                               </a:t>
            </a:r>
            <a:endParaRPr lang="fr-FR" dirty="0">
              <a:latin typeface="Times New Roman" pitchFamily="18" charset="0"/>
              <a:ea typeface="Times New Roman" pitchFamily="18" charset="0"/>
              <a:cs typeface="Times New Roman" pitchFamily="18" charset="0"/>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			tête    queue </a:t>
            </a: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Après insertion de E, F, G	1			n</a:t>
            </a: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rPr>
              <a:t>Et suppression de A et B :	  </a:t>
            </a:r>
          </a:p>
          <a:p>
            <a:pPr lvl="0" algn="just" eaLnBrk="0" fontAlgn="base" hangingPunct="0">
              <a:spcBef>
                <a:spcPct val="0"/>
              </a:spcBef>
              <a:spcAft>
                <a:spcPct val="0"/>
              </a:spcAft>
            </a:pPr>
            <a:endParaRPr lang="en-GB" dirty="0">
              <a:latin typeface="Times New Roman" pitchFamily="18" charset="0"/>
              <a:cs typeface="Times New Roman" pitchFamily="18" charset="0"/>
            </a:endParaRPr>
          </a:p>
          <a:p>
            <a:pPr lvl="0" algn="just" eaLnBrk="0" fontAlgn="base" hangingPunct="0">
              <a:spcBef>
                <a:spcPct val="0"/>
              </a:spcBef>
              <a:spcAft>
                <a:spcPct val="0"/>
              </a:spcAft>
            </a:pPr>
            <a:r>
              <a:rPr lang="en-GB" dirty="0">
                <a:latin typeface="Times New Roman" pitchFamily="18" charset="0"/>
                <a:cs typeface="Times New Roman" pitchFamily="18" charset="0"/>
              </a:rPr>
              <a:t>			     tête	   queue</a:t>
            </a:r>
          </a:p>
          <a:p>
            <a:pPr lvl="0" algn="just" eaLnBrk="0" fontAlgn="base" hangingPunct="0">
              <a:spcBef>
                <a:spcPct val="0"/>
              </a:spcBef>
              <a:spcAft>
                <a:spcPct val="0"/>
              </a:spcAft>
            </a:pPr>
            <a:r>
              <a:rPr lang="en-GB" dirty="0">
                <a:latin typeface="Times New Roman" pitchFamily="18" charset="0"/>
                <a:cs typeface="Times New Roman" pitchFamily="18" charset="0"/>
              </a:rPr>
              <a:t>Le </a:t>
            </a:r>
            <a:r>
              <a:rPr lang="en-GB" dirty="0" err="1">
                <a:latin typeface="Times New Roman" pitchFamily="18" charset="0"/>
                <a:cs typeface="Times New Roman" pitchFamily="18" charset="0"/>
              </a:rPr>
              <a:t>vecteur</a:t>
            </a:r>
            <a:r>
              <a:rPr lang="en-GB" dirty="0">
                <a:latin typeface="Times New Roman" pitchFamily="18" charset="0"/>
                <a:cs typeface="Times New Roman" pitchFamily="18" charset="0"/>
              </a:rPr>
              <a:t> </a:t>
            </a:r>
            <a:r>
              <a:rPr lang="en-GB" b="1" dirty="0">
                <a:latin typeface="Times New Roman" pitchFamily="18" charset="0"/>
                <a:cs typeface="Times New Roman" pitchFamily="18" charset="0"/>
              </a:rPr>
              <a:t>FILE[1..n]</a:t>
            </a:r>
            <a:r>
              <a:rPr lang="en-GB" dirty="0">
                <a:latin typeface="Times New Roman" pitchFamily="18" charset="0"/>
                <a:cs typeface="Times New Roman" pitchFamily="18" charset="0"/>
              </a:rPr>
              <a:t>, les </a:t>
            </a:r>
            <a:r>
              <a:rPr lang="en-GB" dirty="0" err="1">
                <a:latin typeface="Times New Roman" pitchFamily="18" charset="0"/>
                <a:cs typeface="Times New Roman" pitchFamily="18" charset="0"/>
              </a:rPr>
              <a:t>entiers</a:t>
            </a:r>
            <a:r>
              <a:rPr lang="en-GB" dirty="0">
                <a:latin typeface="Times New Roman" pitchFamily="18" charset="0"/>
                <a:cs typeface="Times New Roman" pitchFamily="18" charset="0"/>
              </a:rPr>
              <a:t> </a:t>
            </a:r>
            <a:r>
              <a:rPr lang="en-GB" b="1" dirty="0">
                <a:latin typeface="Times New Roman" pitchFamily="18" charset="0"/>
                <a:cs typeface="Times New Roman" pitchFamily="18" charset="0"/>
              </a:rPr>
              <a:t>tête</a:t>
            </a:r>
            <a:r>
              <a:rPr lang="en-GB" dirty="0">
                <a:latin typeface="Times New Roman" pitchFamily="18" charset="0"/>
                <a:cs typeface="Times New Roman" pitchFamily="18" charset="0"/>
              </a:rPr>
              <a:t> et </a:t>
            </a:r>
            <a:r>
              <a:rPr lang="en-GB" b="1" dirty="0">
                <a:latin typeface="Times New Roman" pitchFamily="18" charset="0"/>
                <a:cs typeface="Times New Roman" pitchFamily="18" charset="0"/>
              </a:rPr>
              <a:t>queue</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sont</a:t>
            </a:r>
            <a:r>
              <a:rPr lang="en-GB" dirty="0">
                <a:latin typeface="Times New Roman" pitchFamily="18" charset="0"/>
                <a:cs typeface="Times New Roman" pitchFamily="18" charset="0"/>
              </a:rPr>
              <a:t> des variables </a:t>
            </a:r>
            <a:r>
              <a:rPr lang="en-GB" dirty="0" err="1">
                <a:latin typeface="Times New Roman" pitchFamily="18" charset="0"/>
                <a:cs typeface="Times New Roman" pitchFamily="18" charset="0"/>
              </a:rPr>
              <a:t>globales</a:t>
            </a:r>
            <a:r>
              <a:rPr lang="en-GB" dirty="0">
                <a:latin typeface="Times New Roman" pitchFamily="18" charset="0"/>
                <a:cs typeface="Times New Roman" pitchFamily="18" charset="0"/>
              </a:rPr>
              <a:t>, les primitives :</a:t>
            </a:r>
          </a:p>
          <a:p>
            <a:r>
              <a:rPr lang="fr-FR" b="1" dirty="0">
                <a:latin typeface="Times New Roman" pitchFamily="18" charset="0"/>
                <a:cs typeface="Times New Roman" pitchFamily="18" charset="0"/>
              </a:rPr>
              <a:t>procédure </a:t>
            </a:r>
            <a:r>
              <a:rPr lang="fr-FR" dirty="0" err="1">
                <a:latin typeface="Times New Roman" pitchFamily="18" charset="0"/>
                <a:cs typeface="Times New Roman" pitchFamily="18" charset="0"/>
              </a:rPr>
              <a:t>initfile</a:t>
            </a:r>
            <a:r>
              <a:rPr lang="fr-FR" b="1" dirty="0">
                <a:latin typeface="Times New Roman" pitchFamily="18" charset="0"/>
                <a:cs typeface="Times New Roman" pitchFamily="18" charset="0"/>
              </a:rPr>
              <a:t>(</a:t>
            </a:r>
            <a:r>
              <a:rPr lang="fr-FR" b="1" dirty="0" err="1">
                <a:latin typeface="Times New Roman" pitchFamily="18" charset="0"/>
                <a:cs typeface="Times New Roman" pitchFamily="18" charset="0"/>
              </a:rPr>
              <a:t>void</a:t>
            </a:r>
            <a:r>
              <a:rPr lang="fr-FR" b="1" dirty="0">
                <a:latin typeface="Times New Roman" pitchFamily="18" charset="0"/>
                <a:cs typeface="Times New Roman" pitchFamily="18" charset="0"/>
              </a:rPr>
              <a:t>)</a:t>
            </a:r>
            <a:r>
              <a:rPr lang="fr-FR" b="1" dirty="0" err="1">
                <a:latin typeface="Times New Roman" pitchFamily="18" charset="0"/>
                <a:cs typeface="Times New Roman" pitchFamily="18" charset="0"/>
              </a:rPr>
              <a:t>debproc</a:t>
            </a:r>
            <a:r>
              <a:rPr lang="fr-FR" b="1" dirty="0">
                <a:latin typeface="Times New Roman" pitchFamily="18" charset="0"/>
                <a:cs typeface="Times New Roman" pitchFamily="18" charset="0"/>
              </a:rPr>
              <a:t>  </a:t>
            </a:r>
            <a:r>
              <a:rPr lang="fr-FR" dirty="0">
                <a:latin typeface="Times New Roman" pitchFamily="18" charset="0"/>
                <a:cs typeface="Times New Roman" pitchFamily="18" charset="0"/>
              </a:rPr>
              <a:t>tête:=1</a:t>
            </a:r>
            <a:r>
              <a:rPr lang="fr-FR" b="1" dirty="0">
                <a:latin typeface="Times New Roman" pitchFamily="18" charset="0"/>
                <a:cs typeface="Times New Roman" pitchFamily="18" charset="0"/>
              </a:rPr>
              <a:t>; </a:t>
            </a:r>
            <a:r>
              <a:rPr lang="fr-FR" dirty="0">
                <a:latin typeface="Times New Roman" pitchFamily="18" charset="0"/>
                <a:cs typeface="Times New Roman" pitchFamily="18" charset="0"/>
              </a:rPr>
              <a:t>queue:=0</a:t>
            </a:r>
            <a:r>
              <a:rPr lang="fr-FR" b="1" dirty="0">
                <a:latin typeface="Times New Roman" pitchFamily="18" charset="0"/>
                <a:cs typeface="Times New Roman" pitchFamily="18" charset="0"/>
              </a:rPr>
              <a:t>;</a:t>
            </a:r>
          </a:p>
          <a:p>
            <a:r>
              <a:rPr lang="fr-FR" b="1" dirty="0" err="1">
                <a:latin typeface="Times New Roman" pitchFamily="18" charset="0"/>
                <a:cs typeface="Times New Roman" pitchFamily="18" charset="0"/>
              </a:rPr>
              <a:t>finproc</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booléen fonction </a:t>
            </a:r>
            <a:r>
              <a:rPr lang="fr-FR" dirty="0" err="1">
                <a:latin typeface="Times New Roman" pitchFamily="18" charset="0"/>
                <a:cs typeface="Times New Roman" pitchFamily="18" charset="0"/>
              </a:rPr>
              <a:t>filevide</a:t>
            </a:r>
            <a:r>
              <a:rPr lang="fr-FR" b="1" dirty="0">
                <a:latin typeface="Times New Roman" pitchFamily="18" charset="0"/>
                <a:cs typeface="Times New Roman" pitchFamily="18" charset="0"/>
              </a:rPr>
              <a:t>(</a:t>
            </a:r>
            <a:r>
              <a:rPr lang="fr-FR" b="1" dirty="0" err="1">
                <a:latin typeface="Times New Roman" pitchFamily="18" charset="0"/>
                <a:cs typeface="Times New Roman" pitchFamily="18" charset="0"/>
              </a:rPr>
              <a:t>void</a:t>
            </a:r>
            <a:r>
              <a:rPr lang="fr-FR" b="1" dirty="0">
                <a:latin typeface="Times New Roman" pitchFamily="18" charset="0"/>
                <a:cs typeface="Times New Roman" pitchFamily="18" charset="0"/>
              </a:rPr>
              <a:t>)</a:t>
            </a:r>
          </a:p>
          <a:p>
            <a:r>
              <a:rPr lang="fr-FR" b="1" dirty="0" err="1">
                <a:latin typeface="Times New Roman" pitchFamily="18" charset="0"/>
                <a:cs typeface="Times New Roman" pitchFamily="18" charset="0"/>
              </a:rPr>
              <a:t>debfonc</a:t>
            </a:r>
            <a:r>
              <a:rPr lang="fr-FR" b="1" dirty="0">
                <a:latin typeface="Times New Roman" pitchFamily="18" charset="0"/>
                <a:cs typeface="Times New Roman" pitchFamily="18" charset="0"/>
              </a:rPr>
              <a:t>  retourner (</a:t>
            </a:r>
            <a:r>
              <a:rPr lang="fr-FR" dirty="0">
                <a:latin typeface="Times New Roman" pitchFamily="18" charset="0"/>
                <a:cs typeface="Times New Roman" pitchFamily="18" charset="0"/>
              </a:rPr>
              <a:t>tête&gt;queue</a:t>
            </a:r>
            <a:r>
              <a:rPr lang="fr-FR" b="1" dirty="0">
                <a:latin typeface="Times New Roman" pitchFamily="18" charset="0"/>
                <a:cs typeface="Times New Roman" pitchFamily="18" charset="0"/>
              </a:rPr>
              <a:t>);</a:t>
            </a:r>
          </a:p>
          <a:p>
            <a:r>
              <a:rPr lang="fr-FR" b="1" dirty="0" err="1">
                <a:latin typeface="Times New Roman" pitchFamily="18" charset="0"/>
                <a:cs typeface="Times New Roman" pitchFamily="18" charset="0"/>
              </a:rPr>
              <a:t>finfonc</a:t>
            </a:r>
            <a:r>
              <a:rPr lang="fr-FR" b="1" dirty="0">
                <a:latin typeface="Times New Roman" pitchFamily="18" charset="0"/>
                <a:cs typeface="Times New Roman" pitchFamily="18" charset="0"/>
              </a:rPr>
              <a:t>;</a:t>
            </a:r>
          </a:p>
        </p:txBody>
      </p:sp>
      <p:graphicFrame>
        <p:nvGraphicFramePr>
          <p:cNvPr id="4" name="Tableau 3"/>
          <p:cNvGraphicFramePr>
            <a:graphicFrameLocks noGrp="1"/>
          </p:cNvGraphicFramePr>
          <p:nvPr>
            <p:extLst>
              <p:ext uri="{D42A27DB-BD31-4B8C-83A1-F6EECF244321}">
                <p14:modId xmlns:p14="http://schemas.microsoft.com/office/powerpoint/2010/main" val="3592982439"/>
              </p:ext>
            </p:extLst>
          </p:nvPr>
        </p:nvGraphicFramePr>
        <p:xfrm>
          <a:off x="2875280" y="2954866"/>
          <a:ext cx="3017520" cy="370840"/>
        </p:xfrm>
        <a:graphic>
          <a:graphicData uri="http://schemas.openxmlformats.org/drawingml/2006/table">
            <a:tbl>
              <a:tblPr firstRow="1" bandRow="1">
                <a:tableStyleId>{2D5ABB26-0587-4C30-8999-92F81FD0307C}</a:tableStyleId>
              </a:tblPr>
              <a:tblGrid>
                <a:gridCol w="3017520">
                  <a:extLst>
                    <a:ext uri="{9D8B030D-6E8A-4147-A177-3AD203B41FA5}">
                      <a16:colId xmlns:a16="http://schemas.microsoft.com/office/drawing/2014/main" val="2676338468"/>
                    </a:ext>
                  </a:extLst>
                </a:gridCol>
              </a:tblGrid>
              <a:tr h="370840">
                <a:tc>
                  <a:txBody>
                    <a:bodyPr/>
                    <a:lstStyle/>
                    <a:p>
                      <a:r>
                        <a:rPr lang="fr-FR" dirty="0" smtClean="0"/>
                        <a:t> A B C D</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3624849"/>
                  </a:ext>
                </a:extLst>
              </a:tr>
            </a:tbl>
          </a:graphicData>
        </a:graphic>
      </p:graphicFrame>
      <p:graphicFrame>
        <p:nvGraphicFramePr>
          <p:cNvPr id="5" name="Tableau 4"/>
          <p:cNvGraphicFramePr>
            <a:graphicFrameLocks noGrp="1"/>
          </p:cNvGraphicFramePr>
          <p:nvPr>
            <p:extLst>
              <p:ext uri="{D42A27DB-BD31-4B8C-83A1-F6EECF244321}">
                <p14:modId xmlns:p14="http://schemas.microsoft.com/office/powerpoint/2010/main" val="3469926770"/>
              </p:ext>
            </p:extLst>
          </p:nvPr>
        </p:nvGraphicFramePr>
        <p:xfrm>
          <a:off x="2865120" y="4031826"/>
          <a:ext cx="3017520" cy="370840"/>
        </p:xfrm>
        <a:graphic>
          <a:graphicData uri="http://schemas.openxmlformats.org/drawingml/2006/table">
            <a:tbl>
              <a:tblPr firstRow="1" bandRow="1">
                <a:tableStyleId>{2D5ABB26-0587-4C30-8999-92F81FD0307C}</a:tableStyleId>
              </a:tblPr>
              <a:tblGrid>
                <a:gridCol w="3017520">
                  <a:extLst>
                    <a:ext uri="{9D8B030D-6E8A-4147-A177-3AD203B41FA5}">
                      <a16:colId xmlns:a16="http://schemas.microsoft.com/office/drawing/2014/main" val="2676338468"/>
                    </a:ext>
                  </a:extLst>
                </a:gridCol>
              </a:tblGrid>
              <a:tr h="370840">
                <a:tc>
                  <a:txBody>
                    <a:bodyPr/>
                    <a:lstStyle/>
                    <a:p>
                      <a:r>
                        <a:rPr lang="fr-FR" dirty="0" smtClean="0"/>
                        <a:t> A B C D E F G</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3624849"/>
                  </a:ext>
                </a:extLst>
              </a:tr>
            </a:tbl>
          </a:graphicData>
        </a:graphic>
      </p:graphicFrame>
      <p:cxnSp>
        <p:nvCxnSpPr>
          <p:cNvPr id="7" name="Connecteur droit avec flèche 6"/>
          <p:cNvCxnSpPr/>
          <p:nvPr/>
        </p:nvCxnSpPr>
        <p:spPr>
          <a:xfrm flipV="1">
            <a:off x="3088640" y="3325706"/>
            <a:ext cx="0" cy="1693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Connecteur droit avec flèche 8"/>
          <p:cNvCxnSpPr/>
          <p:nvPr/>
        </p:nvCxnSpPr>
        <p:spPr>
          <a:xfrm flipH="1" flipV="1">
            <a:off x="3637280" y="3325706"/>
            <a:ext cx="182880" cy="2302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Connecteur droit avec flèche 10"/>
          <p:cNvCxnSpPr/>
          <p:nvPr/>
        </p:nvCxnSpPr>
        <p:spPr>
          <a:xfrm flipV="1">
            <a:off x="3434080" y="4402666"/>
            <a:ext cx="0" cy="1794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Connecteur droit avec flèche 12"/>
          <p:cNvCxnSpPr/>
          <p:nvPr/>
        </p:nvCxnSpPr>
        <p:spPr>
          <a:xfrm flipH="1" flipV="1">
            <a:off x="4114800" y="4402666"/>
            <a:ext cx="203200" cy="1794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737931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040" y="53489"/>
            <a:ext cx="11866880" cy="6740307"/>
          </a:xfrm>
          <a:prstGeom prst="rect">
            <a:avLst/>
          </a:prstGeom>
        </p:spPr>
        <p:txBody>
          <a:bodyPr wrap="square">
            <a:spAutoFit/>
          </a:bodyPr>
          <a:lstStyle/>
          <a:p>
            <a:pPr lvl="0" algn="just" fontAlgn="base">
              <a:spcBef>
                <a:spcPct val="0"/>
              </a:spcBef>
              <a:spcAft>
                <a:spcPct val="0"/>
              </a:spcAft>
            </a:pPr>
            <a:r>
              <a:rPr lang="fr-FR" b="1" dirty="0">
                <a:latin typeface="Times New Roman" pitchFamily="18" charset="0"/>
                <a:ea typeface="Times New Roman" pitchFamily="18" charset="0"/>
                <a:cs typeface="Times New Roman" pitchFamily="18" charset="0"/>
              </a:rPr>
              <a:t>booléen fonction </a:t>
            </a:r>
            <a:r>
              <a:rPr lang="fr-FR" dirty="0" err="1">
                <a:latin typeface="Times New Roman" pitchFamily="18" charset="0"/>
                <a:ea typeface="Times New Roman" pitchFamily="18" charset="0"/>
                <a:cs typeface="Times New Roman" pitchFamily="18" charset="0"/>
              </a:rPr>
              <a:t>filepleine</a:t>
            </a:r>
            <a:r>
              <a:rPr lang="fr-FR" b="1" dirty="0">
                <a:latin typeface="Times New Roman" pitchFamily="18" charset="0"/>
                <a:ea typeface="Times New Roman" pitchFamily="18" charset="0"/>
                <a:cs typeface="Times New Roman" pitchFamily="18" charset="0"/>
              </a:rPr>
              <a:t>(</a:t>
            </a:r>
            <a:r>
              <a:rPr lang="fr-FR" b="1" dirty="0" err="1">
                <a:latin typeface="Times New Roman" pitchFamily="18" charset="0"/>
                <a:ea typeface="Times New Roman" pitchFamily="18" charset="0"/>
                <a:cs typeface="Times New Roman" pitchFamily="18" charset="0"/>
              </a:rPr>
              <a:t>void</a:t>
            </a:r>
            <a:r>
              <a:rPr lang="fr-FR" b="1" dirty="0">
                <a:latin typeface="Times New Roman" pitchFamily="18" charset="0"/>
                <a:ea typeface="Times New Roman" pitchFamily="18" charset="0"/>
                <a:cs typeface="Times New Roman" pitchFamily="18" charset="0"/>
              </a:rPr>
              <a:t>) </a:t>
            </a:r>
          </a:p>
          <a:p>
            <a:pPr lvl="0" algn="just" fontAlgn="base">
              <a:spcBef>
                <a:spcPct val="0"/>
              </a:spcBef>
              <a:spcAft>
                <a:spcPct val="0"/>
              </a:spcAft>
            </a:pPr>
            <a:r>
              <a:rPr lang="fr-FR" b="1" dirty="0" err="1">
                <a:latin typeface="Times New Roman" pitchFamily="18" charset="0"/>
                <a:ea typeface="Times New Roman" pitchFamily="18" charset="0"/>
                <a:cs typeface="Times New Roman" pitchFamily="18" charset="0"/>
              </a:rPr>
              <a:t>debfonc</a:t>
            </a:r>
            <a:r>
              <a:rPr lang="fr-FR" b="1" dirty="0">
                <a:latin typeface="Times New Roman" pitchFamily="18" charset="0"/>
                <a:ea typeface="Times New Roman" pitchFamily="18" charset="0"/>
                <a:cs typeface="Times New Roman" pitchFamily="18" charset="0"/>
              </a:rPr>
              <a:t>  retourner (</a:t>
            </a:r>
            <a:r>
              <a:rPr lang="fr-FR" dirty="0">
                <a:latin typeface="Times New Roman" pitchFamily="18" charset="0"/>
                <a:ea typeface="Times New Roman" pitchFamily="18" charset="0"/>
                <a:cs typeface="Times New Roman" pitchFamily="18" charset="0"/>
              </a:rPr>
              <a:t>queue=n</a:t>
            </a:r>
            <a:r>
              <a:rPr lang="fr-FR" b="1" dirty="0">
                <a:latin typeface="Times New Roman" pitchFamily="18" charset="0"/>
                <a:ea typeface="Times New Roman" pitchFamily="18" charset="0"/>
                <a:cs typeface="Times New Roman" pitchFamily="18" charset="0"/>
              </a:rPr>
              <a:t>);</a:t>
            </a:r>
            <a:endParaRPr lang="fr-FR" b="1" dirty="0">
              <a:latin typeface="Times New Roman" pitchFamily="18" charset="0"/>
              <a:cs typeface="Times New Roman" pitchFamily="18" charset="0"/>
            </a:endParaRPr>
          </a:p>
          <a:p>
            <a:pPr lvl="0" algn="just" eaLnBrk="0" fontAlgn="base" hangingPunct="0">
              <a:spcBef>
                <a:spcPct val="0"/>
              </a:spcBef>
              <a:spcAft>
                <a:spcPct val="0"/>
              </a:spcAft>
            </a:pPr>
            <a:r>
              <a:rPr lang="fr-FR" b="1" dirty="0" err="1">
                <a:latin typeface="Times New Roman" pitchFamily="18" charset="0"/>
                <a:cs typeface="Times New Roman" pitchFamily="18" charset="0"/>
              </a:rPr>
              <a:t>finfonc</a:t>
            </a:r>
            <a:r>
              <a:rPr lang="fr-FR" b="1" dirty="0">
                <a:latin typeface="Times New Roman" pitchFamily="18" charset="0"/>
                <a:cs typeface="Times New Roman" pitchFamily="18" charset="0"/>
              </a:rPr>
              <a:t>;</a:t>
            </a: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rPr>
              <a:t>procédure </a:t>
            </a:r>
            <a:r>
              <a:rPr lang="fr-FR" dirty="0" err="1">
                <a:latin typeface="Times New Roman" pitchFamily="18" charset="0"/>
                <a:ea typeface="Times New Roman" pitchFamily="18" charset="0"/>
                <a:cs typeface="Times New Roman" pitchFamily="18" charset="0"/>
              </a:rPr>
              <a:t>ajoutelem</a:t>
            </a:r>
            <a:r>
              <a:rPr lang="fr-FR" b="1" dirty="0">
                <a:latin typeface="Times New Roman" pitchFamily="18" charset="0"/>
                <a:ea typeface="Times New Roman" pitchFamily="18" charset="0"/>
                <a:cs typeface="Times New Roman" pitchFamily="18" charset="0"/>
              </a:rPr>
              <a:t>(d t </a:t>
            </a:r>
            <a:r>
              <a:rPr lang="fr-FR" dirty="0">
                <a:latin typeface="Times New Roman" pitchFamily="18" charset="0"/>
                <a:ea typeface="Times New Roman" pitchFamily="18" charset="0"/>
                <a:cs typeface="Times New Roman" pitchFamily="18" charset="0"/>
              </a:rPr>
              <a:t>val</a:t>
            </a:r>
            <a:r>
              <a:rPr lang="fr-FR" b="1" dirty="0">
                <a:latin typeface="Times New Roman" pitchFamily="18" charset="0"/>
                <a:ea typeface="Times New Roman" pitchFamily="18" charset="0"/>
                <a:cs typeface="Times New Roman" pitchFamily="18" charset="0"/>
              </a:rPr>
              <a:t>)</a:t>
            </a:r>
            <a:endParaRPr lang="fr-FR" b="1" dirty="0">
              <a:latin typeface="Times New Roman" pitchFamily="18" charset="0"/>
              <a:cs typeface="Times New Roman" pitchFamily="18" charset="0"/>
            </a:endParaRPr>
          </a:p>
          <a:p>
            <a:pPr lvl="0" algn="just" eaLnBrk="0" fontAlgn="base" hangingPunct="0">
              <a:spcBef>
                <a:spcPct val="0"/>
              </a:spcBef>
              <a:spcAft>
                <a:spcPct val="0"/>
              </a:spcAft>
            </a:pPr>
            <a:r>
              <a:rPr lang="fr-FR" b="1" dirty="0" err="1">
                <a:latin typeface="Times New Roman" pitchFamily="18" charset="0"/>
                <a:ea typeface="Times New Roman" pitchFamily="18" charset="0"/>
                <a:cs typeface="Times New Roman" pitchFamily="18" charset="0"/>
                <a:sym typeface="Wingdings" pitchFamily="2" charset="2"/>
              </a:rPr>
              <a:t>debproc</a:t>
            </a:r>
            <a:r>
              <a:rPr lang="fr-FR" b="1" dirty="0">
                <a:latin typeface="Times New Roman" pitchFamily="18" charset="0"/>
                <a:ea typeface="Times New Roman" pitchFamily="18" charset="0"/>
                <a:cs typeface="Times New Roman" pitchFamily="18" charset="0"/>
                <a:sym typeface="Wingdings" pitchFamily="2" charset="2"/>
              </a:rPr>
              <a:t>   si   non </a:t>
            </a:r>
            <a:r>
              <a:rPr lang="fr-FR" dirty="0" err="1">
                <a:latin typeface="Times New Roman" pitchFamily="18" charset="0"/>
                <a:ea typeface="Times New Roman" pitchFamily="18" charset="0"/>
                <a:cs typeface="Times New Roman" pitchFamily="18" charset="0"/>
                <a:sym typeface="Wingdings" pitchFamily="2" charset="2"/>
              </a:rPr>
              <a:t>filepleine</a:t>
            </a:r>
            <a:r>
              <a:rPr lang="fr-FR" dirty="0">
                <a:latin typeface="Times New Roman" pitchFamily="18" charset="0"/>
                <a:ea typeface="Times New Roman" pitchFamily="18" charset="0"/>
                <a:cs typeface="Times New Roman" pitchFamily="18" charset="0"/>
                <a:sym typeface="Wingdings" pitchFamily="2" charset="2"/>
              </a:rPr>
              <a:t>()</a:t>
            </a:r>
            <a:r>
              <a:rPr lang="fr-FR" b="1" dirty="0">
                <a:latin typeface="Times New Roman" pitchFamily="18" charset="0"/>
                <a:ea typeface="Times New Roman" pitchFamily="18" charset="0"/>
                <a:cs typeface="Times New Roman" pitchFamily="18" charset="0"/>
                <a:sym typeface="Wingdings" pitchFamily="2" charset="2"/>
              </a:rPr>
              <a:t> alors </a:t>
            </a:r>
            <a:r>
              <a:rPr lang="fr-FR" dirty="0" smtClean="0">
                <a:latin typeface="Times New Roman" pitchFamily="18" charset="0"/>
                <a:ea typeface="Times New Roman" pitchFamily="18" charset="0"/>
                <a:cs typeface="Times New Roman" pitchFamily="18" charset="0"/>
                <a:sym typeface="Wingdings" pitchFamily="2" charset="2"/>
              </a:rPr>
              <a:t>queue:=queue</a:t>
            </a:r>
            <a:r>
              <a:rPr lang="fr-FR" b="1" dirty="0" smtClean="0">
                <a:latin typeface="Times New Roman" pitchFamily="18" charset="0"/>
                <a:ea typeface="Times New Roman" pitchFamily="18" charset="0"/>
                <a:cs typeface="Times New Roman" pitchFamily="18" charset="0"/>
                <a:sym typeface="Wingdings" pitchFamily="2" charset="2"/>
              </a:rPr>
              <a:t>; </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dirty="0" smtClean="0">
                <a:latin typeface="Times New Roman" pitchFamily="18" charset="0"/>
                <a:ea typeface="Times New Roman" pitchFamily="18" charset="0"/>
                <a:cs typeface="Times New Roman" pitchFamily="18" charset="0"/>
                <a:sym typeface="Wingdings" pitchFamily="2" charset="2"/>
              </a:rPr>
              <a:t>FILE[queue]:=val</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b="1" dirty="0" err="1">
                <a:latin typeface="Times New Roman" pitchFamily="18" charset="0"/>
                <a:ea typeface="Times New Roman" pitchFamily="18" charset="0"/>
                <a:cs typeface="Times New Roman" pitchFamily="18" charset="0"/>
                <a:sym typeface="Wingdings" pitchFamily="2" charset="2"/>
              </a:rPr>
              <a:t>finsi</a:t>
            </a:r>
            <a:r>
              <a:rPr lang="fr-FR" b="1" dirty="0">
                <a:latin typeface="Times New Roman" pitchFamily="18" charset="0"/>
                <a:ea typeface="Times New Roman" pitchFamily="18" charset="0"/>
                <a:cs typeface="Times New Roman" pitchFamily="18" charset="0"/>
                <a:sym typeface="Wingdings" pitchFamily="2" charset="2"/>
              </a:rPr>
              <a:t>; </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err="1" smtClean="0">
                <a:latin typeface="Times New Roman" pitchFamily="18" charset="0"/>
                <a:cs typeface="Times New Roman" pitchFamily="18" charset="0"/>
                <a:sym typeface="Wingdings" pitchFamily="2" charset="2"/>
              </a:rPr>
              <a:t>finpfonc</a:t>
            </a:r>
            <a:r>
              <a:rPr lang="fr-FR" b="1" dirty="0">
                <a:latin typeface="Times New Roman" pitchFamily="18" charset="0"/>
                <a:cs typeface="Times New Roman" pitchFamily="18" charset="0"/>
                <a:sym typeface="Wingdings" pitchFamily="2" charset="2"/>
              </a:rPr>
              <a:t>;</a:t>
            </a:r>
          </a:p>
          <a:p>
            <a:pPr lvl="0" algn="just" eaLnBrk="0" fontAlgn="base" hangingPunct="0">
              <a:spcBef>
                <a:spcPct val="0"/>
              </a:spcBef>
              <a:spcAft>
                <a:spcPct val="0"/>
              </a:spcAft>
            </a:pPr>
            <a:r>
              <a:rPr lang="fr-FR" b="1" dirty="0" smtClean="0">
                <a:latin typeface="Times New Roman" pitchFamily="18" charset="0"/>
                <a:ea typeface="Times New Roman" pitchFamily="18" charset="0"/>
                <a:cs typeface="Times New Roman" pitchFamily="18" charset="0"/>
                <a:sym typeface="Wingdings" pitchFamily="2" charset="2"/>
              </a:rPr>
              <a:t>vide </a:t>
            </a:r>
            <a:r>
              <a:rPr lang="fr-FR" dirty="0" err="1">
                <a:latin typeface="Times New Roman" pitchFamily="18" charset="0"/>
                <a:ea typeface="Times New Roman" pitchFamily="18" charset="0"/>
                <a:cs typeface="Times New Roman" pitchFamily="18" charset="0"/>
                <a:sym typeface="Wingdings" pitchFamily="2" charset="2"/>
              </a:rPr>
              <a:t>suppelem</a:t>
            </a:r>
            <a:r>
              <a:rPr lang="fr-FR" b="1" dirty="0">
                <a:latin typeface="Times New Roman" pitchFamily="18" charset="0"/>
                <a:ea typeface="Times New Roman" pitchFamily="18" charset="0"/>
                <a:cs typeface="Times New Roman" pitchFamily="18" charset="0"/>
                <a:sym typeface="Wingdings" pitchFamily="2" charset="2"/>
              </a:rPr>
              <a:t>(r t </a:t>
            </a:r>
            <a:r>
              <a:rPr lang="fr-FR" dirty="0">
                <a:latin typeface="Times New Roman" pitchFamily="18" charset="0"/>
                <a:ea typeface="Times New Roman" pitchFamily="18" charset="0"/>
                <a:cs typeface="Times New Roman" pitchFamily="18" charset="0"/>
                <a:sym typeface="Wingdings" pitchFamily="2" charset="2"/>
              </a:rPr>
              <a:t>val</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err="1" smtClean="0">
                <a:latin typeface="Times New Roman" pitchFamily="18" charset="0"/>
                <a:ea typeface="Times New Roman" pitchFamily="18" charset="0"/>
                <a:cs typeface="Times New Roman" pitchFamily="18" charset="0"/>
                <a:sym typeface="Wingdings" pitchFamily="2" charset="2"/>
              </a:rPr>
              <a:t>debfonc</a:t>
            </a:r>
            <a:r>
              <a:rPr lang="fr-FR" b="1" dirty="0" smtClean="0">
                <a:latin typeface="Times New Roman" pitchFamily="18" charset="0"/>
                <a:ea typeface="Times New Roman" pitchFamily="18" charset="0"/>
                <a:cs typeface="Times New Roman" pitchFamily="18" charset="0"/>
                <a:sym typeface="Wingdings" pitchFamily="2" charset="2"/>
              </a:rPr>
              <a:t>   </a:t>
            </a:r>
            <a:r>
              <a:rPr lang="fr-FR" b="1" dirty="0">
                <a:latin typeface="Times New Roman" pitchFamily="18" charset="0"/>
                <a:ea typeface="Times New Roman" pitchFamily="18" charset="0"/>
                <a:cs typeface="Times New Roman" pitchFamily="18" charset="0"/>
                <a:sym typeface="Wingdings" pitchFamily="2" charset="2"/>
              </a:rPr>
              <a:t>si non </a:t>
            </a:r>
            <a:r>
              <a:rPr lang="fr-FR" dirty="0" err="1">
                <a:latin typeface="Times New Roman" pitchFamily="18" charset="0"/>
                <a:ea typeface="Times New Roman" pitchFamily="18" charset="0"/>
                <a:cs typeface="Times New Roman" pitchFamily="18" charset="0"/>
                <a:sym typeface="Wingdings" pitchFamily="2" charset="2"/>
              </a:rPr>
              <a:t>filevide</a:t>
            </a:r>
            <a:r>
              <a:rPr lang="fr-FR" dirty="0">
                <a:latin typeface="Times New Roman" pitchFamily="18" charset="0"/>
                <a:ea typeface="Times New Roman" pitchFamily="18" charset="0"/>
                <a:cs typeface="Times New Roman" pitchFamily="18" charset="0"/>
                <a:sym typeface="Wingdings" pitchFamily="2" charset="2"/>
              </a:rPr>
              <a:t>()</a:t>
            </a:r>
            <a:r>
              <a:rPr lang="fr-FR" b="1" dirty="0">
                <a:latin typeface="Times New Roman" pitchFamily="18" charset="0"/>
                <a:ea typeface="Times New Roman" pitchFamily="18" charset="0"/>
                <a:cs typeface="Times New Roman" pitchFamily="18" charset="0"/>
                <a:sym typeface="Wingdings" pitchFamily="2" charset="2"/>
              </a:rPr>
              <a:t> alors</a:t>
            </a: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dirty="0" smtClean="0">
                <a:latin typeface="Times New Roman" pitchFamily="18" charset="0"/>
                <a:ea typeface="Times New Roman" pitchFamily="18" charset="0"/>
                <a:cs typeface="Times New Roman" pitchFamily="18" charset="0"/>
                <a:sym typeface="Wingdings" pitchFamily="2" charset="2"/>
              </a:rPr>
              <a:t>val:=FILE[tête</a:t>
            </a:r>
            <a:r>
              <a:rPr lang="fr-FR" dirty="0">
                <a:latin typeface="Times New Roman" pitchFamily="18" charset="0"/>
                <a:ea typeface="Times New Roman" pitchFamily="18" charset="0"/>
                <a:cs typeface="Times New Roman" pitchFamily="18" charset="0"/>
                <a:sym typeface="Wingdings" pitchFamily="2" charset="2"/>
              </a:rPr>
              <a:t>]</a:t>
            </a:r>
            <a:r>
              <a:rPr lang="fr-FR" b="1" dirty="0">
                <a:latin typeface="Times New Roman" pitchFamily="18" charset="0"/>
                <a:ea typeface="Times New Roman" pitchFamily="18" charset="0"/>
                <a:cs typeface="Times New Roman" pitchFamily="18" charset="0"/>
                <a:sym typeface="Wingdings" pitchFamily="2" charset="2"/>
              </a:rPr>
              <a:t>; </a:t>
            </a:r>
            <a:r>
              <a:rPr lang="fr-FR" dirty="0" smtClean="0">
                <a:latin typeface="Times New Roman" pitchFamily="18" charset="0"/>
                <a:ea typeface="Times New Roman" pitchFamily="18" charset="0"/>
                <a:cs typeface="Times New Roman" pitchFamily="18" charset="0"/>
                <a:sym typeface="Wingdings" pitchFamily="2" charset="2"/>
              </a:rPr>
              <a:t>tête:=tête+1</a:t>
            </a:r>
            <a:r>
              <a:rPr lang="fr-FR" b="1" dirty="0" smtClean="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b="1" dirty="0" err="1">
                <a:latin typeface="Times New Roman" pitchFamily="18" charset="0"/>
                <a:ea typeface="Times New Roman" pitchFamily="18" charset="0"/>
                <a:cs typeface="Times New Roman" pitchFamily="18" charset="0"/>
                <a:sym typeface="Wingdings" pitchFamily="2" charset="2"/>
              </a:rPr>
              <a:t>finsi</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err="1" smtClean="0">
                <a:latin typeface="Times New Roman" pitchFamily="18" charset="0"/>
                <a:ea typeface="Times New Roman" pitchFamily="18" charset="0"/>
                <a:cs typeface="Times New Roman" pitchFamily="18" charset="0"/>
                <a:sym typeface="Wingdings" pitchFamily="2" charset="2"/>
              </a:rPr>
              <a:t>finfonc</a:t>
            </a:r>
            <a:r>
              <a:rPr lang="fr-FR" b="1" dirty="0">
                <a:latin typeface="Times New Roman" pitchFamily="18" charset="0"/>
                <a:ea typeface="Times New Roman" pitchFamily="18" charset="0"/>
                <a:cs typeface="Times New Roman" pitchFamily="18" charset="0"/>
                <a:sym typeface="Wingdings" pitchFamily="2" charset="2"/>
              </a:rPr>
              <a:t>;</a:t>
            </a:r>
          </a:p>
          <a:p>
            <a:pPr algn="just"/>
            <a:r>
              <a:rPr lang="fr-FR" b="1" dirty="0">
                <a:latin typeface="Times New Roman" pitchFamily="18" charset="0"/>
                <a:cs typeface="Times New Roman" pitchFamily="18" charset="0"/>
              </a:rPr>
              <a:t>tête</a:t>
            </a:r>
            <a:r>
              <a:rPr lang="fr-FR" dirty="0">
                <a:latin typeface="Times New Roman" pitchFamily="18" charset="0"/>
                <a:cs typeface="Times New Roman" pitchFamily="18" charset="0"/>
              </a:rPr>
              <a:t> et </a:t>
            </a:r>
            <a:r>
              <a:rPr lang="fr-FR" b="1" dirty="0">
                <a:latin typeface="Times New Roman" pitchFamily="18" charset="0"/>
                <a:cs typeface="Times New Roman" pitchFamily="18" charset="0"/>
              </a:rPr>
              <a:t>queue</a:t>
            </a:r>
            <a:r>
              <a:rPr lang="fr-FR" dirty="0">
                <a:latin typeface="Times New Roman" pitchFamily="18" charset="0"/>
                <a:cs typeface="Times New Roman" pitchFamily="18" charset="0"/>
              </a:rPr>
              <a:t> augmentent toujours, donc le vecteur devra être très grand, même s’il ne contient que peu d’éléments à chaque instant. Pour éviter cet inconvénient, on peut envisager 2 solutions :</a:t>
            </a:r>
          </a:p>
          <a:p>
            <a:r>
              <a:rPr lang="fr-FR" dirty="0">
                <a:latin typeface="Times New Roman" pitchFamily="18" charset="0"/>
                <a:cs typeface="Times New Roman" pitchFamily="18" charset="0"/>
              </a:rPr>
              <a:t>a) </a:t>
            </a:r>
            <a:r>
              <a:rPr lang="fr-FR" u="sng" dirty="0">
                <a:latin typeface="Times New Roman" pitchFamily="18" charset="0"/>
                <a:cs typeface="Times New Roman" pitchFamily="18" charset="0"/>
              </a:rPr>
              <a:t>Décaler les éléments de la file vers la gauche à chaque suppression</a:t>
            </a:r>
            <a:r>
              <a:rPr lang="fr-FR" dirty="0">
                <a:latin typeface="Times New Roman" pitchFamily="18" charset="0"/>
                <a:cs typeface="Times New Roman" pitchFamily="18" charset="0"/>
              </a:rPr>
              <a:t> : tous les éléments avancent d’1 place lorsque le 1</a:t>
            </a:r>
            <a:r>
              <a:rPr lang="fr-FR" baseline="30000" dirty="0">
                <a:latin typeface="Times New Roman" pitchFamily="18" charset="0"/>
                <a:cs typeface="Times New Roman" pitchFamily="18" charset="0"/>
              </a:rPr>
              <a:t>ier</a:t>
            </a:r>
            <a:r>
              <a:rPr lang="fr-FR" dirty="0">
                <a:latin typeface="Times New Roman" pitchFamily="18" charset="0"/>
                <a:cs typeface="Times New Roman" pitchFamily="18" charset="0"/>
              </a:rPr>
              <a:t> est servi. Le pointeur de tête devient inutile, car il est toujours égal à  0.</a:t>
            </a:r>
          </a:p>
          <a:p>
            <a:r>
              <a:rPr lang="en-GB" dirty="0">
                <a:latin typeface="Times New Roman" pitchFamily="18" charset="0"/>
                <a:cs typeface="Times New Roman" pitchFamily="18" charset="0"/>
              </a:rPr>
              <a:t>file </a:t>
            </a:r>
            <a:r>
              <a:rPr lang="en-GB" dirty="0" err="1">
                <a:latin typeface="Times New Roman" pitchFamily="18" charset="0"/>
                <a:cs typeface="Times New Roman" pitchFamily="18" charset="0"/>
              </a:rPr>
              <a:t>avant</a:t>
            </a:r>
            <a:r>
              <a:rPr lang="en-GB" dirty="0">
                <a:latin typeface="Times New Roman" pitchFamily="18" charset="0"/>
                <a:cs typeface="Times New Roman" pitchFamily="18" charset="0"/>
              </a:rPr>
              <a:t> modification :	1			n</a:t>
            </a:r>
          </a:p>
          <a:p>
            <a:r>
              <a:rPr lang="en-GB" dirty="0">
                <a:latin typeface="Times New Roman" pitchFamily="18" charset="0"/>
                <a:cs typeface="Times New Roman" pitchFamily="18" charset="0"/>
              </a:rPr>
              <a: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tête  queue</a:t>
            </a:r>
          </a:p>
          <a:p>
            <a:r>
              <a:rPr lang="en-GB" dirty="0">
                <a:latin typeface="Times New Roman" pitchFamily="18" charset="0"/>
                <a:cs typeface="Times New Roman" pitchFamily="18" charset="0"/>
              </a:rPr>
              <a:t>Après insertion de E, F, G :	1			n</a:t>
            </a:r>
          </a:p>
          <a:p>
            <a:r>
              <a:rPr lang="en-GB" dirty="0">
                <a:latin typeface="Times New Roman" pitchFamily="18" charset="0"/>
                <a:cs typeface="Times New Roman" pitchFamily="18" charset="0"/>
              </a:rPr>
              <a:t>Et suppression de A et B :	</a:t>
            </a:r>
            <a:r>
              <a:rPr lang="en-GB" dirty="0" smtClean="0">
                <a:latin typeface="Times New Roman" pitchFamily="18" charset="0"/>
                <a:cs typeface="Times New Roman" pitchFamily="18" charset="0"/>
              </a:rPr>
              <a:t>C D E F G</a:t>
            </a:r>
          </a:p>
          <a:p>
            <a:r>
              <a:rPr lang="en-GB" dirty="0" smtClean="0">
                <a:latin typeface="Times New Roman" pitchFamily="18" charset="0"/>
                <a:cs typeface="Times New Roman" pitchFamily="18" charset="0"/>
              </a:rPr>
              <a:t>			tête         queue</a:t>
            </a:r>
            <a:endParaRPr lang="fr-FR" dirty="0">
              <a:latin typeface="Times New Roman" pitchFamily="18" charset="0"/>
              <a:cs typeface="Times New Roman" pitchFamily="18" charset="0"/>
            </a:endParaRPr>
          </a:p>
        </p:txBody>
      </p:sp>
      <p:graphicFrame>
        <p:nvGraphicFramePr>
          <p:cNvPr id="3" name="Tableau 2"/>
          <p:cNvGraphicFramePr>
            <a:graphicFrameLocks noGrp="1"/>
          </p:cNvGraphicFramePr>
          <p:nvPr>
            <p:extLst>
              <p:ext uri="{D42A27DB-BD31-4B8C-83A1-F6EECF244321}">
                <p14:modId xmlns:p14="http://schemas.microsoft.com/office/powerpoint/2010/main" val="3187035572"/>
              </p:ext>
            </p:extLst>
          </p:nvPr>
        </p:nvGraphicFramePr>
        <p:xfrm>
          <a:off x="2905760" y="5037666"/>
          <a:ext cx="3119120" cy="370840"/>
        </p:xfrm>
        <a:graphic>
          <a:graphicData uri="http://schemas.openxmlformats.org/drawingml/2006/table">
            <a:tbl>
              <a:tblPr firstRow="1" bandRow="1">
                <a:tableStyleId>{2D5ABB26-0587-4C30-8999-92F81FD0307C}</a:tableStyleId>
              </a:tblPr>
              <a:tblGrid>
                <a:gridCol w="3119120">
                  <a:extLst>
                    <a:ext uri="{9D8B030D-6E8A-4147-A177-3AD203B41FA5}">
                      <a16:colId xmlns:a16="http://schemas.microsoft.com/office/drawing/2014/main" val="2102482445"/>
                    </a:ext>
                  </a:extLst>
                </a:gridCol>
              </a:tblGrid>
              <a:tr h="370840">
                <a:tc>
                  <a:txBody>
                    <a:bodyPr/>
                    <a:lstStyle/>
                    <a:p>
                      <a:r>
                        <a:rPr lang="fr-FR" dirty="0" smtClean="0"/>
                        <a:t> A B C D</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297281"/>
                  </a:ext>
                </a:extLst>
              </a:tr>
            </a:tbl>
          </a:graphicData>
        </a:graphic>
      </p:graphicFrame>
      <p:graphicFrame>
        <p:nvGraphicFramePr>
          <p:cNvPr id="4" name="Tableau 3"/>
          <p:cNvGraphicFramePr>
            <a:graphicFrameLocks noGrp="1"/>
          </p:cNvGraphicFramePr>
          <p:nvPr>
            <p:extLst>
              <p:ext uri="{D42A27DB-BD31-4B8C-83A1-F6EECF244321}">
                <p14:modId xmlns:p14="http://schemas.microsoft.com/office/powerpoint/2010/main" val="2628696612"/>
              </p:ext>
            </p:extLst>
          </p:nvPr>
        </p:nvGraphicFramePr>
        <p:xfrm>
          <a:off x="2966720" y="6084146"/>
          <a:ext cx="3119120" cy="370840"/>
        </p:xfrm>
        <a:graphic>
          <a:graphicData uri="http://schemas.openxmlformats.org/drawingml/2006/table">
            <a:tbl>
              <a:tblPr firstRow="1" bandRow="1">
                <a:tableStyleId>{2D5ABB26-0587-4C30-8999-92F81FD0307C}</a:tableStyleId>
              </a:tblPr>
              <a:tblGrid>
                <a:gridCol w="3119120">
                  <a:extLst>
                    <a:ext uri="{9D8B030D-6E8A-4147-A177-3AD203B41FA5}">
                      <a16:colId xmlns:a16="http://schemas.microsoft.com/office/drawing/2014/main" val="2102482445"/>
                    </a:ext>
                  </a:extLst>
                </a:gridCol>
              </a:tblGrid>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297281"/>
                  </a:ext>
                </a:extLst>
              </a:tr>
            </a:tbl>
          </a:graphicData>
        </a:graphic>
      </p:graphicFrame>
      <p:cxnSp>
        <p:nvCxnSpPr>
          <p:cNvPr id="6" name="Connecteur droit avec flèche 5"/>
          <p:cNvCxnSpPr/>
          <p:nvPr/>
        </p:nvCxnSpPr>
        <p:spPr>
          <a:xfrm flipV="1">
            <a:off x="3080084" y="5408506"/>
            <a:ext cx="28876" cy="2511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Connecteur droit avec flèche 7"/>
          <p:cNvCxnSpPr/>
          <p:nvPr/>
        </p:nvCxnSpPr>
        <p:spPr>
          <a:xfrm flipH="1" flipV="1">
            <a:off x="3657600" y="5322771"/>
            <a:ext cx="105878" cy="3368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2834876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3840" y="616041"/>
            <a:ext cx="11673840" cy="6186309"/>
          </a:xfrm>
          <a:prstGeom prst="rect">
            <a:avLst/>
          </a:prstGeom>
        </p:spPr>
        <p:txBody>
          <a:bodyPr wrap="square">
            <a:spAutoFit/>
          </a:bodyPr>
          <a:lstStyle/>
          <a:p>
            <a:pPr lvl="0" algn="just" fontAlgn="base">
              <a:spcBef>
                <a:spcPct val="0"/>
              </a:spcBef>
              <a:spcAft>
                <a:spcPct val="0"/>
              </a:spcAft>
            </a:pPr>
            <a:r>
              <a:rPr lang="fr-FR" dirty="0" smtClean="0">
                <a:latin typeface="Times New Roman" pitchFamily="18" charset="0"/>
                <a:ea typeface="Times New Roman" pitchFamily="18" charset="0"/>
                <a:cs typeface="Times New Roman" pitchFamily="18" charset="0"/>
              </a:rPr>
              <a:t>Les primitives modifiées sont :</a:t>
            </a:r>
          </a:p>
          <a:p>
            <a:pPr lvl="0" algn="just" fontAlgn="base">
              <a:spcBef>
                <a:spcPct val="0"/>
              </a:spcBef>
              <a:spcAft>
                <a:spcPct val="0"/>
              </a:spcAft>
            </a:pPr>
            <a:r>
              <a:rPr lang="fr-FR" b="1" dirty="0" smtClean="0">
                <a:latin typeface="Times New Roman" pitchFamily="18" charset="0"/>
                <a:ea typeface="Times New Roman" pitchFamily="18" charset="0"/>
                <a:cs typeface="Times New Roman" pitchFamily="18" charset="0"/>
              </a:rPr>
              <a:t>vide </a:t>
            </a:r>
            <a:r>
              <a:rPr lang="fr-FR" dirty="0" err="1" smtClean="0">
                <a:latin typeface="Times New Roman" pitchFamily="18" charset="0"/>
                <a:ea typeface="Times New Roman" pitchFamily="18" charset="0"/>
                <a:cs typeface="Times New Roman" pitchFamily="18" charset="0"/>
              </a:rPr>
              <a:t>initfile</a:t>
            </a:r>
            <a:r>
              <a:rPr lang="fr-FR" b="1" dirty="0" smtClean="0">
                <a:latin typeface="Times New Roman" pitchFamily="18" charset="0"/>
                <a:ea typeface="Times New Roman" pitchFamily="18" charset="0"/>
                <a:cs typeface="Times New Roman" pitchFamily="18" charset="0"/>
              </a:rPr>
              <a:t>(vide)</a:t>
            </a:r>
            <a:endParaRPr lang="fr-FR" b="1" dirty="0">
              <a:latin typeface="Times New Roman" pitchFamily="18" charset="0"/>
              <a:cs typeface="Times New Roman" pitchFamily="18" charset="0"/>
            </a:endParaRPr>
          </a:p>
          <a:p>
            <a:pPr lvl="0" algn="just" eaLnBrk="0" fontAlgn="base" hangingPunct="0">
              <a:spcBef>
                <a:spcPct val="0"/>
              </a:spcBef>
              <a:spcAft>
                <a:spcPct val="0"/>
              </a:spcAft>
            </a:pPr>
            <a:r>
              <a:rPr lang="fr-FR" b="1" dirty="0" err="1" smtClean="0">
                <a:latin typeface="Times New Roman" pitchFamily="18" charset="0"/>
                <a:ea typeface="Times New Roman" pitchFamily="18" charset="0"/>
                <a:cs typeface="Times New Roman" pitchFamily="18" charset="0"/>
              </a:rPr>
              <a:t>debfonc</a:t>
            </a:r>
            <a:r>
              <a:rPr lang="fr-FR" b="1" dirty="0" smtClean="0">
                <a:latin typeface="Times New Roman" pitchFamily="18" charset="0"/>
                <a:ea typeface="Times New Roman" pitchFamily="18" charset="0"/>
                <a:cs typeface="Times New Roman" pitchFamily="18" charset="0"/>
              </a:rPr>
              <a:t>  </a:t>
            </a:r>
            <a:r>
              <a:rPr lang="fr-FR" dirty="0">
                <a:latin typeface="Times New Roman" pitchFamily="18" charset="0"/>
                <a:ea typeface="Times New Roman" pitchFamily="18" charset="0"/>
                <a:cs typeface="Times New Roman" pitchFamily="18" charset="0"/>
              </a:rPr>
              <a:t>queue:=0</a:t>
            </a:r>
            <a:r>
              <a:rPr lang="fr-FR" b="1" dirty="0">
                <a:latin typeface="Times New Roman" pitchFamily="18" charset="0"/>
                <a:ea typeface="Times New Roman" pitchFamily="18" charset="0"/>
                <a:cs typeface="Times New Roman" pitchFamily="18" charset="0"/>
              </a:rPr>
              <a:t>;</a:t>
            </a:r>
            <a:endParaRPr lang="fr-FR" b="1" dirty="0">
              <a:latin typeface="Times New Roman" pitchFamily="18" charset="0"/>
              <a:cs typeface="Times New Roman" pitchFamily="18" charset="0"/>
            </a:endParaRPr>
          </a:p>
          <a:p>
            <a:pPr lvl="0" algn="just" eaLnBrk="0" fontAlgn="base" hangingPunct="0">
              <a:spcBef>
                <a:spcPct val="0"/>
              </a:spcBef>
              <a:spcAft>
                <a:spcPct val="0"/>
              </a:spcAft>
            </a:pPr>
            <a:r>
              <a:rPr lang="fr-FR" b="1" dirty="0" err="1" smtClean="0">
                <a:latin typeface="Times New Roman" pitchFamily="18" charset="0"/>
                <a:cs typeface="Times New Roman" pitchFamily="18" charset="0"/>
              </a:rPr>
              <a:t>finfonc</a:t>
            </a:r>
            <a:r>
              <a:rPr lang="fr-FR" b="1" dirty="0">
                <a:latin typeface="Times New Roman" pitchFamily="18" charset="0"/>
                <a:cs typeface="Times New Roman" pitchFamily="18" charset="0"/>
              </a:rPr>
              <a:t>;</a:t>
            </a:r>
          </a:p>
          <a:p>
            <a:pPr lvl="0" algn="just" eaLnBrk="0" fontAlgn="base" hangingPunct="0">
              <a:spcBef>
                <a:spcPct val="0"/>
              </a:spcBef>
              <a:spcAft>
                <a:spcPct val="0"/>
              </a:spcAft>
            </a:pPr>
            <a:endParaRPr lang="fr-FR" b="1" dirty="0">
              <a:latin typeface="Times New Roman" pitchFamily="18" charset="0"/>
              <a:ea typeface="Times New Roman" pitchFamily="18" charset="0"/>
              <a:cs typeface="Times New Roman" pitchFamily="18" charset="0"/>
            </a:endParaRPr>
          </a:p>
          <a:p>
            <a:pPr lvl="0" algn="just" eaLnBrk="0" fontAlgn="base" hangingPunct="0">
              <a:spcBef>
                <a:spcPct val="0"/>
              </a:spcBef>
              <a:spcAft>
                <a:spcPct val="0"/>
              </a:spcAft>
            </a:pPr>
            <a:r>
              <a:rPr lang="fr-FR" b="1" dirty="0" smtClean="0">
                <a:latin typeface="Times New Roman" pitchFamily="18" charset="0"/>
                <a:ea typeface="Times New Roman" pitchFamily="18" charset="0"/>
                <a:cs typeface="Times New Roman" pitchFamily="18" charset="0"/>
              </a:rPr>
              <a:t>booléen </a:t>
            </a:r>
            <a:r>
              <a:rPr lang="fr-FR" dirty="0" err="1" smtClean="0">
                <a:latin typeface="Times New Roman" pitchFamily="18" charset="0"/>
                <a:ea typeface="Times New Roman" pitchFamily="18" charset="0"/>
                <a:cs typeface="Times New Roman" pitchFamily="18" charset="0"/>
              </a:rPr>
              <a:t>filevide</a:t>
            </a:r>
            <a:r>
              <a:rPr lang="fr-FR" b="1" dirty="0" smtClean="0">
                <a:latin typeface="Times New Roman" pitchFamily="18" charset="0"/>
                <a:ea typeface="Times New Roman" pitchFamily="18" charset="0"/>
                <a:cs typeface="Times New Roman" pitchFamily="18" charset="0"/>
              </a:rPr>
              <a:t>(vide)</a:t>
            </a:r>
            <a:endParaRPr lang="fr-FR" b="1" dirty="0">
              <a:latin typeface="Times New Roman" pitchFamily="18" charset="0"/>
              <a:cs typeface="Times New Roman" pitchFamily="18" charset="0"/>
            </a:endParaRPr>
          </a:p>
          <a:p>
            <a:pPr lvl="0" algn="just" eaLnBrk="0" fontAlgn="base" hangingPunct="0">
              <a:spcBef>
                <a:spcPct val="0"/>
              </a:spcBef>
              <a:spcAft>
                <a:spcPct val="0"/>
              </a:spcAft>
            </a:pPr>
            <a:r>
              <a:rPr lang="fr-FR" b="1" dirty="0" err="1">
                <a:latin typeface="Times New Roman" pitchFamily="18" charset="0"/>
                <a:ea typeface="Times New Roman" pitchFamily="18" charset="0"/>
                <a:cs typeface="Times New Roman" pitchFamily="18" charset="0"/>
              </a:rPr>
              <a:t>debfonc</a:t>
            </a:r>
            <a:r>
              <a:rPr lang="fr-FR" b="1" dirty="0">
                <a:latin typeface="Times New Roman" pitchFamily="18" charset="0"/>
                <a:ea typeface="Times New Roman" pitchFamily="18" charset="0"/>
                <a:cs typeface="Times New Roman" pitchFamily="18" charset="0"/>
              </a:rPr>
              <a:t>   retourner (</a:t>
            </a:r>
            <a:r>
              <a:rPr lang="fr-FR" dirty="0">
                <a:latin typeface="Times New Roman" pitchFamily="18" charset="0"/>
                <a:ea typeface="Times New Roman" pitchFamily="18" charset="0"/>
                <a:cs typeface="Times New Roman" pitchFamily="18" charset="0"/>
              </a:rPr>
              <a:t>queue=0</a:t>
            </a:r>
            <a:r>
              <a:rPr lang="fr-FR" b="1" dirty="0">
                <a:latin typeface="Times New Roman" pitchFamily="18" charset="0"/>
                <a:ea typeface="Times New Roman" pitchFamily="18" charset="0"/>
                <a:cs typeface="Times New Roman" pitchFamily="18" charset="0"/>
              </a:rPr>
              <a:t>);</a:t>
            </a:r>
            <a:endParaRPr lang="fr-FR" b="1" dirty="0">
              <a:latin typeface="Times New Roman" pitchFamily="18" charset="0"/>
              <a:cs typeface="Times New Roman" pitchFamily="18" charset="0"/>
            </a:endParaRPr>
          </a:p>
          <a:p>
            <a:pPr lvl="0" algn="just" eaLnBrk="0" fontAlgn="base" hangingPunct="0">
              <a:spcBef>
                <a:spcPct val="0"/>
              </a:spcBef>
              <a:spcAft>
                <a:spcPct val="0"/>
              </a:spcAft>
            </a:pPr>
            <a:r>
              <a:rPr lang="fr-FR" b="1" dirty="0" err="1">
                <a:latin typeface="Times New Roman" pitchFamily="18" charset="0"/>
                <a:cs typeface="Times New Roman" pitchFamily="18" charset="0"/>
              </a:rPr>
              <a:t>finfonc</a:t>
            </a:r>
            <a:r>
              <a:rPr lang="fr-FR" b="1" dirty="0">
                <a:latin typeface="Times New Roman" pitchFamily="18" charset="0"/>
                <a:cs typeface="Times New Roman" pitchFamily="18" charset="0"/>
              </a:rPr>
              <a:t>;</a:t>
            </a:r>
          </a:p>
          <a:p>
            <a:pPr lvl="0" algn="just" eaLnBrk="0" fontAlgn="base" hangingPunct="0">
              <a:spcBef>
                <a:spcPct val="0"/>
              </a:spcBef>
              <a:spcAft>
                <a:spcPct val="0"/>
              </a:spcAft>
            </a:pPr>
            <a:endParaRPr lang="fr-FR" b="1" dirty="0">
              <a:latin typeface="Times New Roman" pitchFamily="18" charset="0"/>
              <a:ea typeface="Times New Roman" pitchFamily="18" charset="0"/>
              <a:cs typeface="Times New Roman" pitchFamily="18" charset="0"/>
            </a:endParaRPr>
          </a:p>
          <a:p>
            <a:pPr lvl="0" algn="just" eaLnBrk="0" fontAlgn="base" hangingPunct="0">
              <a:spcBef>
                <a:spcPct val="0"/>
              </a:spcBef>
              <a:spcAft>
                <a:spcPct val="0"/>
              </a:spcAft>
            </a:pPr>
            <a:r>
              <a:rPr lang="fr-FR" b="1" dirty="0" smtClean="0">
                <a:latin typeface="Times New Roman" pitchFamily="18" charset="0"/>
                <a:ea typeface="Times New Roman" pitchFamily="18" charset="0"/>
                <a:cs typeface="Times New Roman" pitchFamily="18" charset="0"/>
              </a:rPr>
              <a:t>vide </a:t>
            </a:r>
            <a:r>
              <a:rPr lang="fr-FR" dirty="0" err="1">
                <a:latin typeface="Times New Roman" pitchFamily="18" charset="0"/>
                <a:ea typeface="Times New Roman" pitchFamily="18" charset="0"/>
                <a:cs typeface="Times New Roman" pitchFamily="18" charset="0"/>
              </a:rPr>
              <a:t>suppelem</a:t>
            </a:r>
            <a:r>
              <a:rPr lang="fr-FR" b="1" dirty="0">
                <a:latin typeface="Times New Roman" pitchFamily="18" charset="0"/>
                <a:ea typeface="Times New Roman" pitchFamily="18" charset="0"/>
                <a:cs typeface="Times New Roman" pitchFamily="18" charset="0"/>
              </a:rPr>
              <a:t>(r t </a:t>
            </a:r>
            <a:r>
              <a:rPr lang="fr-FR" dirty="0">
                <a:latin typeface="Times New Roman" pitchFamily="18" charset="0"/>
                <a:ea typeface="Times New Roman" pitchFamily="18" charset="0"/>
                <a:cs typeface="Times New Roman" pitchFamily="18" charset="0"/>
              </a:rPr>
              <a:t>val</a:t>
            </a:r>
            <a:r>
              <a:rPr lang="fr-FR" b="1" dirty="0">
                <a:latin typeface="Times New Roman" pitchFamily="18" charset="0"/>
                <a:ea typeface="Times New Roman" pitchFamily="18" charset="0"/>
                <a:cs typeface="Times New Roman" pitchFamily="18" charset="0"/>
              </a:rPr>
              <a:t>)</a:t>
            </a:r>
            <a:endParaRPr lang="fr-FR" b="1" dirty="0">
              <a:latin typeface="Times New Roman" pitchFamily="18" charset="0"/>
              <a:cs typeface="Times New Roman" pitchFamily="18" charset="0"/>
            </a:endParaRPr>
          </a:p>
          <a:p>
            <a:pPr lvl="0" algn="just" eaLnBrk="0" fontAlgn="base" hangingPunct="0">
              <a:spcBef>
                <a:spcPct val="0"/>
              </a:spcBef>
              <a:spcAft>
                <a:spcPct val="0"/>
              </a:spcAft>
            </a:pPr>
            <a:r>
              <a:rPr lang="fr-FR" b="1" dirty="0" err="1" smtClean="0">
                <a:latin typeface="Times New Roman" pitchFamily="18" charset="0"/>
                <a:ea typeface="Times New Roman" pitchFamily="18" charset="0"/>
                <a:cs typeface="Times New Roman" pitchFamily="18" charset="0"/>
                <a:sym typeface="Wingdings" pitchFamily="2" charset="2"/>
              </a:rPr>
              <a:t>debfonc</a:t>
            </a:r>
            <a:r>
              <a:rPr lang="fr-FR" b="1" dirty="0" smtClean="0">
                <a:latin typeface="Times New Roman" pitchFamily="18" charset="0"/>
                <a:ea typeface="Times New Roman" pitchFamily="18" charset="0"/>
                <a:cs typeface="Times New Roman" pitchFamily="18" charset="0"/>
                <a:sym typeface="Wingdings" pitchFamily="2" charset="2"/>
              </a:rPr>
              <a:t>  </a:t>
            </a:r>
            <a:r>
              <a:rPr lang="fr-FR" b="1" dirty="0">
                <a:latin typeface="Times New Roman" pitchFamily="18" charset="0"/>
                <a:ea typeface="Times New Roman" pitchFamily="18" charset="0"/>
                <a:cs typeface="Times New Roman" pitchFamily="18" charset="0"/>
                <a:sym typeface="Wingdings" pitchFamily="2" charset="2"/>
              </a:rPr>
              <a:t>entier i;</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si non </a:t>
            </a:r>
            <a:r>
              <a:rPr lang="fr-FR" dirty="0" err="1">
                <a:latin typeface="Times New Roman" pitchFamily="18" charset="0"/>
                <a:ea typeface="Times New Roman" pitchFamily="18" charset="0"/>
                <a:cs typeface="Times New Roman" pitchFamily="18" charset="0"/>
                <a:sym typeface="Wingdings" pitchFamily="2" charset="2"/>
              </a:rPr>
              <a:t>filevide</a:t>
            </a:r>
            <a:r>
              <a:rPr lang="fr-FR" dirty="0">
                <a:latin typeface="Times New Roman" pitchFamily="18" charset="0"/>
                <a:ea typeface="Times New Roman" pitchFamily="18" charset="0"/>
                <a:cs typeface="Times New Roman" pitchFamily="18" charset="0"/>
                <a:sym typeface="Wingdings" pitchFamily="2" charset="2"/>
              </a:rPr>
              <a:t>()</a:t>
            </a:r>
            <a:r>
              <a:rPr lang="fr-FR" b="1" dirty="0">
                <a:latin typeface="Times New Roman" pitchFamily="18" charset="0"/>
                <a:ea typeface="Times New Roman" pitchFamily="18" charset="0"/>
                <a:cs typeface="Times New Roman" pitchFamily="18" charset="0"/>
                <a:sym typeface="Wingdings" pitchFamily="2" charset="2"/>
              </a:rPr>
              <a:t> alors</a:t>
            </a: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dirty="0" smtClean="0">
                <a:latin typeface="Times New Roman" pitchFamily="18" charset="0"/>
                <a:ea typeface="Times New Roman" pitchFamily="18" charset="0"/>
                <a:cs typeface="Times New Roman" pitchFamily="18" charset="0"/>
                <a:sym typeface="Wingdings" pitchFamily="2" charset="2"/>
              </a:rPr>
              <a:t>val:=FILE[1</a:t>
            </a:r>
            <a:r>
              <a:rPr lang="fr-FR" dirty="0">
                <a:latin typeface="Times New Roman" pitchFamily="18" charset="0"/>
                <a:ea typeface="Times New Roman" pitchFamily="18" charset="0"/>
                <a:cs typeface="Times New Roman" pitchFamily="18" charset="0"/>
                <a:sym typeface="Wingdings" pitchFamily="2" charset="2"/>
              </a:rPr>
              <a:t>]</a:t>
            </a:r>
            <a:r>
              <a:rPr lang="fr-FR" b="1" dirty="0">
                <a:latin typeface="Times New Roman" pitchFamily="18" charset="0"/>
                <a:ea typeface="Times New Roman" pitchFamily="18" charset="0"/>
                <a:cs typeface="Times New Roman" pitchFamily="18" charset="0"/>
                <a:sym typeface="Wingdings" pitchFamily="2" charset="2"/>
              </a:rPr>
              <a:t>; </a:t>
            </a:r>
            <a:r>
              <a:rPr lang="fr-FR" dirty="0" smtClean="0">
                <a:latin typeface="Times New Roman" pitchFamily="18" charset="0"/>
                <a:ea typeface="Times New Roman" pitchFamily="18" charset="0"/>
                <a:cs typeface="Times New Roman" pitchFamily="18" charset="0"/>
                <a:sym typeface="Wingdings" pitchFamily="2" charset="2"/>
              </a:rPr>
              <a:t>i:=1</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b="1" dirty="0" err="1">
                <a:latin typeface="Times New Roman" pitchFamily="18" charset="0"/>
                <a:ea typeface="Times New Roman" pitchFamily="18" charset="0"/>
                <a:cs typeface="Times New Roman" pitchFamily="18" charset="0"/>
                <a:sym typeface="Wingdings" pitchFamily="2" charset="2"/>
              </a:rPr>
              <a:t>tantque</a:t>
            </a:r>
            <a:r>
              <a:rPr lang="fr-FR" b="1" dirty="0">
                <a:latin typeface="Times New Roman" pitchFamily="18" charset="0"/>
                <a:ea typeface="Times New Roman" pitchFamily="18" charset="0"/>
                <a:cs typeface="Times New Roman" pitchFamily="18" charset="0"/>
                <a:sym typeface="Wingdings" pitchFamily="2" charset="2"/>
              </a:rPr>
              <a:t> </a:t>
            </a:r>
            <a:r>
              <a:rPr lang="fr-FR" dirty="0">
                <a:latin typeface="Times New Roman" pitchFamily="18" charset="0"/>
                <a:ea typeface="Times New Roman" pitchFamily="18" charset="0"/>
                <a:cs typeface="Times New Roman" pitchFamily="18" charset="0"/>
                <a:sym typeface="Wingdings" pitchFamily="2" charset="2"/>
              </a:rPr>
              <a:t>i&lt;queue</a:t>
            </a:r>
            <a:r>
              <a:rPr lang="fr-FR" b="1" dirty="0">
                <a:latin typeface="Times New Roman" pitchFamily="18" charset="0"/>
                <a:ea typeface="Times New Roman" pitchFamily="18" charset="0"/>
                <a:cs typeface="Times New Roman" pitchFamily="18" charset="0"/>
                <a:sym typeface="Wingdings" pitchFamily="2" charset="2"/>
              </a:rPr>
              <a:t> faire</a:t>
            </a: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nb-NO" dirty="0">
                <a:latin typeface="Times New Roman" pitchFamily="18" charset="0"/>
                <a:ea typeface="Times New Roman" pitchFamily="18" charset="0"/>
                <a:cs typeface="Times New Roman" pitchFamily="18" charset="0"/>
                <a:sym typeface="Wingdings" pitchFamily="2" charset="2"/>
              </a:rPr>
              <a:t>FILE [</a:t>
            </a:r>
            <a:r>
              <a:rPr lang="nb-NO" dirty="0" smtClean="0">
                <a:latin typeface="Times New Roman" pitchFamily="18" charset="0"/>
                <a:ea typeface="Times New Roman" pitchFamily="18" charset="0"/>
                <a:cs typeface="Times New Roman" pitchFamily="18" charset="0"/>
                <a:sym typeface="Wingdings" pitchFamily="2" charset="2"/>
              </a:rPr>
              <a:t>i]:=FILE </a:t>
            </a:r>
            <a:r>
              <a:rPr lang="nb-NO" dirty="0">
                <a:latin typeface="Times New Roman" pitchFamily="18" charset="0"/>
                <a:ea typeface="Times New Roman" pitchFamily="18" charset="0"/>
                <a:cs typeface="Times New Roman" pitchFamily="18" charset="0"/>
                <a:sym typeface="Wingdings" pitchFamily="2" charset="2"/>
              </a:rPr>
              <a:t>[i+1]</a:t>
            </a:r>
            <a:r>
              <a:rPr lang="nb-NO" b="1" dirty="0">
                <a:latin typeface="Times New Roman" pitchFamily="18" charset="0"/>
                <a:ea typeface="Times New Roman" pitchFamily="18" charset="0"/>
                <a:cs typeface="Times New Roman" pitchFamily="18" charset="0"/>
                <a:sym typeface="Wingdings" pitchFamily="2" charset="2"/>
              </a:rPr>
              <a:t>; </a:t>
            </a:r>
            <a:r>
              <a:rPr lang="nb-NO" dirty="0" smtClean="0">
                <a:latin typeface="Times New Roman" pitchFamily="18" charset="0"/>
                <a:ea typeface="Times New Roman" pitchFamily="18" charset="0"/>
                <a:cs typeface="Times New Roman" pitchFamily="18" charset="0"/>
                <a:sym typeface="Wingdings" pitchFamily="2" charset="2"/>
              </a:rPr>
              <a:t>i:=i+1</a:t>
            </a:r>
            <a:r>
              <a:rPr lang="nb-NO" dirty="0">
                <a:latin typeface="Times New Roman" pitchFamily="18" charset="0"/>
                <a:ea typeface="Times New Roman" pitchFamily="18" charset="0"/>
                <a:cs typeface="Times New Roman" pitchFamily="18" charset="0"/>
                <a:sym typeface="Wingdings" pitchFamily="2" charset="2"/>
              </a:rPr>
              <a:t>;</a:t>
            </a:r>
            <a:endParaRPr lang="fr-FR"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nb-NO" b="1" dirty="0">
                <a:latin typeface="Times New Roman" pitchFamily="18" charset="0"/>
                <a:ea typeface="Times New Roman" pitchFamily="18" charset="0"/>
                <a:cs typeface="Times New Roman" pitchFamily="18" charset="0"/>
                <a:sym typeface="Wingdings" pitchFamily="2" charset="2"/>
              </a:rPr>
              <a:t>      </a:t>
            </a:r>
            <a:r>
              <a:rPr lang="fr-FR" b="1" dirty="0" err="1">
                <a:latin typeface="Times New Roman" pitchFamily="18" charset="0"/>
                <a:ea typeface="Times New Roman" pitchFamily="18" charset="0"/>
                <a:cs typeface="Times New Roman" pitchFamily="18" charset="0"/>
                <a:sym typeface="Wingdings" pitchFamily="2" charset="2"/>
              </a:rPr>
              <a:t>finfaire</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dirty="0" smtClean="0">
                <a:latin typeface="Times New Roman" pitchFamily="18" charset="0"/>
                <a:ea typeface="Times New Roman" pitchFamily="18" charset="0"/>
                <a:cs typeface="Times New Roman" pitchFamily="18" charset="0"/>
                <a:sym typeface="Wingdings" pitchFamily="2" charset="2"/>
              </a:rPr>
              <a:t>queue:=queue-1</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b="1" dirty="0" err="1">
                <a:latin typeface="Times New Roman" pitchFamily="18" charset="0"/>
                <a:ea typeface="Times New Roman" pitchFamily="18" charset="0"/>
                <a:cs typeface="Times New Roman" pitchFamily="18" charset="0"/>
                <a:sym typeface="Wingdings" pitchFamily="2" charset="2"/>
              </a:rPr>
              <a:t>finsi</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err="1" smtClean="0">
                <a:latin typeface="Times New Roman" pitchFamily="18" charset="0"/>
                <a:ea typeface="Times New Roman" pitchFamily="18" charset="0"/>
                <a:cs typeface="Times New Roman" pitchFamily="18" charset="0"/>
                <a:sym typeface="Wingdings" pitchFamily="2" charset="2"/>
              </a:rPr>
              <a:t>finfonc</a:t>
            </a:r>
            <a:r>
              <a:rPr lang="fr-FR" b="1" dirty="0">
                <a:latin typeface="Times New Roman" pitchFamily="18" charset="0"/>
                <a:ea typeface="Times New Roman" pitchFamily="18" charset="0"/>
                <a:cs typeface="Times New Roman" pitchFamily="18" charset="0"/>
                <a:sym typeface="Wingdings" pitchFamily="2" charset="2"/>
              </a:rPr>
              <a:t>;</a:t>
            </a:r>
          </a:p>
          <a:p>
            <a:r>
              <a:rPr lang="fr-FR" dirty="0">
                <a:latin typeface="Times New Roman" pitchFamily="18" charset="0"/>
                <a:cs typeface="Times New Roman" pitchFamily="18" charset="0"/>
              </a:rPr>
              <a:t>b) </a:t>
            </a:r>
            <a:r>
              <a:rPr lang="fr-FR" i="1" dirty="0">
                <a:latin typeface="Times New Roman" pitchFamily="18" charset="0"/>
                <a:cs typeface="Times New Roman" pitchFamily="18" charset="0"/>
              </a:rPr>
              <a:t>gérer le vecteur de manière </a:t>
            </a:r>
            <a:r>
              <a:rPr lang="fr-FR" i="1" dirty="0">
                <a:latin typeface="Times New Roman" pitchFamily="18" charset="0"/>
                <a:cs typeface="Times New Roman" pitchFamily="18" charset="0"/>
                <a:sym typeface="Symbol"/>
              </a:rPr>
              <a:t></a:t>
            </a:r>
            <a:r>
              <a:rPr lang="fr-FR" i="1" dirty="0">
                <a:latin typeface="Times New Roman" pitchFamily="18" charset="0"/>
                <a:cs typeface="Times New Roman" pitchFamily="18" charset="0"/>
              </a:rPr>
              <a:t>circulaire</a:t>
            </a:r>
            <a:r>
              <a:rPr lang="fr-FR" i="1" dirty="0">
                <a:latin typeface="Times New Roman" pitchFamily="18" charset="0"/>
                <a:cs typeface="Times New Roman" pitchFamily="18" charset="0"/>
                <a:sym typeface="Symbol"/>
              </a:rPr>
              <a:t></a:t>
            </a:r>
            <a:endParaRPr lang="fr-FR" i="1" dirty="0">
              <a:latin typeface="Times New Roman" pitchFamily="18" charset="0"/>
              <a:cs typeface="Times New Roman" pitchFamily="18" charset="0"/>
            </a:endParaRPr>
          </a:p>
          <a:p>
            <a:r>
              <a:rPr lang="fr-FR" dirty="0">
                <a:latin typeface="Times New Roman" pitchFamily="18" charset="0"/>
                <a:cs typeface="Times New Roman" pitchFamily="18" charset="0"/>
              </a:rPr>
              <a:t>C’est la meilleure solution, elle minimise la place nécessaire dans le vecteur, tout en évitant les opérations de décalage.</a:t>
            </a:r>
          </a:p>
          <a:p>
            <a:r>
              <a:rPr lang="fr-FR" dirty="0">
                <a:latin typeface="Times New Roman" pitchFamily="18" charset="0"/>
                <a:cs typeface="Times New Roman" pitchFamily="18" charset="0"/>
              </a:rPr>
              <a:t>Exemple : on suppose n = 6.</a:t>
            </a:r>
          </a:p>
        </p:txBody>
      </p:sp>
    </p:spTree>
    <p:extLst>
      <p:ext uri="{BB962C8B-B14F-4D97-AF65-F5344CB8AC3E}">
        <p14:creationId xmlns:p14="http://schemas.microsoft.com/office/powerpoint/2010/main" val="40760237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320" y="388237"/>
            <a:ext cx="11643360" cy="6463308"/>
          </a:xfrm>
          <a:prstGeom prst="rect">
            <a:avLst/>
          </a:prstGeom>
        </p:spPr>
        <p:txBody>
          <a:bodyPr wrap="square">
            <a:spAutoFit/>
          </a:bodyPr>
          <a:lstStyle/>
          <a:p>
            <a:pPr lvl="0" algn="just" fontAlgn="base">
              <a:spcBef>
                <a:spcPct val="0"/>
              </a:spcBef>
              <a:spcAft>
                <a:spcPct val="0"/>
              </a:spcAft>
            </a:pPr>
            <a:r>
              <a:rPr lang="fr-FR" dirty="0">
                <a:latin typeface="Times New Roman" pitchFamily="18" charset="0"/>
                <a:ea typeface="Times New Roman" pitchFamily="18" charset="0"/>
                <a:cs typeface="Times New Roman" pitchFamily="18" charset="0"/>
              </a:rPr>
              <a:t>file avant modification :         1               6</a:t>
            </a:r>
          </a:p>
          <a:p>
            <a:pPr lvl="0" algn="just" fontAlgn="base">
              <a:spcBef>
                <a:spcPct val="0"/>
              </a:spcBef>
              <a:spcAft>
                <a:spcPct val="0"/>
              </a:spcAft>
            </a:pPr>
            <a:r>
              <a:rPr lang="en-GB" dirty="0">
                <a:latin typeface="Times New Roman" pitchFamily="18" charset="0"/>
                <a:cs typeface="Times New Roman" pitchFamily="18" charset="0"/>
              </a:rPr>
              <a:t>		</a:t>
            </a:r>
          </a:p>
          <a:p>
            <a:pPr lvl="0" algn="just" fontAlgn="base">
              <a:spcBef>
                <a:spcPct val="0"/>
              </a:spcBef>
              <a:spcAft>
                <a:spcPct val="0"/>
              </a:spcAft>
            </a:pPr>
            <a:endParaRPr lang="en-GB" dirty="0">
              <a:latin typeface="Times New Roman" pitchFamily="18" charset="0"/>
              <a:cs typeface="Times New Roman" pitchFamily="18" charset="0"/>
            </a:endParaRPr>
          </a:p>
          <a:p>
            <a:pPr lvl="0" algn="just" fontAlgn="base">
              <a:spcBef>
                <a:spcPct val="0"/>
              </a:spcBef>
              <a:spcAft>
                <a:spcPct val="0"/>
              </a:spcAft>
            </a:pPr>
            <a:r>
              <a:rPr lang="en-GB" dirty="0">
                <a:latin typeface="Times New Roman" pitchFamily="18" charset="0"/>
                <a:cs typeface="Times New Roman" pitchFamily="18" charset="0"/>
              </a:rPr>
              <a:t>			tête    queue</a:t>
            </a:r>
          </a:p>
          <a:p>
            <a:pPr lvl="0" algn="just" fontAlgn="base">
              <a:spcBef>
                <a:spcPct val="0"/>
              </a:spcBef>
              <a:spcAft>
                <a:spcPct val="0"/>
              </a:spcAft>
            </a:pPr>
            <a:r>
              <a:rPr lang="en-GB" dirty="0">
                <a:latin typeface="Times New Roman" pitchFamily="18" charset="0"/>
                <a:cs typeface="Times New Roman" pitchFamily="18" charset="0"/>
              </a:rPr>
              <a:t>Après insertion de E, F, G :	1	6</a:t>
            </a:r>
          </a:p>
          <a:p>
            <a:pPr lvl="0" algn="just" fontAlgn="base">
              <a:spcBef>
                <a:spcPct val="0"/>
              </a:spcBef>
              <a:spcAft>
                <a:spcPct val="0"/>
              </a:spcAft>
            </a:pPr>
            <a:r>
              <a:rPr lang="en-GB" dirty="0">
                <a:latin typeface="Times New Roman" pitchFamily="18" charset="0"/>
                <a:cs typeface="Times New Roman" pitchFamily="18" charset="0"/>
              </a:rPr>
              <a:t>			</a:t>
            </a:r>
          </a:p>
          <a:p>
            <a:pPr lvl="0" algn="just" fontAlgn="base">
              <a:spcBef>
                <a:spcPct val="0"/>
              </a:spcBef>
              <a:spcAft>
                <a:spcPct val="0"/>
              </a:spcAft>
            </a:pPr>
            <a:endParaRPr lang="en-GB" dirty="0">
              <a:latin typeface="Times New Roman" pitchFamily="18" charset="0"/>
              <a:cs typeface="Times New Roman" pitchFamily="18" charset="0"/>
            </a:endParaRPr>
          </a:p>
          <a:p>
            <a:pPr lvl="0" algn="just" fontAlgn="base">
              <a:spcBef>
                <a:spcPct val="0"/>
              </a:spcBef>
              <a:spcAft>
                <a:spcPct val="0"/>
              </a:spcAft>
            </a:pPr>
            <a:r>
              <a:rPr lang="en-GB" dirty="0">
                <a:latin typeface="Times New Roman" pitchFamily="18" charset="0"/>
                <a:cs typeface="Times New Roman" pitchFamily="18" charset="0"/>
              </a:rPr>
              <a:t>			queue tête</a:t>
            </a:r>
          </a:p>
          <a:p>
            <a:r>
              <a:rPr lang="fr-FR" dirty="0">
                <a:latin typeface="Times New Roman" pitchFamily="18" charset="0"/>
                <a:cs typeface="Times New Roman" pitchFamily="18" charset="0"/>
              </a:rPr>
              <a:t>Lorsque </a:t>
            </a:r>
            <a:r>
              <a:rPr lang="fr-FR" b="1" dirty="0">
                <a:latin typeface="Times New Roman" pitchFamily="18" charset="0"/>
                <a:cs typeface="Times New Roman" pitchFamily="18" charset="0"/>
              </a:rPr>
              <a:t>tête</a:t>
            </a:r>
            <a:r>
              <a:rPr lang="fr-FR" dirty="0">
                <a:latin typeface="Times New Roman" pitchFamily="18" charset="0"/>
                <a:cs typeface="Times New Roman" pitchFamily="18" charset="0"/>
              </a:rPr>
              <a:t> devient égal à </a:t>
            </a:r>
            <a:r>
              <a:rPr lang="fr-FR" b="1" dirty="0">
                <a:latin typeface="Times New Roman" pitchFamily="18" charset="0"/>
                <a:cs typeface="Times New Roman" pitchFamily="18" charset="0"/>
              </a:rPr>
              <a:t>(queue+1) </a:t>
            </a:r>
            <a:r>
              <a:rPr lang="fr-FR" b="1" dirty="0" err="1">
                <a:latin typeface="Times New Roman" pitchFamily="18" charset="0"/>
                <a:cs typeface="Times New Roman" pitchFamily="18" charset="0"/>
              </a:rPr>
              <a:t>mod</a:t>
            </a:r>
            <a:r>
              <a:rPr lang="fr-FR" b="1" dirty="0">
                <a:latin typeface="Times New Roman" pitchFamily="18" charset="0"/>
                <a:cs typeface="Times New Roman" pitchFamily="18" charset="0"/>
              </a:rPr>
              <a:t> n</a:t>
            </a:r>
            <a:r>
              <a:rPr lang="fr-FR" dirty="0">
                <a:latin typeface="Times New Roman" pitchFamily="18" charset="0"/>
                <a:cs typeface="Times New Roman" pitchFamily="18" charset="0"/>
              </a:rPr>
              <a:t>, la file est soit vide, soit pleine. On est donc amené à distinguer les 2 possibilités en utilisant 2 indicateurs booléens </a:t>
            </a:r>
            <a:r>
              <a:rPr lang="fr-FR" b="1" dirty="0" err="1">
                <a:latin typeface="Times New Roman" pitchFamily="18" charset="0"/>
                <a:cs typeface="Times New Roman" pitchFamily="18" charset="0"/>
              </a:rPr>
              <a:t>filevide</a:t>
            </a:r>
            <a:r>
              <a:rPr lang="fr-FR" dirty="0">
                <a:latin typeface="Times New Roman" pitchFamily="18" charset="0"/>
                <a:cs typeface="Times New Roman" pitchFamily="18" charset="0"/>
              </a:rPr>
              <a:t> et </a:t>
            </a:r>
            <a:r>
              <a:rPr lang="fr-FR" b="1" dirty="0" err="1">
                <a:latin typeface="Times New Roman" pitchFamily="18" charset="0"/>
                <a:cs typeface="Times New Roman" pitchFamily="18" charset="0"/>
              </a:rPr>
              <a:t>filepleine</a:t>
            </a:r>
            <a:r>
              <a:rPr lang="fr-FR" dirty="0">
                <a:latin typeface="Times New Roman" pitchFamily="18" charset="0"/>
                <a:cs typeface="Times New Roman" pitchFamily="18" charset="0"/>
              </a:rPr>
              <a:t>. Les primitives deviennent  alors :</a:t>
            </a:r>
          </a:p>
          <a:p>
            <a:r>
              <a:rPr lang="fr-FR" b="1" dirty="0" smtClean="0">
                <a:latin typeface="Times New Roman" pitchFamily="18" charset="0"/>
                <a:cs typeface="Times New Roman" pitchFamily="18" charset="0"/>
              </a:rPr>
              <a:t>vide </a:t>
            </a:r>
            <a:r>
              <a:rPr lang="fr-FR" dirty="0" err="1" smtClean="0">
                <a:latin typeface="Times New Roman" pitchFamily="18" charset="0"/>
                <a:cs typeface="Times New Roman" pitchFamily="18" charset="0"/>
              </a:rPr>
              <a:t>initfile</a:t>
            </a:r>
            <a:r>
              <a:rPr lang="fr-FR" b="1" dirty="0" smtClean="0">
                <a:latin typeface="Times New Roman" pitchFamily="18" charset="0"/>
                <a:cs typeface="Times New Roman" pitchFamily="18" charset="0"/>
              </a:rPr>
              <a:t>(vide) </a:t>
            </a:r>
            <a:endParaRPr lang="fr-FR" b="1" dirty="0">
              <a:latin typeface="Times New Roman" pitchFamily="18" charset="0"/>
              <a:cs typeface="Times New Roman" pitchFamily="18" charset="0"/>
            </a:endParaRPr>
          </a:p>
          <a:p>
            <a:r>
              <a:rPr lang="fr-FR" b="1" dirty="0" err="1" smtClean="0">
                <a:latin typeface="Times New Roman" pitchFamily="18" charset="0"/>
                <a:cs typeface="Times New Roman" pitchFamily="18" charset="0"/>
              </a:rPr>
              <a:t>debfonc</a:t>
            </a:r>
            <a:r>
              <a:rPr lang="fr-FR" b="1" dirty="0" smtClean="0">
                <a:latin typeface="Times New Roman" pitchFamily="18" charset="0"/>
                <a:cs typeface="Times New Roman" pitchFamily="18" charset="0"/>
              </a:rPr>
              <a:t> </a:t>
            </a:r>
            <a:r>
              <a:rPr lang="fr-FR" dirty="0" smtClean="0">
                <a:latin typeface="Times New Roman" pitchFamily="18" charset="0"/>
                <a:cs typeface="Times New Roman" pitchFamily="18" charset="0"/>
              </a:rPr>
              <a:t>tête:=1</a:t>
            </a:r>
            <a:r>
              <a:rPr lang="fr-FR" b="1" dirty="0">
                <a:latin typeface="Times New Roman" pitchFamily="18" charset="0"/>
                <a:cs typeface="Times New Roman" pitchFamily="18" charset="0"/>
              </a:rPr>
              <a:t>; </a:t>
            </a:r>
            <a:r>
              <a:rPr lang="fr-FR" dirty="0" smtClean="0">
                <a:latin typeface="Times New Roman" pitchFamily="18" charset="0"/>
                <a:cs typeface="Times New Roman" pitchFamily="18" charset="0"/>
              </a:rPr>
              <a:t>queue:=0</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err="1" smtClean="0">
                <a:latin typeface="Times New Roman" pitchFamily="18" charset="0"/>
                <a:cs typeface="Times New Roman" pitchFamily="18" charset="0"/>
              </a:rPr>
              <a:t>filepleine</a:t>
            </a:r>
            <a:r>
              <a:rPr lang="fr-FR" dirty="0" smtClean="0">
                <a:latin typeface="Times New Roman" pitchFamily="18" charset="0"/>
                <a:cs typeface="Times New Roman" pitchFamily="18" charset="0"/>
              </a:rPr>
              <a:t>:=</a:t>
            </a:r>
            <a:r>
              <a:rPr lang="fr-FR" b="1" dirty="0" smtClean="0">
                <a:latin typeface="Times New Roman" pitchFamily="18" charset="0"/>
                <a:cs typeface="Times New Roman" pitchFamily="18" charset="0"/>
              </a:rPr>
              <a:t>faux</a:t>
            </a:r>
            <a:r>
              <a:rPr lang="fr-FR" b="1" dirty="0">
                <a:latin typeface="Times New Roman" pitchFamily="18" charset="0"/>
                <a:cs typeface="Times New Roman" pitchFamily="18" charset="0"/>
              </a:rPr>
              <a:t>; </a:t>
            </a:r>
            <a:r>
              <a:rPr lang="fr-FR" dirty="0" err="1" smtClean="0">
                <a:latin typeface="Times New Roman" pitchFamily="18" charset="0"/>
                <a:cs typeface="Times New Roman" pitchFamily="18" charset="0"/>
              </a:rPr>
              <a:t>filevide</a:t>
            </a:r>
            <a:r>
              <a:rPr lang="fr-FR" dirty="0" smtClean="0">
                <a:latin typeface="Times New Roman" pitchFamily="18" charset="0"/>
                <a:cs typeface="Times New Roman" pitchFamily="18" charset="0"/>
              </a:rPr>
              <a:t>:=</a:t>
            </a:r>
            <a:r>
              <a:rPr lang="fr-FR" b="1" dirty="0" smtClean="0">
                <a:latin typeface="Times New Roman" pitchFamily="18" charset="0"/>
                <a:cs typeface="Times New Roman" pitchFamily="18" charset="0"/>
              </a:rPr>
              <a:t>vrai</a:t>
            </a:r>
            <a:r>
              <a:rPr lang="fr-FR" b="1" dirty="0">
                <a:latin typeface="Times New Roman" pitchFamily="18" charset="0"/>
                <a:cs typeface="Times New Roman" pitchFamily="18" charset="0"/>
              </a:rPr>
              <a:t>;  </a:t>
            </a:r>
          </a:p>
          <a:p>
            <a:r>
              <a:rPr lang="fr-FR" b="1" dirty="0" err="1" smtClean="0">
                <a:latin typeface="Times New Roman" pitchFamily="18" charset="0"/>
                <a:cs typeface="Times New Roman" pitchFamily="18" charset="0"/>
              </a:rPr>
              <a:t>finfonc</a:t>
            </a:r>
            <a:r>
              <a:rPr lang="fr-FR" b="1" dirty="0">
                <a:latin typeface="Times New Roman" pitchFamily="18" charset="0"/>
                <a:cs typeface="Times New Roman" pitchFamily="18" charset="0"/>
              </a:rPr>
              <a:t>;</a:t>
            </a:r>
          </a:p>
          <a:p>
            <a:r>
              <a:rPr lang="fr-FR" b="1" dirty="0" smtClean="0">
                <a:latin typeface="Times New Roman" pitchFamily="18" charset="0"/>
                <a:cs typeface="Times New Roman" pitchFamily="18" charset="0"/>
              </a:rPr>
              <a:t>vide </a:t>
            </a:r>
            <a:r>
              <a:rPr lang="fr-FR" dirty="0" err="1">
                <a:latin typeface="Times New Roman" pitchFamily="18" charset="0"/>
                <a:cs typeface="Times New Roman" pitchFamily="18" charset="0"/>
              </a:rPr>
              <a:t>ajoutelem</a:t>
            </a:r>
            <a:r>
              <a:rPr lang="fr-FR" b="1" dirty="0">
                <a:latin typeface="Times New Roman" pitchFamily="18" charset="0"/>
                <a:cs typeface="Times New Roman" pitchFamily="18" charset="0"/>
              </a:rPr>
              <a:t>(d t </a:t>
            </a:r>
            <a:r>
              <a:rPr lang="fr-FR" dirty="0">
                <a:latin typeface="Times New Roman" pitchFamily="18" charset="0"/>
                <a:cs typeface="Times New Roman" pitchFamily="18" charset="0"/>
              </a:rPr>
              <a:t>val</a:t>
            </a:r>
            <a:r>
              <a:rPr lang="fr-FR" b="1" dirty="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debfonc</a:t>
            </a:r>
            <a:r>
              <a:rPr lang="fr-FR" b="1" dirty="0" smtClean="0">
                <a:latin typeface="Times New Roman" pitchFamily="18" charset="0"/>
                <a:cs typeface="Times New Roman" pitchFamily="18" charset="0"/>
              </a:rPr>
              <a:t> </a:t>
            </a:r>
            <a:r>
              <a:rPr lang="fr-FR" b="1" dirty="0">
                <a:latin typeface="Times New Roman" pitchFamily="18" charset="0"/>
                <a:cs typeface="Times New Roman" pitchFamily="18" charset="0"/>
              </a:rPr>
              <a:t>si non </a:t>
            </a:r>
            <a:r>
              <a:rPr lang="fr-FR" dirty="0" err="1">
                <a:latin typeface="Times New Roman" pitchFamily="18" charset="0"/>
                <a:cs typeface="Times New Roman" pitchFamily="18" charset="0"/>
              </a:rPr>
              <a:t>filepleine</a:t>
            </a:r>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alors</a:t>
            </a:r>
          </a:p>
          <a:p>
            <a:r>
              <a:rPr lang="fr-FR" b="1" dirty="0">
                <a:latin typeface="Times New Roman" pitchFamily="18" charset="0"/>
                <a:cs typeface="Times New Roman" pitchFamily="18" charset="0"/>
              </a:rPr>
              <a:t>       si </a:t>
            </a:r>
            <a:r>
              <a:rPr lang="fr-FR" dirty="0">
                <a:latin typeface="Times New Roman" pitchFamily="18" charset="0"/>
                <a:cs typeface="Times New Roman" pitchFamily="18" charset="0"/>
              </a:rPr>
              <a:t>queue&lt;(n)</a:t>
            </a:r>
            <a:r>
              <a:rPr lang="fr-FR" b="1" dirty="0">
                <a:latin typeface="Times New Roman" pitchFamily="18" charset="0"/>
                <a:cs typeface="Times New Roman" pitchFamily="18" charset="0"/>
              </a:rPr>
              <a:t> alors </a:t>
            </a:r>
            <a:r>
              <a:rPr lang="fr-FR" dirty="0" smtClean="0">
                <a:latin typeface="Times New Roman" pitchFamily="18" charset="0"/>
                <a:cs typeface="Times New Roman" pitchFamily="18" charset="0"/>
              </a:rPr>
              <a:t>queue:=queue+1</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sinon </a:t>
            </a:r>
            <a:r>
              <a:rPr lang="fr-FR" dirty="0" smtClean="0">
                <a:latin typeface="Times New Roman" pitchFamily="18" charset="0"/>
                <a:cs typeface="Times New Roman" pitchFamily="18" charset="0"/>
              </a:rPr>
              <a:t>queue:=1</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smtClean="0">
                <a:latin typeface="Times New Roman" pitchFamily="18" charset="0"/>
                <a:cs typeface="Times New Roman" pitchFamily="18" charset="0"/>
              </a:rPr>
              <a:t>FILE[queue]:=val</a:t>
            </a:r>
            <a:r>
              <a:rPr lang="fr-FR" b="1" dirty="0">
                <a:latin typeface="Times New Roman" pitchFamily="18" charset="0"/>
                <a:cs typeface="Times New Roman" pitchFamily="18" charset="0"/>
              </a:rPr>
              <a:t>; </a:t>
            </a:r>
            <a:r>
              <a:rPr lang="fr-FR" dirty="0" err="1" smtClean="0">
                <a:latin typeface="Times New Roman" pitchFamily="18" charset="0"/>
                <a:cs typeface="Times New Roman" pitchFamily="18" charset="0"/>
              </a:rPr>
              <a:t>filevide</a:t>
            </a:r>
            <a:r>
              <a:rPr lang="fr-FR" dirty="0" smtClean="0">
                <a:latin typeface="Times New Roman" pitchFamily="18" charset="0"/>
                <a:cs typeface="Times New Roman" pitchFamily="18" charset="0"/>
              </a:rPr>
              <a:t>:=</a:t>
            </a:r>
            <a:r>
              <a:rPr lang="fr-FR" b="1" dirty="0" smtClean="0">
                <a:latin typeface="Times New Roman" pitchFamily="18" charset="0"/>
                <a:cs typeface="Times New Roman" pitchFamily="18" charset="0"/>
              </a:rPr>
              <a:t>faux</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dirty="0" err="1" smtClean="0">
                <a:latin typeface="Times New Roman" pitchFamily="18" charset="0"/>
                <a:cs typeface="Times New Roman" pitchFamily="18" charset="0"/>
              </a:rPr>
              <a:t>filepleine</a:t>
            </a:r>
            <a:r>
              <a:rPr lang="fr-FR" b="1" dirty="0" smtClean="0">
                <a:latin typeface="Times New Roman" pitchFamily="18" charset="0"/>
                <a:cs typeface="Times New Roman" pitchFamily="18" charset="0"/>
              </a:rPr>
              <a:t>:=</a:t>
            </a:r>
            <a:r>
              <a:rPr lang="fr-FR" b="1" dirty="0" smtClean="0">
                <a:latin typeface="Times New Roman" pitchFamily="18" charset="0"/>
                <a:cs typeface="Times New Roman" pitchFamily="18" charset="0"/>
              </a:rPr>
              <a:t>(</a:t>
            </a:r>
            <a:r>
              <a:rPr lang="fr-FR" dirty="0" smtClean="0">
                <a:latin typeface="Times New Roman" pitchFamily="18" charset="0"/>
                <a:cs typeface="Times New Roman" pitchFamily="18" charset="0"/>
              </a:rPr>
              <a:t>(</a:t>
            </a:r>
            <a:r>
              <a:rPr lang="fr-FR" dirty="0">
                <a:latin typeface="Times New Roman" pitchFamily="18" charset="0"/>
                <a:cs typeface="Times New Roman" pitchFamily="18" charset="0"/>
              </a:rPr>
              <a:t>queue&lt;n) et (tête=queue+1)</a:t>
            </a:r>
            <a:r>
              <a:rPr lang="fr-FR" b="1" dirty="0">
                <a:latin typeface="Times New Roman" pitchFamily="18" charset="0"/>
                <a:cs typeface="Times New Roman" pitchFamily="18" charset="0"/>
              </a:rPr>
              <a:t>) || </a:t>
            </a:r>
          </a:p>
          <a:p>
            <a:r>
              <a:rPr lang="fr-FR" b="1" dirty="0">
                <a:latin typeface="Times New Roman" pitchFamily="18" charset="0"/>
                <a:cs typeface="Times New Roman" pitchFamily="18" charset="0"/>
              </a:rPr>
              <a:t>                        (</a:t>
            </a:r>
            <a:r>
              <a:rPr lang="fr-FR" dirty="0">
                <a:latin typeface="Times New Roman" pitchFamily="18" charset="0"/>
                <a:cs typeface="Times New Roman" pitchFamily="18" charset="0"/>
              </a:rPr>
              <a:t>(queue=n) et (tête=1)</a:t>
            </a:r>
            <a:r>
              <a:rPr lang="fr-FR" b="1" dirty="0">
                <a:latin typeface="Times New Roman" pitchFamily="18" charset="0"/>
                <a:cs typeface="Times New Roman" pitchFamily="18" charset="0"/>
              </a:rPr>
              <a:t>);</a:t>
            </a:r>
          </a:p>
          <a:p>
            <a:r>
              <a:rPr lang="fr-FR" b="1" dirty="0">
                <a:latin typeface="Times New Roman" pitchFamily="18" charset="0"/>
                <a:cs typeface="Times New Roman" pitchFamily="18" charset="0"/>
              </a:rPr>
              <a:t>       </a:t>
            </a:r>
            <a:r>
              <a:rPr lang="fr-FR" b="1" dirty="0" err="1">
                <a:latin typeface="Times New Roman" pitchFamily="18" charset="0"/>
                <a:cs typeface="Times New Roman" pitchFamily="18" charset="0"/>
              </a:rPr>
              <a:t>finsi</a:t>
            </a:r>
            <a:r>
              <a:rPr lang="fr-FR" b="1" dirty="0">
                <a:latin typeface="Times New Roman" pitchFamily="18" charset="0"/>
                <a:cs typeface="Times New Roman" pitchFamily="18" charset="0"/>
              </a:rPr>
              <a:t>;</a:t>
            </a:r>
          </a:p>
          <a:p>
            <a:r>
              <a:rPr lang="fr-FR" b="1" dirty="0" err="1">
                <a:latin typeface="Times New Roman" pitchFamily="18" charset="0"/>
                <a:cs typeface="Times New Roman" pitchFamily="18" charset="0"/>
              </a:rPr>
              <a:t>finproc</a:t>
            </a:r>
            <a:r>
              <a:rPr lang="fr-FR" b="1" dirty="0">
                <a:latin typeface="Times New Roman" pitchFamily="18" charset="0"/>
                <a:cs typeface="Times New Roman" pitchFamily="18" charset="0"/>
              </a:rPr>
              <a:t>;</a:t>
            </a:r>
          </a:p>
        </p:txBody>
      </p:sp>
      <p:graphicFrame>
        <p:nvGraphicFramePr>
          <p:cNvPr id="3" name="Tableau 2"/>
          <p:cNvGraphicFramePr>
            <a:graphicFrameLocks noGrp="1"/>
          </p:cNvGraphicFramePr>
          <p:nvPr>
            <p:extLst>
              <p:ext uri="{D42A27DB-BD31-4B8C-83A1-F6EECF244321}">
                <p14:modId xmlns:p14="http://schemas.microsoft.com/office/powerpoint/2010/main" val="2202545010"/>
              </p:ext>
            </p:extLst>
          </p:nvPr>
        </p:nvGraphicFramePr>
        <p:xfrm>
          <a:off x="3070459" y="700416"/>
          <a:ext cx="1232034" cy="370840"/>
        </p:xfrm>
        <a:graphic>
          <a:graphicData uri="http://schemas.openxmlformats.org/drawingml/2006/table">
            <a:tbl>
              <a:tblPr firstRow="1" bandRow="1">
                <a:tableStyleId>{2D5ABB26-0587-4C30-8999-92F81FD0307C}</a:tableStyleId>
              </a:tblPr>
              <a:tblGrid>
                <a:gridCol w="1232034">
                  <a:extLst>
                    <a:ext uri="{9D8B030D-6E8A-4147-A177-3AD203B41FA5}">
                      <a16:colId xmlns:a16="http://schemas.microsoft.com/office/drawing/2014/main" val="1662852071"/>
                    </a:ext>
                  </a:extLst>
                </a:gridCol>
              </a:tblGrid>
              <a:tr h="370840">
                <a:tc>
                  <a:txBody>
                    <a:bodyPr/>
                    <a:lstStyle/>
                    <a:p>
                      <a:r>
                        <a:rPr lang="fr-FR" dirty="0" smtClean="0"/>
                        <a:t>A B C D _ _</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6597201"/>
                  </a:ext>
                </a:extLst>
              </a:tr>
            </a:tbl>
          </a:graphicData>
        </a:graphic>
      </p:graphicFrame>
      <p:graphicFrame>
        <p:nvGraphicFramePr>
          <p:cNvPr id="4" name="Tableau 3"/>
          <p:cNvGraphicFramePr>
            <a:graphicFrameLocks noGrp="1"/>
          </p:cNvGraphicFramePr>
          <p:nvPr>
            <p:extLst>
              <p:ext uri="{D42A27DB-BD31-4B8C-83A1-F6EECF244321}">
                <p14:modId xmlns:p14="http://schemas.microsoft.com/office/powerpoint/2010/main" val="850311823"/>
              </p:ext>
            </p:extLst>
          </p:nvPr>
        </p:nvGraphicFramePr>
        <p:xfrm>
          <a:off x="3039978" y="1786471"/>
          <a:ext cx="1232034" cy="370840"/>
        </p:xfrm>
        <a:graphic>
          <a:graphicData uri="http://schemas.openxmlformats.org/drawingml/2006/table">
            <a:tbl>
              <a:tblPr firstRow="1" bandRow="1">
                <a:tableStyleId>{2D5ABB26-0587-4C30-8999-92F81FD0307C}</a:tableStyleId>
              </a:tblPr>
              <a:tblGrid>
                <a:gridCol w="1232034">
                  <a:extLst>
                    <a:ext uri="{9D8B030D-6E8A-4147-A177-3AD203B41FA5}">
                      <a16:colId xmlns:a16="http://schemas.microsoft.com/office/drawing/2014/main" val="1662852071"/>
                    </a:ext>
                  </a:extLst>
                </a:gridCol>
              </a:tblGrid>
              <a:tr h="370840">
                <a:tc>
                  <a:txBody>
                    <a:bodyPr/>
                    <a:lstStyle/>
                    <a:p>
                      <a:r>
                        <a:rPr lang="fr-FR" baseline="0" dirty="0" smtClean="0"/>
                        <a:t>G _</a:t>
                      </a:r>
                      <a:r>
                        <a:rPr lang="fr-FR" dirty="0" smtClean="0"/>
                        <a:t> C</a:t>
                      </a:r>
                      <a:r>
                        <a:rPr lang="fr-FR" baseline="0" dirty="0" smtClean="0"/>
                        <a:t> D E F</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6597201"/>
                  </a:ext>
                </a:extLst>
              </a:tr>
            </a:tbl>
          </a:graphicData>
        </a:graphic>
      </p:graphicFrame>
      <p:cxnSp>
        <p:nvCxnSpPr>
          <p:cNvPr id="6" name="Connecteur droit avec flèche 5"/>
          <p:cNvCxnSpPr/>
          <p:nvPr/>
        </p:nvCxnSpPr>
        <p:spPr>
          <a:xfrm flipH="1" flipV="1">
            <a:off x="3234088" y="1090506"/>
            <a:ext cx="67377" cy="218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Connecteur droit avec flèche 7"/>
          <p:cNvCxnSpPr/>
          <p:nvPr/>
        </p:nvCxnSpPr>
        <p:spPr>
          <a:xfrm flipH="1" flipV="1">
            <a:off x="3734601" y="1061631"/>
            <a:ext cx="317633" cy="2281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Connecteur droit avec flèche 9"/>
          <p:cNvCxnSpPr/>
          <p:nvPr/>
        </p:nvCxnSpPr>
        <p:spPr>
          <a:xfrm flipH="1" flipV="1">
            <a:off x="3655995" y="2166939"/>
            <a:ext cx="165234" cy="2201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Connecteur droit avec flèche 12"/>
          <p:cNvCxnSpPr/>
          <p:nvPr/>
        </p:nvCxnSpPr>
        <p:spPr>
          <a:xfrm flipH="1" flipV="1">
            <a:off x="3234088" y="2224686"/>
            <a:ext cx="192506" cy="2201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3512693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160" y="751868"/>
            <a:ext cx="11775440" cy="5632311"/>
          </a:xfrm>
          <a:prstGeom prst="rect">
            <a:avLst/>
          </a:prstGeom>
        </p:spPr>
        <p:txBody>
          <a:bodyPr wrap="square">
            <a:spAutoFit/>
          </a:bodyPr>
          <a:lstStyle/>
          <a:p>
            <a:pPr lvl="0" algn="just" fontAlgn="base">
              <a:spcBef>
                <a:spcPct val="0"/>
              </a:spcBef>
              <a:spcAft>
                <a:spcPct val="0"/>
              </a:spcAft>
            </a:pPr>
            <a:r>
              <a:rPr lang="fr-FR" b="1" dirty="0" smtClean="0">
                <a:latin typeface="Times New Roman" pitchFamily="18" charset="0"/>
                <a:ea typeface="Times New Roman" pitchFamily="18" charset="0"/>
                <a:cs typeface="Times New Roman" pitchFamily="18" charset="0"/>
              </a:rPr>
              <a:t>vide </a:t>
            </a:r>
            <a:r>
              <a:rPr lang="fr-FR" dirty="0" err="1">
                <a:latin typeface="Times New Roman" pitchFamily="18" charset="0"/>
                <a:ea typeface="Times New Roman" pitchFamily="18" charset="0"/>
                <a:cs typeface="Times New Roman" pitchFamily="18" charset="0"/>
              </a:rPr>
              <a:t>suppelem</a:t>
            </a:r>
            <a:r>
              <a:rPr lang="fr-FR" b="1" dirty="0">
                <a:latin typeface="Times New Roman" pitchFamily="18" charset="0"/>
                <a:ea typeface="Times New Roman" pitchFamily="18" charset="0"/>
                <a:cs typeface="Times New Roman" pitchFamily="18" charset="0"/>
              </a:rPr>
              <a:t>(r t </a:t>
            </a:r>
            <a:r>
              <a:rPr lang="fr-FR" dirty="0">
                <a:latin typeface="Times New Roman" pitchFamily="18" charset="0"/>
                <a:ea typeface="Times New Roman" pitchFamily="18" charset="0"/>
                <a:cs typeface="Times New Roman" pitchFamily="18" charset="0"/>
              </a:rPr>
              <a:t>val</a:t>
            </a:r>
            <a:r>
              <a:rPr lang="fr-FR" b="1" dirty="0">
                <a:latin typeface="Times New Roman" pitchFamily="18" charset="0"/>
                <a:ea typeface="Times New Roman" pitchFamily="18" charset="0"/>
                <a:cs typeface="Times New Roman" pitchFamily="18" charset="0"/>
              </a:rPr>
              <a:t>)</a:t>
            </a:r>
            <a:endParaRPr lang="fr-FR" b="1" dirty="0">
              <a:latin typeface="Times New Roman" pitchFamily="18" charset="0"/>
              <a:cs typeface="Times New Roman" pitchFamily="18" charset="0"/>
            </a:endParaRPr>
          </a:p>
          <a:p>
            <a:pPr lvl="0" algn="just" eaLnBrk="0" fontAlgn="base" hangingPunct="0">
              <a:spcBef>
                <a:spcPct val="0"/>
              </a:spcBef>
              <a:spcAft>
                <a:spcPct val="0"/>
              </a:spcAft>
            </a:pPr>
            <a:r>
              <a:rPr lang="fr-FR" b="1" dirty="0" err="1" smtClean="0">
                <a:latin typeface="Times New Roman" pitchFamily="18" charset="0"/>
                <a:ea typeface="Times New Roman" pitchFamily="18" charset="0"/>
                <a:cs typeface="Times New Roman" pitchFamily="18" charset="0"/>
                <a:sym typeface="Wingdings" pitchFamily="2" charset="2"/>
              </a:rPr>
              <a:t>debfonc</a:t>
            </a:r>
            <a:r>
              <a:rPr lang="fr-FR" b="1" dirty="0" smtClean="0">
                <a:latin typeface="Times New Roman" pitchFamily="18" charset="0"/>
                <a:ea typeface="Times New Roman" pitchFamily="18" charset="0"/>
                <a:cs typeface="Times New Roman" pitchFamily="18" charset="0"/>
                <a:sym typeface="Wingdings" pitchFamily="2" charset="2"/>
              </a:rPr>
              <a:t>  </a:t>
            </a:r>
            <a:r>
              <a:rPr lang="fr-FR" b="1" dirty="0">
                <a:latin typeface="Times New Roman" pitchFamily="18" charset="0"/>
                <a:ea typeface="Times New Roman" pitchFamily="18" charset="0"/>
                <a:cs typeface="Times New Roman" pitchFamily="18" charset="0"/>
                <a:sym typeface="Wingdings" pitchFamily="2" charset="2"/>
              </a:rPr>
              <a:t>si non </a:t>
            </a:r>
            <a:r>
              <a:rPr lang="fr-FR" dirty="0" err="1">
                <a:latin typeface="Times New Roman" pitchFamily="18" charset="0"/>
                <a:ea typeface="Times New Roman" pitchFamily="18" charset="0"/>
                <a:cs typeface="Times New Roman" pitchFamily="18" charset="0"/>
                <a:sym typeface="Wingdings" pitchFamily="2" charset="2"/>
              </a:rPr>
              <a:t>filevide</a:t>
            </a:r>
            <a:r>
              <a:rPr lang="fr-FR" b="1" dirty="0">
                <a:latin typeface="Times New Roman" pitchFamily="18" charset="0"/>
                <a:ea typeface="Times New Roman" pitchFamily="18" charset="0"/>
                <a:cs typeface="Times New Roman" pitchFamily="18" charset="0"/>
                <a:sym typeface="Wingdings" pitchFamily="2" charset="2"/>
              </a:rPr>
              <a:t> alors</a:t>
            </a: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dirty="0" smtClean="0">
                <a:latin typeface="Times New Roman" pitchFamily="18" charset="0"/>
                <a:ea typeface="Times New Roman" pitchFamily="18" charset="0"/>
                <a:cs typeface="Times New Roman" pitchFamily="18" charset="0"/>
                <a:sym typeface="Wingdings" pitchFamily="2" charset="2"/>
              </a:rPr>
              <a:t>val:=FILE[tête</a:t>
            </a:r>
            <a:r>
              <a:rPr lang="fr-FR" dirty="0">
                <a:latin typeface="Times New Roman" pitchFamily="18" charset="0"/>
                <a:ea typeface="Times New Roman" pitchFamily="18" charset="0"/>
                <a:cs typeface="Times New Roman" pitchFamily="18" charset="0"/>
                <a:sym typeface="Wingdings" pitchFamily="2" charset="2"/>
              </a:rPr>
              <a:t>]</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si </a:t>
            </a:r>
            <a:r>
              <a:rPr lang="fr-FR" dirty="0">
                <a:latin typeface="Times New Roman" pitchFamily="18" charset="0"/>
                <a:ea typeface="Times New Roman" pitchFamily="18" charset="0"/>
                <a:cs typeface="Times New Roman" pitchFamily="18" charset="0"/>
                <a:sym typeface="Wingdings" pitchFamily="2" charset="2"/>
              </a:rPr>
              <a:t>tête&lt;n</a:t>
            </a:r>
            <a:r>
              <a:rPr lang="fr-FR" b="1" dirty="0">
                <a:latin typeface="Times New Roman" pitchFamily="18" charset="0"/>
                <a:ea typeface="Times New Roman" pitchFamily="18" charset="0"/>
                <a:cs typeface="Times New Roman" pitchFamily="18" charset="0"/>
                <a:sym typeface="Wingdings" pitchFamily="2" charset="2"/>
              </a:rPr>
              <a:t> alors </a:t>
            </a:r>
            <a:r>
              <a:rPr lang="fr-FR" dirty="0" smtClean="0">
                <a:latin typeface="Times New Roman" pitchFamily="18" charset="0"/>
                <a:ea typeface="Times New Roman" pitchFamily="18" charset="0"/>
                <a:cs typeface="Times New Roman" pitchFamily="18" charset="0"/>
                <a:sym typeface="Wingdings" pitchFamily="2" charset="2"/>
              </a:rPr>
              <a:t>tête:=tete+1</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sinon </a:t>
            </a:r>
            <a:r>
              <a:rPr lang="fr-FR" dirty="0" smtClean="0">
                <a:latin typeface="Times New Roman" pitchFamily="18" charset="0"/>
                <a:ea typeface="Times New Roman" pitchFamily="18" charset="0"/>
                <a:cs typeface="Times New Roman" pitchFamily="18" charset="0"/>
                <a:sym typeface="Wingdings" pitchFamily="2" charset="2"/>
              </a:rPr>
              <a:t>tête:=1</a:t>
            </a:r>
            <a:r>
              <a:rPr lang="fr-FR" b="1" dirty="0">
                <a:latin typeface="Times New Roman" pitchFamily="18" charset="0"/>
                <a:ea typeface="Times New Roman" pitchFamily="18" charset="0"/>
                <a:cs typeface="Times New Roman" pitchFamily="18" charset="0"/>
                <a:sym typeface="Wingdings" pitchFamily="2" charset="2"/>
              </a:rPr>
              <a:t>;</a:t>
            </a:r>
          </a:p>
          <a:p>
            <a:pPr lvl="0" algn="just" eaLnBrk="0" fontAlgn="base" hangingPunct="0">
              <a:spcBef>
                <a:spcPct val="0"/>
              </a:spcBef>
              <a:spcAft>
                <a:spcPct val="0"/>
              </a:spcAft>
            </a:pPr>
            <a:r>
              <a:rPr lang="fr-FR" b="1" dirty="0">
                <a:latin typeface="Times New Roman" pitchFamily="18" charset="0"/>
                <a:cs typeface="Times New Roman" pitchFamily="18" charset="0"/>
                <a:sym typeface="Wingdings" pitchFamily="2" charset="2"/>
              </a:rPr>
              <a:t>                    </a:t>
            </a:r>
            <a:r>
              <a:rPr lang="fr-FR" b="1" dirty="0" err="1">
                <a:latin typeface="Times New Roman" pitchFamily="18" charset="0"/>
                <a:cs typeface="Times New Roman" pitchFamily="18" charset="0"/>
                <a:sym typeface="Wingdings" pitchFamily="2" charset="2"/>
              </a:rPr>
              <a:t>finsi</a:t>
            </a:r>
            <a:r>
              <a:rPr lang="fr-FR" b="1" dirty="0">
                <a:latin typeface="Times New Roman" pitchFamily="18" charset="0"/>
                <a:cs typeface="Times New Roman" pitchFamily="18" charset="0"/>
                <a:sym typeface="Wingdings" pitchFamily="2" charset="2"/>
              </a:rPr>
              <a:t>;</a:t>
            </a: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dirty="0" err="1" smtClean="0">
                <a:latin typeface="Times New Roman" pitchFamily="18" charset="0"/>
                <a:ea typeface="Times New Roman" pitchFamily="18" charset="0"/>
                <a:cs typeface="Times New Roman" pitchFamily="18" charset="0"/>
                <a:sym typeface="Wingdings" pitchFamily="2" charset="2"/>
              </a:rPr>
              <a:t>filepleine</a:t>
            </a:r>
            <a:r>
              <a:rPr lang="fr-FR" dirty="0" smtClean="0">
                <a:latin typeface="Times New Roman" pitchFamily="18" charset="0"/>
                <a:ea typeface="Times New Roman" pitchFamily="18" charset="0"/>
                <a:cs typeface="Times New Roman" pitchFamily="18" charset="0"/>
                <a:sym typeface="Wingdings" pitchFamily="2" charset="2"/>
              </a:rPr>
              <a:t>:=</a:t>
            </a:r>
            <a:r>
              <a:rPr lang="fr-FR" b="1" dirty="0" smtClean="0">
                <a:latin typeface="Times New Roman" pitchFamily="18" charset="0"/>
                <a:ea typeface="Times New Roman" pitchFamily="18" charset="0"/>
                <a:cs typeface="Times New Roman" pitchFamily="18" charset="0"/>
                <a:sym typeface="Wingdings" pitchFamily="2" charset="2"/>
              </a:rPr>
              <a:t>faux</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dirty="0" err="1" smtClean="0">
                <a:latin typeface="Times New Roman" pitchFamily="18" charset="0"/>
                <a:ea typeface="Times New Roman" pitchFamily="18" charset="0"/>
                <a:cs typeface="Times New Roman" pitchFamily="18" charset="0"/>
                <a:sym typeface="Wingdings" pitchFamily="2" charset="2"/>
              </a:rPr>
              <a:t>filevide</a:t>
            </a:r>
            <a:r>
              <a:rPr lang="fr-FR" dirty="0" smtClean="0">
                <a:latin typeface="Times New Roman" pitchFamily="18" charset="0"/>
                <a:ea typeface="Times New Roman" pitchFamily="18" charset="0"/>
                <a:cs typeface="Times New Roman" pitchFamily="18" charset="0"/>
                <a:sym typeface="Wingdings" pitchFamily="2" charset="2"/>
              </a:rPr>
              <a:t>:=</a:t>
            </a:r>
            <a:r>
              <a:rPr lang="fr-FR" dirty="0" smtClean="0">
                <a:latin typeface="Times New Roman" pitchFamily="18" charset="0"/>
                <a:ea typeface="Times New Roman" pitchFamily="18" charset="0"/>
                <a:cs typeface="Times New Roman" pitchFamily="18" charset="0"/>
                <a:sym typeface="Wingdings" pitchFamily="2" charset="2"/>
              </a:rPr>
              <a:t>((</a:t>
            </a:r>
            <a:r>
              <a:rPr lang="fr-FR" dirty="0">
                <a:latin typeface="Times New Roman" pitchFamily="18" charset="0"/>
                <a:ea typeface="Times New Roman" pitchFamily="18" charset="0"/>
                <a:cs typeface="Times New Roman" pitchFamily="18" charset="0"/>
                <a:sym typeface="Wingdings" pitchFamily="2" charset="2"/>
              </a:rPr>
              <a:t>queue&lt;n) et (tête=queue+1)) ou</a:t>
            </a:r>
            <a:endParaRPr lang="fr-FR"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dirty="0">
                <a:latin typeface="Times New Roman" pitchFamily="18" charset="0"/>
                <a:ea typeface="Times New Roman" pitchFamily="18" charset="0"/>
                <a:cs typeface="Times New Roman" pitchFamily="18" charset="0"/>
                <a:sym typeface="Wingdings" pitchFamily="2" charset="2"/>
              </a:rPr>
              <a:t>                                    ((queue = n) et (tête=1))</a:t>
            </a:r>
            <a:r>
              <a:rPr lang="fr-FR" b="1" dirty="0">
                <a:latin typeface="Times New Roman" pitchFamily="18" charset="0"/>
                <a:ea typeface="Times New Roman" pitchFamily="18" charset="0"/>
                <a:cs typeface="Times New Roman" pitchFamily="18" charset="0"/>
                <a:sym typeface="Wingdings" pitchFamily="2" charset="2"/>
              </a:rPr>
              <a:t>;  </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a:latin typeface="Times New Roman" pitchFamily="18" charset="0"/>
                <a:ea typeface="Times New Roman" pitchFamily="18" charset="0"/>
                <a:cs typeface="Times New Roman" pitchFamily="18" charset="0"/>
                <a:sym typeface="Wingdings" pitchFamily="2" charset="2"/>
              </a:rPr>
              <a:t>                </a:t>
            </a:r>
            <a:r>
              <a:rPr lang="fr-FR" b="1" dirty="0" err="1">
                <a:latin typeface="Times New Roman" pitchFamily="18" charset="0"/>
                <a:ea typeface="Times New Roman" pitchFamily="18" charset="0"/>
                <a:cs typeface="Times New Roman" pitchFamily="18" charset="0"/>
                <a:sym typeface="Wingdings" pitchFamily="2" charset="2"/>
              </a:rPr>
              <a:t>finsi</a:t>
            </a:r>
            <a:r>
              <a:rPr lang="fr-FR" b="1" dirty="0">
                <a:latin typeface="Times New Roman" pitchFamily="18" charset="0"/>
                <a:ea typeface="Times New Roman" pitchFamily="18" charset="0"/>
                <a:cs typeface="Times New Roman" pitchFamily="18" charset="0"/>
                <a:sym typeface="Wingdings" pitchFamily="2" charset="2"/>
              </a:rPr>
              <a:t>;</a:t>
            </a:r>
            <a:endParaRPr lang="fr-FR"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b="1" dirty="0" err="1">
                <a:latin typeface="Times New Roman" pitchFamily="18" charset="0"/>
                <a:ea typeface="Times New Roman" pitchFamily="18" charset="0"/>
                <a:cs typeface="Times New Roman" pitchFamily="18" charset="0"/>
                <a:sym typeface="Wingdings" pitchFamily="2" charset="2"/>
              </a:rPr>
              <a:t>finproc</a:t>
            </a:r>
            <a:r>
              <a:rPr lang="fr-FR" b="1" dirty="0">
                <a:latin typeface="Times New Roman" pitchFamily="18" charset="0"/>
                <a:ea typeface="Times New Roman" pitchFamily="18" charset="0"/>
                <a:cs typeface="Times New Roman" pitchFamily="18" charset="0"/>
                <a:sym typeface="Wingdings" pitchFamily="2" charset="2"/>
              </a:rPr>
              <a:t>;</a:t>
            </a:r>
          </a:p>
          <a:p>
            <a:r>
              <a:rPr lang="fr-FR" b="1" dirty="0">
                <a:latin typeface="Times New Roman" pitchFamily="18" charset="0"/>
                <a:cs typeface="Times New Roman" pitchFamily="18" charset="0"/>
              </a:rPr>
              <a:t>3.2.2. Représentation chaînée</a:t>
            </a:r>
          </a:p>
          <a:p>
            <a:r>
              <a:rPr lang="fr-FR" dirty="0">
                <a:latin typeface="Times New Roman" pitchFamily="18" charset="0"/>
                <a:cs typeface="Times New Roman" pitchFamily="18" charset="0"/>
              </a:rPr>
              <a:t>C’est une représentation de liste chainée, dans laquelle on utilise un pointeur supplémentaire : le pointeur sur la dernière cellule, ce qui permet d’accélérer l’algorithme d’insertion qui a toujours lieu en fin de liste.</a:t>
            </a:r>
          </a:p>
          <a:p>
            <a:r>
              <a:rPr lang="en-GB" dirty="0">
                <a:latin typeface="Times New Roman" pitchFamily="18" charset="0"/>
                <a:cs typeface="Times New Roman" pitchFamily="18" charset="0"/>
              </a:rPr>
              <a:t>tête							queue</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Les </a:t>
            </a:r>
            <a:r>
              <a:rPr lang="en-GB" dirty="0" err="1">
                <a:latin typeface="Times New Roman" pitchFamily="18" charset="0"/>
                <a:cs typeface="Times New Roman" pitchFamily="18" charset="0"/>
              </a:rPr>
              <a:t>algorithmes</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d’insertion</a:t>
            </a:r>
            <a:r>
              <a:rPr lang="en-GB" dirty="0">
                <a:latin typeface="Times New Roman" pitchFamily="18" charset="0"/>
                <a:cs typeface="Times New Roman" pitchFamily="18" charset="0"/>
              </a:rPr>
              <a:t> et de suppression </a:t>
            </a:r>
            <a:r>
              <a:rPr lang="en-GB" dirty="0" err="1">
                <a:latin typeface="Times New Roman" pitchFamily="18" charset="0"/>
                <a:cs typeface="Times New Roman" pitchFamily="18" charset="0"/>
              </a:rPr>
              <a:t>sont</a:t>
            </a:r>
            <a:r>
              <a:rPr lang="en-GB" dirty="0">
                <a:latin typeface="Times New Roman" pitchFamily="18" charset="0"/>
                <a:cs typeface="Times New Roman" pitchFamily="18" charset="0"/>
              </a:rPr>
              <a:t> les </a:t>
            </a:r>
            <a:r>
              <a:rPr lang="en-GB" dirty="0" err="1" smtClean="0">
                <a:latin typeface="Times New Roman" pitchFamily="18" charset="0"/>
                <a:cs typeface="Times New Roman" pitchFamily="18" charset="0"/>
              </a:rPr>
              <a:t>suivants</a:t>
            </a:r>
            <a:r>
              <a:rPr lang="en-GB" dirty="0">
                <a:latin typeface="Times New Roman" pitchFamily="18" charset="0"/>
                <a:cs typeface="Times New Roman" pitchFamily="18" charset="0"/>
              </a:rPr>
              <a:t>, </a:t>
            </a:r>
            <a:r>
              <a:rPr lang="en-GB" b="1" dirty="0">
                <a:latin typeface="Times New Roman" pitchFamily="18" charset="0"/>
                <a:cs typeface="Times New Roman" pitchFamily="18" charset="0"/>
              </a:rPr>
              <a:t>tête</a:t>
            </a:r>
            <a:r>
              <a:rPr lang="en-GB" dirty="0">
                <a:latin typeface="Times New Roman" pitchFamily="18" charset="0"/>
                <a:cs typeface="Times New Roman" pitchFamily="18" charset="0"/>
              </a:rPr>
              <a:t> et </a:t>
            </a:r>
            <a:r>
              <a:rPr lang="en-GB" b="1" dirty="0">
                <a:latin typeface="Times New Roman" pitchFamily="18" charset="0"/>
                <a:cs typeface="Times New Roman" pitchFamily="18" charset="0"/>
              </a:rPr>
              <a:t>queue</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sont</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globales</a:t>
            </a:r>
            <a:r>
              <a:rPr lang="en-GB" dirty="0">
                <a:latin typeface="Times New Roman" pitchFamily="18" charset="0"/>
                <a:cs typeface="Times New Roman" pitchFamily="18" charset="0"/>
              </a:rPr>
              <a:t>.</a:t>
            </a:r>
          </a:p>
        </p:txBody>
      </p:sp>
      <p:graphicFrame>
        <p:nvGraphicFramePr>
          <p:cNvPr id="4" name="Tableau 3"/>
          <p:cNvGraphicFramePr>
            <a:graphicFrameLocks noGrp="1"/>
          </p:cNvGraphicFramePr>
          <p:nvPr>
            <p:extLst>
              <p:ext uri="{D42A27DB-BD31-4B8C-83A1-F6EECF244321}">
                <p14:modId xmlns:p14="http://schemas.microsoft.com/office/powerpoint/2010/main" val="4177180019"/>
              </p:ext>
            </p:extLst>
          </p:nvPr>
        </p:nvGraphicFramePr>
        <p:xfrm>
          <a:off x="809591" y="5419021"/>
          <a:ext cx="8127994" cy="365760"/>
        </p:xfrm>
        <a:graphic>
          <a:graphicData uri="http://schemas.openxmlformats.org/drawingml/2006/table">
            <a:tbl>
              <a:tblPr firstRow="1" bandRow="1">
                <a:tableStyleId>{2D5ABB26-0587-4C30-8999-92F81FD0307C}</a:tableStyleId>
              </a:tblPr>
              <a:tblGrid>
                <a:gridCol w="580571">
                  <a:extLst>
                    <a:ext uri="{9D8B030D-6E8A-4147-A177-3AD203B41FA5}">
                      <a16:colId xmlns:a16="http://schemas.microsoft.com/office/drawing/2014/main" val="777993241"/>
                    </a:ext>
                  </a:extLst>
                </a:gridCol>
                <a:gridCol w="580571">
                  <a:extLst>
                    <a:ext uri="{9D8B030D-6E8A-4147-A177-3AD203B41FA5}">
                      <a16:colId xmlns:a16="http://schemas.microsoft.com/office/drawing/2014/main" val="1576360780"/>
                    </a:ext>
                  </a:extLst>
                </a:gridCol>
                <a:gridCol w="580571">
                  <a:extLst>
                    <a:ext uri="{9D8B030D-6E8A-4147-A177-3AD203B41FA5}">
                      <a16:colId xmlns:a16="http://schemas.microsoft.com/office/drawing/2014/main" val="2599511961"/>
                    </a:ext>
                  </a:extLst>
                </a:gridCol>
                <a:gridCol w="580571">
                  <a:extLst>
                    <a:ext uri="{9D8B030D-6E8A-4147-A177-3AD203B41FA5}">
                      <a16:colId xmlns:a16="http://schemas.microsoft.com/office/drawing/2014/main" val="1804555493"/>
                    </a:ext>
                  </a:extLst>
                </a:gridCol>
                <a:gridCol w="580571">
                  <a:extLst>
                    <a:ext uri="{9D8B030D-6E8A-4147-A177-3AD203B41FA5}">
                      <a16:colId xmlns:a16="http://schemas.microsoft.com/office/drawing/2014/main" val="161460155"/>
                    </a:ext>
                  </a:extLst>
                </a:gridCol>
                <a:gridCol w="580571">
                  <a:extLst>
                    <a:ext uri="{9D8B030D-6E8A-4147-A177-3AD203B41FA5}">
                      <a16:colId xmlns:a16="http://schemas.microsoft.com/office/drawing/2014/main" val="2404664200"/>
                    </a:ext>
                  </a:extLst>
                </a:gridCol>
                <a:gridCol w="580571">
                  <a:extLst>
                    <a:ext uri="{9D8B030D-6E8A-4147-A177-3AD203B41FA5}">
                      <a16:colId xmlns:a16="http://schemas.microsoft.com/office/drawing/2014/main" val="2616940189"/>
                    </a:ext>
                  </a:extLst>
                </a:gridCol>
                <a:gridCol w="580571">
                  <a:extLst>
                    <a:ext uri="{9D8B030D-6E8A-4147-A177-3AD203B41FA5}">
                      <a16:colId xmlns:a16="http://schemas.microsoft.com/office/drawing/2014/main" val="1109326178"/>
                    </a:ext>
                  </a:extLst>
                </a:gridCol>
                <a:gridCol w="580571">
                  <a:extLst>
                    <a:ext uri="{9D8B030D-6E8A-4147-A177-3AD203B41FA5}">
                      <a16:colId xmlns:a16="http://schemas.microsoft.com/office/drawing/2014/main" val="2197105601"/>
                    </a:ext>
                  </a:extLst>
                </a:gridCol>
                <a:gridCol w="580571">
                  <a:extLst>
                    <a:ext uri="{9D8B030D-6E8A-4147-A177-3AD203B41FA5}">
                      <a16:colId xmlns:a16="http://schemas.microsoft.com/office/drawing/2014/main" val="3724103052"/>
                    </a:ext>
                  </a:extLst>
                </a:gridCol>
                <a:gridCol w="580571">
                  <a:extLst>
                    <a:ext uri="{9D8B030D-6E8A-4147-A177-3AD203B41FA5}">
                      <a16:colId xmlns:a16="http://schemas.microsoft.com/office/drawing/2014/main" val="835979209"/>
                    </a:ext>
                  </a:extLst>
                </a:gridCol>
                <a:gridCol w="580571">
                  <a:extLst>
                    <a:ext uri="{9D8B030D-6E8A-4147-A177-3AD203B41FA5}">
                      <a16:colId xmlns:a16="http://schemas.microsoft.com/office/drawing/2014/main" val="3253208229"/>
                    </a:ext>
                  </a:extLst>
                </a:gridCol>
                <a:gridCol w="580571">
                  <a:extLst>
                    <a:ext uri="{9D8B030D-6E8A-4147-A177-3AD203B41FA5}">
                      <a16:colId xmlns:a16="http://schemas.microsoft.com/office/drawing/2014/main" val="2305545219"/>
                    </a:ext>
                  </a:extLst>
                </a:gridCol>
                <a:gridCol w="580571">
                  <a:extLst>
                    <a:ext uri="{9D8B030D-6E8A-4147-A177-3AD203B41FA5}">
                      <a16:colId xmlns:a16="http://schemas.microsoft.com/office/drawing/2014/main" val="3618711995"/>
                    </a:ext>
                  </a:extLst>
                </a:gridCol>
              </a:tblGrid>
              <a:tr h="358995">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7567112"/>
                  </a:ext>
                </a:extLst>
              </a:tr>
            </a:tbl>
          </a:graphicData>
        </a:graphic>
      </p:graphicFrame>
      <p:sp>
        <p:nvSpPr>
          <p:cNvPr id="6" name="Rectangle 5"/>
          <p:cNvSpPr/>
          <p:nvPr/>
        </p:nvSpPr>
        <p:spPr>
          <a:xfrm>
            <a:off x="336884" y="4957000"/>
            <a:ext cx="596767" cy="2502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7" name="Rectangle 6"/>
          <p:cNvSpPr/>
          <p:nvPr/>
        </p:nvSpPr>
        <p:spPr>
          <a:xfrm>
            <a:off x="6822728" y="4974662"/>
            <a:ext cx="596767" cy="2502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11" name="Connecteur droit avec flèche 10"/>
          <p:cNvCxnSpPr/>
          <p:nvPr/>
        </p:nvCxnSpPr>
        <p:spPr>
          <a:xfrm>
            <a:off x="1703672" y="5582649"/>
            <a:ext cx="8855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Connecteur droit avec flèche 11"/>
          <p:cNvCxnSpPr/>
          <p:nvPr/>
        </p:nvCxnSpPr>
        <p:spPr>
          <a:xfrm>
            <a:off x="3424989" y="5581041"/>
            <a:ext cx="8855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Connecteur droit avec flèche 12"/>
          <p:cNvCxnSpPr/>
          <p:nvPr/>
        </p:nvCxnSpPr>
        <p:spPr>
          <a:xfrm>
            <a:off x="5146312" y="5598692"/>
            <a:ext cx="8855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necteur droit avec flèche 13"/>
          <p:cNvCxnSpPr/>
          <p:nvPr/>
        </p:nvCxnSpPr>
        <p:spPr>
          <a:xfrm>
            <a:off x="6886888" y="5616334"/>
            <a:ext cx="8855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Connecteur droit 19"/>
          <p:cNvCxnSpPr/>
          <p:nvPr/>
        </p:nvCxnSpPr>
        <p:spPr>
          <a:xfrm flipV="1">
            <a:off x="8325853" y="5428647"/>
            <a:ext cx="611732" cy="365760"/>
          </a:xfrm>
          <a:prstGeom prst="line">
            <a:avLst/>
          </a:prstGeom>
        </p:spPr>
        <p:style>
          <a:lnRef idx="1">
            <a:schemeClr val="dk1"/>
          </a:lnRef>
          <a:fillRef idx="0">
            <a:schemeClr val="dk1"/>
          </a:fillRef>
          <a:effectRef idx="0">
            <a:schemeClr val="dk1"/>
          </a:effectRef>
          <a:fontRef idx="minor">
            <a:schemeClr val="tx1"/>
          </a:fontRef>
        </p:style>
      </p:cxnSp>
      <p:cxnSp>
        <p:nvCxnSpPr>
          <p:cNvPr id="22" name="Connecteur droit 21"/>
          <p:cNvCxnSpPr/>
          <p:nvPr/>
        </p:nvCxnSpPr>
        <p:spPr>
          <a:xfrm>
            <a:off x="635267" y="5090161"/>
            <a:ext cx="596767" cy="0"/>
          </a:xfrm>
          <a:prstGeom prst="line">
            <a:avLst/>
          </a:prstGeom>
        </p:spPr>
        <p:style>
          <a:lnRef idx="1">
            <a:schemeClr val="dk1"/>
          </a:lnRef>
          <a:fillRef idx="0">
            <a:schemeClr val="dk1"/>
          </a:fillRef>
          <a:effectRef idx="0">
            <a:schemeClr val="dk1"/>
          </a:effectRef>
          <a:fontRef idx="minor">
            <a:schemeClr val="tx1"/>
          </a:fontRef>
        </p:style>
      </p:cxnSp>
      <p:cxnSp>
        <p:nvCxnSpPr>
          <p:cNvPr id="24" name="Connecteur droit avec flèche 23"/>
          <p:cNvCxnSpPr/>
          <p:nvPr/>
        </p:nvCxnSpPr>
        <p:spPr>
          <a:xfrm>
            <a:off x="1232034" y="5080529"/>
            <a:ext cx="0" cy="328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p:nvPr/>
        </p:nvCxnSpPr>
        <p:spPr>
          <a:xfrm>
            <a:off x="7833382" y="5078936"/>
            <a:ext cx="0" cy="328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Connecteur droit 25"/>
          <p:cNvCxnSpPr/>
          <p:nvPr/>
        </p:nvCxnSpPr>
        <p:spPr>
          <a:xfrm>
            <a:off x="7217366" y="5088564"/>
            <a:ext cx="596767"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6883098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9230" y="456708"/>
            <a:ext cx="11477588" cy="6370975"/>
          </a:xfrm>
          <a:prstGeom prst="rect">
            <a:avLst/>
          </a:prstGeom>
        </p:spPr>
        <p:txBody>
          <a:bodyPr wrap="square">
            <a:spAutoFit/>
          </a:bodyPr>
          <a:lstStyle/>
          <a:p>
            <a:pPr lvl="0" algn="just" fontAlgn="base">
              <a:spcBef>
                <a:spcPct val="0"/>
              </a:spcBef>
              <a:spcAft>
                <a:spcPct val="0"/>
              </a:spcAft>
            </a:pPr>
            <a:r>
              <a:rPr lang="fr-FR" sz="2400" b="1" dirty="0" smtClean="0">
                <a:latin typeface="Times New Roman" pitchFamily="18" charset="0"/>
                <a:ea typeface="Times New Roman" pitchFamily="18" charset="0"/>
                <a:cs typeface="Times New Roman" pitchFamily="18" charset="0"/>
              </a:rPr>
              <a:t>vide </a:t>
            </a:r>
            <a:r>
              <a:rPr lang="fr-FR" sz="2400" dirty="0" err="1">
                <a:latin typeface="Times New Roman" pitchFamily="18" charset="0"/>
                <a:ea typeface="Times New Roman" pitchFamily="18" charset="0"/>
                <a:cs typeface="Times New Roman" pitchFamily="18" charset="0"/>
              </a:rPr>
              <a:t>ajoutelem</a:t>
            </a:r>
            <a:r>
              <a:rPr lang="fr-FR" sz="2400" b="1" dirty="0">
                <a:latin typeface="Times New Roman" pitchFamily="18" charset="0"/>
                <a:ea typeface="Times New Roman" pitchFamily="18" charset="0"/>
                <a:cs typeface="Times New Roman" pitchFamily="18" charset="0"/>
              </a:rPr>
              <a:t>(d t </a:t>
            </a:r>
            <a:r>
              <a:rPr lang="fr-FR" sz="2400" dirty="0">
                <a:latin typeface="Times New Roman" pitchFamily="18" charset="0"/>
                <a:ea typeface="Times New Roman" pitchFamily="18" charset="0"/>
                <a:cs typeface="Times New Roman" pitchFamily="18" charset="0"/>
              </a:rPr>
              <a:t>val</a:t>
            </a:r>
            <a:r>
              <a:rPr lang="fr-FR" sz="2400" b="1" dirty="0">
                <a:latin typeface="Times New Roman" pitchFamily="18" charset="0"/>
                <a:ea typeface="Times New Roman" pitchFamily="18" charset="0"/>
                <a:cs typeface="Times New Roman" pitchFamily="18" charset="0"/>
              </a:rPr>
              <a:t>)</a:t>
            </a:r>
            <a:endParaRPr lang="fr-FR" sz="2400" b="1" dirty="0">
              <a:latin typeface="Times New Roman" pitchFamily="18" charset="0"/>
              <a:cs typeface="Times New Roman" pitchFamily="18" charset="0"/>
            </a:endParaRPr>
          </a:p>
          <a:p>
            <a:pPr lvl="0" algn="just" eaLnBrk="0" fontAlgn="base" hangingPunct="0">
              <a:spcBef>
                <a:spcPct val="0"/>
              </a:spcBef>
              <a:spcAft>
                <a:spcPct val="0"/>
              </a:spcAft>
            </a:pPr>
            <a:r>
              <a:rPr lang="fr-FR" sz="2400" dirty="0">
                <a:latin typeface="Times New Roman" pitchFamily="18" charset="0"/>
                <a:ea typeface="Times New Roman" pitchFamily="18" charset="0"/>
                <a:cs typeface="Times New Roman" pitchFamily="18" charset="0"/>
              </a:rPr>
              <a:t>//spécification()</a:t>
            </a:r>
            <a:r>
              <a:rPr lang="fr-FR" sz="2400" dirty="0">
                <a:latin typeface="Times New Roman" pitchFamily="18" charset="0"/>
                <a:ea typeface="Times New Roman" pitchFamily="18" charset="0"/>
                <a:cs typeface="Times New Roman" pitchFamily="18" charset="0"/>
                <a:sym typeface="Wingdings" pitchFamily="2" charset="2"/>
              </a:rPr>
              <a:t></a:t>
            </a:r>
            <a:r>
              <a:rPr lang="fr-FR" sz="2400" dirty="0">
                <a:latin typeface="Times New Roman" pitchFamily="18" charset="0"/>
                <a:ea typeface="Times New Roman" pitchFamily="18" charset="0"/>
                <a:cs typeface="Times New Roman" pitchFamily="18" charset="0"/>
              </a:rPr>
              <a:t>(</a:t>
            </a:r>
            <a:r>
              <a:rPr lang="fr-FR" sz="2400" dirty="0" smtClean="0">
                <a:latin typeface="Times New Roman" pitchFamily="18" charset="0"/>
                <a:ea typeface="Times New Roman" pitchFamily="18" charset="0"/>
                <a:cs typeface="Times New Roman" pitchFamily="18" charset="0"/>
              </a:rPr>
              <a:t>insertion de </a:t>
            </a:r>
            <a:r>
              <a:rPr lang="fr-FR" sz="2400" dirty="0">
                <a:latin typeface="Times New Roman" pitchFamily="18" charset="0"/>
                <a:ea typeface="Times New Roman" pitchFamily="18" charset="0"/>
                <a:cs typeface="Times New Roman" pitchFamily="18" charset="0"/>
              </a:rPr>
              <a:t>val dans la file)</a:t>
            </a:r>
            <a:endParaRPr lang="fr-FR" sz="2400"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sz="2400" b="1" dirty="0" err="1" smtClean="0">
                <a:latin typeface="Times New Roman" pitchFamily="18" charset="0"/>
                <a:ea typeface="Times New Roman" pitchFamily="18" charset="0"/>
                <a:cs typeface="Times New Roman" pitchFamily="18" charset="0"/>
                <a:sym typeface="Wingdings" pitchFamily="2" charset="2"/>
              </a:rPr>
              <a:t>debfonc</a:t>
            </a:r>
            <a:r>
              <a:rPr lang="fr-FR" sz="2400" b="1" dirty="0" smtClean="0">
                <a:latin typeface="Times New Roman" pitchFamily="18" charset="0"/>
                <a:ea typeface="Times New Roman" pitchFamily="18" charset="0"/>
                <a:cs typeface="Times New Roman" pitchFamily="18" charset="0"/>
                <a:sym typeface="Wingdings" pitchFamily="2" charset="2"/>
              </a:rPr>
              <a:t> </a:t>
            </a:r>
            <a:r>
              <a:rPr lang="fr-FR" sz="2400" b="1" dirty="0">
                <a:latin typeface="Times New Roman" pitchFamily="18" charset="0"/>
                <a:ea typeface="Times New Roman" pitchFamily="18" charset="0"/>
                <a:cs typeface="Times New Roman" pitchFamily="18" charset="0"/>
                <a:sym typeface="Wingdings" pitchFamily="2" charset="2"/>
              </a:rPr>
              <a:t>si </a:t>
            </a:r>
            <a:r>
              <a:rPr lang="fr-FR" sz="2400" dirty="0">
                <a:latin typeface="Times New Roman" pitchFamily="18" charset="0"/>
                <a:ea typeface="Times New Roman" pitchFamily="18" charset="0"/>
                <a:cs typeface="Times New Roman" pitchFamily="18" charset="0"/>
                <a:sym typeface="Wingdings" pitchFamily="2" charset="2"/>
              </a:rPr>
              <a:t>tête</a:t>
            </a:r>
            <a:r>
              <a:rPr lang="fr-FR" sz="2400" b="1" dirty="0">
                <a:latin typeface="Times New Roman" pitchFamily="18" charset="0"/>
                <a:ea typeface="Times New Roman" pitchFamily="18" charset="0"/>
                <a:cs typeface="Times New Roman" pitchFamily="18" charset="0"/>
                <a:sym typeface="Wingdings" pitchFamily="2" charset="2"/>
              </a:rPr>
              <a:t>=</a:t>
            </a:r>
            <a:r>
              <a:rPr lang="fr-FR" sz="2400" b="1" dirty="0" err="1">
                <a:latin typeface="Times New Roman" pitchFamily="18" charset="0"/>
                <a:ea typeface="Times New Roman" pitchFamily="18" charset="0"/>
                <a:cs typeface="Times New Roman" pitchFamily="18" charset="0"/>
                <a:sym typeface="Wingdings" pitchFamily="2" charset="2"/>
              </a:rPr>
              <a:t>nil</a:t>
            </a:r>
            <a:r>
              <a:rPr lang="fr-FR" sz="2400" b="1" dirty="0">
                <a:latin typeface="Times New Roman" pitchFamily="18" charset="0"/>
                <a:ea typeface="Times New Roman" pitchFamily="18" charset="0"/>
                <a:cs typeface="Times New Roman" pitchFamily="18" charset="0"/>
                <a:sym typeface="Wingdings" pitchFamily="2" charset="2"/>
              </a:rPr>
              <a:t> alors </a:t>
            </a:r>
            <a:r>
              <a:rPr lang="fr-FR" sz="2400" dirty="0" err="1">
                <a:latin typeface="Times New Roman" pitchFamily="18" charset="0"/>
                <a:ea typeface="Times New Roman" pitchFamily="18" charset="0"/>
                <a:cs typeface="Times New Roman" pitchFamily="18" charset="0"/>
                <a:sym typeface="Wingdings" pitchFamily="2" charset="2"/>
              </a:rPr>
              <a:t>insertête</a:t>
            </a:r>
            <a:r>
              <a:rPr lang="fr-FR" sz="2400" dirty="0">
                <a:latin typeface="Times New Roman" pitchFamily="18" charset="0"/>
                <a:ea typeface="Times New Roman" pitchFamily="18" charset="0"/>
                <a:cs typeface="Times New Roman" pitchFamily="18" charset="0"/>
                <a:sym typeface="Wingdings" pitchFamily="2" charset="2"/>
              </a:rPr>
              <a:t>(tête, val)</a:t>
            </a:r>
            <a:r>
              <a:rPr lang="fr-FR" sz="2400" b="1" dirty="0">
                <a:latin typeface="Times New Roman" pitchFamily="18" charset="0"/>
                <a:ea typeface="Times New Roman" pitchFamily="18" charset="0"/>
                <a:cs typeface="Times New Roman" pitchFamily="18" charset="0"/>
                <a:sym typeface="Wingdings" pitchFamily="2" charset="2"/>
              </a:rPr>
              <a:t>;</a:t>
            </a:r>
            <a:endParaRPr lang="fr-FR" sz="2400"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Wingdings" pitchFamily="2" charset="2"/>
              </a:rPr>
              <a:t>                                          </a:t>
            </a:r>
            <a:r>
              <a:rPr lang="fr-FR" sz="2400" dirty="0" smtClean="0">
                <a:latin typeface="Times New Roman" pitchFamily="18" charset="0"/>
                <a:ea typeface="Times New Roman" pitchFamily="18" charset="0"/>
                <a:cs typeface="Times New Roman" pitchFamily="18" charset="0"/>
                <a:sym typeface="Wingdings" pitchFamily="2" charset="2"/>
              </a:rPr>
              <a:t>queue:=tête</a:t>
            </a:r>
            <a:r>
              <a:rPr lang="fr-FR" sz="2400" b="1" dirty="0">
                <a:latin typeface="Times New Roman" pitchFamily="18" charset="0"/>
                <a:ea typeface="Times New Roman" pitchFamily="18" charset="0"/>
                <a:cs typeface="Times New Roman" pitchFamily="18" charset="0"/>
                <a:sym typeface="Wingdings" pitchFamily="2" charset="2"/>
              </a:rPr>
              <a:t>;</a:t>
            </a:r>
            <a:endParaRPr lang="fr-FR" sz="2400"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Wingdings" pitchFamily="2" charset="2"/>
              </a:rPr>
              <a:t>               sinon </a:t>
            </a:r>
            <a:r>
              <a:rPr lang="fr-FR" sz="2400" dirty="0" err="1" smtClean="0">
                <a:latin typeface="Times New Roman" pitchFamily="18" charset="0"/>
                <a:ea typeface="Times New Roman" pitchFamily="18" charset="0"/>
                <a:cs typeface="Times New Roman" pitchFamily="18" charset="0"/>
                <a:sym typeface="Wingdings" pitchFamily="2" charset="2"/>
              </a:rPr>
              <a:t>i≠nsertête</a:t>
            </a:r>
            <a:r>
              <a:rPr lang="fr-FR" sz="2400" b="1" dirty="0" smtClean="0">
                <a:latin typeface="Times New Roman" pitchFamily="18" charset="0"/>
                <a:ea typeface="Times New Roman" pitchFamily="18" charset="0"/>
                <a:cs typeface="Times New Roman" pitchFamily="18" charset="0"/>
                <a:sym typeface="Wingdings" pitchFamily="2" charset="2"/>
              </a:rPr>
              <a:t>(</a:t>
            </a:r>
            <a:r>
              <a:rPr lang="fr-FR" sz="2400" dirty="0" smtClean="0">
                <a:latin typeface="Times New Roman" pitchFamily="18" charset="0"/>
                <a:ea typeface="Times New Roman" pitchFamily="18" charset="0"/>
                <a:cs typeface="Times New Roman" pitchFamily="18" charset="0"/>
                <a:sym typeface="Wingdings" pitchFamily="2" charset="2"/>
              </a:rPr>
              <a:t>queue-</a:t>
            </a:r>
            <a:r>
              <a:rPr lang="fr-FR" sz="2400" dirty="0">
                <a:latin typeface="Times New Roman" pitchFamily="18" charset="0"/>
                <a:ea typeface="Times New Roman" pitchFamily="18" charset="0"/>
                <a:cs typeface="Times New Roman" pitchFamily="18" charset="0"/>
                <a:sym typeface="Wingdings" pitchFamily="2" charset="2"/>
              </a:rPr>
              <a:t>&gt;suivant, val</a:t>
            </a:r>
            <a:r>
              <a:rPr lang="fr-FR" sz="2400" b="1" dirty="0">
                <a:latin typeface="Times New Roman" pitchFamily="18" charset="0"/>
                <a:ea typeface="Times New Roman" pitchFamily="18" charset="0"/>
                <a:cs typeface="Times New Roman" pitchFamily="18" charset="0"/>
                <a:sym typeface="Wingdings" pitchFamily="2" charset="2"/>
              </a:rPr>
              <a:t>);</a:t>
            </a:r>
            <a:endParaRPr lang="fr-FR" sz="2400"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Wingdings" pitchFamily="2" charset="2"/>
              </a:rPr>
              <a:t>                         </a:t>
            </a:r>
            <a:r>
              <a:rPr lang="fr-FR" sz="2400" dirty="0">
                <a:latin typeface="Times New Roman" pitchFamily="18" charset="0"/>
                <a:ea typeface="Times New Roman" pitchFamily="18" charset="0"/>
                <a:cs typeface="Times New Roman" pitchFamily="18" charset="0"/>
                <a:sym typeface="Wingdings" pitchFamily="2" charset="2"/>
              </a:rPr>
              <a:t>queue </a:t>
            </a:r>
            <a:r>
              <a:rPr lang="fr-FR" sz="2400" dirty="0" smtClean="0">
                <a:latin typeface="Times New Roman" pitchFamily="18" charset="0"/>
                <a:ea typeface="Times New Roman" pitchFamily="18" charset="0"/>
                <a:cs typeface="Times New Roman" pitchFamily="18" charset="0"/>
                <a:sym typeface="Wingdings" pitchFamily="2" charset="2"/>
              </a:rPr>
              <a:t>:=</a:t>
            </a:r>
            <a:r>
              <a:rPr lang="fr-FR" sz="2400" dirty="0" smtClean="0">
                <a:latin typeface="Times New Roman" pitchFamily="18" charset="0"/>
                <a:ea typeface="Times New Roman" pitchFamily="18" charset="0"/>
                <a:cs typeface="Times New Roman" pitchFamily="18" charset="0"/>
                <a:sym typeface="Wingdings" pitchFamily="2" charset="2"/>
              </a:rPr>
              <a:t> </a:t>
            </a:r>
            <a:r>
              <a:rPr lang="fr-FR" sz="2400" dirty="0">
                <a:latin typeface="Times New Roman" pitchFamily="18" charset="0"/>
                <a:ea typeface="Times New Roman" pitchFamily="18" charset="0"/>
                <a:cs typeface="Times New Roman" pitchFamily="18" charset="0"/>
                <a:sym typeface="Wingdings" pitchFamily="2" charset="2"/>
              </a:rPr>
              <a:t>queue-&gt;suivant</a:t>
            </a:r>
            <a:r>
              <a:rPr lang="fr-FR" sz="2400" b="1" dirty="0">
                <a:latin typeface="Times New Roman" pitchFamily="18" charset="0"/>
                <a:ea typeface="Times New Roman" pitchFamily="18" charset="0"/>
                <a:cs typeface="Times New Roman" pitchFamily="18" charset="0"/>
                <a:sym typeface="Wingdings" pitchFamily="2" charset="2"/>
              </a:rPr>
              <a:t>;</a:t>
            </a:r>
            <a:endParaRPr lang="fr-FR" sz="2400"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Wingdings" pitchFamily="2" charset="2"/>
              </a:rPr>
              <a:t>               </a:t>
            </a:r>
            <a:r>
              <a:rPr lang="fr-FR" sz="2400" b="1" dirty="0" err="1">
                <a:latin typeface="Times New Roman" pitchFamily="18" charset="0"/>
                <a:ea typeface="Times New Roman" pitchFamily="18" charset="0"/>
                <a:cs typeface="Times New Roman" pitchFamily="18" charset="0"/>
                <a:sym typeface="Wingdings" pitchFamily="2" charset="2"/>
              </a:rPr>
              <a:t>finsi</a:t>
            </a:r>
            <a:r>
              <a:rPr lang="fr-FR" sz="2400" b="1" dirty="0">
                <a:latin typeface="Times New Roman" pitchFamily="18" charset="0"/>
                <a:ea typeface="Times New Roman" pitchFamily="18" charset="0"/>
                <a:cs typeface="Times New Roman" pitchFamily="18" charset="0"/>
                <a:sym typeface="Wingdings" pitchFamily="2" charset="2"/>
              </a:rPr>
              <a:t>; </a:t>
            </a:r>
            <a:endParaRPr lang="fr-FR" sz="2400"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sz="2400" b="1" dirty="0" err="1">
                <a:latin typeface="Times New Roman" pitchFamily="18" charset="0"/>
                <a:cs typeface="Times New Roman" pitchFamily="18" charset="0"/>
                <a:sym typeface="Wingdings" pitchFamily="2" charset="2"/>
              </a:rPr>
              <a:t>finproc</a:t>
            </a:r>
            <a:r>
              <a:rPr lang="fr-FR" sz="2400" b="1" dirty="0">
                <a:latin typeface="Times New Roman" pitchFamily="18" charset="0"/>
                <a:cs typeface="Times New Roman" pitchFamily="18" charset="0"/>
                <a:sym typeface="Wingdings" pitchFamily="2" charset="2"/>
              </a:rPr>
              <a:t>;</a:t>
            </a:r>
          </a:p>
          <a:p>
            <a:pPr lvl="0" algn="just" eaLnBrk="0" fontAlgn="base" hangingPunct="0">
              <a:spcBef>
                <a:spcPct val="0"/>
              </a:spcBef>
              <a:spcAft>
                <a:spcPct val="0"/>
              </a:spcAft>
            </a:pPr>
            <a:r>
              <a:rPr lang="fr-FR" sz="2400" b="1" dirty="0" smtClean="0">
                <a:latin typeface="Times New Roman" pitchFamily="18" charset="0"/>
                <a:ea typeface="Times New Roman" pitchFamily="18" charset="0"/>
                <a:cs typeface="Times New Roman" pitchFamily="18" charset="0"/>
                <a:sym typeface="Wingdings" pitchFamily="2" charset="2"/>
              </a:rPr>
              <a:t>vide </a:t>
            </a:r>
            <a:r>
              <a:rPr lang="fr-FR" sz="2400" dirty="0" err="1">
                <a:latin typeface="Times New Roman" pitchFamily="18" charset="0"/>
                <a:ea typeface="Times New Roman" pitchFamily="18" charset="0"/>
                <a:cs typeface="Times New Roman" pitchFamily="18" charset="0"/>
                <a:sym typeface="Wingdings" pitchFamily="2" charset="2"/>
              </a:rPr>
              <a:t>suppelem</a:t>
            </a:r>
            <a:r>
              <a:rPr lang="fr-FR" sz="2400" b="1" dirty="0">
                <a:latin typeface="Times New Roman" pitchFamily="18" charset="0"/>
                <a:ea typeface="Times New Roman" pitchFamily="18" charset="0"/>
                <a:cs typeface="Times New Roman" pitchFamily="18" charset="0"/>
                <a:sym typeface="Wingdings" pitchFamily="2" charset="2"/>
              </a:rPr>
              <a:t>(d t </a:t>
            </a:r>
            <a:r>
              <a:rPr lang="fr-FR" sz="2400" dirty="0">
                <a:latin typeface="Times New Roman" pitchFamily="18" charset="0"/>
                <a:ea typeface="Times New Roman" pitchFamily="18" charset="0"/>
                <a:cs typeface="Times New Roman" pitchFamily="18" charset="0"/>
                <a:sym typeface="Wingdings" pitchFamily="2" charset="2"/>
              </a:rPr>
              <a:t>val</a:t>
            </a:r>
            <a:r>
              <a:rPr lang="fr-FR" sz="2400" b="1" dirty="0">
                <a:latin typeface="Times New Roman" pitchFamily="18" charset="0"/>
                <a:ea typeface="Times New Roman" pitchFamily="18" charset="0"/>
                <a:cs typeface="Times New Roman" pitchFamily="18" charset="0"/>
                <a:sym typeface="Wingdings" pitchFamily="2" charset="2"/>
              </a:rPr>
              <a:t>)</a:t>
            </a:r>
            <a:endParaRPr lang="fr-FR" sz="2400" b="1"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sz="2400" dirty="0">
                <a:latin typeface="Times New Roman" pitchFamily="18" charset="0"/>
                <a:ea typeface="Times New Roman" pitchFamily="18" charset="0"/>
                <a:cs typeface="Times New Roman" pitchFamily="18" charset="0"/>
                <a:sym typeface="Wingdings" pitchFamily="2" charset="2"/>
              </a:rPr>
              <a:t>//spécification()</a:t>
            </a:r>
            <a:r>
              <a:rPr lang="fr-FR" sz="2400" dirty="0">
                <a:latin typeface="Times New Roman" pitchFamily="18" charset="0"/>
                <a:ea typeface="Times New Roman" pitchFamily="18" charset="0"/>
                <a:cs typeface="Times New Roman" pitchFamily="18" charset="0"/>
              </a:rPr>
              <a:t>(suppression d’un élément)</a:t>
            </a:r>
            <a:endParaRPr lang="fr-FR" sz="2400" dirty="0">
              <a:latin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sz="2400" b="1" dirty="0" err="1" smtClean="0">
                <a:latin typeface="Times New Roman" pitchFamily="18" charset="0"/>
                <a:ea typeface="Times New Roman" pitchFamily="18" charset="0"/>
                <a:cs typeface="Times New Roman" pitchFamily="18" charset="0"/>
                <a:sym typeface="Wingdings" pitchFamily="2" charset="2"/>
              </a:rPr>
              <a:t>debfonc</a:t>
            </a:r>
            <a:r>
              <a:rPr lang="fr-FR" sz="2400" b="1" dirty="0" smtClean="0">
                <a:latin typeface="Times New Roman" pitchFamily="18" charset="0"/>
                <a:ea typeface="Times New Roman" pitchFamily="18" charset="0"/>
                <a:cs typeface="Times New Roman" pitchFamily="18" charset="0"/>
                <a:sym typeface="Wingdings" pitchFamily="2" charset="2"/>
              </a:rPr>
              <a:t> </a:t>
            </a:r>
            <a:endParaRPr lang="fr-FR" sz="2400" b="1" dirty="0">
              <a:latin typeface="Times New Roman" pitchFamily="18" charset="0"/>
              <a:ea typeface="Times New Roman" pitchFamily="18" charset="0"/>
              <a:cs typeface="Times New Roman" pitchFamily="18" charset="0"/>
              <a:sym typeface="Wingdings" pitchFamily="2"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Wingdings" pitchFamily="2" charset="2"/>
              </a:rPr>
              <a:t>   si </a:t>
            </a:r>
            <a:r>
              <a:rPr lang="fr-FR" sz="2400" dirty="0" err="1" smtClean="0">
                <a:latin typeface="Times New Roman" pitchFamily="18" charset="0"/>
                <a:ea typeface="Times New Roman" pitchFamily="18" charset="0"/>
                <a:cs typeface="Times New Roman" pitchFamily="18" charset="0"/>
                <a:sym typeface="Wingdings" pitchFamily="2" charset="2"/>
              </a:rPr>
              <a:t>tête≠</a:t>
            </a:r>
            <a:r>
              <a:rPr lang="fr-FR" sz="2400" dirty="0" err="1" smtClean="0">
                <a:latin typeface="Times New Roman" pitchFamily="18" charset="0"/>
                <a:ea typeface="Times New Roman" pitchFamily="18" charset="0"/>
                <a:cs typeface="Times New Roman" pitchFamily="18" charset="0"/>
              </a:rPr>
              <a:t>nil</a:t>
            </a:r>
            <a:r>
              <a:rPr lang="fr-FR" sz="2400" b="1" dirty="0" smtClean="0">
                <a:latin typeface="Times New Roman" pitchFamily="18" charset="0"/>
                <a:ea typeface="Times New Roman" pitchFamily="18" charset="0"/>
                <a:cs typeface="Times New Roman" pitchFamily="18" charset="0"/>
              </a:rPr>
              <a:t> </a:t>
            </a:r>
            <a:r>
              <a:rPr lang="fr-FR" sz="2400" b="1" dirty="0">
                <a:latin typeface="Times New Roman" pitchFamily="18" charset="0"/>
                <a:ea typeface="Times New Roman" pitchFamily="18" charset="0"/>
                <a:cs typeface="Times New Roman" pitchFamily="18" charset="0"/>
              </a:rPr>
              <a:t>alors </a:t>
            </a: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rPr>
              <a:t>       </a:t>
            </a:r>
            <a:r>
              <a:rPr lang="fr-FR" sz="2400" dirty="0" smtClean="0">
                <a:latin typeface="Times New Roman" pitchFamily="18" charset="0"/>
                <a:ea typeface="Times New Roman" pitchFamily="18" charset="0"/>
                <a:cs typeface="Times New Roman" pitchFamily="18" charset="0"/>
              </a:rPr>
              <a:t>val:=tête-</a:t>
            </a:r>
            <a:r>
              <a:rPr lang="fr-FR" sz="2400" dirty="0">
                <a:latin typeface="Times New Roman" pitchFamily="18" charset="0"/>
                <a:ea typeface="Times New Roman" pitchFamily="18" charset="0"/>
                <a:cs typeface="Times New Roman" pitchFamily="18" charset="0"/>
              </a:rPr>
              <a:t>&gt;info</a:t>
            </a:r>
            <a:r>
              <a:rPr lang="fr-FR" sz="2400" b="1" dirty="0">
                <a:latin typeface="Times New Roman" pitchFamily="18" charset="0"/>
                <a:ea typeface="Times New Roman" pitchFamily="18" charset="0"/>
                <a:cs typeface="Times New Roman" pitchFamily="18" charset="0"/>
              </a:rPr>
              <a:t>; </a:t>
            </a:r>
            <a:endParaRPr lang="fr-FR" sz="24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a:t>
            </a:r>
            <a:r>
              <a:rPr lang="fr-FR" sz="2400" dirty="0" err="1">
                <a:latin typeface="Times New Roman" pitchFamily="18" charset="0"/>
                <a:ea typeface="Times New Roman" pitchFamily="18" charset="0"/>
                <a:cs typeface="Times New Roman" pitchFamily="18" charset="0"/>
                <a:sym typeface="Symbol" pitchFamily="18" charset="2"/>
              </a:rPr>
              <a:t>supptête</a:t>
            </a:r>
            <a:r>
              <a:rPr lang="fr-FR" sz="2400" dirty="0">
                <a:latin typeface="Times New Roman" pitchFamily="18" charset="0"/>
                <a:ea typeface="Times New Roman" pitchFamily="18" charset="0"/>
                <a:cs typeface="Times New Roman" pitchFamily="18" charset="0"/>
                <a:sym typeface="Symbol" pitchFamily="18" charset="2"/>
              </a:rPr>
              <a:t>(tête)</a:t>
            </a:r>
            <a:r>
              <a:rPr lang="fr-FR" sz="2400" b="1" dirty="0">
                <a:latin typeface="Times New Roman" pitchFamily="18" charset="0"/>
                <a:ea typeface="Times New Roman" pitchFamily="18" charset="0"/>
                <a:cs typeface="Times New Roman" pitchFamily="18" charset="0"/>
                <a:sym typeface="Symbol" pitchFamily="18" charset="2"/>
              </a:rPr>
              <a:t>;</a:t>
            </a:r>
            <a:endParaRPr lang="fr-FR" sz="24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si </a:t>
            </a:r>
            <a:r>
              <a:rPr lang="fr-FR" sz="2400" dirty="0">
                <a:latin typeface="Times New Roman" pitchFamily="18" charset="0"/>
                <a:ea typeface="Times New Roman" pitchFamily="18" charset="0"/>
                <a:cs typeface="Times New Roman" pitchFamily="18" charset="0"/>
                <a:sym typeface="Symbol" pitchFamily="18" charset="2"/>
              </a:rPr>
              <a:t>tête=</a:t>
            </a:r>
            <a:r>
              <a:rPr lang="fr-FR" sz="2400" b="1" dirty="0" err="1">
                <a:latin typeface="Times New Roman" pitchFamily="18" charset="0"/>
                <a:ea typeface="Times New Roman" pitchFamily="18" charset="0"/>
                <a:cs typeface="Times New Roman" pitchFamily="18" charset="0"/>
                <a:sym typeface="Symbol" pitchFamily="18" charset="2"/>
              </a:rPr>
              <a:t>nil</a:t>
            </a:r>
            <a:r>
              <a:rPr lang="fr-FR" sz="2400" b="1" dirty="0">
                <a:latin typeface="Times New Roman" pitchFamily="18" charset="0"/>
                <a:ea typeface="Times New Roman" pitchFamily="18" charset="0"/>
                <a:cs typeface="Times New Roman" pitchFamily="18" charset="0"/>
                <a:sym typeface="Symbol" pitchFamily="18" charset="2"/>
              </a:rPr>
              <a:t> alors </a:t>
            </a:r>
            <a:r>
              <a:rPr lang="fr-FR" sz="2400" dirty="0" smtClean="0">
                <a:latin typeface="Times New Roman" pitchFamily="18" charset="0"/>
                <a:ea typeface="Times New Roman" pitchFamily="18" charset="0"/>
                <a:cs typeface="Times New Roman" pitchFamily="18" charset="0"/>
                <a:sym typeface="Symbol" pitchFamily="18" charset="2"/>
              </a:rPr>
              <a:t>queue:=</a:t>
            </a:r>
            <a:r>
              <a:rPr lang="fr-FR" sz="2400" b="1" dirty="0" err="1" smtClean="0">
                <a:latin typeface="Times New Roman" pitchFamily="18" charset="0"/>
                <a:ea typeface="Times New Roman" pitchFamily="18" charset="0"/>
                <a:cs typeface="Times New Roman" pitchFamily="18" charset="0"/>
                <a:sym typeface="Symbol" pitchFamily="18" charset="2"/>
              </a:rPr>
              <a:t>nil</a:t>
            </a:r>
            <a:r>
              <a:rPr lang="fr-FR" sz="2400" b="1" dirty="0">
                <a:latin typeface="Times New Roman" pitchFamily="18" charset="0"/>
                <a:ea typeface="Times New Roman" pitchFamily="18" charset="0"/>
                <a:cs typeface="Times New Roman" pitchFamily="18" charset="0"/>
                <a:sym typeface="Symbol" pitchFamily="18" charset="2"/>
              </a:rPr>
              <a:t>; </a:t>
            </a:r>
            <a:r>
              <a:rPr lang="fr-FR" sz="2400" b="1" dirty="0" err="1">
                <a:latin typeface="Times New Roman" pitchFamily="18" charset="0"/>
                <a:ea typeface="Times New Roman" pitchFamily="18" charset="0"/>
                <a:cs typeface="Times New Roman" pitchFamily="18" charset="0"/>
                <a:sym typeface="Symbol" pitchFamily="18" charset="2"/>
              </a:rPr>
              <a:t>finsi</a:t>
            </a:r>
            <a:r>
              <a:rPr lang="fr-FR" sz="2400" b="1" dirty="0">
                <a:latin typeface="Times New Roman" pitchFamily="18" charset="0"/>
                <a:ea typeface="Times New Roman" pitchFamily="18" charset="0"/>
                <a:cs typeface="Times New Roman" pitchFamily="18" charset="0"/>
                <a:sym typeface="Symbol" pitchFamily="18" charset="2"/>
              </a:rPr>
              <a:t>;</a:t>
            </a:r>
            <a:endParaRPr lang="fr-FR" sz="24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400" b="1" dirty="0">
                <a:latin typeface="Times New Roman" pitchFamily="18" charset="0"/>
                <a:ea typeface="Times New Roman" pitchFamily="18" charset="0"/>
                <a:cs typeface="Times New Roman" pitchFamily="18" charset="0"/>
                <a:sym typeface="Symbol" pitchFamily="18" charset="2"/>
              </a:rPr>
              <a:t>   </a:t>
            </a:r>
            <a:r>
              <a:rPr lang="fr-FR" sz="2400" b="1" dirty="0" err="1">
                <a:latin typeface="Times New Roman" pitchFamily="18" charset="0"/>
                <a:ea typeface="Times New Roman" pitchFamily="18" charset="0"/>
                <a:cs typeface="Times New Roman" pitchFamily="18" charset="0"/>
                <a:sym typeface="Symbol" pitchFamily="18" charset="2"/>
              </a:rPr>
              <a:t>finsi</a:t>
            </a:r>
            <a:r>
              <a:rPr lang="fr-FR" sz="2400" b="1" dirty="0">
                <a:latin typeface="Times New Roman" pitchFamily="18" charset="0"/>
                <a:ea typeface="Times New Roman" pitchFamily="18" charset="0"/>
                <a:cs typeface="Times New Roman" pitchFamily="18" charset="0"/>
                <a:sym typeface="Symbol" pitchFamily="18" charset="2"/>
              </a:rPr>
              <a:t>;</a:t>
            </a:r>
            <a:endParaRPr lang="fr-FR" sz="2400" b="1" dirty="0">
              <a:latin typeface="Times New Roman" pitchFamily="18" charset="0"/>
              <a:cs typeface="Times New Roman" pitchFamily="18" charset="0"/>
              <a:sym typeface="Symbol" pitchFamily="18" charset="2"/>
            </a:endParaRPr>
          </a:p>
          <a:p>
            <a:pPr lvl="0" algn="just" eaLnBrk="0" fontAlgn="base" hangingPunct="0">
              <a:spcBef>
                <a:spcPct val="0"/>
              </a:spcBef>
              <a:spcAft>
                <a:spcPct val="0"/>
              </a:spcAft>
            </a:pPr>
            <a:r>
              <a:rPr lang="fr-FR" sz="2400" b="1" dirty="0" err="1" smtClean="0">
                <a:latin typeface="Times New Roman" pitchFamily="18" charset="0"/>
                <a:ea typeface="Times New Roman" pitchFamily="18" charset="0"/>
                <a:cs typeface="Times New Roman" pitchFamily="18" charset="0"/>
                <a:sym typeface="Symbol" pitchFamily="18" charset="2"/>
              </a:rPr>
              <a:t>finfonc</a:t>
            </a:r>
            <a:r>
              <a:rPr lang="fr-FR" sz="2400" b="1" dirty="0">
                <a:latin typeface="Times New Roman" pitchFamily="18" charset="0"/>
                <a:ea typeface="Times New Roman" pitchFamily="18" charset="0"/>
                <a:cs typeface="Times New Roman" pitchFamily="18" charset="0"/>
                <a:sym typeface="Symbol" pitchFamily="18" charset="2"/>
              </a:rPr>
              <a:t>;</a:t>
            </a:r>
          </a:p>
        </p:txBody>
      </p:sp>
    </p:spTree>
    <p:extLst>
      <p:ext uri="{BB962C8B-B14F-4D97-AF65-F5344CB8AC3E}">
        <p14:creationId xmlns:p14="http://schemas.microsoft.com/office/powerpoint/2010/main" val="35206687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54000" y="375920"/>
            <a:ext cx="11684000" cy="5324535"/>
          </a:xfrm>
          <a:prstGeom prst="rect">
            <a:avLst/>
          </a:prstGeom>
          <a:noFill/>
        </p:spPr>
        <p:txBody>
          <a:bodyPr wrap="square" rtlCol="0">
            <a:spAutoFit/>
          </a:bodyPr>
          <a:lstStyle/>
          <a:p>
            <a:r>
              <a:rPr lang="fr-FR" sz="2000" dirty="0" smtClean="0">
                <a:latin typeface="Times New Roman" panose="02020603050405020304" pitchFamily="18" charset="0"/>
                <a:cs typeface="Times New Roman" panose="02020603050405020304" pitchFamily="18" charset="0"/>
              </a:rPr>
              <a:t>Références</a:t>
            </a:r>
          </a:p>
          <a:p>
            <a:endParaRPr lang="fr-FR" sz="2000" dirty="0" smtClean="0">
              <a:latin typeface="Times New Roman" panose="02020603050405020304" pitchFamily="18" charset="0"/>
              <a:cs typeface="Times New Roman" panose="02020603050405020304" pitchFamily="18" charset="0"/>
            </a:endParaRPr>
          </a:p>
          <a:p>
            <a:pPr marL="342900" lvl="0" indent="-342900">
              <a:buFontTx/>
              <a:buAutoNum type="arabicPeriod"/>
            </a:pPr>
            <a:r>
              <a:rPr lang="en-GB" sz="2000" dirty="0" smtClean="0">
                <a:latin typeface="Times New Roman" pitchFamily="18" charset="0"/>
                <a:ea typeface="Times New Roman" pitchFamily="18" charset="0"/>
                <a:cs typeface="Times New Roman" pitchFamily="18" charset="0"/>
              </a:rPr>
              <a:t>J</a:t>
            </a:r>
            <a:r>
              <a:rPr lang="en-GB" sz="2000" dirty="0">
                <a:latin typeface="Times New Roman" pitchFamily="18" charset="0"/>
                <a:ea typeface="Times New Roman" pitchFamily="18" charset="0"/>
                <a:cs typeface="Times New Roman" pitchFamily="18" charset="0"/>
              </a:rPr>
              <a:t>. </a:t>
            </a:r>
            <a:r>
              <a:rPr lang="en-GB" sz="2000" dirty="0" err="1">
                <a:latin typeface="Times New Roman" pitchFamily="18" charset="0"/>
                <a:ea typeface="Times New Roman" pitchFamily="18" charset="0"/>
                <a:cs typeface="Times New Roman" pitchFamily="18" charset="0"/>
              </a:rPr>
              <a:t>Courtin</a:t>
            </a:r>
            <a:r>
              <a:rPr lang="en-GB" sz="2000" dirty="0">
                <a:latin typeface="Times New Roman" pitchFamily="18" charset="0"/>
                <a:ea typeface="Times New Roman" pitchFamily="18" charset="0"/>
                <a:cs typeface="Times New Roman" pitchFamily="18" charset="0"/>
              </a:rPr>
              <a:t> &amp; I. </a:t>
            </a:r>
            <a:r>
              <a:rPr lang="en-GB" sz="2000" dirty="0" err="1">
                <a:latin typeface="Times New Roman" pitchFamily="18" charset="0"/>
                <a:ea typeface="Times New Roman" pitchFamily="18" charset="0"/>
                <a:cs typeface="Times New Roman" pitchFamily="18" charset="0"/>
              </a:rPr>
              <a:t>Kowarski</a:t>
            </a:r>
            <a:r>
              <a:rPr lang="en-GB" sz="2000" dirty="0" smtClean="0">
                <a:latin typeface="Times New Roman" pitchFamily="18" charset="0"/>
                <a:ea typeface="Times New Roman" pitchFamily="18" charset="0"/>
                <a:cs typeface="Times New Roman" pitchFamily="18" charset="0"/>
              </a:rPr>
              <a:t>, </a:t>
            </a:r>
            <a:r>
              <a:rPr lang="en-GB" sz="2000" dirty="0">
                <a:latin typeface="Times New Roman" pitchFamily="18" charset="0"/>
                <a:ea typeface="Times New Roman" pitchFamily="18" charset="0"/>
                <a:cs typeface="Times New Roman" pitchFamily="18" charset="0"/>
              </a:rPr>
              <a:t>“Initiation à </a:t>
            </a:r>
            <a:r>
              <a:rPr lang="en-GB" sz="2000" dirty="0" err="1">
                <a:latin typeface="Times New Roman" pitchFamily="18" charset="0"/>
                <a:ea typeface="Times New Roman" pitchFamily="18" charset="0"/>
                <a:cs typeface="Times New Roman" pitchFamily="18" charset="0"/>
              </a:rPr>
              <a:t>l’algorithmique</a:t>
            </a:r>
            <a:r>
              <a:rPr lang="en-GB" sz="2000" dirty="0">
                <a:latin typeface="Times New Roman" pitchFamily="18" charset="0"/>
                <a:ea typeface="Times New Roman" pitchFamily="18" charset="0"/>
                <a:cs typeface="Times New Roman" pitchFamily="18" charset="0"/>
              </a:rPr>
              <a:t> et aux structures de </a:t>
            </a:r>
            <a:r>
              <a:rPr lang="en-GB" sz="2000" dirty="0" err="1">
                <a:latin typeface="Times New Roman" pitchFamily="18" charset="0"/>
                <a:ea typeface="Times New Roman" pitchFamily="18" charset="0"/>
                <a:cs typeface="Times New Roman" pitchFamily="18" charset="0"/>
              </a:rPr>
              <a:t>données</a:t>
            </a:r>
            <a:r>
              <a:rPr lang="en-GB" sz="2000" dirty="0">
                <a:latin typeface="Times New Roman" pitchFamily="18" charset="0"/>
                <a:ea typeface="Times New Roman" pitchFamily="18" charset="0"/>
                <a:cs typeface="Times New Roman" pitchFamily="18" charset="0"/>
              </a:rPr>
              <a:t>”. Volume 1, 2ième </a:t>
            </a:r>
            <a:r>
              <a:rPr lang="en-GB" sz="2000" dirty="0" err="1">
                <a:latin typeface="Times New Roman" pitchFamily="18" charset="0"/>
                <a:ea typeface="Times New Roman" pitchFamily="18" charset="0"/>
                <a:cs typeface="Times New Roman" pitchFamily="18" charset="0"/>
              </a:rPr>
              <a:t>édition</a:t>
            </a:r>
            <a:r>
              <a:rPr lang="en-GB" sz="2000" dirty="0">
                <a:latin typeface="Times New Roman" pitchFamily="18" charset="0"/>
                <a:ea typeface="Times New Roman" pitchFamily="18" charset="0"/>
                <a:cs typeface="Times New Roman" pitchFamily="18" charset="0"/>
              </a:rPr>
              <a:t>, </a:t>
            </a:r>
            <a:r>
              <a:rPr lang="en-GB" sz="2000" dirty="0" smtClean="0">
                <a:latin typeface="Times New Roman" pitchFamily="18" charset="0"/>
                <a:ea typeface="Times New Roman" pitchFamily="18" charset="0"/>
                <a:cs typeface="Times New Roman" pitchFamily="18" charset="0"/>
              </a:rPr>
              <a:t>1994, DUNOD</a:t>
            </a:r>
            <a:r>
              <a:rPr lang="en-GB" sz="2000" dirty="0">
                <a:latin typeface="Times New Roman" pitchFamily="18" charset="0"/>
                <a:ea typeface="Times New Roman" pitchFamily="18" charset="0"/>
                <a:cs typeface="Times New Roman" pitchFamily="18" charset="0"/>
              </a:rPr>
              <a:t>, Paris, p. </a:t>
            </a:r>
            <a:r>
              <a:rPr lang="en-GB" sz="2000" dirty="0" smtClean="0">
                <a:latin typeface="Times New Roman" pitchFamily="18" charset="0"/>
                <a:ea typeface="Times New Roman" pitchFamily="18" charset="0"/>
                <a:cs typeface="Times New Roman" pitchFamily="18" charset="0"/>
              </a:rPr>
              <a:t>341.</a:t>
            </a:r>
          </a:p>
          <a:p>
            <a:pPr marL="342900" lvl="0" indent="-342900">
              <a:buFontTx/>
              <a:buAutoNum type="arabicPeriod"/>
            </a:pPr>
            <a:endParaRPr lang="en-GB" sz="2000" dirty="0">
              <a:latin typeface="Times New Roman" pitchFamily="18" charset="0"/>
              <a:ea typeface="Times New Roman" pitchFamily="18" charset="0"/>
              <a:cs typeface="Times New Roman" pitchFamily="18" charset="0"/>
            </a:endParaRPr>
          </a:p>
          <a:p>
            <a:pPr marL="342900" indent="-342900">
              <a:buFontTx/>
              <a:buAutoNum type="arabicPeriod"/>
            </a:pPr>
            <a:r>
              <a:rPr lang="fr-FR" sz="2000" dirty="0">
                <a:latin typeface="Times New Roman" panose="02020603050405020304" pitchFamily="18" charset="0"/>
                <a:cs typeface="Times New Roman" panose="02020603050405020304" pitchFamily="18" charset="0"/>
              </a:rPr>
              <a:t>Thomas H </a:t>
            </a:r>
            <a:r>
              <a:rPr lang="fr-FR" sz="2000" dirty="0" err="1">
                <a:latin typeface="Times New Roman" panose="02020603050405020304" pitchFamily="18" charset="0"/>
                <a:cs typeface="Times New Roman" panose="02020603050405020304" pitchFamily="18" charset="0"/>
              </a:rPr>
              <a:t>Cormen</a:t>
            </a:r>
            <a:r>
              <a:rPr lang="fr-FR" sz="2000" dirty="0">
                <a:latin typeface="Times New Roman" panose="02020603050405020304" pitchFamily="18" charset="0"/>
                <a:cs typeface="Times New Roman" panose="02020603050405020304" pitchFamily="18" charset="0"/>
              </a:rPr>
              <a:t>, Charles E. </a:t>
            </a:r>
            <a:r>
              <a:rPr lang="fr-FR" sz="2000" dirty="0" err="1">
                <a:latin typeface="Times New Roman" panose="02020603050405020304" pitchFamily="18" charset="0"/>
                <a:cs typeface="Times New Roman" panose="02020603050405020304" pitchFamily="18" charset="0"/>
              </a:rPr>
              <a:t>Leiserson</a:t>
            </a:r>
            <a:r>
              <a:rPr lang="fr-FR" sz="2000" dirty="0">
                <a:latin typeface="Times New Roman" panose="02020603050405020304" pitchFamily="18" charset="0"/>
                <a:cs typeface="Times New Roman" panose="02020603050405020304" pitchFamily="18" charset="0"/>
              </a:rPr>
              <a:t>, Ronald L. </a:t>
            </a:r>
            <a:r>
              <a:rPr lang="fr-FR" sz="2000" dirty="0" err="1">
                <a:latin typeface="Times New Roman" panose="02020603050405020304" pitchFamily="18" charset="0"/>
                <a:cs typeface="Times New Roman" panose="02020603050405020304" pitchFamily="18" charset="0"/>
              </a:rPr>
              <a:t>Rivest</a:t>
            </a:r>
            <a:r>
              <a:rPr lang="fr-FR" sz="2000" dirty="0">
                <a:latin typeface="Times New Roman" panose="02020603050405020304" pitchFamily="18" charset="0"/>
                <a:cs typeface="Times New Roman" panose="02020603050405020304" pitchFamily="18" charset="0"/>
              </a:rPr>
              <a:t>, Clifford Stein. Introduction à l’algorithmique, 2</a:t>
            </a:r>
            <a:r>
              <a:rPr lang="fr-FR" sz="2000" baseline="30000" dirty="0">
                <a:latin typeface="Times New Roman" panose="02020603050405020304" pitchFamily="18" charset="0"/>
                <a:cs typeface="Times New Roman" panose="02020603050405020304" pitchFamily="18" charset="0"/>
              </a:rPr>
              <a:t>ième</a:t>
            </a:r>
            <a:r>
              <a:rPr lang="fr-FR" sz="2000" dirty="0">
                <a:latin typeface="Times New Roman" panose="02020603050405020304" pitchFamily="18" charset="0"/>
                <a:cs typeface="Times New Roman" panose="02020603050405020304" pitchFamily="18" charset="0"/>
              </a:rPr>
              <a:t> édition, 2001, DUNOD</a:t>
            </a:r>
            <a:r>
              <a:rPr lang="fr-FR" sz="2000" dirty="0" smtClean="0">
                <a:latin typeface="Times New Roman" panose="02020603050405020304" pitchFamily="18" charset="0"/>
                <a:cs typeface="Times New Roman" panose="02020603050405020304" pitchFamily="18" charset="0"/>
              </a:rPr>
              <a:t>.</a:t>
            </a:r>
            <a:endParaRPr lang="en-GB" sz="2000" dirty="0" smtClean="0">
              <a:latin typeface="Times New Roman" pitchFamily="18" charset="0"/>
              <a:ea typeface="Times New Roman" pitchFamily="18" charset="0"/>
              <a:cs typeface="Times New Roman" pitchFamily="18" charset="0"/>
            </a:endParaRPr>
          </a:p>
          <a:p>
            <a:pPr marL="342900" lvl="0" indent="-342900">
              <a:buFontTx/>
              <a:buAutoNum type="arabicPeriod"/>
            </a:pPr>
            <a:endParaRPr lang="en-GB" sz="2000" dirty="0">
              <a:latin typeface="Times New Roman" pitchFamily="18" charset="0"/>
              <a:cs typeface="Times New Roman" pitchFamily="18" charset="0"/>
            </a:endParaRPr>
          </a:p>
          <a:p>
            <a:pPr marL="342900" lvl="0" indent="-342900">
              <a:buFontTx/>
              <a:buAutoNum type="arabicPeriod"/>
            </a:pPr>
            <a:r>
              <a:rPr lang="fr-FR" sz="2000" dirty="0" smtClean="0">
                <a:latin typeface="Times New Roman" panose="02020603050405020304" pitchFamily="18" charset="0"/>
                <a:cs typeface="Times New Roman" panose="02020603050405020304" pitchFamily="18" charset="0"/>
              </a:rPr>
              <a:t>Bouchez </a:t>
            </a:r>
            <a:r>
              <a:rPr lang="fr-FR" sz="2000" dirty="0" err="1" smtClean="0">
                <a:latin typeface="Times New Roman" panose="02020603050405020304" pitchFamily="18" charset="0"/>
                <a:cs typeface="Times New Roman" panose="02020603050405020304" pitchFamily="18" charset="0"/>
              </a:rPr>
              <a:t>Tichadou</a:t>
            </a:r>
            <a:r>
              <a:rPr lang="fr-FR" sz="2000" dirty="0" smtClean="0">
                <a:latin typeface="Times New Roman" panose="02020603050405020304" pitchFamily="18" charset="0"/>
                <a:cs typeface="Times New Roman" panose="02020603050405020304" pitchFamily="18" charset="0"/>
              </a:rPr>
              <a:t> Florent. Complexité algorithmique, 9 septembre 2021</a:t>
            </a:r>
          </a:p>
          <a:p>
            <a:pPr marL="342900" indent="-342900">
              <a:buAutoNum type="arabicPeriod"/>
            </a:pPr>
            <a:endParaRPr lang="fr-FR" sz="2000" dirty="0" smtClean="0">
              <a:latin typeface="Times New Roman" panose="02020603050405020304" pitchFamily="18" charset="0"/>
              <a:cs typeface="Times New Roman" panose="02020603050405020304" pitchFamily="18" charset="0"/>
            </a:endParaRPr>
          </a:p>
          <a:p>
            <a:pPr marL="342900" indent="-342900">
              <a:buAutoNum type="arabicPeriod"/>
            </a:pPr>
            <a:r>
              <a:rPr lang="fr-FR" sz="2000" dirty="0" smtClean="0">
                <a:latin typeface="Times New Roman" panose="02020603050405020304" pitchFamily="18" charset="0"/>
                <a:cs typeface="Times New Roman" panose="02020603050405020304" pitchFamily="18" charset="0"/>
              </a:rPr>
              <a:t>François Pirot. Algorithmique et complexité, 10 novembre 2023</a:t>
            </a:r>
          </a:p>
          <a:p>
            <a:pPr marL="342900" indent="-342900">
              <a:buAutoNum type="arabicPeriod"/>
            </a:pPr>
            <a:endParaRPr lang="fr-FR" sz="2000" dirty="0" smtClean="0">
              <a:latin typeface="Times New Roman" panose="02020603050405020304" pitchFamily="18" charset="0"/>
              <a:cs typeface="Times New Roman" panose="02020603050405020304" pitchFamily="18" charset="0"/>
              <a:hlinkClick r:id="rId2"/>
            </a:endParaRPr>
          </a:p>
          <a:p>
            <a:pPr marL="342900" indent="-342900">
              <a:buAutoNum type="arabicPeriod"/>
            </a:pPr>
            <a:r>
              <a:rPr lang="fr-FR" sz="2000" dirty="0" smtClean="0">
                <a:latin typeface="Times New Roman" panose="02020603050405020304" pitchFamily="18" charset="0"/>
                <a:cs typeface="Times New Roman" panose="02020603050405020304" pitchFamily="18" charset="0"/>
                <a:hlinkClick r:id="rId2"/>
              </a:rPr>
              <a:t>https://info.blaisepascal.fr/nsi-complexite-dun-algorithme/#Ordre</a:t>
            </a:r>
            <a:r>
              <a:rPr lang="fr-FR" sz="2000" dirty="0" smtClean="0">
                <a:latin typeface="Times New Roman" panose="02020603050405020304" pitchFamily="18" charset="0"/>
                <a:cs typeface="Times New Roman" panose="02020603050405020304" pitchFamily="18" charset="0"/>
              </a:rPr>
              <a:t> de grandeur</a:t>
            </a:r>
          </a:p>
          <a:p>
            <a:pPr marL="342900" indent="-342900">
              <a:buAutoNum type="arabicPeriod"/>
            </a:pPr>
            <a:endParaRPr lang="fr-FR" sz="2000" dirty="0" smtClean="0">
              <a:latin typeface="Times New Roman" panose="02020603050405020304" pitchFamily="18" charset="0"/>
              <a:cs typeface="Times New Roman" panose="02020603050405020304" pitchFamily="18" charset="0"/>
              <a:hlinkClick r:id="rId3"/>
            </a:endParaRPr>
          </a:p>
          <a:p>
            <a:pPr marL="342900" indent="-342900">
              <a:buAutoNum type="arabicPeriod"/>
            </a:pPr>
            <a:r>
              <a:rPr lang="fr-FR" sz="2000" dirty="0" smtClean="0">
                <a:latin typeface="Times New Roman" panose="02020603050405020304" pitchFamily="18" charset="0"/>
                <a:cs typeface="Times New Roman" panose="02020603050405020304" pitchFamily="18" charset="0"/>
                <a:hlinkClick r:id="rId3"/>
              </a:rPr>
              <a:t>https://www.math.univ-toulouse.fr/~msablik/Cours/Complexite/Slide-Complexite.pdf</a:t>
            </a:r>
            <a:endParaRPr lang="fr-FR" sz="2000" dirty="0" smtClean="0">
              <a:latin typeface="Times New Roman" panose="02020603050405020304" pitchFamily="18" charset="0"/>
              <a:cs typeface="Times New Roman" panose="02020603050405020304" pitchFamily="18" charset="0"/>
            </a:endParaRPr>
          </a:p>
          <a:p>
            <a:pPr marL="342900" indent="-342900">
              <a:buAutoNum type="arabicPeriod"/>
            </a:pPr>
            <a:endParaRPr lang="fr-FR" sz="2000" dirty="0" smtClean="0">
              <a:latin typeface="Times New Roman" panose="02020603050405020304" pitchFamily="18" charset="0"/>
              <a:cs typeface="Times New Roman" panose="02020603050405020304" pitchFamily="18" charset="0"/>
              <a:hlinkClick r:id="rId4"/>
            </a:endParaRPr>
          </a:p>
          <a:p>
            <a:pPr marL="342900" indent="-342900">
              <a:buAutoNum type="arabicPeriod"/>
            </a:pPr>
            <a:r>
              <a:rPr lang="fr-FR" sz="2000" dirty="0" smtClean="0">
                <a:latin typeface="Times New Roman" panose="02020603050405020304" pitchFamily="18" charset="0"/>
                <a:cs typeface="Times New Roman" panose="02020603050405020304" pitchFamily="18" charset="0"/>
                <a:hlinkClick r:id="rId4"/>
              </a:rPr>
              <a:t>http://mipress.mit.edu/algorithms/</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21994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3330</TotalTime>
  <Words>7795</Words>
  <Application>Microsoft Office PowerPoint</Application>
  <PresentationFormat>Grand écran</PresentationFormat>
  <Paragraphs>1702</Paragraphs>
  <Slides>95</Slides>
  <Notes>3</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95</vt:i4>
      </vt:variant>
    </vt:vector>
  </HeadingPairs>
  <TitlesOfParts>
    <vt:vector size="103" baseType="lpstr">
      <vt:lpstr>Arial</vt:lpstr>
      <vt:lpstr>Calibri</vt:lpstr>
      <vt:lpstr>Calibri Light</vt:lpstr>
      <vt:lpstr>Cambria Math</vt:lpstr>
      <vt:lpstr>Symbol</vt:lpstr>
      <vt:lpstr>Times New Roman</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PC014</dc:creator>
  <cp:lastModifiedBy>PC014</cp:lastModifiedBy>
  <cp:revision>401</cp:revision>
  <dcterms:created xsi:type="dcterms:W3CDTF">2024-10-10T12:14:55Z</dcterms:created>
  <dcterms:modified xsi:type="dcterms:W3CDTF">2025-08-27T14:19:26Z</dcterms:modified>
</cp:coreProperties>
</file>